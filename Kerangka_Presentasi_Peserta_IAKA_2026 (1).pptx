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Inschiet 2025 (%)</c:v>
                </c:pt>
              </c:strCache>
            </c:strRef>
          </c:tx>
          <c:spPr>
            <a:solidFill>
              <a:srgbClr val="6A2CC9"/>
            </a:solidFill>
          </c:spPr>
          <c:cat>
            <c:strRef>
              <c:f>Sheet1!$A$2:$A$5</c:f>
              <c:strCache>
                <c:ptCount val="4"/>
                <c:pt idx="0">
                  <c:v>Q1 (Jan-Mar)</c:v>
                </c:pt>
                <c:pt idx="1">
                  <c:v>Q2 (Apr-Jun)</c:v>
                </c:pt>
                <c:pt idx="2">
                  <c:v>Q3 (Jul-Sep)</c:v>
                </c:pt>
                <c:pt idx="3">
                  <c:v>Q4 (Okt-Des)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4.72</c:v>
                </c:pt>
                <c:pt idx="1">
                  <c:v>3.97</c:v>
                </c:pt>
                <c:pt idx="2">
                  <c:v>4.64</c:v>
                </c:pt>
                <c:pt idx="3">
                  <c:v>5.11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20288F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Inschiet (%)</c:v>
                </c:pt>
              </c:strCache>
            </c:strRef>
          </c:tx>
          <c:spPr>
            <a:solidFill>
              <a:srgbClr val="6A2CC9"/>
            </a:solidFill>
          </c:spPr>
          <c:cat>
            <c:strRef>
              <c:f>Sheet1!$A$2:$A$5</c:f>
              <c:strCache>
                <c:ptCount val="4"/>
                <c:pt idx="0">
                  <c:v>Q1 2025</c:v>
                </c:pt>
                <c:pt idx="1">
                  <c:v>Q2 2025</c:v>
                </c:pt>
                <c:pt idx="2">
                  <c:v>Q3 2025</c:v>
                </c:pt>
                <c:pt idx="3">
                  <c:v>Q4 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4.72</c:v>
                </c:pt>
                <c:pt idx="1">
                  <c:v>3.97</c:v>
                </c:pt>
                <c:pt idx="2">
                  <c:v>4.64</c:v>
                </c:pt>
                <c:pt idx="3">
                  <c:v>5.11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20288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 b="1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Inschiet (%)</c:v>
                </c:pt>
              </c:strCache>
            </c:strRef>
          </c:tx>
          <c:spPr>
            <a:solidFill>
              <a:srgbClr val="6A2CC9"/>
            </a:solidFill>
          </c:spPr>
          <c:cat>
            <c:strRef>
              <c:f>Sheet1!$A$2:$A$5</c:f>
              <c:strCache>
                <c:ptCount val="4"/>
                <c:pt idx="0">
                  <c:v>Q1 2025</c:v>
                </c:pt>
                <c:pt idx="1">
                  <c:v>Q2 2025</c:v>
                </c:pt>
                <c:pt idx="2">
                  <c:v>Q3 2025</c:v>
                </c:pt>
                <c:pt idx="3">
                  <c:v>Q4 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4.72</c:v>
                </c:pt>
                <c:pt idx="1">
                  <c:v>3.97</c:v>
                </c:pt>
                <c:pt idx="2">
                  <c:v>4.64</c:v>
                </c:pt>
                <c:pt idx="3">
                  <c:v>5.11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solidFill>
                    <a:srgbClr val="20288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 b="1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750">
                <a:latin typeface="Arial"/>
              </a:defRPr>
            </a:pPr>
          </a:p>
        </c:tx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851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presentasi untuk peserta IAKA 2026. Sesuaikan bagian yang dibawakan dengan fase yang sedang dipresentasikan (lihat slide Alur).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Bagian tidak selalu dibawakan sekaligus. Pitching Fase 1 fokus pada bagian 1–4; bagian berikutnya menyusul sesuai kemajuan proyek di tiap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(Panduan BAB 1): kondisi saat ini, alasan penting, data awal. Setiap angka harus punya satuan, periode, dan sumber — tanpa itu dianggap belum terverifikasi.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Masalah harus spesifik dan terukur. Cantumkan baseline dengan satuan jelas dan sumbernya (log produksi, laporan QC, tiket helpdesk, catatan keuangan) beserta periode pengambilan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(BAB 3–4): mekanisme kerja, keunggulan, kebaruan, alur before/after, target &amp; estimasi. Untuk Kaizen sebut SOP yang diperbaiki; untuk Inovasi sebut potensi standar baru / sumber pendapatan. Cantumkan rencana uji coba (MVP) dan calon Fasilitator min. Kadep.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(BAB 6–7): laporan uji coba (PIC, lokasi, waktu, sumber daya), kendala &amp; problem solving, tabel Before/After dengan n dan grafik tren, dibandingkan target Fase 1. Lampirkan data mentah yang dapat diolah dan bukti bertanggal.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(BAB 8–9): perhitungan business impact dengan kertas kerja terbuka (rumus dapat diperiksa), plus People/Customer/ESG impact. Setiap klaim non-finansial harus berbukti, sama seperti klaim finansial.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(BAB 10): mekanisme keberlanjutan — pengesahan &amp; registrasi dokumen, dokumen turunan diperbarui, bukti sosialisasi, penutupan resmi sistem lama, transfer knowledge, jadwal audit keberlanjutan, dan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wajib (BAB 11–12): tantangan, mitigasi, pembelajaran, kesimpulan &amp; rekomendasi pengembangan.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pesan utama proyek dalam satu kalimat. Ingatkan penilaian IAKA 2026 berbasis bukti nyata di unit kerja.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chart" Target="../charts/chart1.xml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chart" Target="../charts/chart2.xml"/><Relationship Id="rId8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1F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3840480"/>
            <a:ext cx="4206240" cy="4206240"/>
          </a:xfrm>
          <a:prstGeom prst="ellipse">
            <a:avLst/>
          </a:prstGeom>
          <a:solidFill>
            <a:srgbClr val="CB69FF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PERURI  ·  INNOVATION AWARD &amp; KAIZEN AWARD</a:t>
            </a:r>
            <a:endParaRPr lang="en-US" sz="1300" dirty="0">
              <a:solidFill>
                <a:schemeClr val="bg2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Presentasi Peserta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IAKA 2026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4892040"/>
            <a:ext cx="3200400" cy="502920"/>
          </a:xfrm>
          <a:prstGeom prst="roundRect">
            <a:avLst>
              <a:gd name="adj" fmla="val 49091"/>
            </a:avLst>
          </a:prstGeom>
          <a:solidFill>
            <a:srgbClr val="6A2CC9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4892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Divisi SDM · 2026</a:t>
            </a:r>
            <a:endParaRPr lang="en-US" sz="13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2BD31F3-DBAE-CDA4-F47C-1AFBAA2692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0874" y="89912"/>
            <a:ext cx="1454649" cy="80970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7B2836-D742-3AD4-8792-B143217312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7170" y="-139700"/>
            <a:ext cx="2339340" cy="1559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6300"/>
            <a:ext cx="640080" cy="64008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635093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0193" y="60058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8 bagian presentasi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207568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3386252" y="187452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87420" y="207568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13" name="Text 11"/>
          <p:cNvSpPr/>
          <p:nvPr/>
        </p:nvSpPr>
        <p:spPr>
          <a:xfrm>
            <a:off x="3587420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9132" y="265176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23864" y="187452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25032" y="207568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18" name="Text 16"/>
          <p:cNvSpPr/>
          <p:nvPr/>
        </p:nvSpPr>
        <p:spPr>
          <a:xfrm>
            <a:off x="6425032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6744" y="265176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Penyebab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9061475" y="187452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262643" y="207568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23" name="Text 21"/>
          <p:cNvSpPr/>
          <p:nvPr/>
        </p:nvSpPr>
        <p:spPr>
          <a:xfrm>
            <a:off x="9262643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44355" y="265176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548640" y="356616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9808" y="376732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31520" y="434340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3386252" y="356616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87420" y="376732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33" name="Text 31"/>
          <p:cNvSpPr/>
          <p:nvPr/>
        </p:nvSpPr>
        <p:spPr>
          <a:xfrm>
            <a:off x="358742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3569132" y="434340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6223864" y="356616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25032" y="376732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38" name="Text 36"/>
          <p:cNvSpPr/>
          <p:nvPr/>
        </p:nvSpPr>
        <p:spPr>
          <a:xfrm>
            <a:off x="6425032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406744" y="434340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9061475" y="3566160"/>
            <a:ext cx="2581580" cy="1417320"/>
          </a:xfrm>
          <a:prstGeom prst="roundRect">
            <a:avLst>
              <a:gd name="adj" fmla="val 6452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76200" dist="25400" dir="5400000" algn="bl" rotWithShape="0">
              <a:srgbClr val="C9BEE8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262643" y="3767328"/>
            <a:ext cx="502920" cy="502920"/>
          </a:xfrm>
          <a:prstGeom prst="ellipse">
            <a:avLst/>
          </a:prstGeom>
          <a:solidFill>
            <a:srgbClr val="6A2CC9"/>
          </a:solidFill>
          <a:ln/>
        </p:spPr>
      </p:sp>
      <p:sp>
        <p:nvSpPr>
          <p:cNvPr id="43" name="Text 41"/>
          <p:cNvSpPr/>
          <p:nvPr/>
        </p:nvSpPr>
        <p:spPr>
          <a:xfrm>
            <a:off x="9262643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244355" y="4343400"/>
            <a:ext cx="22158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Learned</a:t>
            </a:r>
            <a:endParaRPr lang="en-US" sz="1450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10B45A6D-F217-584F-7BD7-6C89F238B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27D9AC1A-9783-8729-85B1-5CDC0A33A1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07899" y="-179222"/>
            <a:ext cx="1448409" cy="81473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55096" y="11887"/>
            <a:ext cx="1140256" cy="63459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94360"/>
            <a:ext cx="731520" cy="658368"/>
          </a:xfrm>
          <a:prstGeom prst="round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48640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20288F"/>
                </a:solidFill>
                <a:latin typeface="Arial"/>
              </a:rPr>
              <a:t>Latar Belakang: Urgensi Stabilitas Mutu &amp; Pencatatan Unit Cetak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6A2CC9"/>
                </a:solidFill>
                <a:latin typeface="Arial"/>
              </a:rPr>
              <a:t>Tujuan bagian ini:  </a:t>
            </a:r>
            <a:r>
              <a:rPr sz="1150" b="0">
                <a:solidFill>
                  <a:srgbClr val="2A2A3D"/>
                </a:solidFill>
                <a:latin typeface="Arial"/>
              </a:rPr>
              <a:t>Bangun konteks: mengapa perbaikan sistem pencatatan &amp; stabilitas mutu penting bagi operasional dan perusahaan.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>
                <a:solidFill>
                  <a:srgbClr val="6E6E82"/>
                </a:solidFill>
                <a:latin typeface="Arial"/>
              </a:rPr>
              <a:t>IAKA 2026 — Kerangka Presentasi Peserta  ·  DSS SIRINE 4.0 Unit Cetak Pita Cukai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55648"/>
            <a:ext cx="3520440" cy="365760"/>
          </a:xfrm>
          <a:prstGeom prst="rect">
            <a:avLst/>
          </a:prstGeom>
          <a:solidFill>
            <a:srgbClr val="202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 KONDISI SAAT INI DI UNIT CETAK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3520440" cy="4160520"/>
          </a:xfrm>
          <a:prstGeom prst="roundRect">
            <a:avLst/>
          </a:prstGeom>
          <a:solidFill>
            <a:srgbClr val="F4F7FE"/>
          </a:solidFill>
          <a:ln w="12700">
            <a:solidFill>
              <a:srgbClr val="D2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7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Operasional 24 Jam Non-stop: </a:t>
            </a:r>
            <a:r>
              <a:rPr sz="950">
                <a:solidFill>
                  <a:srgbClr val="2A2A3D"/>
                </a:solidFill>
                <a:latin typeface="Arial"/>
              </a:rPr>
              <a:t>Unit Cetak Pita Cukai beroperasi 3 shift per hari dengan 6 mesin cetak offset (4 Komori: KMR 1–4, 2 Ryobi: RYB 1–2) dan didukung ±42 operator.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Pencatatan Fisik di Mesin: </a:t>
            </a:r>
            <a:r>
              <a:rPr sz="950">
                <a:solidFill>
                  <a:srgbClr val="2A2A3D"/>
                </a:solidFill>
                <a:latin typeface="Arial"/>
              </a:rPr>
              <a:t>Pencatatan hasil cetak tiap mesin dan operator masih dilakukan secara manual menggunakan buku folio di meja masing-masing mesin.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Rekapitulasi Manual Terpisah: </a:t>
            </a:r>
            <a:r>
              <a:rPr sz="950">
                <a:solidFill>
                  <a:srgbClr val="2A2A3D"/>
                </a:solidFill>
                <a:latin typeface="Arial"/>
              </a:rPr>
              <a:t>Catatan buku folio baru direkap saat evaluasi berkala pegawai, sementara sistem SAP di kantor hanya menyajikan tabel angka mentah.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Laporan Mutu Terpusat: </a:t>
            </a:r>
            <a:r>
              <a:rPr sz="950">
                <a:solidFill>
                  <a:srgbClr val="2A2A3D"/>
                </a:solidFill>
                <a:latin typeface="Arial"/>
              </a:rPr>
              <a:t>Laporan kerusakan dari modul Verifikasi QC hanya menampilkan total kerusakan general di level unit tanpa rincian mesin maupun shift.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755648"/>
            <a:ext cx="3520440" cy="365760"/>
          </a:xfrm>
          <a:prstGeom prst="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2. MENGAPA INI PENTING BAGI PERUSAHAAN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121408"/>
            <a:ext cx="3520440" cy="4160520"/>
          </a:xfrm>
          <a:prstGeom prst="roundRect">
            <a:avLst/>
          </a:prstGeom>
          <a:solidFill>
            <a:srgbClr val="F8F6FE"/>
          </a:solidFill>
          <a:ln w="12700">
            <a:solidFill>
              <a:srgbClr val="D9C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7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Produk Strategis Negara: </a:t>
            </a:r>
            <a:r>
              <a:rPr sz="950">
                <a:solidFill>
                  <a:srgbClr val="2A2A3D"/>
                </a:solidFill>
                <a:latin typeface="Arial"/>
              </a:rPr>
              <a:t>Mencetak dokumen sekuriti Pita Cukai (PCHT &amp; MMEA) di bawah mandat DJBC Kemenkeu RI dengan fitur kertas sekuriti, tinta khusus, dan hologram.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Skala Order Masif: </a:t>
            </a:r>
            <a:r>
              <a:rPr sz="950">
                <a:solidFill>
                  <a:srgbClr val="2A2A3D"/>
                </a:solidFill>
                <a:latin typeface="Arial"/>
              </a:rPr>
              <a:t>Volume order sangat besar dengan rata-rata 160 Juta Lembar per tahun (Realisasi 2025: 177.636.930 Lembar Cetak — SAP ZPPRSIPPC0012).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Komitmen SLA &amp; Reputasi: </a:t>
            </a:r>
            <a:r>
              <a:rPr sz="950">
                <a:solidFill>
                  <a:srgbClr val="2A2A3D"/>
                </a:solidFill>
                <a:latin typeface="Arial"/>
              </a:rPr>
              <a:t>Ketepatan jadwal pengiriman dan kesempurnaan cetak adalah kunci menjaga kepercayaan Bea Cukai serta mengamankan penerimaan cukai negara.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Nilai Bahan Baku Tinggi: </a:t>
            </a:r>
            <a:r>
              <a:rPr sz="950">
                <a:solidFill>
                  <a:srgbClr val="2A2A3D"/>
                </a:solidFill>
                <a:latin typeface="Arial"/>
              </a:rPr>
              <a:t>Tingginya harga kertas sekuriti dan tinta khusus menuntut efisiensi maksimal agar tidak terjadi pemborosan biaya cetak ulang.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1755648"/>
            <a:ext cx="3520440" cy="365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3. DATA AWAL PEMICU INOVASI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2121408"/>
            <a:ext cx="3520440" cy="4160520"/>
          </a:xfrm>
          <a:prstGeom prst="roundRect">
            <a:avLst/>
          </a:prstGeom>
          <a:solidFill>
            <a:srgbClr val="FFF9E6"/>
          </a:solidFill>
          <a:ln w="12700">
            <a:solidFill>
              <a:srgbClr val="FFE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700"/>
              </a:spcAft>
            </a:pPr>
            <a:r>
              <a:rPr sz="950" b="1">
                <a:solidFill>
                  <a:srgbClr val="E65100"/>
                </a:solidFill>
                <a:latin typeface="Arial"/>
              </a:rPr>
              <a:t>• Pencapaian SIRINE 2024: </a:t>
            </a:r>
            <a:r>
              <a:rPr sz="950">
                <a:solidFill>
                  <a:srgbClr val="2A2A3D"/>
                </a:solidFill>
                <a:latin typeface="Arial"/>
              </a:rPr>
              <a:t>Berhasil menurunkan inschiet tahunan dari 5,61% ke 4,06% dengan menyajikan data jenis kerusakan umum.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E65100"/>
                </a:solidFill>
                <a:latin typeface="Arial"/>
              </a:rPr>
              <a:t>• Titik Jenuh &amp; Fluktuasi 2025: </a:t>
            </a:r>
            <a:r>
              <a:rPr sz="950">
                <a:solidFill>
                  <a:srgbClr val="2A2A3D"/>
                </a:solidFill>
                <a:latin typeface="Arial"/>
              </a:rPr>
              <a:t>Sepanjang 2025 inschiet kembali berfluktuasi dengan rata-rata 4,61% dan puncaknya di Q4 mencapai 5,11% (Sumber: SAP ZPPRSIPPC0012).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E65100"/>
                </a:solidFill>
                <a:latin typeface="Arial"/>
              </a:rPr>
              <a:t>• Tantangan Volume Baru: </a:t>
            </a:r>
            <a:r>
              <a:rPr sz="950">
                <a:solidFill>
                  <a:srgbClr val="2A2A3D"/>
                </a:solidFill>
                <a:latin typeface="Arial"/>
              </a:rPr>
              <a:t>Saat order melonjak di Q4, sistem SIRINE 2024 tidak mampu mendeteksi mesin mana yang menjadi pemicu utama kenaikan kerusakan.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E65100"/>
                </a:solidFill>
                <a:latin typeface="Arial"/>
              </a:rPr>
              <a:t>• Pemicu Kebutuhan DSS: </a:t>
            </a:r>
            <a:r>
              <a:rPr sz="950">
                <a:solidFill>
                  <a:srgbClr val="2A2A3D"/>
                </a:solidFill>
                <a:latin typeface="Arial"/>
              </a:rPr>
              <a:t>Diperlukan sistem cerdas yang mampu menghubungkan data kerusakan QC dengan data mesin dan shift operasional secara real-time.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07899" y="-179222"/>
            <a:ext cx="1448409" cy="81473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55096" y="11887"/>
            <a:ext cx="1140256" cy="63459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94360"/>
            <a:ext cx="731520" cy="658368"/>
          </a:xfrm>
          <a:prstGeom prst="round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48640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20288F"/>
                </a:solidFill>
                <a:latin typeface="Arial"/>
              </a:rPr>
              <a:t>Masalah: Keterbatasan Data Granular &amp; Titik Buta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6A2CC9"/>
                </a:solidFill>
                <a:latin typeface="Arial"/>
              </a:rPr>
              <a:t>Tujuan bagian ini:  </a:t>
            </a:r>
            <a:r>
              <a:rPr sz="1150" b="0">
                <a:solidFill>
                  <a:srgbClr val="2A2A3D"/>
                </a:solidFill>
                <a:latin typeface="Arial"/>
              </a:rPr>
              <a:t>Nyatakan masalah operasional nyata dan terukur — apa yang terjadi, di unit mana, sejak kapan, dan siapa terdampak.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>
                <a:solidFill>
                  <a:srgbClr val="6E6E82"/>
                </a:solidFill>
                <a:latin typeface="Arial"/>
              </a:rPr>
              <a:t>IAKA 2026 — Kerangka Presentasi Peserta  ·  DSS SIRINE 4.0 Unit Cetak Pita Cukai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55648"/>
            <a:ext cx="3520440" cy="365760"/>
          </a:xfrm>
          <a:prstGeom prst="rect">
            <a:avLst/>
          </a:prstGeom>
          <a:solidFill>
            <a:srgbClr val="202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1. TITIK BUTA PASCA-SIRINE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3520440" cy="4160520"/>
          </a:xfrm>
          <a:prstGeom prst="roundRect">
            <a:avLst/>
          </a:prstGeom>
          <a:solidFill>
            <a:srgbClr val="F4F7FE"/>
          </a:solidFill>
          <a:ln w="12700">
            <a:solidFill>
              <a:srgbClr val="D2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7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Capaian SIRINE 3.5 (2024): </a:t>
            </a:r>
            <a:r>
              <a:rPr sz="950">
                <a:solidFill>
                  <a:srgbClr val="2A2A3D"/>
                </a:solidFill>
                <a:latin typeface="Arial"/>
              </a:rPr>
              <a:t>Berhasil menjawab 'jenis kerusakan apa' yang mendominasi dan menekan inschiet ke 4,06% di akhir 2024.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Kesenjangan Baru di 2025: </a:t>
            </a:r>
            <a:r>
              <a:rPr sz="950">
                <a:solidFill>
                  <a:srgbClr val="2A2A3D"/>
                </a:solidFill>
                <a:latin typeface="Arial"/>
              </a:rPr>
              <a:t>Data jenis kerusakan sudah ada, tetapi dengan 6 mesin cetak, belum ada data untuk tahu mesin mana yang menjadi sumber masalah utama.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Ketiadaan Data Kondisi Kerja: </a:t>
            </a:r>
            <a:r>
              <a:rPr sz="950">
                <a:solidFill>
                  <a:srgbClr val="2A2A3D"/>
                </a:solidFill>
                <a:latin typeface="Arial"/>
              </a:rPr>
              <a:t>Belum dapat diketahui apakah tingginya inschiet lebih dipengaruhi oleh faktor teknis mesin atau faktor kondisi kerja (shift, SOP, kelelahan).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0288F"/>
                </a:solidFill>
                <a:latin typeface="Arial"/>
              </a:rPr>
              <a:t>• Lokasi &amp; Periode Masalah: </a:t>
            </a:r>
            <a:r>
              <a:rPr sz="950">
                <a:solidFill>
                  <a:srgbClr val="2A2A3D"/>
                </a:solidFill>
                <a:latin typeface="Arial"/>
              </a:rPr>
              <a:t>Berpusat pada proses cetak sheet-fed offset di Unit Cetak Pita Cukai sejak Januari 2025.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1755648"/>
            <a:ext cx="3520440" cy="365760"/>
          </a:xfrm>
          <a:prstGeom prst="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2. DUA KASUS NYATA DI LAPANGAN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121408"/>
            <a:ext cx="3520440" cy="4160520"/>
          </a:xfrm>
          <a:prstGeom prst="roundRect">
            <a:avLst/>
          </a:prstGeom>
          <a:solidFill>
            <a:srgbClr val="F8F6FE"/>
          </a:solidFill>
          <a:ln w="12700">
            <a:solidFill>
              <a:srgbClr val="D9C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7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Kasus 1 – Penelusuran Spekulatif: </a:t>
            </a:r>
            <a:r>
              <a:rPr sz="950">
                <a:solidFill>
                  <a:srgbClr val="2A2A3D"/>
                </a:solidFill>
                <a:latin typeface="Arial"/>
              </a:rPr>
              <a:t>Bulan Juni 2025 kerusakan blobor mendominasi. Tanpa data per-mesin, teknisi memeriksa 6 mesin bergilir (trial-and-error).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Dampak Downtime Kasus 1: </a:t>
            </a:r>
            <a:r>
              <a:rPr sz="950">
                <a:solidFill>
                  <a:srgbClr val="2A2A3D"/>
                </a:solidFill>
                <a:latin typeface="Arial"/>
              </a:rPr>
              <a:t>Sumber masalah ternyata di Komori 3 (KMR3). Diperiksa terakhir, timbul downtime &gt; 8 jam dan mesin terus mencetak lembar rusak.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Kasus 2 – Dilema Mesin vs Shift: </a:t>
            </a:r>
            <a:r>
              <a:rPr sz="950">
                <a:solidFill>
                  <a:srgbClr val="2A2A3D"/>
                </a:solidFill>
                <a:latin typeface="Arial"/>
              </a:rPr>
              <a:t>Mesin KMR3 pada shift malam mencatat inschiet 8,5%, sedangkan shift pagi di mesin yang sama hanya 2,5%.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6A2CC9"/>
                </a:solidFill>
                <a:latin typeface="Arial"/>
              </a:rPr>
              <a:t>• Salah Diagnosa Kasus 2: </a:t>
            </a:r>
            <a:r>
              <a:rPr sz="950">
                <a:solidFill>
                  <a:srgbClr val="2A2A3D"/>
                </a:solidFill>
                <a:latin typeface="Arial"/>
              </a:rPr>
              <a:t>Tanpa data per-shift, perbaikan selalu fokus mengutak-atik mesin, padahal masalahnya ada pada variasi shift atau SOP penyetelan tinta.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4" y="1755648"/>
            <a:ext cx="3520440" cy="3657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3. PIHAK TERDAMPAK LANGSUNG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2121408"/>
            <a:ext cx="3520440" cy="416052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5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6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Operator Cetak (±42 Orang): </a:t>
            </a:r>
            <a:r>
              <a:rPr sz="950">
                <a:solidFill>
                  <a:srgbClr val="2A2A3D"/>
                </a:solidFill>
                <a:latin typeface="Arial"/>
              </a:rPr>
              <a:t>Sulit memantau hasil mutu hariannya secara mandiri dan kehilangan kesempatan memperoleh pembinaan (coaching) objektif.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Kepala Kelompok &amp; Kepala Unit: </a:t>
            </a:r>
            <a:r>
              <a:rPr sz="950">
                <a:solidFill>
                  <a:srgbClr val="2A2A3D"/>
                </a:solidFill>
                <a:latin typeface="Arial"/>
              </a:rPr>
              <a:t>Menanggung beban rekap manual buku folio dan kesulitan memberi feedback terarah kepada tim kerja.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Teknisi Pemeliharaan (Maintenance): </a:t>
            </a:r>
            <a:r>
              <a:rPr sz="950">
                <a:solidFill>
                  <a:srgbClr val="2A2A3D"/>
                </a:solidFill>
                <a:latin typeface="Arial"/>
              </a:rPr>
              <a:t>Kehilangan jam produktif (&gt; 8 jam per mesin) akibat mencari sumber masalah secara acak.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PPIC &amp; Manajemen: </a:t>
            </a:r>
            <a:r>
              <a:rPr sz="950">
                <a:solidFill>
                  <a:srgbClr val="2A2A3D"/>
                </a:solidFill>
                <a:latin typeface="Arial"/>
              </a:rPr>
              <a:t>Sulit merencanakan alokasi mesin dan jadwal cetak presisi karena profil performa riil mesin tidak tersedia.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C62828"/>
                </a:solidFill>
                <a:latin typeface="Arial"/>
              </a:rPr>
              <a:t>• Pelanggan Utama (DJBC Kemenkeu): </a:t>
            </a:r>
            <a:r>
              <a:rPr sz="950">
                <a:solidFill>
                  <a:srgbClr val="2A2A3D"/>
                </a:solidFill>
                <a:latin typeface="Arial"/>
              </a:rPr>
              <a:t>Menghadapi risiko keterlambatan pengiriman pita cukai akibat siklus cetak ulang lembar rusak.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07899" y="-179222"/>
            <a:ext cx="1448409" cy="81473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55096" y="11887"/>
            <a:ext cx="1140256" cy="63459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94360"/>
            <a:ext cx="731520" cy="658368"/>
          </a:xfrm>
          <a:prstGeom prst="round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48640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20288F"/>
                </a:solidFill>
                <a:latin typeface="Arial"/>
              </a:rPr>
              <a:t>Masalah: Baseline Permasalahan &amp; Risiko Bila Dibiarkan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6A2CC9"/>
                </a:solidFill>
                <a:latin typeface="Arial"/>
              </a:rPr>
              <a:t>Tujuan bagian ini:  </a:t>
            </a:r>
            <a:r>
              <a:rPr sz="1150" b="0">
                <a:solidFill>
                  <a:srgbClr val="2A2A3D"/>
                </a:solidFill>
                <a:latin typeface="Arial"/>
              </a:rPr>
              <a:t>Tunjukkan baseline permasalahan operasional terukur dan dampak multidimensi jika kondisi dibiarkan tanpa intervensi.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15184" cy="987552"/>
          </a:xfrm>
          <a:prstGeom prst="roundRect">
            <a:avLst/>
          </a:prstGeom>
          <a:solidFill>
            <a:srgbClr val="FFF9E6"/>
          </a:solidFill>
          <a:ln w="19050">
            <a:solidFill>
              <a:srgbClr val="FFE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36576"/>
          <a:lstStyle/>
          <a:p>
            <a:pPr algn="ctr"/>
            <a:r>
              <a:rPr sz="850" b="1">
                <a:solidFill>
                  <a:srgbClr val="E65100"/>
                </a:solidFill>
                <a:latin typeface="Arial"/>
              </a:rPr>
              <a:t>BASELINE INSCHIET 2025</a:t>
            </a:r>
          </a:p>
          <a:p>
            <a:pPr algn="ctr"/>
            <a:r>
              <a:rPr sz="1550" b="1">
                <a:solidFill>
                  <a:srgbClr val="E65100"/>
                </a:solidFill>
                <a:latin typeface="Arial"/>
              </a:rPr>
              <a:t>4,61%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Puncak Q4: 5,11% (SAP ZPPRSIPPC0012)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2615184" cy="54864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74136" y="1737360"/>
            <a:ext cx="2615184" cy="987552"/>
          </a:xfrm>
          <a:prstGeom prst="roundRect">
            <a:avLst/>
          </a:prstGeom>
          <a:solidFill>
            <a:srgbClr val="FFF5F5"/>
          </a:solidFill>
          <a:ln w="19050">
            <a:solidFill>
              <a:srgbClr val="F5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36576"/>
          <a:lstStyle/>
          <a:p>
            <a:pPr algn="ctr"/>
            <a:r>
              <a:rPr sz="850" b="1">
                <a:solidFill>
                  <a:srgbClr val="C62828"/>
                </a:solidFill>
                <a:latin typeface="Arial"/>
              </a:rPr>
              <a:t>JUMLAH LEMBAR RUSAK</a:t>
            </a:r>
          </a:p>
          <a:p>
            <a:pPr algn="ctr"/>
            <a:r>
              <a:rPr sz="1550" b="1">
                <a:solidFill>
                  <a:srgbClr val="C62828"/>
                </a:solidFill>
                <a:latin typeface="Arial"/>
              </a:rPr>
              <a:t>8.189.062 LK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Total order: 177.636.930 Lembar Cetak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737360"/>
            <a:ext cx="2615184" cy="5486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9632" y="1737360"/>
            <a:ext cx="2615184" cy="987552"/>
          </a:xfrm>
          <a:prstGeom prst="roundRect">
            <a:avLst/>
          </a:prstGeom>
          <a:solidFill>
            <a:srgbClr val="F8F6FE"/>
          </a:solidFill>
          <a:ln w="19050">
            <a:solidFill>
              <a:srgbClr val="D9C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36576"/>
          <a:lstStyle/>
          <a:p>
            <a:pPr algn="ctr"/>
            <a:r>
              <a:rPr sz="850" b="1">
                <a:solidFill>
                  <a:srgbClr val="6A2CC9"/>
                </a:solidFill>
                <a:latin typeface="Arial"/>
              </a:rPr>
              <a:t>POTENSI BIAYA TERBUANG*</a:t>
            </a:r>
          </a:p>
          <a:p>
            <a:pPr algn="ctr"/>
            <a:r>
              <a:rPr sz="1550" b="1">
                <a:solidFill>
                  <a:srgbClr val="6A2CC9"/>
                </a:solidFill>
                <a:latin typeface="Arial"/>
              </a:rPr>
              <a:t>Rp 24,56 Miliar*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*Simulasi estimasi @ Rp 3.000 / LK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737360"/>
            <a:ext cx="2615184" cy="54864"/>
          </a:xfrm>
          <a:prstGeom prst="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25128" y="1737360"/>
            <a:ext cx="2615184" cy="987552"/>
          </a:xfrm>
          <a:prstGeom prst="roundRect">
            <a:avLst/>
          </a:prstGeom>
          <a:solidFill>
            <a:srgbClr val="F4F7FE"/>
          </a:solidFill>
          <a:ln w="19050">
            <a:solidFill>
              <a:srgbClr val="D2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36576"/>
          <a:lstStyle/>
          <a:p>
            <a:pPr algn="ctr"/>
            <a:r>
              <a:rPr sz="850" b="1">
                <a:solidFill>
                  <a:srgbClr val="20288F"/>
                </a:solidFill>
                <a:latin typeface="Arial"/>
              </a:rPr>
              <a:t>DOWNTIME PERBAIKAN</a:t>
            </a:r>
          </a:p>
          <a:p>
            <a:pPr algn="ctr"/>
            <a:r>
              <a:rPr sz="1550" b="1">
                <a:solidFill>
                  <a:srgbClr val="20288F"/>
                </a:solidFill>
                <a:latin typeface="Arial"/>
              </a:rPr>
              <a:t>&gt; 8 Jam / Mesin</a:t>
            </a:r>
          </a:p>
          <a:p>
            <a:pPr algn="ctr"/>
            <a:r>
              <a:rPr sz="750">
                <a:solidFill>
                  <a:srgbClr val="2A2A3D"/>
                </a:solidFill>
                <a:latin typeface="Arial"/>
              </a:rPr>
              <a:t>Pemeriksaan spekulatif bergilir (&gt; 1 shift)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25128" y="1737360"/>
            <a:ext cx="2615184" cy="54864"/>
          </a:xfrm>
          <a:prstGeom prst="rect">
            <a:avLst/>
          </a:prstGeom>
          <a:solidFill>
            <a:srgbClr val="202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816352"/>
            <a:ext cx="5440680" cy="329184"/>
          </a:xfrm>
          <a:prstGeom prst="rect">
            <a:avLst/>
          </a:prstGeom>
          <a:solidFill>
            <a:srgbClr val="202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TREN INSCHIET BASELINE PER KUARTAL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45536"/>
            <a:ext cx="5440680" cy="2761488"/>
          </a:xfrm>
          <a:prstGeom prst="roundRect">
            <a:avLst/>
          </a:prstGeom>
          <a:solidFill>
            <a:srgbClr val="F4F7FE"/>
          </a:solidFill>
          <a:ln w="12700">
            <a:solidFill>
              <a:srgbClr val="D2D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85800" y="3200400"/>
          <a:ext cx="5166360" cy="169164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13232" y="4965192"/>
            <a:ext cx="51114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20288F"/>
                </a:solidFill>
                <a:latin typeface="Arial"/>
              </a:rPr>
              <a:t>Rata-rata Tahunan: 4,61%  |  Sumber: SAP ZPPRSIPPC0012 &amp; QC Verifikasi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2A2A3D"/>
                </a:solidFill>
                <a:latin typeface="Arial"/>
              </a:rPr>
              <a:t>• Q2 (3,97%): Bukti lini cetak mampu mencapai target &lt; 4,00%.
• Q4 (5,11%): Lonjakan saat order desain baru masuk. Ketiadaan data mesin &amp; shift membuat lonjakan order selalu diiringi naiknya lembar rusak.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2816352"/>
            <a:ext cx="5440680" cy="32918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DAMPAK RISIKO BILA DIBIARKAN (5 PILAR)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3145536"/>
            <a:ext cx="5440680" cy="2761488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5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73152"/>
          <a:lstStyle/>
          <a:p>
            <a:pPr algn="ctr">
              <a:spcAft>
                <a:spcPts val="350"/>
              </a:spcAft>
            </a:pPr>
            <a:r>
              <a:rPr sz="850" b="1">
                <a:solidFill>
                  <a:srgbClr val="C62828"/>
                </a:solidFill>
                <a:latin typeface="Arial"/>
              </a:rPr>
              <a:t>• 1. Biaya (Cost): </a:t>
            </a:r>
            <a:r>
              <a:rPr sz="800">
                <a:solidFill>
                  <a:srgbClr val="2A2A3D"/>
                </a:solidFill>
                <a:latin typeface="Arial"/>
              </a:rPr>
              <a:t>Akumulasi pemborosan biaya cetak mencapai Rp 24,56 Miliar/tahun (8.189.062 LK × asumsi Rp 3.000*) dan potensi saving Rp 5,33 Miliar per tiap 1% penurunan inschiet.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C62828"/>
                </a:solidFill>
                <a:latin typeface="Arial"/>
              </a:rPr>
              <a:t>• 2. Mutu (Quality): </a:t>
            </a:r>
            <a:r>
              <a:rPr sz="800">
                <a:solidFill>
                  <a:srgbClr val="2A2A3D"/>
                </a:solidFill>
                <a:latin typeface="Arial"/>
              </a:rPr>
              <a:t>Inschiet berfluktuasi tanpa kendali (puncak 5,11%). Penanganan mesin bersifat sementara karena tidak menyentuh akar masalah per-mesin.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C62828"/>
                </a:solidFill>
                <a:latin typeface="Arial"/>
              </a:rPr>
              <a:t>• 3. Kepatuhan (Compliance): </a:t>
            </a:r>
            <a:r>
              <a:rPr sz="800">
                <a:solidFill>
                  <a:srgbClr val="2A2A3D"/>
                </a:solidFill>
                <a:latin typeface="Arial"/>
              </a:rPr>
              <a:t>Akuntabilitas pelacakan (traceability) dokumen negara terhambat karena pencatatan manual di buku folio tidak dapat diaudit digital (ISO 9001).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C62828"/>
                </a:solidFill>
                <a:latin typeface="Arial"/>
              </a:rPr>
              <a:t>• 4. K3L &amp; Lingkungan (ESG): </a:t>
            </a:r>
            <a:r>
              <a:rPr sz="800">
                <a:solidFill>
                  <a:srgbClr val="2A2A3D"/>
                </a:solidFill>
                <a:latin typeface="Arial"/>
              </a:rPr>
              <a:t>Timbulan limbah padat kertas sekuriti mencapai 8,18 Juta LK/tahun (±60–65 ton kertas terbuang) dan peningkatan kelelahan operator di shift malam.</a:t>
            </a:r>
          </a:p>
          <a:p>
            <a:pPr>
              <a:spcAft>
                <a:spcPts val="350"/>
              </a:spcAft>
            </a:pPr>
            <a:r>
              <a:rPr sz="850" b="1">
                <a:solidFill>
                  <a:srgbClr val="C62828"/>
                </a:solidFill>
                <a:latin typeface="Arial"/>
              </a:rPr>
              <a:t>• 5. Layanan (Service SLA): </a:t>
            </a:r>
            <a:r>
              <a:rPr sz="800">
                <a:solidFill>
                  <a:srgbClr val="2A2A3D"/>
                </a:solidFill>
                <a:latin typeface="Arial"/>
              </a:rPr>
              <a:t>Risiko keterlambatan serah terima pesanan ke DJBC akibat antrean cetak ulang lembar rusak yang mengancam reputasi SLA perusahaan.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961888"/>
            <a:ext cx="11091672" cy="402336"/>
          </a:xfrm>
          <a:prstGeom prst="roundRect">
            <a:avLst/>
          </a:prstGeom>
          <a:solidFill>
            <a:srgbClr val="FFF9E6"/>
          </a:solidFill>
          <a:ln w="12700">
            <a:solidFill>
              <a:srgbClr val="FFE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/>
            <a:r>
              <a:rPr sz="750" b="1">
                <a:solidFill>
                  <a:srgbClr val="E65100"/>
                </a:solidFill>
                <a:latin typeface="Arial"/>
              </a:rPr>
              <a:t>*Catatan Asumsi Finansial (Confidentiality Protection): </a:t>
            </a:r>
            <a:r>
              <a:rPr sz="750" i="1">
                <a:solidFill>
                  <a:srgbClr val="2A2A3D"/>
                </a:solidFill>
                <a:latin typeface="Arial"/>
              </a:rPr>
              <a:t>Nilai Rp 3.000/lembar adalah estimasi internal (kertas sekuriti, tinta khusus, depresiasi &amp; operasional mesin, tenaga kerja) semata-mata untuk simulasi dampak inovasi (cost avoidance), BUKAN harga jual resmi atau rincian biaya pokok produksi resmi dari Perum Peruri yang bersifat rahasia perusahaan.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>
                <a:solidFill>
                  <a:srgbClr val="6E6E82"/>
                </a:solidFill>
                <a:latin typeface="Arial"/>
              </a:rPr>
              <a:t>IAKA 2026 — Kerangka Presentasi Peserta  ·  DSS SIRINE 4.0 Unit Cetak Pita Cukai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7899" y="-179222"/>
            <a:ext cx="1448409" cy="81473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5096" y="11887"/>
            <a:ext cx="1140256" cy="63459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94360"/>
            <a:ext cx="731520" cy="658368"/>
          </a:xfrm>
          <a:prstGeom prst="roundRect">
            <a:avLst/>
          </a:prstGeom>
          <a:solidFill>
            <a:srgbClr val="6A2C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548640"/>
            <a:ext cx="9326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20288F"/>
                </a:solidFill>
                <a:latin typeface="Arial"/>
              </a:rPr>
              <a:t>Analisis Penyebab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6A2CC9"/>
                </a:solidFill>
                <a:latin typeface="Arial"/>
              </a:rPr>
              <a:t>Tujuan bagian ini:  </a:t>
            </a:r>
            <a:r>
              <a:rPr sz="1150" b="0">
                <a:solidFill>
                  <a:srgbClr val="2A2A3D"/>
                </a:solidFill>
                <a:latin typeface="Arial"/>
              </a:rPr>
              <a:t>Tunjukkan akar masalah, bukan sekadar gejalanya.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7955279" cy="3840480"/>
          </a:xfrm>
          <a:prstGeom prst="roundRect">
            <a:avLst/>
          </a:prstGeom>
          <a:solidFill>
            <a:srgbClr val="F8F6FE"/>
          </a:solidFill>
          <a:ln w="12700">
            <a:solidFill>
              <a:srgbClr val="D9CE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182880"/>
          <a:lstStyle/>
          <a:p>
            <a:pPr algn="ctr"/>
            <a:r>
              <a:rPr sz="1300" b="1">
                <a:solidFill>
                  <a:srgbClr val="6A2CC9"/>
                </a:solidFill>
                <a:latin typeface="Arial"/>
              </a:rPr>
              <a:t>Yang harus disampaikan</a:t>
            </a:r>
          </a:p>
          <a:p>
            <a:pPr>
              <a:spcBef>
                <a:spcPts val="1200"/>
              </a:spcBef>
            </a:pPr>
            <a:r>
              <a:rPr sz="1100">
                <a:solidFill>
                  <a:srgbClr val="2A2A3D"/>
                </a:solidFill>
                <a:latin typeface="Arial"/>
              </a:rPr>
              <a:t>•  Metode analisis: 5 Why atau Fishbone (cukup satu gambar ringkas).</a:t>
            </a:r>
          </a:p>
          <a:p>
            <a:pPr>
              <a:spcBef>
                <a:spcPts val="1200"/>
              </a:spcBef>
            </a:pPr>
            <a:r>
              <a:rPr sz="1100">
                <a:solidFill>
                  <a:srgbClr val="2A2A3D"/>
                </a:solidFill>
                <a:latin typeface="Arial"/>
              </a:rPr>
              <a:t>•  Akar masalah utama yang akan diselesaikan.</a:t>
            </a:r>
          </a:p>
          <a:p>
            <a:pPr>
              <a:spcBef>
                <a:spcPts val="1200"/>
              </a:spcBef>
            </a:pPr>
            <a:r>
              <a:rPr sz="1100">
                <a:solidFill>
                  <a:srgbClr val="2A2A3D"/>
                </a:solidFill>
                <a:latin typeface="Arial"/>
              </a:rPr>
              <a:t>•  Temuan / bukti yang mendukung akar masalah tersebut.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>
                <a:solidFill>
                  <a:srgbClr val="6E6E82"/>
                </a:solidFill>
                <a:latin typeface="Arial"/>
              </a:rPr>
              <a:t>Ganti poin di atas dengan konten proyek Anda (grafik, tabel, foto, atau diagram).  ·  IAKA 2026 — Kerangka Presentasi Peserta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60861"/>
            <a:ext cx="731520" cy="73152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660861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615144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bagian ini:  </a:t>
            </a:r>
            <a:r>
              <a:rPr lang="en-US" sz="1450" i="1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Jelaskan solusi yang logis dan cukup sederhana untuk diuji skala kecil.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7955280" cy="3703320"/>
          </a:xfrm>
          <a:prstGeom prst="roundRect">
            <a:avLst>
              <a:gd name="adj" fmla="val 2963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101600" dist="25400" dir="5400000" algn="bl" rotWithShape="0">
              <a:srgbClr val="C9BEE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harus disampaikan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7223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Konsep &amp; mekanisme kerja: bagaimana solusi mengatasi akar masalah (sebab-akibat).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Unsur kebaruan / nilai tambah dibanding cara sekarang &amp; praktik unit lain.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proses Before → After (satu gambar sederhana).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perbaikan + estimasi dampak, dengan asumsi ditulis eksplisit.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8A8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poin di atas dengan konten proyek Anda (grafik, tabel, foto, atau diagram).  ·  IAKA 2026 — Kerangka Presentasi Peserta</a:t>
            </a:r>
            <a:endParaRPr lang="en-US" sz="9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414E8F2-A5B1-3F56-0F8B-39357A339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AFAF28-00EA-4613-5CBC-84951BC19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10986"/>
            <a:ext cx="731520" cy="73152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61098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556954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bagian ini:  </a:t>
            </a:r>
            <a:r>
              <a:rPr lang="en-US" sz="1450" i="1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Buktikan solusi benar-benar dijalankan dan hasilnya terukur (uji coba/MVP).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7955280" cy="3703320"/>
          </a:xfrm>
          <a:prstGeom prst="roundRect">
            <a:avLst>
              <a:gd name="adj" fmla="val 2963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101600" dist="25400" dir="5400000" algn="bl" rotWithShape="0">
              <a:srgbClr val="C9BEE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harus disampaikan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7223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Lingkup uji: lokasi, lini/shift, periode, dan PIC.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Kendala yang dihadapi &amp; cara penanggulangannya.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Before vs After: nilai, selisih, % perubahan, jumlah data (n).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realisasi vs </a:t>
            </a:r>
            <a:r>
              <a:rPr lang="en-US" sz="1450" dirty="0" err="1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</a:t>
            </a: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8A8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poin di atas dengan konten proyek Anda (grafik, tabel, foto, atau diagram).  ·  IAKA 2026 — Kerangka Presentasi Peserta</a:t>
            </a:r>
            <a:endParaRPr lang="en-US" sz="9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FB1BEF3-2E55-84AC-27CB-B08DDF2AE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3189091-A826-254D-C3B7-80DAB4A39A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19299"/>
            <a:ext cx="731520" cy="73152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619299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606829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bagian ini:  </a:t>
            </a:r>
            <a:r>
              <a:rPr lang="en-US" sz="1450" i="1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Sajikan dampak yang sudah tervalidasi — finansial dan non-finansial.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7955280" cy="3703320"/>
          </a:xfrm>
          <a:prstGeom prst="roundRect">
            <a:avLst>
              <a:gd name="adj" fmla="val 2963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101600" dist="25400" dir="5400000" algn="bl" rotWithShape="0">
              <a:srgbClr val="C9BEE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harus disampaikan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7223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saving / cost avoidance / revenue, diukur vs baseline terverifikasi.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bersih &amp; payback period 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 non-finansial: mutu, K3L, kepatuhan, kepuasan pengguna.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Keterkaitan dengan strategi perusahaan &amp; potensi replikasi.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8A8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poin di atas dengan konten proyek Anda (grafik, tabel, foto, atau diagram).  ·  IAKA 2026 — Kerangka Presentasi Peserta</a:t>
            </a:r>
            <a:endParaRPr lang="en-US" sz="9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3CABC3-586E-7F22-C24E-7E3D7593E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9D540F0-33FD-3602-4087-CD7695575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27610"/>
            <a:ext cx="731520" cy="73152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62761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590203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bagian ini:  </a:t>
            </a:r>
            <a:r>
              <a:rPr lang="en-US" sz="1450" i="1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Kunci cara kerja baru agar tidak bergantung pada ingatan atau satu orang.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7955280" cy="3703320"/>
          </a:xfrm>
          <a:prstGeom prst="roundRect">
            <a:avLst>
              <a:gd name="adj" fmla="val 2963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101600" dist="25400" dir="5400000" algn="bl" rotWithShape="0">
              <a:srgbClr val="C9BEE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harus disampaikan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7223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/ IK baru: nomor dokumen, </a:t>
            </a:r>
            <a:r>
              <a:rPr lang="en-US" sz="1450" dirty="0" err="1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pengesahan</a:t>
            </a: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knowledge: pelatihan + </a:t>
            </a:r>
            <a:r>
              <a:rPr lang="en-US" sz="1450" dirty="0" err="1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</a:t>
            </a: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50" dirty="0" err="1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pelaksanaan</a:t>
            </a: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8A8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poin di atas dengan konten proyek Anda (grafik, tabel, foto, atau diagram).  ·  IAKA 2026 — Kerangka Presentasi Peserta</a:t>
            </a:r>
            <a:endParaRPr lang="en-US" sz="9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55FF66F-2B02-03E0-9576-6DAE99F43A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4DD5B6A-805D-73DE-4FCE-471134F10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10987"/>
            <a:ext cx="731520" cy="731520"/>
          </a:xfrm>
          <a:prstGeom prst="ellipse">
            <a:avLst/>
          </a:prstGeom>
          <a:solidFill>
            <a:srgbClr val="6A2CC9"/>
          </a:solidFill>
          <a:ln/>
          <a:effectLst>
            <a:outerShdw blurRad="101600" dist="25400" dir="5400000" algn="bl" rotWithShape="0">
              <a:srgbClr val="6A2CC9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610987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63040" y="590203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028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Learned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bagian ini:  </a:t>
            </a:r>
            <a:r>
              <a:rPr lang="en-US" sz="1450" i="1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Bagikan pembelajaran agar inovasi/kaizen dapat direplikasi unit lain.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7955280" cy="3703320"/>
          </a:xfrm>
          <a:prstGeom prst="roundRect">
            <a:avLst>
              <a:gd name="adj" fmla="val 2963"/>
            </a:avLst>
          </a:prstGeom>
          <a:solidFill>
            <a:srgbClr val="F5F1FF"/>
          </a:solidFill>
          <a:ln w="12700">
            <a:solidFill>
              <a:srgbClr val="EFE7FF"/>
            </a:solidFill>
            <a:prstDash val="solid"/>
          </a:ln>
          <a:effectLst>
            <a:outerShdw blurRad="101600" dist="25400" dir="5400000" algn="bl" rotWithShape="0">
              <a:srgbClr val="C9BEE8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A2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harus disampaikan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7223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Tantangan utama selama pelaksanaan proyek.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Mitigasi yang dilakukan untuk mengatasinya.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Pembelajaran yang didapat &amp; rekomendasi pengembangan.</a:t>
            </a:r>
            <a:endParaRPr lang="en-US" sz="1450" dirty="0"/>
          </a:p>
          <a:p>
            <a:pPr marL="203200" indent="-2032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333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ringkas atas keseluruhan proyek.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8A8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poin di atas dengan konten proyek Anda (grafik, tabel, foto, atau diagram).  ·  IAKA 2026 — Kerangka Presentasi Peserta</a:t>
            </a:r>
            <a:endParaRPr lang="en-US" sz="9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8D59126-8548-61A7-0017-F07778DC58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6239" y="11533"/>
            <a:ext cx="1140374" cy="6347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B6288C3-0D77-7B8C-00A8-CEB921B939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8068" y="-179554"/>
            <a:ext cx="1448261" cy="8146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1F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937760" cy="4937760"/>
          </a:xfrm>
          <a:prstGeom prst="ellipse">
            <a:avLst/>
          </a:prstGeom>
          <a:solidFill>
            <a:srgbClr val="CB69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2926080"/>
            <a:ext cx="1219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KASIH</a:t>
            </a:r>
            <a:endParaRPr lang="en-US" sz="32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B018F83-B0C6-14BE-1C69-1A5E797B7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0874" y="89912"/>
            <a:ext cx="1454649" cy="80970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FE47E46-A9B3-39FE-12A6-B1B0ED1FD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7170" y="-139700"/>
            <a:ext cx="2339340" cy="1559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1047</Words>
  <Application>Microsoft Office PowerPoint</Application>
  <PresentationFormat>Widescreen</PresentationFormat>
  <Paragraphs>112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HY1-NB-080</cp:lastModifiedBy>
  <cp:revision>6</cp:revision>
  <dcterms:created xsi:type="dcterms:W3CDTF">2026-07-28T04:35:05Z</dcterms:created>
  <dcterms:modified xsi:type="dcterms:W3CDTF">2026-07-28T07:03:02Z</dcterms:modified>
</cp:coreProperties>
</file>
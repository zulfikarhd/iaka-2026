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67" r:id="rId18"/>
    <p:sldId id="259" r:id="rId5"/>
    <p:sldId id="260" r:id="rId6"/>
    <p:sldId id="268" r:id="rId20"/>
    <p:sldId id="273" r:id="rId25"/>
    <p:sldId id="274" r:id="rId26"/>
    <p:sldId id="275" r:id="rId27"/>
    <p:sldId id="276" r:id="rId28"/>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6"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8.xml"/><Relationship Id="rId8" Type="http://schemas.openxmlformats.org/officeDocument/2006/relationships/slide" Target="slides/slide12.xml"/><Relationship Id="rId9" Type="http://schemas.openxmlformats.org/officeDocument/2006/relationships/slide" Target="slides/slide13.xml"/><Relationship Id="rId10" Type="http://schemas.openxmlformats.org/officeDocument/2006/relationships/slide" Target="slides/slide14.xml"/><Relationship Id="rId11" Type="http://schemas.openxmlformats.org/officeDocument/2006/relationships/slide" Target="slides/slide15.xml"/><Relationship Id="rId12" Type="http://schemas.openxmlformats.org/officeDocument/2006/relationships/slide" Target="slides/slide16.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4.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Inschiet 2025 (%)</c:v>
                </c:pt>
              </c:strCache>
            </c:strRef>
          </c:tx>
          <c:spPr>
            <a:solidFill>
              <a:srgbClr val="6A2CC9"/>
            </a:solidFill>
          </c:spPr>
          <c:cat>
            <c:strRef>
              <c:f>Sheet1!$A$2:$A$5</c:f>
              <c:strCache>
                <c:ptCount val="4"/>
                <c:pt idx="0">
                  <c:v>Q1 (Jan-Mar)</c:v>
                </c:pt>
                <c:pt idx="1">
                  <c:v>Q2 (Apr-Jun)</c:v>
                </c:pt>
                <c:pt idx="2">
                  <c:v>Q3 (Jul-Sep)</c:v>
                </c:pt>
                <c:pt idx="3">
                  <c:v>Q4 (Okt-Des)</c:v>
                </c:pt>
              </c:strCache>
            </c:strRef>
          </c:cat>
          <c:val>
            <c:numRef>
              <c:f>Sheet1!$B$2:$B$5</c:f>
              <c:numCache>
                <c:formatCode>General</c:formatCode>
                <c:ptCount val="4"/>
                <c:pt idx="0">
                  <c:v>4.72</c:v>
                </c:pt>
                <c:pt idx="1">
                  <c:v>3.97</c:v>
                </c:pt>
                <c:pt idx="2">
                  <c:v>4.64</c:v>
                </c:pt>
                <c:pt idx="3">
                  <c:v>5.11</c:v>
                </c:pt>
              </c:numCache>
            </c:numRef>
          </c:val>
        </c:ser>
        <c:dLbls>
          <c:txPr>
            <a:bodyPr/>
            <a:lstStyle/>
            <a:p>
              <a:pPr>
                <a:defRPr sz="1000" b="1">
                  <a:solidFill>
                    <a:srgbClr val="20288F"/>
                  </a:solidFill>
                  <a:latin typeface="Aria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850">
                <a:latin typeface="Arial"/>
              </a:defRPr>
            </a:pPr>
          </a:p>
        </c:txPr>
        <c:crossAx val="-2113994440"/>
        <c:crosses val="autoZero"/>
        <c:auto val="1"/>
        <c:lblAlgn val="ctr"/>
        <c:lblOffset val="100"/>
        <c:noMultiLvlLbl val="0"/>
      </c:catAx>
      <c:valAx>
        <c:axId val="-2113994440"/>
        <c:scaling>
          <c:max val="6.0"/>
          <c:min val="0.0"/>
        </c:scaling>
        <c:delete val="0"/>
        <c:axPos val="l"/>
        <c:majorGridlines/>
        <c:majorTickMark val="out"/>
        <c:minorTickMark val="none"/>
        <c:tickLblPos val="nextTo"/>
        <c:txPr>
          <a:bodyPr/>
          <a:lstStyle/>
          <a:p>
            <a:pPr>
              <a:defRPr sz="850">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Inschiet (%)</c:v>
                </c:pt>
              </c:strCache>
            </c:strRef>
          </c:tx>
          <c:spPr>
            <a:solidFill>
              <a:srgbClr val="6A2CC9"/>
            </a:solidFill>
          </c:spPr>
          <c:cat>
            <c:strRef>
              <c:f>Sheet1!$A$2:$A$5</c:f>
              <c:strCache>
                <c:ptCount val="4"/>
                <c:pt idx="0">
                  <c:v>Q1 2025</c:v>
                </c:pt>
                <c:pt idx="1">
                  <c:v>Q2 2025</c:v>
                </c:pt>
                <c:pt idx="2">
                  <c:v>Q3 2025</c:v>
                </c:pt>
                <c:pt idx="3">
                  <c:v>Q4 2025</c:v>
                </c:pt>
              </c:strCache>
            </c:strRef>
          </c:cat>
          <c:val>
            <c:numRef>
              <c:f>Sheet1!$B$2:$B$5</c:f>
              <c:numCache>
                <c:formatCode>General</c:formatCode>
                <c:ptCount val="4"/>
                <c:pt idx="0">
                  <c:v>4.72</c:v>
                </c:pt>
                <c:pt idx="1">
                  <c:v>3.97</c:v>
                </c:pt>
                <c:pt idx="2">
                  <c:v>4.64</c:v>
                </c:pt>
                <c:pt idx="3">
                  <c:v>5.11</c:v>
                </c:pt>
              </c:numCache>
            </c:numRef>
          </c:val>
        </c:ser>
        <c:dLbls>
          <c:txPr>
            <a:bodyPr/>
            <a:lstStyle/>
            <a:p>
              <a:pPr>
                <a:defRPr sz="900" b="1">
                  <a:solidFill>
                    <a:srgbClr val="20288F"/>
                  </a:solidFill>
                  <a:latin typeface="Aria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850" b="1">
                <a:latin typeface="Arial"/>
              </a:defRPr>
            </a:pPr>
          </a:p>
        </c:txPr>
        <c:crossAx val="-2113994440"/>
        <c:crosses val="autoZero"/>
        <c:auto val="1"/>
        <c:lblAlgn val="ctr"/>
        <c:lblOffset val="100"/>
        <c:noMultiLvlLbl val="0"/>
      </c:catAx>
      <c:valAx>
        <c:axId val="-2113994440"/>
        <c:scaling>
          <c:max val="6.0"/>
          <c:min val="0.0"/>
        </c:scaling>
        <c:delete val="0"/>
        <c:axPos val="l"/>
        <c:majorGridlines/>
        <c:majorTickMark val="out"/>
        <c:minorTickMark val="none"/>
        <c:tickLblPos val="nextTo"/>
        <c:txPr>
          <a:bodyPr/>
          <a:lstStyle/>
          <a:p>
            <a:pPr>
              <a:defRPr sz="800">
                <a:latin typeface="Aria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Inschiet (%)</c:v>
                </c:pt>
              </c:strCache>
            </c:strRef>
          </c:tx>
          <c:spPr>
            <a:solidFill>
              <a:srgbClr val="6A2CC9"/>
            </a:solidFill>
          </c:spPr>
          <c:cat>
            <c:strRef>
              <c:f>Sheet1!$A$2:$A$5</c:f>
              <c:strCache>
                <c:ptCount val="4"/>
                <c:pt idx="0">
                  <c:v>Q1 2025</c:v>
                </c:pt>
                <c:pt idx="1">
                  <c:v>Q2 2025</c:v>
                </c:pt>
                <c:pt idx="2">
                  <c:v>Q3 2025</c:v>
                </c:pt>
                <c:pt idx="3">
                  <c:v>Q4 2025</c:v>
                </c:pt>
              </c:strCache>
            </c:strRef>
          </c:cat>
          <c:val>
            <c:numRef>
              <c:f>Sheet1!$B$2:$B$5</c:f>
              <c:numCache>
                <c:formatCode>General</c:formatCode>
                <c:ptCount val="4"/>
                <c:pt idx="0">
                  <c:v>4.72</c:v>
                </c:pt>
                <c:pt idx="1">
                  <c:v>3.97</c:v>
                </c:pt>
                <c:pt idx="2">
                  <c:v>4.64</c:v>
                </c:pt>
                <c:pt idx="3">
                  <c:v>5.11</c:v>
                </c:pt>
              </c:numCache>
            </c:numRef>
          </c:val>
        </c:ser>
        <c:dLbls>
          <c:txPr>
            <a:bodyPr/>
            <a:lstStyle/>
            <a:p>
              <a:pPr>
                <a:defRPr sz="850" b="1">
                  <a:solidFill>
                    <a:srgbClr val="20288F"/>
                  </a:solidFill>
                  <a:latin typeface="Aria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800" b="1">
                <a:latin typeface="Arial"/>
              </a:defRPr>
            </a:pPr>
          </a:p>
        </c:txPr>
        <c:crossAx val="-2113994440"/>
        <c:crosses val="autoZero"/>
        <c:auto val="1"/>
        <c:lblAlgn val="ctr"/>
        <c:lblOffset val="100"/>
        <c:noMultiLvlLbl val="0"/>
      </c:catAx>
      <c:valAx>
        <c:axId val="-2113994440"/>
        <c:scaling>
          <c:max val="6.0"/>
          <c:min val="0.0"/>
        </c:scaling>
        <c:delete val="0"/>
        <c:axPos val="l"/>
        <c:majorGridlines/>
        <c:majorTickMark val="out"/>
        <c:minorTickMark val="none"/>
        <c:tickLblPos val="nextTo"/>
        <c:txPr>
          <a:bodyPr/>
          <a:lstStyle/>
          <a:p>
            <a:pPr>
              <a:defRPr sz="750">
                <a:latin typeface="Aria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851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presentasi untuk peserta IAKA 2026. Sesuaikan bagian yang dibawakan dengan fase yang sedang dipresentasikan (lihat slide Alur).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tidak selalu dibawakan sekaligus. Pitching Fase 1 fokus pada bagian 1–4; bagian berikutnya menyusul sesuai kemajuan proyek di tiap fase.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Isi wajib (Panduan BAB 1): kondisi saat ini, alasan penting, data awal. Setiap angka harus punya satuan, periode, dan sumber — tanpa itu dianggap belum terverifikasi.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Masalah harus spesifik dan terukur. Cantumkan baseline dengan satuan jelas dan sumbernya (log produksi, laporan QC, tiket helpdesk, catatan keuangan) beserta periode pengambilan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Isi wajib (BAB 3–4): mekanisme kerja, keunggulan, kebaruan, alur before/after, target &amp; estimasi. Untuk Kaizen sebut SOP yang diperbaiki; untuk Inovasi sebut potensi standar baru / sumber pendapatan. Cantumkan rencana uji coba (MVP) dan calon Fasilitator min. Kadep.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Isi wajib (BAB 6–7): laporan uji coba (PIC, lokasi, waktu, sumber daya), kendala &amp; problem solving, tabel Before/After dengan n dan grafik tren, dibandingkan target Fase 1. Lampirkan data mentah yang dapat diolah dan bukti bertanggal.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Isi wajib (BAB 8–9): perhitungan business impact dengan kertas kerja terbuka (rumus dapat diperiksa), plus People/Customer/ESG impact. Setiap klaim non-finansial harus berbukti, sama seperti klaim finansial.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Isi wajib (BAB 10): mekanisme keberlanjutan — pengesahan &amp; registrasi dokumen, dokumen turunan diperbarui, bukti sosialisasi, penutupan resmi sistem lama, transfer knowledge, jadwal audit keberlanjutan, dan roadmap.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Isi wajib (BAB 11–12): tantangan, mitigasi, pembelajaran, kesimpulan &amp; rekomendasi pengembangan.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dengan pesan utama proyek dalam satu kalimat. Ingatkan penilaian IAKA 2026 berbasis bukti nyata di unit kerja.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chart" Target="../charts/chart1.xml"/><Relationship Id="rId5" Type="http://schemas.openxmlformats.org/officeDocument/2006/relationships/image" Target="../media/image2.png"/><Relationship Id="rId6"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chart" Target="../charts/chart2.xml"/><Relationship Id="rId8" Type="http://schemas.openxmlformats.org/officeDocument/2006/relationships/chart" Target="../charts/char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A1F9E"/>
        </a:solidFill>
        <a:effectLst/>
      </p:bgPr>
    </p:bg>
    <p:spTree>
      <p:nvGrpSpPr>
        <p:cNvPr id="1" name=""/>
        <p:cNvGrpSpPr/>
        <p:nvPr/>
      </p:nvGrpSpPr>
      <p:grpSpPr>
        <a:xfrm>
          <a:off x="0" y="0"/>
          <a:ext cx="0" cy="0"/>
          <a:chOff x="0" y="0"/>
          <a:chExt cx="0" cy="0"/>
        </a:xfrm>
      </p:grpSpPr>
      <p:sp>
        <p:nvSpPr>
          <p:cNvPr id="2" name="Shape 0"/>
          <p:cNvSpPr/>
          <p:nvPr/>
        </p:nvSpPr>
        <p:spPr>
          <a:xfrm>
            <a:off x="8778240" y="-1463040"/>
            <a:ext cx="4754880" cy="4754880"/>
          </a:xfrm>
          <a:prstGeom prst="ellipse">
            <a:avLst/>
          </a:prstGeom>
          <a:solidFill>
            <a:srgbClr val="FFFFFF">
              <a:alpha val="8000"/>
            </a:srgbClr>
          </a:solidFill>
          <a:ln/>
        </p:spPr>
      </p:sp>
      <p:sp>
        <p:nvSpPr>
          <p:cNvPr id="3" name="Shape 1"/>
          <p:cNvSpPr/>
          <p:nvPr/>
        </p:nvSpPr>
        <p:spPr>
          <a:xfrm>
            <a:off x="9875520" y="3840480"/>
            <a:ext cx="4206240" cy="4206240"/>
          </a:xfrm>
          <a:prstGeom prst="ellipse">
            <a:avLst/>
          </a:prstGeom>
          <a:solidFill>
            <a:srgbClr val="CB69FF">
              <a:alpha val="18000"/>
            </a:srgbClr>
          </a:solidFill>
          <a:ln/>
        </p:spPr>
      </p:sp>
      <p:sp>
        <p:nvSpPr>
          <p:cNvPr id="4" name="Text 2"/>
          <p:cNvSpPr/>
          <p:nvPr/>
        </p:nvSpPr>
        <p:spPr>
          <a:xfrm>
            <a:off x="548640" y="1371600"/>
            <a:ext cx="8229600" cy="365760"/>
          </a:xfrm>
          <a:prstGeom prst="rect">
            <a:avLst/>
          </a:prstGeom>
          <a:noFill/>
          <a:ln/>
        </p:spPr>
        <p:txBody>
          <a:bodyPr wrap="square" lIns="0" tIns="0" rIns="0" bIns="0" rtlCol="0" anchor="ctr"/>
          <a:lstStyle/>
          <a:p>
            <a:pPr marL="0" indent="0">
              <a:buNone/>
            </a:pPr>
            <a:r>
              <a:rPr lang="en-US" sz="1300" b="1" kern="0" spc="200" dirty="0">
                <a:solidFill>
                  <a:schemeClr val="bg2"/>
                </a:solidFill>
                <a:latin typeface="Arial" pitchFamily="34" charset="0"/>
                <a:ea typeface="Arial" pitchFamily="34" charset="-122"/>
                <a:cs typeface="Arial" pitchFamily="34" charset="-120"/>
              </a:rPr>
              <a:t>PERURI  ·  INNOVATION AWARD &amp; KAIZEN AWARD</a:t>
            </a:r>
            <a:endParaRPr lang="en-US" sz="1300" dirty="0">
              <a:solidFill>
                <a:schemeClr val="bg2"/>
              </a:solidFill>
            </a:endParaRPr>
          </a:p>
        </p:txBody>
      </p:sp>
      <p:sp>
        <p:nvSpPr>
          <p:cNvPr id="5" name="Text 3"/>
          <p:cNvSpPr/>
          <p:nvPr/>
        </p:nvSpPr>
        <p:spPr>
          <a:xfrm>
            <a:off x="548640" y="1874520"/>
            <a:ext cx="10058400" cy="82296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Kerangka Presentasi Peserta</a:t>
            </a:r>
            <a:endParaRPr lang="en-US" sz="4000" dirty="0"/>
          </a:p>
        </p:txBody>
      </p:sp>
      <p:sp>
        <p:nvSpPr>
          <p:cNvPr id="6" name="Text 4"/>
          <p:cNvSpPr/>
          <p:nvPr/>
        </p:nvSpPr>
        <p:spPr>
          <a:xfrm>
            <a:off x="548640" y="2697480"/>
            <a:ext cx="10058400" cy="822960"/>
          </a:xfrm>
          <a:prstGeom prst="rect">
            <a:avLst/>
          </a:prstGeom>
          <a:noFill/>
          <a:ln/>
        </p:spPr>
        <p:txBody>
          <a:bodyPr wrap="square" lIns="0" tIns="0" rIns="0" bIns="0" rtlCol="0" anchor="ctr"/>
          <a:lstStyle/>
          <a:p>
            <a:pPr marL="0" indent="0">
              <a:buNone/>
            </a:pPr>
            <a:r>
              <a:rPr lang="en-US" sz="4400" b="1" dirty="0">
                <a:solidFill>
                  <a:schemeClr val="bg1"/>
                </a:solidFill>
                <a:latin typeface="Arial" pitchFamily="34" charset="0"/>
                <a:ea typeface="Arial" pitchFamily="34" charset="-122"/>
                <a:cs typeface="Arial" pitchFamily="34" charset="-120"/>
              </a:rPr>
              <a:t>IAKA 2026</a:t>
            </a:r>
            <a:endParaRPr lang="en-US" sz="4400" dirty="0">
              <a:solidFill>
                <a:schemeClr val="bg1"/>
              </a:solidFill>
            </a:endParaRPr>
          </a:p>
        </p:txBody>
      </p:sp>
      <p:sp>
        <p:nvSpPr>
          <p:cNvPr id="9" name="Shape 7"/>
          <p:cNvSpPr/>
          <p:nvPr/>
        </p:nvSpPr>
        <p:spPr>
          <a:xfrm>
            <a:off x="548640" y="4892040"/>
            <a:ext cx="3200400" cy="502920"/>
          </a:xfrm>
          <a:prstGeom prst="roundRect">
            <a:avLst>
              <a:gd name="adj" fmla="val 49091"/>
            </a:avLst>
          </a:prstGeom>
          <a:solidFill>
            <a:srgbClr val="6A2CC9"/>
          </a:solidFill>
          <a:ln/>
        </p:spPr>
      </p:sp>
      <p:sp>
        <p:nvSpPr>
          <p:cNvPr id="10" name="Text 8"/>
          <p:cNvSpPr/>
          <p:nvPr/>
        </p:nvSpPr>
        <p:spPr>
          <a:xfrm>
            <a:off x="548640" y="4892040"/>
            <a:ext cx="320040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Divisi SDM · 2026</a:t>
            </a:r>
            <a:endParaRPr lang="en-US" sz="1300" dirty="0"/>
          </a:p>
        </p:txBody>
      </p:sp>
      <p:pic>
        <p:nvPicPr>
          <p:cNvPr id="12" name="Picture 11">
            <a:extLst>
              <a:ext uri="{FF2B5EF4-FFF2-40B4-BE49-F238E27FC236}">
                <a16:creationId xmlns:a16="http://schemas.microsoft.com/office/drawing/2014/main" id="{B2BD31F3-DBAE-CDA4-F47C-1AFBAA269268}"/>
              </a:ext>
            </a:extLst>
          </p:cNvPr>
          <p:cNvPicPr>
            <a:picLocks noChangeAspect="1"/>
          </p:cNvPicPr>
          <p:nvPr/>
        </p:nvPicPr>
        <p:blipFill>
          <a:blip r:embed="rId3"/>
          <a:stretch>
            <a:fillRect/>
          </a:stretch>
        </p:blipFill>
        <p:spPr>
          <a:xfrm>
            <a:off x="10670874" y="89912"/>
            <a:ext cx="1454649" cy="809702"/>
          </a:xfrm>
          <a:prstGeom prst="rect">
            <a:avLst/>
          </a:prstGeom>
        </p:spPr>
      </p:pic>
      <p:pic>
        <p:nvPicPr>
          <p:cNvPr id="14" name="Picture 13">
            <a:extLst>
              <a:ext uri="{FF2B5EF4-FFF2-40B4-BE49-F238E27FC236}">
                <a16:creationId xmlns:a16="http://schemas.microsoft.com/office/drawing/2014/main" id="{077B2836-D742-3AD4-8792-B1432173121B}"/>
              </a:ext>
            </a:extLst>
          </p:cNvPr>
          <p:cNvPicPr>
            <a:picLocks noChangeAspect="1"/>
          </p:cNvPicPr>
          <p:nvPr/>
        </p:nvPicPr>
        <p:blipFill>
          <a:blip r:embed="rId4"/>
          <a:stretch>
            <a:fillRect/>
          </a:stretch>
        </p:blipFill>
        <p:spPr>
          <a:xfrm>
            <a:off x="-217170" y="-139700"/>
            <a:ext cx="2339340" cy="15595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646300"/>
            <a:ext cx="640080" cy="640080"/>
          </a:xfrm>
          <a:prstGeom prst="ellipse">
            <a:avLst/>
          </a:prstGeom>
          <a:solidFill>
            <a:srgbClr val="6A2CC9"/>
          </a:solidFill>
          <a:ln/>
          <a:effectLst>
            <a:outerShdw blurRad="101600" dist="25400" dir="5400000" algn="bl" rotWithShape="0">
              <a:srgbClr val="6A2CC9">
                <a:alpha val="28000"/>
              </a:srgbClr>
            </a:outerShdw>
          </a:effectLst>
        </p:spPr>
      </p:sp>
      <p:sp>
        <p:nvSpPr>
          <p:cNvPr id="3" name="Text 1"/>
          <p:cNvSpPr/>
          <p:nvPr/>
        </p:nvSpPr>
        <p:spPr>
          <a:xfrm>
            <a:off x="548640" y="635093"/>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i</a:t>
            </a:r>
            <a:endParaRPr lang="en-US" sz="2200" dirty="0"/>
          </a:p>
        </p:txBody>
      </p:sp>
      <p:sp>
        <p:nvSpPr>
          <p:cNvPr id="4" name="Text 2"/>
          <p:cNvSpPr/>
          <p:nvPr/>
        </p:nvSpPr>
        <p:spPr>
          <a:xfrm>
            <a:off x="1340193" y="600580"/>
            <a:ext cx="8686800" cy="731520"/>
          </a:xfrm>
          <a:prstGeom prst="rect">
            <a:avLst/>
          </a:prstGeom>
          <a:noFill/>
          <a:ln/>
        </p:spPr>
        <p:txBody>
          <a:bodyPr wrap="square" lIns="0" tIns="0" rIns="0" bIns="0" rtlCol="0" anchor="ctr"/>
          <a:lstStyle/>
          <a:p>
            <a:pPr marL="0" indent="0">
              <a:buNone/>
            </a:pPr>
            <a:r>
              <a:rPr lang="en-US" sz="3200" b="1" dirty="0">
                <a:solidFill>
                  <a:srgbClr val="20288F"/>
                </a:solidFill>
                <a:latin typeface="Arial" pitchFamily="34" charset="0"/>
                <a:ea typeface="Arial" pitchFamily="34" charset="-122"/>
                <a:cs typeface="Arial" pitchFamily="34" charset="-120"/>
              </a:rPr>
              <a:t>Alur 8 bagian presentasi</a:t>
            </a:r>
            <a:endParaRPr lang="en-US" sz="3200" dirty="0"/>
          </a:p>
        </p:txBody>
      </p:sp>
      <p:sp>
        <p:nvSpPr>
          <p:cNvPr id="6" name="Shape 4"/>
          <p:cNvSpPr/>
          <p:nvPr/>
        </p:nvSpPr>
        <p:spPr>
          <a:xfrm>
            <a:off x="548640" y="1874520"/>
            <a:ext cx="2581580" cy="1417320"/>
          </a:xfrm>
          <a:prstGeom prst="roundRect">
            <a:avLst>
              <a:gd name="adj" fmla="val 6452"/>
            </a:avLst>
          </a:prstGeom>
          <a:solidFill>
            <a:srgbClr val="F5F1FF"/>
          </a:solidFill>
          <a:ln w="12700">
            <a:solidFill>
              <a:srgbClr val="EFE7FF"/>
            </a:solidFill>
            <a:prstDash val="solid"/>
          </a:ln>
          <a:effectLst>
            <a:outerShdw blurRad="76200" dist="25400" dir="5400000" algn="bl" rotWithShape="0">
              <a:srgbClr val="C9BEE8">
                <a:alpha val="35000"/>
              </a:srgbClr>
            </a:outerShdw>
          </a:effectLst>
        </p:spPr>
      </p:sp>
      <p:sp>
        <p:nvSpPr>
          <p:cNvPr id="7" name="Shape 5"/>
          <p:cNvSpPr/>
          <p:nvPr/>
        </p:nvSpPr>
        <p:spPr>
          <a:xfrm>
            <a:off x="749808" y="2075688"/>
            <a:ext cx="502920" cy="502920"/>
          </a:xfrm>
          <a:prstGeom prst="ellipse">
            <a:avLst/>
          </a:prstGeom>
          <a:solidFill>
            <a:srgbClr val="6A2CC9"/>
          </a:solidFill>
          <a:ln/>
        </p:spPr>
      </p:sp>
      <p:sp>
        <p:nvSpPr>
          <p:cNvPr id="8" name="Text 6"/>
          <p:cNvSpPr/>
          <p:nvPr/>
        </p:nvSpPr>
        <p:spPr>
          <a:xfrm>
            <a:off x="749808" y="2075688"/>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01</a:t>
            </a:r>
            <a:endParaRPr lang="en-US" sz="1500" dirty="0"/>
          </a:p>
        </p:txBody>
      </p:sp>
      <p:sp>
        <p:nvSpPr>
          <p:cNvPr id="9" name="Text 7"/>
          <p:cNvSpPr/>
          <p:nvPr/>
        </p:nvSpPr>
        <p:spPr>
          <a:xfrm>
            <a:off x="731520" y="2651760"/>
            <a:ext cx="2215820" cy="411480"/>
          </a:xfrm>
          <a:prstGeom prst="rect">
            <a:avLst/>
          </a:prstGeom>
          <a:noFill/>
          <a:ln/>
        </p:spPr>
        <p:txBody>
          <a:bodyPr wrap="square" lIns="0" tIns="0" rIns="0" bIns="0" rtlCol="0" anchor="t"/>
          <a:lstStyle/>
          <a:p>
            <a:pPr marL="0" indent="0">
              <a:buNone/>
            </a:pPr>
            <a:r>
              <a:rPr lang="en-US" sz="1450" b="1" dirty="0">
                <a:solidFill>
                  <a:srgbClr val="20288F"/>
                </a:solidFill>
                <a:latin typeface="Arial" pitchFamily="34" charset="0"/>
                <a:ea typeface="Arial" pitchFamily="34" charset="-122"/>
                <a:cs typeface="Arial" pitchFamily="34" charset="-120"/>
              </a:rPr>
              <a:t>Latar Belakang</a:t>
            </a:r>
            <a:endParaRPr lang="en-US" sz="1450" dirty="0"/>
          </a:p>
        </p:txBody>
      </p:sp>
      <p:sp>
        <p:nvSpPr>
          <p:cNvPr id="11" name="Shape 9"/>
          <p:cNvSpPr/>
          <p:nvPr/>
        </p:nvSpPr>
        <p:spPr>
          <a:xfrm>
            <a:off x="3386252" y="1874520"/>
            <a:ext cx="2581580" cy="1417320"/>
          </a:xfrm>
          <a:prstGeom prst="roundRect">
            <a:avLst>
              <a:gd name="adj" fmla="val 6452"/>
            </a:avLst>
          </a:prstGeom>
          <a:solidFill>
            <a:srgbClr val="F5F1FF"/>
          </a:solidFill>
          <a:ln w="12700">
            <a:solidFill>
              <a:srgbClr val="EFE7FF"/>
            </a:solidFill>
            <a:prstDash val="solid"/>
          </a:ln>
          <a:effectLst>
            <a:outerShdw blurRad="76200" dist="25400" dir="5400000" algn="bl" rotWithShape="0">
              <a:srgbClr val="C9BEE8">
                <a:alpha val="35000"/>
              </a:srgbClr>
            </a:outerShdw>
          </a:effectLst>
        </p:spPr>
      </p:sp>
      <p:sp>
        <p:nvSpPr>
          <p:cNvPr id="12" name="Shape 10"/>
          <p:cNvSpPr/>
          <p:nvPr/>
        </p:nvSpPr>
        <p:spPr>
          <a:xfrm>
            <a:off x="3587420" y="2075688"/>
            <a:ext cx="502920" cy="502920"/>
          </a:xfrm>
          <a:prstGeom prst="ellipse">
            <a:avLst/>
          </a:prstGeom>
          <a:solidFill>
            <a:srgbClr val="6A2CC9"/>
          </a:solidFill>
          <a:ln/>
        </p:spPr>
      </p:sp>
      <p:sp>
        <p:nvSpPr>
          <p:cNvPr id="13" name="Text 11"/>
          <p:cNvSpPr/>
          <p:nvPr/>
        </p:nvSpPr>
        <p:spPr>
          <a:xfrm>
            <a:off x="3587420" y="2075688"/>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02</a:t>
            </a:r>
            <a:endParaRPr lang="en-US" sz="1500" dirty="0"/>
          </a:p>
        </p:txBody>
      </p:sp>
      <p:sp>
        <p:nvSpPr>
          <p:cNvPr id="14" name="Text 12"/>
          <p:cNvSpPr/>
          <p:nvPr/>
        </p:nvSpPr>
        <p:spPr>
          <a:xfrm>
            <a:off x="3569132" y="2651760"/>
            <a:ext cx="2215820" cy="411480"/>
          </a:xfrm>
          <a:prstGeom prst="rect">
            <a:avLst/>
          </a:prstGeom>
          <a:noFill/>
          <a:ln/>
        </p:spPr>
        <p:txBody>
          <a:bodyPr wrap="square" lIns="0" tIns="0" rIns="0" bIns="0" rtlCol="0" anchor="t"/>
          <a:lstStyle/>
          <a:p>
            <a:pPr marL="0" indent="0">
              <a:buNone/>
            </a:pPr>
            <a:r>
              <a:rPr lang="en-US" sz="1450" b="1" dirty="0">
                <a:solidFill>
                  <a:srgbClr val="20288F"/>
                </a:solidFill>
                <a:latin typeface="Arial" pitchFamily="34" charset="0"/>
                <a:ea typeface="Arial" pitchFamily="34" charset="-122"/>
                <a:cs typeface="Arial" pitchFamily="34" charset="-120"/>
              </a:rPr>
              <a:t>Masalah</a:t>
            </a:r>
            <a:endParaRPr lang="en-US" sz="1450" dirty="0"/>
          </a:p>
        </p:txBody>
      </p:sp>
      <p:sp>
        <p:nvSpPr>
          <p:cNvPr id="16" name="Shape 14"/>
          <p:cNvSpPr/>
          <p:nvPr/>
        </p:nvSpPr>
        <p:spPr>
          <a:xfrm>
            <a:off x="6223864" y="1874520"/>
            <a:ext cx="2581580" cy="1417320"/>
          </a:xfrm>
          <a:prstGeom prst="roundRect">
            <a:avLst>
              <a:gd name="adj" fmla="val 6452"/>
            </a:avLst>
          </a:prstGeom>
          <a:solidFill>
            <a:srgbClr val="F5F1FF"/>
          </a:solidFill>
          <a:ln w="12700">
            <a:solidFill>
              <a:srgbClr val="EFE7FF"/>
            </a:solidFill>
            <a:prstDash val="solid"/>
          </a:ln>
          <a:effectLst>
            <a:outerShdw blurRad="76200" dist="25400" dir="5400000" algn="bl" rotWithShape="0">
              <a:srgbClr val="C9BEE8">
                <a:alpha val="35000"/>
              </a:srgbClr>
            </a:outerShdw>
          </a:effectLst>
        </p:spPr>
      </p:sp>
      <p:sp>
        <p:nvSpPr>
          <p:cNvPr id="17" name="Shape 15"/>
          <p:cNvSpPr/>
          <p:nvPr/>
        </p:nvSpPr>
        <p:spPr>
          <a:xfrm>
            <a:off x="6425032" y="2075688"/>
            <a:ext cx="502920" cy="502920"/>
          </a:xfrm>
          <a:prstGeom prst="ellipse">
            <a:avLst/>
          </a:prstGeom>
          <a:solidFill>
            <a:srgbClr val="6A2CC9"/>
          </a:solidFill>
          <a:ln/>
        </p:spPr>
      </p:sp>
      <p:sp>
        <p:nvSpPr>
          <p:cNvPr id="18" name="Text 16"/>
          <p:cNvSpPr/>
          <p:nvPr/>
        </p:nvSpPr>
        <p:spPr>
          <a:xfrm>
            <a:off x="6425032" y="2075688"/>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03</a:t>
            </a:r>
            <a:endParaRPr lang="en-US" sz="1500" dirty="0"/>
          </a:p>
        </p:txBody>
      </p:sp>
      <p:sp>
        <p:nvSpPr>
          <p:cNvPr id="19" name="Text 17"/>
          <p:cNvSpPr/>
          <p:nvPr/>
        </p:nvSpPr>
        <p:spPr>
          <a:xfrm>
            <a:off x="6406744" y="2651760"/>
            <a:ext cx="2215820" cy="411480"/>
          </a:xfrm>
          <a:prstGeom prst="rect">
            <a:avLst/>
          </a:prstGeom>
          <a:noFill/>
          <a:ln/>
        </p:spPr>
        <p:txBody>
          <a:bodyPr wrap="square" lIns="0" tIns="0" rIns="0" bIns="0" rtlCol="0" anchor="t"/>
          <a:lstStyle/>
          <a:p>
            <a:pPr marL="0" indent="0">
              <a:buNone/>
            </a:pPr>
            <a:r>
              <a:rPr lang="en-US" sz="1450" b="1" dirty="0">
                <a:solidFill>
                  <a:srgbClr val="20288F"/>
                </a:solidFill>
                <a:latin typeface="Arial" pitchFamily="34" charset="0"/>
                <a:ea typeface="Arial" pitchFamily="34" charset="-122"/>
                <a:cs typeface="Arial" pitchFamily="34" charset="-120"/>
              </a:rPr>
              <a:t>Analisis Penyebab</a:t>
            </a:r>
            <a:endParaRPr lang="en-US" sz="1450" dirty="0"/>
          </a:p>
        </p:txBody>
      </p:sp>
      <p:sp>
        <p:nvSpPr>
          <p:cNvPr id="21" name="Shape 19"/>
          <p:cNvSpPr/>
          <p:nvPr/>
        </p:nvSpPr>
        <p:spPr>
          <a:xfrm>
            <a:off x="9061475" y="1874520"/>
            <a:ext cx="2581580" cy="1417320"/>
          </a:xfrm>
          <a:prstGeom prst="roundRect">
            <a:avLst>
              <a:gd name="adj" fmla="val 6452"/>
            </a:avLst>
          </a:prstGeom>
          <a:solidFill>
            <a:srgbClr val="F5F1FF"/>
          </a:solidFill>
          <a:ln w="12700">
            <a:solidFill>
              <a:srgbClr val="EFE7FF"/>
            </a:solidFill>
            <a:prstDash val="solid"/>
          </a:ln>
          <a:effectLst>
            <a:outerShdw blurRad="76200" dist="25400" dir="5400000" algn="bl" rotWithShape="0">
              <a:srgbClr val="C9BEE8">
                <a:alpha val="35000"/>
              </a:srgbClr>
            </a:outerShdw>
          </a:effectLst>
        </p:spPr>
      </p:sp>
      <p:sp>
        <p:nvSpPr>
          <p:cNvPr id="22" name="Shape 20"/>
          <p:cNvSpPr/>
          <p:nvPr/>
        </p:nvSpPr>
        <p:spPr>
          <a:xfrm>
            <a:off x="9262643" y="2075688"/>
            <a:ext cx="502920" cy="502920"/>
          </a:xfrm>
          <a:prstGeom prst="ellipse">
            <a:avLst/>
          </a:prstGeom>
          <a:solidFill>
            <a:srgbClr val="6A2CC9"/>
          </a:solidFill>
          <a:ln/>
        </p:spPr>
      </p:sp>
      <p:sp>
        <p:nvSpPr>
          <p:cNvPr id="23" name="Text 21"/>
          <p:cNvSpPr/>
          <p:nvPr/>
        </p:nvSpPr>
        <p:spPr>
          <a:xfrm>
            <a:off x="9262643" y="2075688"/>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04</a:t>
            </a:r>
            <a:endParaRPr lang="en-US" sz="1500" dirty="0"/>
          </a:p>
        </p:txBody>
      </p:sp>
      <p:sp>
        <p:nvSpPr>
          <p:cNvPr id="24" name="Text 22"/>
          <p:cNvSpPr/>
          <p:nvPr/>
        </p:nvSpPr>
        <p:spPr>
          <a:xfrm>
            <a:off x="9244355" y="2651760"/>
            <a:ext cx="2215820" cy="411480"/>
          </a:xfrm>
          <a:prstGeom prst="rect">
            <a:avLst/>
          </a:prstGeom>
          <a:noFill/>
          <a:ln/>
        </p:spPr>
        <p:txBody>
          <a:bodyPr wrap="square" lIns="0" tIns="0" rIns="0" bIns="0" rtlCol="0" anchor="t"/>
          <a:lstStyle/>
          <a:p>
            <a:pPr marL="0" indent="0">
              <a:buNone/>
            </a:pPr>
            <a:r>
              <a:rPr lang="en-US" sz="1450" b="1" dirty="0">
                <a:solidFill>
                  <a:srgbClr val="20288F"/>
                </a:solidFill>
                <a:latin typeface="Arial" pitchFamily="34" charset="0"/>
                <a:ea typeface="Arial" pitchFamily="34" charset="-122"/>
                <a:cs typeface="Arial" pitchFamily="34" charset="-120"/>
              </a:rPr>
              <a:t>Solusi</a:t>
            </a:r>
            <a:endParaRPr lang="en-US" sz="1450" dirty="0"/>
          </a:p>
        </p:txBody>
      </p:sp>
      <p:sp>
        <p:nvSpPr>
          <p:cNvPr id="26" name="Shape 24"/>
          <p:cNvSpPr/>
          <p:nvPr/>
        </p:nvSpPr>
        <p:spPr>
          <a:xfrm>
            <a:off x="548640" y="3566160"/>
            <a:ext cx="2581580" cy="1417320"/>
          </a:xfrm>
          <a:prstGeom prst="roundRect">
            <a:avLst>
              <a:gd name="adj" fmla="val 6452"/>
            </a:avLst>
          </a:prstGeom>
          <a:solidFill>
            <a:srgbClr val="F5F1FF"/>
          </a:solidFill>
          <a:ln w="12700">
            <a:solidFill>
              <a:srgbClr val="EFE7FF"/>
            </a:solidFill>
            <a:prstDash val="solid"/>
          </a:ln>
          <a:effectLst>
            <a:outerShdw blurRad="76200" dist="25400" dir="5400000" algn="bl" rotWithShape="0">
              <a:srgbClr val="C9BEE8">
                <a:alpha val="35000"/>
              </a:srgbClr>
            </a:outerShdw>
          </a:effectLst>
        </p:spPr>
      </p:sp>
      <p:sp>
        <p:nvSpPr>
          <p:cNvPr id="27" name="Shape 25"/>
          <p:cNvSpPr/>
          <p:nvPr/>
        </p:nvSpPr>
        <p:spPr>
          <a:xfrm>
            <a:off x="749808" y="3767328"/>
            <a:ext cx="502920" cy="502920"/>
          </a:xfrm>
          <a:prstGeom prst="ellipse">
            <a:avLst/>
          </a:prstGeom>
          <a:solidFill>
            <a:srgbClr val="6A2CC9"/>
          </a:solidFill>
          <a:ln/>
        </p:spPr>
      </p:sp>
      <p:sp>
        <p:nvSpPr>
          <p:cNvPr id="28" name="Text 26"/>
          <p:cNvSpPr/>
          <p:nvPr/>
        </p:nvSpPr>
        <p:spPr>
          <a:xfrm>
            <a:off x="749808" y="3767328"/>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05</a:t>
            </a:r>
            <a:endParaRPr lang="en-US" sz="1500" dirty="0"/>
          </a:p>
        </p:txBody>
      </p:sp>
      <p:sp>
        <p:nvSpPr>
          <p:cNvPr id="29" name="Text 27"/>
          <p:cNvSpPr/>
          <p:nvPr/>
        </p:nvSpPr>
        <p:spPr>
          <a:xfrm>
            <a:off x="731520" y="4343400"/>
            <a:ext cx="2215820" cy="411480"/>
          </a:xfrm>
          <a:prstGeom prst="rect">
            <a:avLst/>
          </a:prstGeom>
          <a:noFill/>
          <a:ln/>
        </p:spPr>
        <p:txBody>
          <a:bodyPr wrap="square" lIns="0" tIns="0" rIns="0" bIns="0" rtlCol="0" anchor="t"/>
          <a:lstStyle/>
          <a:p>
            <a:pPr marL="0" indent="0">
              <a:buNone/>
            </a:pPr>
            <a:r>
              <a:rPr lang="en-US" sz="1450" b="1" dirty="0">
                <a:solidFill>
                  <a:srgbClr val="20288F"/>
                </a:solidFill>
                <a:latin typeface="Arial" pitchFamily="34" charset="0"/>
                <a:ea typeface="Arial" pitchFamily="34" charset="-122"/>
                <a:cs typeface="Arial" pitchFamily="34" charset="-120"/>
              </a:rPr>
              <a:t>Implementasi</a:t>
            </a:r>
            <a:endParaRPr lang="en-US" sz="1450" dirty="0"/>
          </a:p>
        </p:txBody>
      </p:sp>
      <p:sp>
        <p:nvSpPr>
          <p:cNvPr id="31" name="Shape 29"/>
          <p:cNvSpPr/>
          <p:nvPr/>
        </p:nvSpPr>
        <p:spPr>
          <a:xfrm>
            <a:off x="3386252" y="3566160"/>
            <a:ext cx="2581580" cy="1417320"/>
          </a:xfrm>
          <a:prstGeom prst="roundRect">
            <a:avLst>
              <a:gd name="adj" fmla="val 6452"/>
            </a:avLst>
          </a:prstGeom>
          <a:solidFill>
            <a:srgbClr val="F5F1FF"/>
          </a:solidFill>
          <a:ln w="12700">
            <a:solidFill>
              <a:srgbClr val="EFE7FF"/>
            </a:solidFill>
            <a:prstDash val="solid"/>
          </a:ln>
          <a:effectLst>
            <a:outerShdw blurRad="76200" dist="25400" dir="5400000" algn="bl" rotWithShape="0">
              <a:srgbClr val="C9BEE8">
                <a:alpha val="35000"/>
              </a:srgbClr>
            </a:outerShdw>
          </a:effectLst>
        </p:spPr>
      </p:sp>
      <p:sp>
        <p:nvSpPr>
          <p:cNvPr id="32" name="Shape 30"/>
          <p:cNvSpPr/>
          <p:nvPr/>
        </p:nvSpPr>
        <p:spPr>
          <a:xfrm>
            <a:off x="3587420" y="3767328"/>
            <a:ext cx="502920" cy="502920"/>
          </a:xfrm>
          <a:prstGeom prst="ellipse">
            <a:avLst/>
          </a:prstGeom>
          <a:solidFill>
            <a:srgbClr val="6A2CC9"/>
          </a:solidFill>
          <a:ln/>
        </p:spPr>
      </p:sp>
      <p:sp>
        <p:nvSpPr>
          <p:cNvPr id="33" name="Text 31"/>
          <p:cNvSpPr/>
          <p:nvPr/>
        </p:nvSpPr>
        <p:spPr>
          <a:xfrm>
            <a:off x="3587420" y="3767328"/>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06</a:t>
            </a:r>
            <a:endParaRPr lang="en-US" sz="1500" dirty="0"/>
          </a:p>
        </p:txBody>
      </p:sp>
      <p:sp>
        <p:nvSpPr>
          <p:cNvPr id="34" name="Text 32"/>
          <p:cNvSpPr/>
          <p:nvPr/>
        </p:nvSpPr>
        <p:spPr>
          <a:xfrm>
            <a:off x="3569132" y="4343400"/>
            <a:ext cx="2215820" cy="411480"/>
          </a:xfrm>
          <a:prstGeom prst="rect">
            <a:avLst/>
          </a:prstGeom>
          <a:noFill/>
          <a:ln/>
        </p:spPr>
        <p:txBody>
          <a:bodyPr wrap="square" lIns="0" tIns="0" rIns="0" bIns="0" rtlCol="0" anchor="t"/>
          <a:lstStyle/>
          <a:p>
            <a:pPr marL="0" indent="0">
              <a:buNone/>
            </a:pPr>
            <a:r>
              <a:rPr lang="en-US" sz="1450" b="1" dirty="0">
                <a:solidFill>
                  <a:srgbClr val="20288F"/>
                </a:solidFill>
                <a:latin typeface="Arial" pitchFamily="34" charset="0"/>
                <a:ea typeface="Arial" pitchFamily="34" charset="-122"/>
                <a:cs typeface="Arial" pitchFamily="34" charset="-120"/>
              </a:rPr>
              <a:t>Dampak</a:t>
            </a:r>
            <a:endParaRPr lang="en-US" sz="1450" dirty="0"/>
          </a:p>
        </p:txBody>
      </p:sp>
      <p:sp>
        <p:nvSpPr>
          <p:cNvPr id="36" name="Shape 34"/>
          <p:cNvSpPr/>
          <p:nvPr/>
        </p:nvSpPr>
        <p:spPr>
          <a:xfrm>
            <a:off x="6223864" y="3566160"/>
            <a:ext cx="2581580" cy="1417320"/>
          </a:xfrm>
          <a:prstGeom prst="roundRect">
            <a:avLst>
              <a:gd name="adj" fmla="val 6452"/>
            </a:avLst>
          </a:prstGeom>
          <a:solidFill>
            <a:srgbClr val="F5F1FF"/>
          </a:solidFill>
          <a:ln w="12700">
            <a:solidFill>
              <a:srgbClr val="EFE7FF"/>
            </a:solidFill>
            <a:prstDash val="solid"/>
          </a:ln>
          <a:effectLst>
            <a:outerShdw blurRad="76200" dist="25400" dir="5400000" algn="bl" rotWithShape="0">
              <a:srgbClr val="C9BEE8">
                <a:alpha val="35000"/>
              </a:srgbClr>
            </a:outerShdw>
          </a:effectLst>
        </p:spPr>
      </p:sp>
      <p:sp>
        <p:nvSpPr>
          <p:cNvPr id="37" name="Shape 35"/>
          <p:cNvSpPr/>
          <p:nvPr/>
        </p:nvSpPr>
        <p:spPr>
          <a:xfrm>
            <a:off x="6425032" y="3767328"/>
            <a:ext cx="502920" cy="502920"/>
          </a:xfrm>
          <a:prstGeom prst="ellipse">
            <a:avLst/>
          </a:prstGeom>
          <a:solidFill>
            <a:srgbClr val="6A2CC9"/>
          </a:solidFill>
          <a:ln/>
        </p:spPr>
      </p:sp>
      <p:sp>
        <p:nvSpPr>
          <p:cNvPr id="38" name="Text 36"/>
          <p:cNvSpPr/>
          <p:nvPr/>
        </p:nvSpPr>
        <p:spPr>
          <a:xfrm>
            <a:off x="6425032" y="3767328"/>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07</a:t>
            </a:r>
            <a:endParaRPr lang="en-US" sz="1500" dirty="0"/>
          </a:p>
        </p:txBody>
      </p:sp>
      <p:sp>
        <p:nvSpPr>
          <p:cNvPr id="39" name="Text 37"/>
          <p:cNvSpPr/>
          <p:nvPr/>
        </p:nvSpPr>
        <p:spPr>
          <a:xfrm>
            <a:off x="6406744" y="4343400"/>
            <a:ext cx="2215820" cy="411480"/>
          </a:xfrm>
          <a:prstGeom prst="rect">
            <a:avLst/>
          </a:prstGeom>
          <a:noFill/>
          <a:ln/>
        </p:spPr>
        <p:txBody>
          <a:bodyPr wrap="square" lIns="0" tIns="0" rIns="0" bIns="0" rtlCol="0" anchor="t"/>
          <a:lstStyle/>
          <a:p>
            <a:pPr marL="0" indent="0">
              <a:buNone/>
            </a:pPr>
            <a:r>
              <a:rPr lang="en-US" sz="1450" b="1" dirty="0">
                <a:solidFill>
                  <a:srgbClr val="20288F"/>
                </a:solidFill>
                <a:latin typeface="Arial" pitchFamily="34" charset="0"/>
                <a:ea typeface="Arial" pitchFamily="34" charset="-122"/>
                <a:cs typeface="Arial" pitchFamily="34" charset="-120"/>
              </a:rPr>
              <a:t>Sustainability</a:t>
            </a:r>
            <a:endParaRPr lang="en-US" sz="1450" dirty="0"/>
          </a:p>
        </p:txBody>
      </p:sp>
      <p:sp>
        <p:nvSpPr>
          <p:cNvPr id="41" name="Shape 39"/>
          <p:cNvSpPr/>
          <p:nvPr/>
        </p:nvSpPr>
        <p:spPr>
          <a:xfrm>
            <a:off x="9061475" y="3566160"/>
            <a:ext cx="2581580" cy="1417320"/>
          </a:xfrm>
          <a:prstGeom prst="roundRect">
            <a:avLst>
              <a:gd name="adj" fmla="val 6452"/>
            </a:avLst>
          </a:prstGeom>
          <a:solidFill>
            <a:srgbClr val="F5F1FF"/>
          </a:solidFill>
          <a:ln w="12700">
            <a:solidFill>
              <a:srgbClr val="EFE7FF"/>
            </a:solidFill>
            <a:prstDash val="solid"/>
          </a:ln>
          <a:effectLst>
            <a:outerShdw blurRad="76200" dist="25400" dir="5400000" algn="bl" rotWithShape="0">
              <a:srgbClr val="C9BEE8">
                <a:alpha val="35000"/>
              </a:srgbClr>
            </a:outerShdw>
          </a:effectLst>
        </p:spPr>
      </p:sp>
      <p:sp>
        <p:nvSpPr>
          <p:cNvPr id="42" name="Shape 40"/>
          <p:cNvSpPr/>
          <p:nvPr/>
        </p:nvSpPr>
        <p:spPr>
          <a:xfrm>
            <a:off x="9262643" y="3767328"/>
            <a:ext cx="502920" cy="502920"/>
          </a:xfrm>
          <a:prstGeom prst="ellipse">
            <a:avLst/>
          </a:prstGeom>
          <a:solidFill>
            <a:srgbClr val="6A2CC9"/>
          </a:solidFill>
          <a:ln/>
        </p:spPr>
      </p:sp>
      <p:sp>
        <p:nvSpPr>
          <p:cNvPr id="43" name="Text 41"/>
          <p:cNvSpPr/>
          <p:nvPr/>
        </p:nvSpPr>
        <p:spPr>
          <a:xfrm>
            <a:off x="9262643" y="3767328"/>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08</a:t>
            </a:r>
            <a:endParaRPr lang="en-US" sz="1500" dirty="0"/>
          </a:p>
        </p:txBody>
      </p:sp>
      <p:sp>
        <p:nvSpPr>
          <p:cNvPr id="44" name="Text 42"/>
          <p:cNvSpPr/>
          <p:nvPr/>
        </p:nvSpPr>
        <p:spPr>
          <a:xfrm>
            <a:off x="9244355" y="4343400"/>
            <a:ext cx="2215820" cy="411480"/>
          </a:xfrm>
          <a:prstGeom prst="rect">
            <a:avLst/>
          </a:prstGeom>
          <a:noFill/>
          <a:ln/>
        </p:spPr>
        <p:txBody>
          <a:bodyPr wrap="square" lIns="0" tIns="0" rIns="0" bIns="0" rtlCol="0" anchor="t"/>
          <a:lstStyle/>
          <a:p>
            <a:pPr marL="0" indent="0">
              <a:buNone/>
            </a:pPr>
            <a:r>
              <a:rPr lang="en-US" sz="1450" b="1" dirty="0">
                <a:solidFill>
                  <a:srgbClr val="20288F"/>
                </a:solidFill>
                <a:latin typeface="Arial" pitchFamily="34" charset="0"/>
                <a:ea typeface="Arial" pitchFamily="34" charset="-122"/>
                <a:cs typeface="Arial" pitchFamily="34" charset="-120"/>
              </a:rPr>
              <a:t>Lesson Learned</a:t>
            </a:r>
            <a:endParaRPr lang="en-US" sz="1450" dirty="0"/>
          </a:p>
        </p:txBody>
      </p:sp>
      <p:pic>
        <p:nvPicPr>
          <p:cNvPr id="49" name="Picture 48">
            <a:extLst>
              <a:ext uri="{FF2B5EF4-FFF2-40B4-BE49-F238E27FC236}">
                <a16:creationId xmlns:a16="http://schemas.microsoft.com/office/drawing/2014/main" id="{10B45A6D-F217-584F-7BD7-6C89F238B555}"/>
              </a:ext>
            </a:extLst>
          </p:cNvPr>
          <p:cNvPicPr>
            <a:picLocks noChangeAspect="1"/>
          </p:cNvPicPr>
          <p:nvPr/>
        </p:nvPicPr>
        <p:blipFill>
          <a:blip r:embed="rId3"/>
          <a:stretch>
            <a:fillRect/>
          </a:stretch>
        </p:blipFill>
        <p:spPr>
          <a:xfrm>
            <a:off x="11056239" y="11533"/>
            <a:ext cx="1140374" cy="634767"/>
          </a:xfrm>
          <a:prstGeom prst="rect">
            <a:avLst/>
          </a:prstGeom>
        </p:spPr>
      </p:pic>
      <p:pic>
        <p:nvPicPr>
          <p:cNvPr id="51" name="Picture 50">
            <a:extLst>
              <a:ext uri="{FF2B5EF4-FFF2-40B4-BE49-F238E27FC236}">
                <a16:creationId xmlns:a16="http://schemas.microsoft.com/office/drawing/2014/main" id="{27D9AC1A-9783-8729-85B1-5CDC0A33A16B}"/>
              </a:ext>
            </a:extLst>
          </p:cNvPr>
          <p:cNvPicPr>
            <a:picLocks noChangeAspect="1"/>
          </p:cNvPicPr>
          <p:nvPr/>
        </p:nvPicPr>
        <p:blipFill>
          <a:blip r:embed="rId4"/>
          <a:stretch>
            <a:fillRect/>
          </a:stretch>
        </p:blipFill>
        <p:spPr>
          <a:xfrm>
            <a:off x="-108068" y="-179554"/>
            <a:ext cx="1448261" cy="81464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5"/>
          <a:stretch>
            <a:fillRect/>
          </a:stretch>
        </p:blipFill>
        <p:spPr>
          <a:xfrm>
            <a:off x="-107899" y="-179222"/>
            <a:ext cx="1448409" cy="814730"/>
          </a:xfrm>
          <a:prstGeom prst="rect">
            <a:avLst/>
          </a:prstGeom>
        </p:spPr>
      </p:pic>
      <p:pic>
        <p:nvPicPr>
          <p:cNvPr id="3" name="Picture 2" descr="image.png"/>
          <p:cNvPicPr>
            <a:picLocks noChangeAspect="1"/>
          </p:cNvPicPr>
          <p:nvPr/>
        </p:nvPicPr>
        <p:blipFill>
          <a:blip r:embed="rId6"/>
          <a:stretch>
            <a:fillRect/>
          </a:stretch>
        </p:blipFill>
        <p:spPr>
          <a:xfrm>
            <a:off x="11055096" y="11887"/>
            <a:ext cx="1140256" cy="634593"/>
          </a:xfrm>
          <a:prstGeom prst="rect">
            <a:avLst/>
          </a:prstGeom>
        </p:spPr>
      </p:pic>
      <p:sp>
        <p:nvSpPr>
          <p:cNvPr id="4" name="Rounded Rectangle 3"/>
          <p:cNvSpPr/>
          <p:nvPr/>
        </p:nvSpPr>
        <p:spPr>
          <a:xfrm>
            <a:off x="548640" y="594360"/>
            <a:ext cx="731520" cy="658368"/>
          </a:xfrm>
          <a:prstGeom prst="round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r>
              <a:rPr sz="2000" b="1">
                <a:solidFill>
                  <a:srgbClr val="FFFFFF"/>
                </a:solidFill>
                <a:latin typeface="Arial"/>
              </a:rPr>
              <a:t>01</a:t>
            </a:r>
          </a:p>
        </p:txBody>
      </p:sp>
      <p:sp>
        <p:nvSpPr>
          <p:cNvPr id="5" name="TextBox 4"/>
          <p:cNvSpPr txBox="1"/>
          <p:nvPr/>
        </p:nvSpPr>
        <p:spPr>
          <a:xfrm>
            <a:off x="1417320" y="548640"/>
            <a:ext cx="9326880" cy="731520"/>
          </a:xfrm>
          <a:prstGeom prst="rect">
            <a:avLst/>
          </a:prstGeom>
          <a:noFill/>
        </p:spPr>
        <p:txBody>
          <a:bodyPr wrap="square" lIns="0" tIns="0" rIns="0" bIns="0">
            <a:spAutoFit/>
          </a:bodyPr>
          <a:lstStyle/>
          <a:p>
            <a:pPr algn="l"/>
            <a:r>
              <a:rPr sz="2400" b="1">
                <a:solidFill>
                  <a:srgbClr val="20288F"/>
                </a:solidFill>
                <a:latin typeface="Arial"/>
              </a:rPr>
              <a:t>Latar Belakang: Urgensi Stabilitas Mutu &amp; Pencatatan Unit Cetak</a:t>
            </a:r>
          </a:p>
        </p:txBody>
      </p:sp>
      <p:sp>
        <p:nvSpPr>
          <p:cNvPr id="6" name="TextBox 5"/>
          <p:cNvSpPr txBox="1"/>
          <p:nvPr/>
        </p:nvSpPr>
        <p:spPr>
          <a:xfrm>
            <a:off x="548640" y="1353312"/>
            <a:ext cx="10789920" cy="347472"/>
          </a:xfrm>
          <a:prstGeom prst="rect">
            <a:avLst/>
          </a:prstGeom>
          <a:noFill/>
        </p:spPr>
        <p:txBody>
          <a:bodyPr wrap="square" lIns="0" tIns="0" rIns="0" bIns="0">
            <a:spAutoFit/>
          </a:bodyPr>
          <a:lstStyle/>
          <a:p>
            <a:r>
              <a:rPr sz="1150" b="1">
                <a:solidFill>
                  <a:srgbClr val="6A2CC9"/>
                </a:solidFill>
                <a:latin typeface="Arial"/>
              </a:rPr>
              <a:t>Tujuan bagian ini:  </a:t>
            </a:r>
            <a:r>
              <a:rPr sz="1150" b="0">
                <a:solidFill>
                  <a:srgbClr val="2A2A3D"/>
                </a:solidFill>
                <a:latin typeface="Arial"/>
              </a:rPr>
              <a:t>Bangun konteks: mengapa perbaikan sistem pencatatan &amp; stabilitas mutu penting bagi operasional dan perusahaan.</a:t>
            </a:r>
          </a:p>
        </p:txBody>
      </p:sp>
      <p:sp>
        <p:nvSpPr>
          <p:cNvPr id="7" name="TextBox 6"/>
          <p:cNvSpPr txBox="1"/>
          <p:nvPr/>
        </p:nvSpPr>
        <p:spPr>
          <a:xfrm>
            <a:off x="548640" y="6419088"/>
            <a:ext cx="11091672" cy="256032"/>
          </a:xfrm>
          <a:prstGeom prst="rect">
            <a:avLst/>
          </a:prstGeom>
          <a:noFill/>
        </p:spPr>
        <p:txBody>
          <a:bodyPr wrap="square" lIns="0" tIns="0" rIns="0" bIns="0">
            <a:spAutoFit/>
          </a:bodyPr>
          <a:lstStyle/>
          <a:p>
            <a:r>
              <a:rPr sz="850">
                <a:solidFill>
                  <a:srgbClr val="6E6E82"/>
                </a:solidFill>
                <a:latin typeface="Arial"/>
              </a:rPr>
              <a:t>IAKA 2026 — Kerangka Presentasi Peserta  ·  DSS SIRINE 4.0 Unit Cetak Pita Cukai</a:t>
            </a:r>
          </a:p>
        </p:txBody>
      </p:sp>
      <p:sp>
        <p:nvSpPr>
          <p:cNvPr id="8" name="Rectangle 7"/>
          <p:cNvSpPr/>
          <p:nvPr/>
        </p:nvSpPr>
        <p:spPr>
          <a:xfrm>
            <a:off x="548640" y="1755648"/>
            <a:ext cx="3520440" cy="365760"/>
          </a:xfrm>
          <a:prstGeom prst="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1. KONDISI SAAT INI DI UNIT CETAK</a:t>
            </a:r>
          </a:p>
        </p:txBody>
      </p:sp>
      <p:sp>
        <p:nvSpPr>
          <p:cNvPr id="9" name="Rounded Rectangle 8"/>
          <p:cNvSpPr/>
          <p:nvPr/>
        </p:nvSpPr>
        <p:spPr>
          <a:xfrm>
            <a:off x="548640" y="2121408"/>
            <a:ext cx="3520440" cy="4160520"/>
          </a:xfrm>
          <a:prstGeom prst="roundRect">
            <a:avLst/>
          </a:prstGeom>
          <a:solidFill>
            <a:srgbClr val="F4F7FE"/>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spcAft>
                <a:spcPts val="700"/>
              </a:spcAft>
            </a:pPr>
            <a:r>
              <a:rPr sz="950" b="1">
                <a:solidFill>
                  <a:srgbClr val="20288F"/>
                </a:solidFill>
                <a:latin typeface="Arial"/>
              </a:rPr>
              <a:t>• Operasional 24 Jam Non-stop: </a:t>
            </a:r>
            <a:r>
              <a:rPr sz="950">
                <a:solidFill>
                  <a:srgbClr val="2A2A3D"/>
                </a:solidFill>
                <a:latin typeface="Arial"/>
              </a:rPr>
              <a:t>Unit Cetak Pita Cukai beroperasi 3 shift per hari dengan 6 mesin cetak offset (4 Komori: KMR 1–4, 2 Ryobi: RYB 1–2) dan didukung ±42 operator.</a:t>
            </a:r>
          </a:p>
          <a:p>
            <a:pPr>
              <a:spcAft>
                <a:spcPts val="700"/>
              </a:spcAft>
            </a:pPr>
            <a:r>
              <a:rPr sz="950" b="1">
                <a:solidFill>
                  <a:srgbClr val="20288F"/>
                </a:solidFill>
                <a:latin typeface="Arial"/>
              </a:rPr>
              <a:t>• Pencatatan Fisik di Mesin: </a:t>
            </a:r>
            <a:r>
              <a:rPr sz="950">
                <a:solidFill>
                  <a:srgbClr val="2A2A3D"/>
                </a:solidFill>
                <a:latin typeface="Arial"/>
              </a:rPr>
              <a:t>Pencatatan hasil cetak tiap mesin dan operator masih dilakukan secara manual menggunakan buku folio di meja masing-masing mesin.</a:t>
            </a:r>
          </a:p>
          <a:p>
            <a:pPr>
              <a:spcAft>
                <a:spcPts val="700"/>
              </a:spcAft>
            </a:pPr>
            <a:r>
              <a:rPr sz="950" b="1">
                <a:solidFill>
                  <a:srgbClr val="20288F"/>
                </a:solidFill>
                <a:latin typeface="Arial"/>
              </a:rPr>
              <a:t>• Rekapitulasi Manual Terpisah: </a:t>
            </a:r>
            <a:r>
              <a:rPr sz="950">
                <a:solidFill>
                  <a:srgbClr val="2A2A3D"/>
                </a:solidFill>
                <a:latin typeface="Arial"/>
              </a:rPr>
              <a:t>Catatan buku folio baru direkap saat evaluasi berkala pegawai, sementara sistem SAP di kantor hanya menyajikan tabel angka mentah.</a:t>
            </a:r>
          </a:p>
          <a:p>
            <a:pPr>
              <a:spcAft>
                <a:spcPts val="700"/>
              </a:spcAft>
            </a:pPr>
            <a:r>
              <a:rPr sz="950" b="1">
                <a:solidFill>
                  <a:srgbClr val="20288F"/>
                </a:solidFill>
                <a:latin typeface="Arial"/>
              </a:rPr>
              <a:t>• Laporan Mutu Terpusat: </a:t>
            </a:r>
            <a:r>
              <a:rPr sz="950">
                <a:solidFill>
                  <a:srgbClr val="2A2A3D"/>
                </a:solidFill>
                <a:latin typeface="Arial"/>
              </a:rPr>
              <a:t>Laporan kerusakan dari modul Verifikasi QC hanya menampilkan total kerusakan general di level unit tanpa rincian mesin maupun shift.</a:t>
            </a:r>
          </a:p>
        </p:txBody>
      </p:sp>
      <p:sp>
        <p:nvSpPr>
          <p:cNvPr id="10" name="Rectangle 9"/>
          <p:cNvSpPr/>
          <p:nvPr/>
        </p:nvSpPr>
        <p:spPr>
          <a:xfrm>
            <a:off x="4325112" y="1755648"/>
            <a:ext cx="3520440" cy="365760"/>
          </a:xfrm>
          <a:prstGeom prst="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2. MENGAPA INI PENTING BAGI PERUSAHAAN</a:t>
            </a:r>
          </a:p>
        </p:txBody>
      </p:sp>
      <p:sp>
        <p:nvSpPr>
          <p:cNvPr id="11" name="Rounded Rectangle 10"/>
          <p:cNvSpPr/>
          <p:nvPr/>
        </p:nvSpPr>
        <p:spPr>
          <a:xfrm>
            <a:off x="4325112" y="2121408"/>
            <a:ext cx="3520440" cy="4160520"/>
          </a:xfrm>
          <a:prstGeom prst="roundRect">
            <a:avLst/>
          </a:prstGeom>
          <a:solidFill>
            <a:srgbClr val="F8F6FE"/>
          </a:solidFill>
          <a:ln w="1270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spcAft>
                <a:spcPts val="700"/>
              </a:spcAft>
            </a:pPr>
            <a:r>
              <a:rPr sz="950" b="1">
                <a:solidFill>
                  <a:srgbClr val="6A2CC9"/>
                </a:solidFill>
                <a:latin typeface="Arial"/>
              </a:rPr>
              <a:t>• Produk Strategis Negara: </a:t>
            </a:r>
            <a:r>
              <a:rPr sz="950">
                <a:solidFill>
                  <a:srgbClr val="2A2A3D"/>
                </a:solidFill>
                <a:latin typeface="Arial"/>
              </a:rPr>
              <a:t>Mencetak dokumen sekuriti Pita Cukai (PCHT &amp; MMEA) di bawah mandat DJBC Kemenkeu RI dengan fitur kertas sekuriti, tinta khusus, dan hologram.</a:t>
            </a:r>
          </a:p>
          <a:p>
            <a:pPr>
              <a:spcAft>
                <a:spcPts val="700"/>
              </a:spcAft>
            </a:pPr>
            <a:r>
              <a:rPr sz="950" b="1">
                <a:solidFill>
                  <a:srgbClr val="6A2CC9"/>
                </a:solidFill>
                <a:latin typeface="Arial"/>
              </a:rPr>
              <a:t>• Skala Order Masif: </a:t>
            </a:r>
            <a:r>
              <a:rPr sz="950">
                <a:solidFill>
                  <a:srgbClr val="2A2A3D"/>
                </a:solidFill>
                <a:latin typeface="Arial"/>
              </a:rPr>
              <a:t>Volume order sangat besar dengan rata-rata 160 Juta Lembar per tahun (Realisasi 2025: 177.636.930 Lembar Cetak — SAP ZPPRSIPPC0012).</a:t>
            </a:r>
          </a:p>
          <a:p>
            <a:pPr>
              <a:spcAft>
                <a:spcPts val="700"/>
              </a:spcAft>
            </a:pPr>
            <a:r>
              <a:rPr sz="950" b="1">
                <a:solidFill>
                  <a:srgbClr val="6A2CC9"/>
                </a:solidFill>
                <a:latin typeface="Arial"/>
              </a:rPr>
              <a:t>• Komitmen SLA &amp; Reputasi: </a:t>
            </a:r>
            <a:r>
              <a:rPr sz="950">
                <a:solidFill>
                  <a:srgbClr val="2A2A3D"/>
                </a:solidFill>
                <a:latin typeface="Arial"/>
              </a:rPr>
              <a:t>Ketepatan jadwal pengiriman dan kesempurnaan cetak adalah kunci menjaga kepercayaan Bea Cukai serta mengamankan penerimaan cukai negara.</a:t>
            </a:r>
          </a:p>
          <a:p>
            <a:pPr>
              <a:spcAft>
                <a:spcPts val="700"/>
              </a:spcAft>
            </a:pPr>
            <a:r>
              <a:rPr sz="950" b="1">
                <a:solidFill>
                  <a:srgbClr val="6A2CC9"/>
                </a:solidFill>
                <a:latin typeface="Arial"/>
              </a:rPr>
              <a:t>• Nilai Bahan Baku Tinggi: </a:t>
            </a:r>
            <a:r>
              <a:rPr sz="950">
                <a:solidFill>
                  <a:srgbClr val="2A2A3D"/>
                </a:solidFill>
                <a:latin typeface="Arial"/>
              </a:rPr>
              <a:t>Tingginya harga kertas sekuriti dan tinta khusus menuntut efisiensi maksimal agar tidak terjadi pemborosan biaya cetak ulang.</a:t>
            </a:r>
          </a:p>
        </p:txBody>
      </p:sp>
      <p:sp>
        <p:nvSpPr>
          <p:cNvPr id="12" name="Rectangle 11"/>
          <p:cNvSpPr/>
          <p:nvPr/>
        </p:nvSpPr>
        <p:spPr>
          <a:xfrm>
            <a:off x="8101584" y="1755648"/>
            <a:ext cx="3520440" cy="36576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3. DATA AWAL PEMICU INOVASI</a:t>
            </a:r>
          </a:p>
        </p:txBody>
      </p:sp>
      <p:sp>
        <p:nvSpPr>
          <p:cNvPr id="13" name="Rounded Rectangle 12"/>
          <p:cNvSpPr/>
          <p:nvPr/>
        </p:nvSpPr>
        <p:spPr>
          <a:xfrm>
            <a:off x="8101584" y="2121408"/>
            <a:ext cx="3520440" cy="4160520"/>
          </a:xfrm>
          <a:prstGeom prst="roundRect">
            <a:avLst/>
          </a:prstGeom>
          <a:solidFill>
            <a:srgbClr val="FFF9E6"/>
          </a:solidFill>
          <a:ln w="12700">
            <a:solidFill>
              <a:srgbClr val="FFE082"/>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spcAft>
                <a:spcPts val="700"/>
              </a:spcAft>
            </a:pPr>
            <a:r>
              <a:rPr sz="950" b="1">
                <a:solidFill>
                  <a:srgbClr val="E65100"/>
                </a:solidFill>
                <a:latin typeface="Arial"/>
              </a:rPr>
              <a:t>• Pencapaian SIRINE 2024: </a:t>
            </a:r>
            <a:r>
              <a:rPr sz="950">
                <a:solidFill>
                  <a:srgbClr val="2A2A3D"/>
                </a:solidFill>
                <a:latin typeface="Arial"/>
              </a:rPr>
              <a:t>Berhasil menurunkan inschiet tahunan dari 5,61% ke 4,06% dengan menyajikan data jenis kerusakan umum.</a:t>
            </a:r>
          </a:p>
          <a:p>
            <a:pPr>
              <a:spcAft>
                <a:spcPts val="700"/>
              </a:spcAft>
            </a:pPr>
            <a:r>
              <a:rPr sz="950" b="1">
                <a:solidFill>
                  <a:srgbClr val="E65100"/>
                </a:solidFill>
                <a:latin typeface="Arial"/>
              </a:rPr>
              <a:t>• Titik Jenuh &amp; Fluktuasi 2025: </a:t>
            </a:r>
            <a:r>
              <a:rPr sz="950">
                <a:solidFill>
                  <a:srgbClr val="2A2A3D"/>
                </a:solidFill>
                <a:latin typeface="Arial"/>
              </a:rPr>
              <a:t>Sepanjang 2025 inschiet kembali berfluktuasi dengan rata-rata 4,61% dan puncaknya di Q4 mencapai 5,11% (Sumber: SAP ZPPRSIPPC0012).</a:t>
            </a:r>
          </a:p>
          <a:p>
            <a:pPr>
              <a:spcAft>
                <a:spcPts val="700"/>
              </a:spcAft>
            </a:pPr>
            <a:r>
              <a:rPr sz="950" b="1">
                <a:solidFill>
                  <a:srgbClr val="E65100"/>
                </a:solidFill>
                <a:latin typeface="Arial"/>
              </a:rPr>
              <a:t>• Tantangan Volume Baru: </a:t>
            </a:r>
            <a:r>
              <a:rPr sz="950">
                <a:solidFill>
                  <a:srgbClr val="2A2A3D"/>
                </a:solidFill>
                <a:latin typeface="Arial"/>
              </a:rPr>
              <a:t>Saat order melonjak di Q4, sistem SIRINE 2024 tidak mampu mendeteksi mesin mana yang menjadi pemicu utama kenaikan kerusakan.</a:t>
            </a:r>
          </a:p>
          <a:p>
            <a:pPr>
              <a:spcAft>
                <a:spcPts val="700"/>
              </a:spcAft>
            </a:pPr>
            <a:r>
              <a:rPr sz="950" b="1">
                <a:solidFill>
                  <a:srgbClr val="E65100"/>
                </a:solidFill>
                <a:latin typeface="Arial"/>
              </a:rPr>
              <a:t>• Pemicu Kebutuhan DSS: </a:t>
            </a:r>
            <a:r>
              <a:rPr sz="950">
                <a:solidFill>
                  <a:srgbClr val="2A2A3D"/>
                </a:solidFill>
                <a:latin typeface="Arial"/>
              </a:rPr>
              <a:t>Diperlukan sistem cerdas yang mampu menghubungkan data kerusakan QC dengan data mesin dan shift operasional secara real-time.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5"/>
          <a:stretch>
            <a:fillRect/>
          </a:stretch>
        </p:blipFill>
        <p:spPr>
          <a:xfrm>
            <a:off x="-107899" y="-179222"/>
            <a:ext cx="1448409" cy="814730"/>
          </a:xfrm>
          <a:prstGeom prst="rect">
            <a:avLst/>
          </a:prstGeom>
        </p:spPr>
      </p:pic>
      <p:pic>
        <p:nvPicPr>
          <p:cNvPr id="3" name="Picture 2" descr="image.png"/>
          <p:cNvPicPr>
            <a:picLocks noChangeAspect="1"/>
          </p:cNvPicPr>
          <p:nvPr/>
        </p:nvPicPr>
        <p:blipFill>
          <a:blip r:embed="rId6"/>
          <a:stretch>
            <a:fillRect/>
          </a:stretch>
        </p:blipFill>
        <p:spPr>
          <a:xfrm>
            <a:off x="11055096" y="11887"/>
            <a:ext cx="1140256" cy="634593"/>
          </a:xfrm>
          <a:prstGeom prst="rect">
            <a:avLst/>
          </a:prstGeom>
        </p:spPr>
      </p:pic>
      <p:sp>
        <p:nvSpPr>
          <p:cNvPr id="4" name="Rounded Rectangle 3"/>
          <p:cNvSpPr/>
          <p:nvPr/>
        </p:nvSpPr>
        <p:spPr>
          <a:xfrm>
            <a:off x="548640" y="594360"/>
            <a:ext cx="731520" cy="658368"/>
          </a:xfrm>
          <a:prstGeom prst="round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r>
              <a:rPr sz="2000" b="1">
                <a:solidFill>
                  <a:srgbClr val="FFFFFF"/>
                </a:solidFill>
                <a:latin typeface="Arial"/>
              </a:rPr>
              <a:t>02.1</a:t>
            </a:r>
          </a:p>
        </p:txBody>
      </p:sp>
      <p:sp>
        <p:nvSpPr>
          <p:cNvPr id="5" name="TextBox 4"/>
          <p:cNvSpPr txBox="1"/>
          <p:nvPr/>
        </p:nvSpPr>
        <p:spPr>
          <a:xfrm>
            <a:off x="1417320" y="548640"/>
            <a:ext cx="9326880" cy="731520"/>
          </a:xfrm>
          <a:prstGeom prst="rect">
            <a:avLst/>
          </a:prstGeom>
          <a:noFill/>
        </p:spPr>
        <p:txBody>
          <a:bodyPr wrap="square" lIns="0" tIns="0" rIns="0" bIns="0">
            <a:spAutoFit/>
          </a:bodyPr>
          <a:lstStyle/>
          <a:p>
            <a:pPr algn="l"/>
            <a:r>
              <a:rPr sz="2400" b="1">
                <a:solidFill>
                  <a:srgbClr val="20288F"/>
                </a:solidFill>
                <a:latin typeface="Arial"/>
              </a:rPr>
              <a:t>Masalah: Keterbatasan Data Granular &amp; Titik Buta Operasional</a:t>
            </a:r>
          </a:p>
        </p:txBody>
      </p:sp>
      <p:sp>
        <p:nvSpPr>
          <p:cNvPr id="6" name="TextBox 5"/>
          <p:cNvSpPr txBox="1"/>
          <p:nvPr/>
        </p:nvSpPr>
        <p:spPr>
          <a:xfrm>
            <a:off x="548640" y="1353312"/>
            <a:ext cx="10789920" cy="347472"/>
          </a:xfrm>
          <a:prstGeom prst="rect">
            <a:avLst/>
          </a:prstGeom>
          <a:noFill/>
        </p:spPr>
        <p:txBody>
          <a:bodyPr wrap="square" lIns="0" tIns="0" rIns="0" bIns="0">
            <a:spAutoFit/>
          </a:bodyPr>
          <a:lstStyle/>
          <a:p>
            <a:r>
              <a:rPr sz="1150" b="1">
                <a:solidFill>
                  <a:srgbClr val="6A2CC9"/>
                </a:solidFill>
                <a:latin typeface="Arial"/>
              </a:rPr>
              <a:t>Tujuan bagian ini:  </a:t>
            </a:r>
            <a:r>
              <a:rPr sz="1150" b="0">
                <a:solidFill>
                  <a:srgbClr val="2A2A3D"/>
                </a:solidFill>
                <a:latin typeface="Arial"/>
              </a:rPr>
              <a:t>Nyatakan masalah operasional nyata dan terukur — apa yang terjadi, di unit mana, sejak kapan, dan siapa terdampak.</a:t>
            </a:r>
          </a:p>
        </p:txBody>
      </p:sp>
      <p:sp>
        <p:nvSpPr>
          <p:cNvPr id="7" name="TextBox 6"/>
          <p:cNvSpPr txBox="1"/>
          <p:nvPr/>
        </p:nvSpPr>
        <p:spPr>
          <a:xfrm>
            <a:off x="548640" y="6419088"/>
            <a:ext cx="11091672" cy="256032"/>
          </a:xfrm>
          <a:prstGeom prst="rect">
            <a:avLst/>
          </a:prstGeom>
          <a:noFill/>
        </p:spPr>
        <p:txBody>
          <a:bodyPr wrap="square" lIns="0" tIns="0" rIns="0" bIns="0">
            <a:spAutoFit/>
          </a:bodyPr>
          <a:lstStyle/>
          <a:p>
            <a:r>
              <a:rPr sz="850">
                <a:solidFill>
                  <a:srgbClr val="6E6E82"/>
                </a:solidFill>
                <a:latin typeface="Arial"/>
              </a:rPr>
              <a:t>IAKA 2026 — Kerangka Presentasi Peserta  ·  DSS SIRINE 4.0 Unit Cetak Pita Cukai</a:t>
            </a:r>
          </a:p>
        </p:txBody>
      </p:sp>
      <p:sp>
        <p:nvSpPr>
          <p:cNvPr id="8" name="Rectangle 7"/>
          <p:cNvSpPr/>
          <p:nvPr/>
        </p:nvSpPr>
        <p:spPr>
          <a:xfrm>
            <a:off x="548640" y="1755648"/>
            <a:ext cx="3520440" cy="365760"/>
          </a:xfrm>
          <a:prstGeom prst="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1. TITIK BUTA PASCA-SIRINE 2024</a:t>
            </a:r>
          </a:p>
        </p:txBody>
      </p:sp>
      <p:sp>
        <p:nvSpPr>
          <p:cNvPr id="9" name="Rounded Rectangle 8"/>
          <p:cNvSpPr/>
          <p:nvPr/>
        </p:nvSpPr>
        <p:spPr>
          <a:xfrm>
            <a:off x="548640" y="2121408"/>
            <a:ext cx="3520440" cy="4160520"/>
          </a:xfrm>
          <a:prstGeom prst="roundRect">
            <a:avLst/>
          </a:prstGeom>
          <a:solidFill>
            <a:srgbClr val="F4F7FE"/>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spcAft>
                <a:spcPts val="700"/>
              </a:spcAft>
            </a:pPr>
            <a:r>
              <a:rPr sz="950" b="1">
                <a:solidFill>
                  <a:srgbClr val="20288F"/>
                </a:solidFill>
                <a:latin typeface="Arial"/>
              </a:rPr>
              <a:t>• Capaian SIRINE 3.5 (2024): </a:t>
            </a:r>
            <a:r>
              <a:rPr sz="950">
                <a:solidFill>
                  <a:srgbClr val="2A2A3D"/>
                </a:solidFill>
                <a:latin typeface="Arial"/>
              </a:rPr>
              <a:t>Berhasil menjawab 'jenis kerusakan apa' yang mendominasi dan menekan inschiet ke 4,06% di akhir 2024.</a:t>
            </a:r>
          </a:p>
          <a:p>
            <a:pPr>
              <a:spcAft>
                <a:spcPts val="700"/>
              </a:spcAft>
            </a:pPr>
            <a:r>
              <a:rPr sz="950" b="1">
                <a:solidFill>
                  <a:srgbClr val="20288F"/>
                </a:solidFill>
                <a:latin typeface="Arial"/>
              </a:rPr>
              <a:t>• Kesenjangan Baru di 2025: </a:t>
            </a:r>
            <a:r>
              <a:rPr sz="950">
                <a:solidFill>
                  <a:srgbClr val="2A2A3D"/>
                </a:solidFill>
                <a:latin typeface="Arial"/>
              </a:rPr>
              <a:t>Data jenis kerusakan sudah ada, tetapi dengan 6 mesin cetak, belum ada data untuk tahu mesin mana yang menjadi sumber masalah utama.</a:t>
            </a:r>
          </a:p>
          <a:p>
            <a:pPr>
              <a:spcAft>
                <a:spcPts val="700"/>
              </a:spcAft>
            </a:pPr>
            <a:r>
              <a:rPr sz="950" b="1">
                <a:solidFill>
                  <a:srgbClr val="20288F"/>
                </a:solidFill>
                <a:latin typeface="Arial"/>
              </a:rPr>
              <a:t>• Ketiadaan Data Kondisi Kerja: </a:t>
            </a:r>
            <a:r>
              <a:rPr sz="950">
                <a:solidFill>
                  <a:srgbClr val="2A2A3D"/>
                </a:solidFill>
                <a:latin typeface="Arial"/>
              </a:rPr>
              <a:t>Belum dapat diketahui apakah tingginya inschiet lebih dipengaruhi oleh faktor teknis mesin atau faktor kondisi kerja (shift, SOP, kelelahan).</a:t>
            </a:r>
          </a:p>
          <a:p>
            <a:pPr>
              <a:spcAft>
                <a:spcPts val="700"/>
              </a:spcAft>
            </a:pPr>
            <a:r>
              <a:rPr sz="950" b="1">
                <a:solidFill>
                  <a:srgbClr val="20288F"/>
                </a:solidFill>
                <a:latin typeface="Arial"/>
              </a:rPr>
              <a:t>• Lokasi &amp; Periode Masalah: </a:t>
            </a:r>
            <a:r>
              <a:rPr sz="950">
                <a:solidFill>
                  <a:srgbClr val="2A2A3D"/>
                </a:solidFill>
                <a:latin typeface="Arial"/>
              </a:rPr>
              <a:t>Berpusat pada proses cetak sheet-fed offset di Unit Cetak Pita Cukai sejak Januari 2025.</a:t>
            </a:r>
          </a:p>
        </p:txBody>
      </p:sp>
      <p:sp>
        <p:nvSpPr>
          <p:cNvPr id="10" name="Rectangle 9"/>
          <p:cNvSpPr/>
          <p:nvPr/>
        </p:nvSpPr>
        <p:spPr>
          <a:xfrm>
            <a:off x="4325112" y="1755648"/>
            <a:ext cx="3520440" cy="365760"/>
          </a:xfrm>
          <a:prstGeom prst="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2. DUA KASUS NYATA DI LAPANGAN</a:t>
            </a:r>
          </a:p>
        </p:txBody>
      </p:sp>
      <p:sp>
        <p:nvSpPr>
          <p:cNvPr id="11" name="Rounded Rectangle 10"/>
          <p:cNvSpPr/>
          <p:nvPr/>
        </p:nvSpPr>
        <p:spPr>
          <a:xfrm>
            <a:off x="4325112" y="2121408"/>
            <a:ext cx="3520440" cy="4160520"/>
          </a:xfrm>
          <a:prstGeom prst="roundRect">
            <a:avLst/>
          </a:prstGeom>
          <a:solidFill>
            <a:srgbClr val="F8F6FE"/>
          </a:solidFill>
          <a:ln w="1270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spcAft>
                <a:spcPts val="700"/>
              </a:spcAft>
            </a:pPr>
            <a:r>
              <a:rPr sz="950" b="1">
                <a:solidFill>
                  <a:srgbClr val="6A2CC9"/>
                </a:solidFill>
                <a:latin typeface="Arial"/>
              </a:rPr>
              <a:t>• Kasus 1 – Penelusuran Spekulatif: </a:t>
            </a:r>
            <a:r>
              <a:rPr sz="950">
                <a:solidFill>
                  <a:srgbClr val="2A2A3D"/>
                </a:solidFill>
                <a:latin typeface="Arial"/>
              </a:rPr>
              <a:t>Bulan Juni 2025 kerusakan blobor mendominasi. Tanpa data per-mesin, teknisi memeriksa 6 mesin bergilir (trial-and-error).</a:t>
            </a:r>
          </a:p>
          <a:p>
            <a:pPr>
              <a:spcAft>
                <a:spcPts val="700"/>
              </a:spcAft>
            </a:pPr>
            <a:r>
              <a:rPr sz="950" b="1">
                <a:solidFill>
                  <a:srgbClr val="6A2CC9"/>
                </a:solidFill>
                <a:latin typeface="Arial"/>
              </a:rPr>
              <a:t>• Dampak Downtime Kasus 1: </a:t>
            </a:r>
            <a:r>
              <a:rPr sz="950">
                <a:solidFill>
                  <a:srgbClr val="2A2A3D"/>
                </a:solidFill>
                <a:latin typeface="Arial"/>
              </a:rPr>
              <a:t>Sumber masalah ternyata di Komori 3 (KMR3). Diperiksa terakhir, timbul downtime &gt; 8 jam dan mesin terus mencetak lembar rusak.</a:t>
            </a:r>
          </a:p>
          <a:p>
            <a:pPr>
              <a:spcAft>
                <a:spcPts val="700"/>
              </a:spcAft>
            </a:pPr>
            <a:r>
              <a:rPr sz="950" b="1">
                <a:solidFill>
                  <a:srgbClr val="6A2CC9"/>
                </a:solidFill>
                <a:latin typeface="Arial"/>
              </a:rPr>
              <a:t>• Kasus 2 – Dilema Mesin vs Shift: </a:t>
            </a:r>
            <a:r>
              <a:rPr sz="950">
                <a:solidFill>
                  <a:srgbClr val="2A2A3D"/>
                </a:solidFill>
                <a:latin typeface="Arial"/>
              </a:rPr>
              <a:t>Mesin KMR3 pada shift malam mencatat inschiet 8,5%, sedangkan shift pagi di mesin yang sama hanya 2,5%.</a:t>
            </a:r>
          </a:p>
          <a:p>
            <a:pPr>
              <a:spcAft>
                <a:spcPts val="700"/>
              </a:spcAft>
            </a:pPr>
            <a:r>
              <a:rPr sz="950" b="1">
                <a:solidFill>
                  <a:srgbClr val="6A2CC9"/>
                </a:solidFill>
                <a:latin typeface="Arial"/>
              </a:rPr>
              <a:t>• Salah Diagnosa Kasus 2: </a:t>
            </a:r>
            <a:r>
              <a:rPr sz="950">
                <a:solidFill>
                  <a:srgbClr val="2A2A3D"/>
                </a:solidFill>
                <a:latin typeface="Arial"/>
              </a:rPr>
              <a:t>Tanpa data per-shift, perbaikan selalu fokus mengutak-atik mesin, padahal masalahnya ada pada variasi shift atau SOP penyetelan tinta.</a:t>
            </a:r>
          </a:p>
        </p:txBody>
      </p:sp>
      <p:sp>
        <p:nvSpPr>
          <p:cNvPr id="12" name="Rectangle 11"/>
          <p:cNvSpPr/>
          <p:nvPr/>
        </p:nvSpPr>
        <p:spPr>
          <a:xfrm>
            <a:off x="8101584" y="1755648"/>
            <a:ext cx="3520440" cy="36576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3. PIHAK TERDAMPAK LANGSUNG</a:t>
            </a:r>
          </a:p>
        </p:txBody>
      </p:sp>
      <p:sp>
        <p:nvSpPr>
          <p:cNvPr id="13" name="Rounded Rectangle 12"/>
          <p:cNvSpPr/>
          <p:nvPr/>
        </p:nvSpPr>
        <p:spPr>
          <a:xfrm>
            <a:off x="8101584" y="2121408"/>
            <a:ext cx="3520440" cy="4160520"/>
          </a:xfrm>
          <a:prstGeom prst="roundRect">
            <a:avLst/>
          </a:prstGeom>
          <a:solidFill>
            <a:srgbClr val="FFF5F5"/>
          </a:solidFill>
          <a:ln w="12700">
            <a:solidFill>
              <a:srgbClr val="F5C2C2"/>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spcAft>
                <a:spcPts val="600"/>
              </a:spcAft>
            </a:pPr>
            <a:r>
              <a:rPr sz="950" b="1">
                <a:solidFill>
                  <a:srgbClr val="C62828"/>
                </a:solidFill>
                <a:latin typeface="Arial"/>
              </a:rPr>
              <a:t>• Operator Cetak (±42 Orang): </a:t>
            </a:r>
            <a:r>
              <a:rPr sz="950">
                <a:solidFill>
                  <a:srgbClr val="2A2A3D"/>
                </a:solidFill>
                <a:latin typeface="Arial"/>
              </a:rPr>
              <a:t>Sulit memantau hasil mutu hariannya secara mandiri dan kehilangan kesempatan memperoleh pembinaan (coaching) objektif.</a:t>
            </a:r>
          </a:p>
          <a:p>
            <a:pPr>
              <a:spcAft>
                <a:spcPts val="600"/>
              </a:spcAft>
            </a:pPr>
            <a:r>
              <a:rPr sz="950" b="1">
                <a:solidFill>
                  <a:srgbClr val="C62828"/>
                </a:solidFill>
                <a:latin typeface="Arial"/>
              </a:rPr>
              <a:t>• Kepala Kelompok &amp; Kepala Unit: </a:t>
            </a:r>
            <a:r>
              <a:rPr sz="950">
                <a:solidFill>
                  <a:srgbClr val="2A2A3D"/>
                </a:solidFill>
                <a:latin typeface="Arial"/>
              </a:rPr>
              <a:t>Menanggung beban rekap manual buku folio dan kesulitan memberi feedback terarah kepada tim kerja.</a:t>
            </a:r>
          </a:p>
          <a:p>
            <a:pPr>
              <a:spcAft>
                <a:spcPts val="600"/>
              </a:spcAft>
            </a:pPr>
            <a:r>
              <a:rPr sz="950" b="1">
                <a:solidFill>
                  <a:srgbClr val="C62828"/>
                </a:solidFill>
                <a:latin typeface="Arial"/>
              </a:rPr>
              <a:t>• Teknisi Pemeliharaan (Maintenance): </a:t>
            </a:r>
            <a:r>
              <a:rPr sz="950">
                <a:solidFill>
                  <a:srgbClr val="2A2A3D"/>
                </a:solidFill>
                <a:latin typeface="Arial"/>
              </a:rPr>
              <a:t>Kehilangan jam produktif (&gt; 8 jam per mesin) akibat mencari sumber masalah secara acak.</a:t>
            </a:r>
          </a:p>
          <a:p>
            <a:pPr>
              <a:spcAft>
                <a:spcPts val="600"/>
              </a:spcAft>
            </a:pPr>
            <a:r>
              <a:rPr sz="950" b="1">
                <a:solidFill>
                  <a:srgbClr val="C62828"/>
                </a:solidFill>
                <a:latin typeface="Arial"/>
              </a:rPr>
              <a:t>• PPIC &amp; Manajemen: </a:t>
            </a:r>
            <a:r>
              <a:rPr sz="950">
                <a:solidFill>
                  <a:srgbClr val="2A2A3D"/>
                </a:solidFill>
                <a:latin typeface="Arial"/>
              </a:rPr>
              <a:t>Sulit merencanakan alokasi mesin dan jadwal cetak presisi karena profil performa riil mesin tidak tersedia.</a:t>
            </a:r>
          </a:p>
          <a:p>
            <a:pPr>
              <a:spcAft>
                <a:spcPts val="600"/>
              </a:spcAft>
            </a:pPr>
            <a:r>
              <a:rPr sz="950" b="1">
                <a:solidFill>
                  <a:srgbClr val="C62828"/>
                </a:solidFill>
                <a:latin typeface="Arial"/>
              </a:rPr>
              <a:t>• Pelanggan Utama (DJBC Kemenkeu): </a:t>
            </a:r>
            <a:r>
              <a:rPr sz="950">
                <a:solidFill>
                  <a:srgbClr val="2A2A3D"/>
                </a:solidFill>
                <a:latin typeface="Arial"/>
              </a:rPr>
              <a:t>Menghadapi risiko keterlambatan pengiriman pita cukai akibat siklus cetak ulang lembar rusak.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5"/>
          <a:stretch>
            <a:fillRect/>
          </a:stretch>
        </p:blipFill>
        <p:spPr>
          <a:xfrm>
            <a:off x="-107899" y="-179222"/>
            <a:ext cx="1448409" cy="814730"/>
          </a:xfrm>
          <a:prstGeom prst="rect">
            <a:avLst/>
          </a:prstGeom>
        </p:spPr>
      </p:pic>
      <p:pic>
        <p:nvPicPr>
          <p:cNvPr id="3" name="Picture 2" descr="image.png"/>
          <p:cNvPicPr>
            <a:picLocks noChangeAspect="1"/>
          </p:cNvPicPr>
          <p:nvPr/>
        </p:nvPicPr>
        <p:blipFill>
          <a:blip r:embed="rId6"/>
          <a:stretch>
            <a:fillRect/>
          </a:stretch>
        </p:blipFill>
        <p:spPr>
          <a:xfrm>
            <a:off x="11055096" y="11887"/>
            <a:ext cx="1140256" cy="634593"/>
          </a:xfrm>
          <a:prstGeom prst="rect">
            <a:avLst/>
          </a:prstGeom>
        </p:spPr>
      </p:pic>
      <p:sp>
        <p:nvSpPr>
          <p:cNvPr id="4" name="Rounded Rectangle 3"/>
          <p:cNvSpPr/>
          <p:nvPr/>
        </p:nvSpPr>
        <p:spPr>
          <a:xfrm>
            <a:off x="548640" y="594360"/>
            <a:ext cx="731520" cy="658368"/>
          </a:xfrm>
          <a:prstGeom prst="round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r>
              <a:rPr sz="2000" b="1">
                <a:solidFill>
                  <a:srgbClr val="FFFFFF"/>
                </a:solidFill>
                <a:latin typeface="Arial"/>
              </a:rPr>
              <a:t>02.2</a:t>
            </a:r>
          </a:p>
        </p:txBody>
      </p:sp>
      <p:sp>
        <p:nvSpPr>
          <p:cNvPr id="5" name="TextBox 4"/>
          <p:cNvSpPr txBox="1"/>
          <p:nvPr/>
        </p:nvSpPr>
        <p:spPr>
          <a:xfrm>
            <a:off x="1417320" y="548640"/>
            <a:ext cx="9326880" cy="731520"/>
          </a:xfrm>
          <a:prstGeom prst="rect">
            <a:avLst/>
          </a:prstGeom>
          <a:noFill/>
        </p:spPr>
        <p:txBody>
          <a:bodyPr wrap="square" lIns="0" tIns="0" rIns="0" bIns="0">
            <a:spAutoFit/>
          </a:bodyPr>
          <a:lstStyle/>
          <a:p>
            <a:pPr algn="l"/>
            <a:r>
              <a:rPr sz="2400" b="1">
                <a:solidFill>
                  <a:srgbClr val="20288F"/>
                </a:solidFill>
                <a:latin typeface="Arial"/>
              </a:rPr>
              <a:t>Masalah: Baseline Permasalahan &amp; Risiko Bila Dibiarkan</a:t>
            </a:r>
          </a:p>
        </p:txBody>
      </p:sp>
      <p:sp>
        <p:nvSpPr>
          <p:cNvPr id="6" name="TextBox 5"/>
          <p:cNvSpPr txBox="1"/>
          <p:nvPr/>
        </p:nvSpPr>
        <p:spPr>
          <a:xfrm>
            <a:off x="548640" y="1353312"/>
            <a:ext cx="10789920" cy="347472"/>
          </a:xfrm>
          <a:prstGeom prst="rect">
            <a:avLst/>
          </a:prstGeom>
          <a:noFill/>
        </p:spPr>
        <p:txBody>
          <a:bodyPr wrap="square" lIns="0" tIns="0" rIns="0" bIns="0">
            <a:spAutoFit/>
          </a:bodyPr>
          <a:lstStyle/>
          <a:p>
            <a:r>
              <a:rPr sz="1150" b="1">
                <a:solidFill>
                  <a:srgbClr val="6A2CC9"/>
                </a:solidFill>
                <a:latin typeface="Arial"/>
              </a:rPr>
              <a:t>Tujuan bagian ini:  </a:t>
            </a:r>
            <a:r>
              <a:rPr sz="1150" b="0">
                <a:solidFill>
                  <a:srgbClr val="2A2A3D"/>
                </a:solidFill>
                <a:latin typeface="Arial"/>
              </a:rPr>
              <a:t>Tunjukkan baseline permasalahan operasional terukur dan dampak multidimensi jika kondisi dibiarkan tanpa intervensi.</a:t>
            </a:r>
          </a:p>
        </p:txBody>
      </p:sp>
      <p:sp>
        <p:nvSpPr>
          <p:cNvPr id="7" name="Rounded Rectangle 6"/>
          <p:cNvSpPr/>
          <p:nvPr/>
        </p:nvSpPr>
        <p:spPr>
          <a:xfrm>
            <a:off x="548640" y="1737360"/>
            <a:ext cx="2615184" cy="987552"/>
          </a:xfrm>
          <a:prstGeom prst="roundRect">
            <a:avLst/>
          </a:prstGeom>
          <a:solidFill>
            <a:srgbClr val="FFF9E6"/>
          </a:solidFill>
          <a:ln w="19050">
            <a:solidFill>
              <a:srgbClr val="FFE082"/>
            </a:solidFill>
          </a:ln>
        </p:spPr>
        <p:style>
          <a:lnRef idx="1">
            <a:schemeClr val="accent1"/>
          </a:lnRef>
          <a:fillRef idx="3">
            <a:schemeClr val="accent1"/>
          </a:fillRef>
          <a:effectRef idx="2">
            <a:schemeClr val="accent1"/>
          </a:effectRef>
          <a:fontRef idx="minor">
            <a:schemeClr val="lt1"/>
          </a:fontRef>
        </p:style>
        <p:txBody>
          <a:bodyPr rtlCol="0" anchor="ctr" wrap="square" tIns="73152" bIns="36576"/>
          <a:lstStyle/>
          <a:p>
            <a:pPr algn="ctr"/>
            <a:r>
              <a:rPr sz="850" b="1">
                <a:solidFill>
                  <a:srgbClr val="E65100"/>
                </a:solidFill>
                <a:latin typeface="Arial"/>
              </a:rPr>
              <a:t>BASELINE INSCHIET 2025</a:t>
            </a:r>
          </a:p>
          <a:p>
            <a:pPr algn="ctr"/>
            <a:r>
              <a:rPr sz="1550" b="1">
                <a:solidFill>
                  <a:srgbClr val="E65100"/>
                </a:solidFill>
                <a:latin typeface="Arial"/>
              </a:rPr>
              <a:t>4,61%</a:t>
            </a:r>
          </a:p>
          <a:p>
            <a:pPr algn="ctr"/>
            <a:r>
              <a:rPr sz="750">
                <a:solidFill>
                  <a:srgbClr val="2A2A3D"/>
                </a:solidFill>
                <a:latin typeface="Arial"/>
              </a:rPr>
              <a:t>Puncak Q4: 5,11% (SAP ZPPRSIPPC0012)</a:t>
            </a:r>
          </a:p>
        </p:txBody>
      </p:sp>
      <p:sp>
        <p:nvSpPr>
          <p:cNvPr id="8" name="Rectangle 7"/>
          <p:cNvSpPr/>
          <p:nvPr/>
        </p:nvSpPr>
        <p:spPr>
          <a:xfrm>
            <a:off x="548640" y="1737360"/>
            <a:ext cx="2615184" cy="54864"/>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374136" y="1737360"/>
            <a:ext cx="2615184" cy="987552"/>
          </a:xfrm>
          <a:prstGeom prst="roundRect">
            <a:avLst/>
          </a:prstGeom>
          <a:solidFill>
            <a:srgbClr val="FFF5F5"/>
          </a:solidFill>
          <a:ln w="19050">
            <a:solidFill>
              <a:srgbClr val="F5C2C2"/>
            </a:solidFill>
          </a:ln>
        </p:spPr>
        <p:style>
          <a:lnRef idx="1">
            <a:schemeClr val="accent1"/>
          </a:lnRef>
          <a:fillRef idx="3">
            <a:schemeClr val="accent1"/>
          </a:fillRef>
          <a:effectRef idx="2">
            <a:schemeClr val="accent1"/>
          </a:effectRef>
          <a:fontRef idx="minor">
            <a:schemeClr val="lt1"/>
          </a:fontRef>
        </p:style>
        <p:txBody>
          <a:bodyPr rtlCol="0" anchor="ctr" wrap="square" tIns="73152" bIns="36576"/>
          <a:lstStyle/>
          <a:p>
            <a:pPr algn="ctr"/>
            <a:r>
              <a:rPr sz="850" b="1">
                <a:solidFill>
                  <a:srgbClr val="C62828"/>
                </a:solidFill>
                <a:latin typeface="Arial"/>
              </a:rPr>
              <a:t>JUMLAH LEMBAR RUSAK</a:t>
            </a:r>
          </a:p>
          <a:p>
            <a:pPr algn="ctr"/>
            <a:r>
              <a:rPr sz="1550" b="1">
                <a:solidFill>
                  <a:srgbClr val="C62828"/>
                </a:solidFill>
                <a:latin typeface="Arial"/>
              </a:rPr>
              <a:t>8.189.062 LK</a:t>
            </a:r>
          </a:p>
          <a:p>
            <a:pPr algn="ctr"/>
            <a:r>
              <a:rPr sz="750">
                <a:solidFill>
                  <a:srgbClr val="2A2A3D"/>
                </a:solidFill>
                <a:latin typeface="Arial"/>
              </a:rPr>
              <a:t>Total order: 177.636.930 Lembar Cetak</a:t>
            </a:r>
          </a:p>
        </p:txBody>
      </p:sp>
      <p:sp>
        <p:nvSpPr>
          <p:cNvPr id="10" name="Rectangle 9"/>
          <p:cNvSpPr/>
          <p:nvPr/>
        </p:nvSpPr>
        <p:spPr>
          <a:xfrm>
            <a:off x="3374136" y="1737360"/>
            <a:ext cx="2615184" cy="54864"/>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99632" y="1737360"/>
            <a:ext cx="2615184" cy="987552"/>
          </a:xfrm>
          <a:prstGeom prst="roundRect">
            <a:avLst/>
          </a:prstGeom>
          <a:solidFill>
            <a:srgbClr val="F8F6FE"/>
          </a:solidFill>
          <a:ln w="1905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tIns="73152" bIns="36576"/>
          <a:lstStyle/>
          <a:p>
            <a:pPr algn="ctr"/>
            <a:r>
              <a:rPr sz="850" b="1">
                <a:solidFill>
                  <a:srgbClr val="6A2CC9"/>
                </a:solidFill>
                <a:latin typeface="Arial"/>
              </a:rPr>
              <a:t>POTENSI BIAYA TERBUANG*</a:t>
            </a:r>
          </a:p>
          <a:p>
            <a:pPr algn="ctr"/>
            <a:r>
              <a:rPr sz="1550" b="1">
                <a:solidFill>
                  <a:srgbClr val="6A2CC9"/>
                </a:solidFill>
                <a:latin typeface="Arial"/>
              </a:rPr>
              <a:t>Rp 24,56 Miliar*</a:t>
            </a:r>
          </a:p>
          <a:p>
            <a:pPr algn="ctr"/>
            <a:r>
              <a:rPr sz="750">
                <a:solidFill>
                  <a:srgbClr val="2A2A3D"/>
                </a:solidFill>
                <a:latin typeface="Arial"/>
              </a:rPr>
              <a:t>*Simulasi estimasi @ Rp 3.000 / LK</a:t>
            </a:r>
          </a:p>
        </p:txBody>
      </p:sp>
      <p:sp>
        <p:nvSpPr>
          <p:cNvPr id="12" name="Rectangle 11"/>
          <p:cNvSpPr/>
          <p:nvPr/>
        </p:nvSpPr>
        <p:spPr>
          <a:xfrm>
            <a:off x="6199632" y="1737360"/>
            <a:ext cx="2615184" cy="54864"/>
          </a:xfrm>
          <a:prstGeom prst="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025128" y="1737360"/>
            <a:ext cx="2615184" cy="987552"/>
          </a:xfrm>
          <a:prstGeom prst="roundRect">
            <a:avLst/>
          </a:prstGeom>
          <a:solidFill>
            <a:srgbClr val="F4F7FE"/>
          </a:solidFill>
          <a:ln w="1905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tIns="73152" bIns="36576"/>
          <a:lstStyle/>
          <a:p>
            <a:pPr algn="ctr"/>
            <a:r>
              <a:rPr sz="850" b="1">
                <a:solidFill>
                  <a:srgbClr val="20288F"/>
                </a:solidFill>
                <a:latin typeface="Arial"/>
              </a:rPr>
              <a:t>DOWNTIME PERBAIKAN</a:t>
            </a:r>
          </a:p>
          <a:p>
            <a:pPr algn="ctr"/>
            <a:r>
              <a:rPr sz="1550" b="1">
                <a:solidFill>
                  <a:srgbClr val="20288F"/>
                </a:solidFill>
                <a:latin typeface="Arial"/>
              </a:rPr>
              <a:t>&gt; 8 Jam / Mesin</a:t>
            </a:r>
          </a:p>
          <a:p>
            <a:pPr algn="ctr"/>
            <a:r>
              <a:rPr sz="750">
                <a:solidFill>
                  <a:srgbClr val="2A2A3D"/>
                </a:solidFill>
                <a:latin typeface="Arial"/>
              </a:rPr>
              <a:t>Pemeriksaan spekulatif bergilir (&gt; 1 shift)</a:t>
            </a:r>
          </a:p>
        </p:txBody>
      </p:sp>
      <p:sp>
        <p:nvSpPr>
          <p:cNvPr id="14" name="Rectangle 13"/>
          <p:cNvSpPr/>
          <p:nvPr/>
        </p:nvSpPr>
        <p:spPr>
          <a:xfrm>
            <a:off x="9025128" y="1737360"/>
            <a:ext cx="2615184" cy="54864"/>
          </a:xfrm>
          <a:prstGeom prst="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816352"/>
            <a:ext cx="5440680" cy="329184"/>
          </a:xfrm>
          <a:prstGeom prst="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rial"/>
              </a:rPr>
              <a:t>TREN INSCHIET BASELINE PER KUARTAL 2025</a:t>
            </a:r>
          </a:p>
        </p:txBody>
      </p:sp>
      <p:sp>
        <p:nvSpPr>
          <p:cNvPr id="16" name="Rounded Rectangle 15"/>
          <p:cNvSpPr/>
          <p:nvPr/>
        </p:nvSpPr>
        <p:spPr>
          <a:xfrm>
            <a:off x="548640" y="3145536"/>
            <a:ext cx="5440680" cy="2761488"/>
          </a:xfrm>
          <a:prstGeom prst="roundRect">
            <a:avLst/>
          </a:prstGeom>
          <a:solidFill>
            <a:srgbClr val="F4F7FE"/>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7" name="Chart 16"/>
          <p:cNvGraphicFramePr>
            <a:graphicFrameLocks noGrp="1"/>
          </p:cNvGraphicFramePr>
          <p:nvPr/>
        </p:nvGraphicFramePr>
        <p:xfrm>
          <a:off x="685800" y="3200400"/>
          <a:ext cx="5166360" cy="1691640"/>
        </p:xfrm>
        <a:graphic>
          <a:graphicData uri="http://schemas.openxmlformats.org/drawingml/2006/chart">
            <c:chart xmlns:c="http://schemas.openxmlformats.org/drawingml/2006/chart" r:id="rId8"/>
          </a:graphicData>
        </a:graphic>
      </p:graphicFrame>
      <p:sp>
        <p:nvSpPr>
          <p:cNvPr id="18" name="TextBox 17"/>
          <p:cNvSpPr txBox="1"/>
          <p:nvPr/>
        </p:nvSpPr>
        <p:spPr>
          <a:xfrm>
            <a:off x="713232" y="4965192"/>
            <a:ext cx="5111496" cy="914400"/>
          </a:xfrm>
          <a:prstGeom prst="rect">
            <a:avLst/>
          </a:prstGeom>
          <a:noFill/>
        </p:spPr>
        <p:txBody>
          <a:bodyPr wrap="square" lIns="0" rIns="0" tIns="0" bIns="0">
            <a:spAutoFit/>
          </a:bodyPr>
          <a:lstStyle/>
          <a:p>
            <a:r>
              <a:rPr sz="800" b="1">
                <a:solidFill>
                  <a:srgbClr val="20288F"/>
                </a:solidFill>
                <a:latin typeface="Arial"/>
              </a:rPr>
              <a:t>Rata-rata Tahunan: 4,61%  |  Sumber: SAP ZPPRSIPPC0012 &amp; QC Verifikasi</a:t>
            </a:r>
          </a:p>
          <a:p>
            <a:pPr>
              <a:spcBef>
                <a:spcPts val="200"/>
              </a:spcBef>
            </a:pPr>
            <a:r>
              <a:rPr sz="750">
                <a:solidFill>
                  <a:srgbClr val="2A2A3D"/>
                </a:solidFill>
                <a:latin typeface="Arial"/>
              </a:rPr>
              <a:t>• Q2 (3,97%): Bukti lini cetak mampu mencapai target &lt; 4,00%.
• Q4 (5,11%): Lonjakan saat order desain baru masuk. Ketiadaan data mesin &amp; shift membuat lonjakan order selalu diiringi naiknya lembar rusak.</a:t>
            </a:r>
          </a:p>
        </p:txBody>
      </p:sp>
      <p:sp>
        <p:nvSpPr>
          <p:cNvPr id="19" name="Rectangle 18"/>
          <p:cNvSpPr/>
          <p:nvPr/>
        </p:nvSpPr>
        <p:spPr>
          <a:xfrm>
            <a:off x="6199632" y="2816352"/>
            <a:ext cx="5440680" cy="329184"/>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rial"/>
              </a:rPr>
              <a:t>DAMPAK RISIKO BILA DIBIARKAN (5 PILAR)</a:t>
            </a:r>
          </a:p>
        </p:txBody>
      </p:sp>
      <p:sp>
        <p:nvSpPr>
          <p:cNvPr id="20" name="Rounded Rectangle 19"/>
          <p:cNvSpPr/>
          <p:nvPr/>
        </p:nvSpPr>
        <p:spPr>
          <a:xfrm>
            <a:off x="6199632" y="3145536"/>
            <a:ext cx="5440680" cy="2761488"/>
          </a:xfrm>
          <a:prstGeom prst="roundRect">
            <a:avLst/>
          </a:prstGeom>
          <a:solidFill>
            <a:srgbClr val="FFF5F5"/>
          </a:solidFill>
          <a:ln w="12700">
            <a:solidFill>
              <a:srgbClr val="F5C2C2"/>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73152"/>
          <a:lstStyle/>
          <a:p>
            <a:pPr algn="ctr">
              <a:spcAft>
                <a:spcPts val="350"/>
              </a:spcAft>
            </a:pPr>
            <a:r>
              <a:rPr sz="850" b="1">
                <a:solidFill>
                  <a:srgbClr val="C62828"/>
                </a:solidFill>
                <a:latin typeface="Arial"/>
              </a:rPr>
              <a:t>• 1. Biaya (Cost): </a:t>
            </a:r>
            <a:r>
              <a:rPr sz="800">
                <a:solidFill>
                  <a:srgbClr val="2A2A3D"/>
                </a:solidFill>
                <a:latin typeface="Arial"/>
              </a:rPr>
              <a:t>Akumulasi pemborosan biaya cetak mencapai Rp 24,56 Miliar/tahun (8.189.062 LK × asumsi Rp 3.000*) dan potensi saving Rp 5,33 Miliar per tiap 1% penurunan inschiet.</a:t>
            </a:r>
          </a:p>
          <a:p>
            <a:pPr>
              <a:spcAft>
                <a:spcPts val="350"/>
              </a:spcAft>
            </a:pPr>
            <a:r>
              <a:rPr sz="850" b="1">
                <a:solidFill>
                  <a:srgbClr val="C62828"/>
                </a:solidFill>
                <a:latin typeface="Arial"/>
              </a:rPr>
              <a:t>• 2. Mutu (Quality): </a:t>
            </a:r>
            <a:r>
              <a:rPr sz="800">
                <a:solidFill>
                  <a:srgbClr val="2A2A3D"/>
                </a:solidFill>
                <a:latin typeface="Arial"/>
              </a:rPr>
              <a:t>Inschiet berfluktuasi tanpa kendali (puncak 5,11%). Penanganan mesin bersifat sementara karena tidak menyentuh akar masalah per-mesin.</a:t>
            </a:r>
          </a:p>
          <a:p>
            <a:pPr>
              <a:spcAft>
                <a:spcPts val="350"/>
              </a:spcAft>
            </a:pPr>
            <a:r>
              <a:rPr sz="850" b="1">
                <a:solidFill>
                  <a:srgbClr val="C62828"/>
                </a:solidFill>
                <a:latin typeface="Arial"/>
              </a:rPr>
              <a:t>• 3. Kepatuhan (Compliance): </a:t>
            </a:r>
            <a:r>
              <a:rPr sz="800">
                <a:solidFill>
                  <a:srgbClr val="2A2A3D"/>
                </a:solidFill>
                <a:latin typeface="Arial"/>
              </a:rPr>
              <a:t>Akuntabilitas pelacakan (traceability) dokumen negara terhambat karena pencatatan manual di buku folio tidak dapat diaudit digital (ISO 9001).</a:t>
            </a:r>
          </a:p>
          <a:p>
            <a:pPr>
              <a:spcAft>
                <a:spcPts val="350"/>
              </a:spcAft>
            </a:pPr>
            <a:r>
              <a:rPr sz="850" b="1">
                <a:solidFill>
                  <a:srgbClr val="C62828"/>
                </a:solidFill>
                <a:latin typeface="Arial"/>
              </a:rPr>
              <a:t>• 4. K3L &amp; Lingkungan (ESG): </a:t>
            </a:r>
            <a:r>
              <a:rPr sz="800">
                <a:solidFill>
                  <a:srgbClr val="2A2A3D"/>
                </a:solidFill>
                <a:latin typeface="Arial"/>
              </a:rPr>
              <a:t>Timbulan limbah padat kertas sekuriti mencapai 8,18 Juta LK/tahun (±60–65 ton kertas terbuang) dan peningkatan kelelahan operator di shift malam.</a:t>
            </a:r>
          </a:p>
          <a:p>
            <a:pPr>
              <a:spcAft>
                <a:spcPts val="350"/>
              </a:spcAft>
            </a:pPr>
            <a:r>
              <a:rPr sz="850" b="1">
                <a:solidFill>
                  <a:srgbClr val="C62828"/>
                </a:solidFill>
                <a:latin typeface="Arial"/>
              </a:rPr>
              <a:t>• 5. Layanan (Service SLA): </a:t>
            </a:r>
            <a:r>
              <a:rPr sz="800">
                <a:solidFill>
                  <a:srgbClr val="2A2A3D"/>
                </a:solidFill>
                <a:latin typeface="Arial"/>
              </a:rPr>
              <a:t>Risiko keterlambatan serah terima pesanan ke DJBC akibat antrean cetak ulang lembar rusak yang mengancam reputasi SLA perusahaan.</a:t>
            </a:r>
          </a:p>
        </p:txBody>
      </p:sp>
      <p:sp>
        <p:nvSpPr>
          <p:cNvPr id="21" name="Rounded Rectangle 20"/>
          <p:cNvSpPr/>
          <p:nvPr/>
        </p:nvSpPr>
        <p:spPr>
          <a:xfrm>
            <a:off x="548640" y="5961888"/>
            <a:ext cx="11091672" cy="402336"/>
          </a:xfrm>
          <a:prstGeom prst="roundRect">
            <a:avLst/>
          </a:prstGeom>
          <a:solidFill>
            <a:srgbClr val="FFF9E6"/>
          </a:solidFill>
          <a:ln w="12700">
            <a:solidFill>
              <a:srgbClr val="FFE082"/>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750" b="1">
                <a:solidFill>
                  <a:srgbClr val="E65100"/>
                </a:solidFill>
                <a:latin typeface="Arial"/>
              </a:rPr>
              <a:t>*Catatan Asumsi Finansial (Confidentiality Protection): </a:t>
            </a:r>
            <a:r>
              <a:rPr sz="750" i="1">
                <a:solidFill>
                  <a:srgbClr val="2A2A3D"/>
                </a:solidFill>
                <a:latin typeface="Arial"/>
              </a:rPr>
              <a:t>Nilai Rp 3.000/lembar adalah estimasi internal (kertas sekuriti, tinta khusus, depresiasi &amp; operasional mesin, tenaga kerja) semata-mata untuk simulasi dampak inovasi (cost avoidance), BUKAN harga jual resmi atau rincian biaya pokok produksi resmi dari Perum Peruri yang bersifat rahasia perusahaan.</a:t>
            </a:r>
          </a:p>
        </p:txBody>
      </p:sp>
      <p:sp>
        <p:nvSpPr>
          <p:cNvPr id="22" name="TextBox 21"/>
          <p:cNvSpPr txBox="1"/>
          <p:nvPr/>
        </p:nvSpPr>
        <p:spPr>
          <a:xfrm>
            <a:off x="548640" y="6419088"/>
            <a:ext cx="11091672" cy="219456"/>
          </a:xfrm>
          <a:prstGeom prst="rect">
            <a:avLst/>
          </a:prstGeom>
          <a:noFill/>
        </p:spPr>
        <p:txBody>
          <a:bodyPr wrap="square" lIns="0" tIns="0" rIns="0" bIns="0">
            <a:spAutoFit/>
          </a:bodyPr>
          <a:lstStyle/>
          <a:p>
            <a:r>
              <a:rPr sz="850">
                <a:solidFill>
                  <a:srgbClr val="6E6E82"/>
                </a:solidFill>
                <a:latin typeface="Arial"/>
              </a:rPr>
              <a:t>IAKA 2026 — Kerangka Presentasi Peserta  ·  DSS SIRINE 4.0 Unit Cetak Pita Cukai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07899" y="-179222"/>
            <a:ext cx="1448409" cy="814730"/>
          </a:xfrm>
          <a:prstGeom prst="rect">
            <a:avLst/>
          </a:prstGeom>
        </p:spPr>
      </p:pic>
      <p:pic>
        <p:nvPicPr>
          <p:cNvPr id="3" name="Picture 2" descr="image.png"/>
          <p:cNvPicPr>
            <a:picLocks noChangeAspect="1"/>
          </p:cNvPicPr>
          <p:nvPr/>
        </p:nvPicPr>
        <p:blipFill>
          <a:blip r:embed="rId3"/>
          <a:stretch>
            <a:fillRect/>
          </a:stretch>
        </p:blipFill>
        <p:spPr>
          <a:xfrm>
            <a:off x="11055096" y="11887"/>
            <a:ext cx="1140256" cy="634593"/>
          </a:xfrm>
          <a:prstGeom prst="rect">
            <a:avLst/>
          </a:prstGeom>
        </p:spPr>
      </p:pic>
      <p:sp>
        <p:nvSpPr>
          <p:cNvPr id="4" name="Rounded Rectangle 3"/>
          <p:cNvSpPr/>
          <p:nvPr/>
        </p:nvSpPr>
        <p:spPr>
          <a:xfrm>
            <a:off x="548640" y="594360"/>
            <a:ext cx="731520" cy="658368"/>
          </a:xfrm>
          <a:prstGeom prst="round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r>
              <a:rPr sz="2000" b="1">
                <a:solidFill>
                  <a:srgbClr val="FFFFFF"/>
                </a:solidFill>
                <a:latin typeface="Arial"/>
              </a:rPr>
              <a:t>03.1</a:t>
            </a:r>
          </a:p>
        </p:txBody>
      </p:sp>
      <p:sp>
        <p:nvSpPr>
          <p:cNvPr id="5" name="TextBox 4"/>
          <p:cNvSpPr txBox="1"/>
          <p:nvPr/>
        </p:nvSpPr>
        <p:spPr>
          <a:xfrm>
            <a:off x="1417320" y="548640"/>
            <a:ext cx="9326880" cy="731520"/>
          </a:xfrm>
          <a:prstGeom prst="rect">
            <a:avLst/>
          </a:prstGeom>
          <a:noFill/>
        </p:spPr>
        <p:txBody>
          <a:bodyPr wrap="square" lIns="0" tIns="0" rIns="0" bIns="0">
            <a:spAutoFit/>
          </a:bodyPr>
          <a:lstStyle/>
          <a:p>
            <a:pPr algn="l"/>
            <a:r>
              <a:rPr sz="2400" b="1">
                <a:solidFill>
                  <a:srgbClr val="20288F"/>
                </a:solidFill>
                <a:latin typeface="Arial"/>
              </a:rPr>
              <a:t>Analisis Penyebab: Diagram Fishbone 4M &amp; Bukti Data Silo</a:t>
            </a:r>
          </a:p>
        </p:txBody>
      </p:sp>
      <p:sp>
        <p:nvSpPr>
          <p:cNvPr id="6" name="TextBox 5"/>
          <p:cNvSpPr txBox="1"/>
          <p:nvPr/>
        </p:nvSpPr>
        <p:spPr>
          <a:xfrm>
            <a:off x="548640" y="1353312"/>
            <a:ext cx="10789920" cy="347472"/>
          </a:xfrm>
          <a:prstGeom prst="rect">
            <a:avLst/>
          </a:prstGeom>
          <a:noFill/>
        </p:spPr>
        <p:txBody>
          <a:bodyPr wrap="square" lIns="0" tIns="0" rIns="0" bIns="0">
            <a:spAutoFit/>
          </a:bodyPr>
          <a:lstStyle/>
          <a:p>
            <a:r>
              <a:rPr sz="1150" b="1">
                <a:solidFill>
                  <a:srgbClr val="6A2CC9"/>
                </a:solidFill>
                <a:latin typeface="Arial"/>
              </a:rPr>
              <a:t>Tujuan bagian ini:  </a:t>
            </a:r>
            <a:r>
              <a:rPr sz="1150" b="0">
                <a:solidFill>
                  <a:srgbClr val="2A2A3D"/>
                </a:solidFill>
                <a:latin typeface="Arial"/>
              </a:rPr>
              <a:t>Tunjukkan dekonstruksi variabel penyebab lintas 4M dan buktikan temuan empiris keterpisahan data (data silo) di lapangan.</a:t>
            </a:r>
          </a:p>
        </p:txBody>
      </p:sp>
      <p:sp>
        <p:nvSpPr>
          <p:cNvPr id="7" name="TextBox 6"/>
          <p:cNvSpPr txBox="1"/>
          <p:nvPr/>
        </p:nvSpPr>
        <p:spPr>
          <a:xfrm>
            <a:off x="548640" y="6419088"/>
            <a:ext cx="11091672" cy="219456"/>
          </a:xfrm>
          <a:prstGeom prst="rect">
            <a:avLst/>
          </a:prstGeom>
          <a:noFill/>
        </p:spPr>
        <p:txBody>
          <a:bodyPr wrap="square" lIns="0" tIns="0" rIns="0" bIns="0">
            <a:spAutoFit/>
          </a:bodyPr>
          <a:lstStyle/>
          <a:p>
            <a:r>
              <a:rPr sz="850">
                <a:solidFill>
                  <a:srgbClr val="6E6E82"/>
                </a:solidFill>
                <a:latin typeface="Arial"/>
              </a:rPr>
              <a:t>IAKA 2026 — Kerangka Presentasi Peserta  ·  DSS SIRINE 4.0 Unit Cetak Pita Cukai</a:t>
            </a:r>
          </a:p>
        </p:txBody>
      </p:sp>
      <p:sp>
        <p:nvSpPr>
          <p:cNvPr id="8" name="Rectangle 7"/>
          <p:cNvSpPr/>
          <p:nvPr/>
        </p:nvSpPr>
        <p:spPr>
          <a:xfrm>
            <a:off x="548640" y="1755648"/>
            <a:ext cx="5394960" cy="329184"/>
          </a:xfrm>
          <a:prstGeom prst="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r>
              <a:rPr sz="1050" b="1">
                <a:solidFill>
                  <a:srgbClr val="FFFFFF"/>
                </a:solidFill>
                <a:latin typeface="Arial"/>
              </a:rPr>
              <a:t>1. METODE ANALISIS: DIAGRAM TULANG IKAN (FISHBONE 4M)</a:t>
            </a:r>
          </a:p>
        </p:txBody>
      </p:sp>
      <p:sp>
        <p:nvSpPr>
          <p:cNvPr id="9" name="Rounded Rectangle 8"/>
          <p:cNvSpPr/>
          <p:nvPr/>
        </p:nvSpPr>
        <p:spPr>
          <a:xfrm>
            <a:off x="548640" y="2084831"/>
            <a:ext cx="5394960" cy="3730752"/>
          </a:xfrm>
          <a:prstGeom prst="roundRect">
            <a:avLst/>
          </a:prstGeom>
          <a:solidFill>
            <a:srgbClr val="F4F7FE"/>
          </a:solidFill>
          <a:ln>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8368" y="2157984"/>
            <a:ext cx="5175504" cy="1874519"/>
          </a:xfrm>
          <a:prstGeom prst="roundRect">
            <a:avLst/>
          </a:prstGeom>
          <a:solidFill>
            <a:srgbClr val="FFFFFF"/>
          </a:solidFill>
          <a:ln>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4"/>
          <a:stretch>
            <a:fillRect/>
          </a:stretch>
        </p:blipFill>
        <p:spPr>
          <a:xfrm>
            <a:off x="731520" y="2212848"/>
            <a:ext cx="5029200" cy="1755648"/>
          </a:xfrm>
          <a:prstGeom prst="rect">
            <a:avLst/>
          </a:prstGeom>
        </p:spPr>
      </p:pic>
      <p:sp>
        <p:nvSpPr>
          <p:cNvPr id="12" name="Rounded Rectangle 11"/>
          <p:cNvSpPr/>
          <p:nvPr/>
        </p:nvSpPr>
        <p:spPr>
          <a:xfrm>
            <a:off x="658368" y="4096512"/>
            <a:ext cx="5175504" cy="1627632"/>
          </a:xfrm>
          <a:prstGeom prst="roundRect">
            <a:avLst/>
          </a:prstGeom>
          <a:solidFill>
            <a:srgbClr val="FFFFFF"/>
          </a:solidFill>
          <a:ln>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850" b="1">
                <a:solidFill>
                  <a:srgbClr val="20288F"/>
                </a:solidFill>
                <a:latin typeface="Arial"/>
              </a:rPr>
              <a:t>RINGKASAN DEKONSTRUKSI 4 PILAR FISHBONE DI LAPANGAN:</a:t>
            </a:r>
          </a:p>
          <a:p>
            <a:pPr>
              <a:spcAft>
                <a:spcPts val="150"/>
              </a:spcAft>
            </a:pPr>
            <a:r>
              <a:rPr sz="780" b="1">
                <a:solidFill>
                  <a:srgbClr val="6A2CC9"/>
                </a:solidFill>
                <a:latin typeface="Arial"/>
              </a:rPr>
              <a:t>• MAN &amp; METHOD: </a:t>
            </a:r>
            <a:r>
              <a:rPr sz="780" b="0">
                <a:solidFill>
                  <a:srgbClr val="2A2A3D"/>
                </a:solidFill>
                <a:latin typeface="Arial"/>
              </a:rPr>
              <a:t>Kelelahan visual shift malam (23–07) &amp; belum ada standar digital setting awal (make-ready) -&gt; afval awal tinggi per PO.</a:t>
            </a:r>
          </a:p>
          <a:p>
            <a:pPr>
              <a:spcAft>
                <a:spcPts val="150"/>
              </a:spcAft>
            </a:pPr>
            <a:r>
              <a:rPr sz="780" b="1">
                <a:solidFill>
                  <a:srgbClr val="C62828"/>
                </a:solidFill>
                <a:latin typeface="Arial"/>
              </a:rPr>
              <a:t>• MACHINE &amp; MATERIAL: </a:t>
            </a:r>
            <a:r>
              <a:rPr sz="780" b="0">
                <a:solidFill>
                  <a:srgbClr val="2A2A3D"/>
                </a:solidFill>
                <a:latin typeface="Arial"/>
              </a:rPr>
              <a:t>Penurunan performa rol karet mengeras/licin, blanket fatigue, penjepit silinder melemah, &amp; kertas higroskopis rentan gelombang (plooi).</a:t>
            </a:r>
          </a:p>
          <a:p>
            <a:pPr>
              <a:spcAft>
                <a:spcPts val="150"/>
              </a:spcAft>
            </a:pPr>
            <a:r>
              <a:rPr sz="780" b="1">
                <a:solidFill>
                  <a:srgbClr val="20288F"/>
                </a:solidFill>
                <a:latin typeface="Arial"/>
              </a:rPr>
              <a:t>• AKIBAT OPERASIONAL: </a:t>
            </a:r>
            <a:r>
              <a:rPr sz="780" b="1">
                <a:solidFill>
                  <a:srgbClr val="C62828"/>
                </a:solidFill>
                <a:latin typeface="Arial"/>
              </a:rPr>
              <a:t>Inschiet rata-rata 4,61% (Puncak Q4: 5,11% | Kerugian Rp 24,56 Miliar/Tahun | Downtime &gt; 8 jam akibat inspeksi acak bergilir).</a:t>
            </a:r>
          </a:p>
        </p:txBody>
      </p:sp>
      <p:sp>
        <p:nvSpPr>
          <p:cNvPr id="13" name="Rectangle 12"/>
          <p:cNvSpPr/>
          <p:nvPr/>
        </p:nvSpPr>
        <p:spPr>
          <a:xfrm>
            <a:off x="6199632" y="1755648"/>
            <a:ext cx="5440680" cy="329184"/>
          </a:xfrm>
          <a:prstGeom prst="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r>
              <a:rPr sz="1050" b="1">
                <a:solidFill>
                  <a:srgbClr val="FFFFFF"/>
                </a:solidFill>
                <a:latin typeface="Arial"/>
              </a:rPr>
              <a:t>2. TEMUAN FAKTA &amp; BUKTI EMPIRIS LAPANGAN (DATA SILO)</a:t>
            </a:r>
          </a:p>
        </p:txBody>
      </p:sp>
      <p:sp>
        <p:nvSpPr>
          <p:cNvPr id="14" name="Rounded Rectangle 13"/>
          <p:cNvSpPr/>
          <p:nvPr/>
        </p:nvSpPr>
        <p:spPr>
          <a:xfrm>
            <a:off x="6199632" y="2084831"/>
            <a:ext cx="5440680" cy="3730752"/>
          </a:xfrm>
          <a:prstGeom prst="roundRect">
            <a:avLst/>
          </a:prstGeom>
          <a:solidFill>
            <a:srgbClr val="F8F6FE"/>
          </a:solidFill>
          <a:ln>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27648" y="2157984"/>
            <a:ext cx="5184648" cy="1078992"/>
          </a:xfrm>
          <a:prstGeom prst="roundRect">
            <a:avLst/>
          </a:prstGeom>
          <a:solidFill>
            <a:srgbClr val="FFFFFF"/>
          </a:solidFill>
          <a:ln>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900" b="1">
                <a:solidFill>
                  <a:srgbClr val="20288F"/>
                </a:solidFill>
                <a:latin typeface="Arial"/>
              </a:rPr>
              <a:t>BUKTI 1: Data Transaksi SAP Terkunci Mentah (Dormant Data)</a:t>
            </a:r>
          </a:p>
          <a:p>
            <a:pPr>
              <a:spcAft>
                <a:spcPts val="200"/>
              </a:spcAft>
            </a:pPr>
            <a:r>
              <a:rPr sz="800" b="1">
                <a:solidFill>
                  <a:srgbClr val="20288F"/>
                </a:solidFill>
                <a:latin typeface="Arial"/>
              </a:rPr>
              <a:t>• Kondisi Sistem: </a:t>
            </a:r>
            <a:r>
              <a:rPr sz="800">
                <a:solidFill>
                  <a:srgbClr val="2A2A3D"/>
                </a:solidFill>
                <a:latin typeface="Arial"/>
              </a:rPr>
              <a:t>Modul SAP ZPPRSIPPC0012 memuat data PO &amp; hasil cetak, tetapi tersaji dalam tabel CSV mentah puluhan kolom di PC kantor.</a:t>
            </a:r>
          </a:p>
          <a:p>
            <a:r>
              <a:rPr sz="800" b="1">
                <a:solidFill>
                  <a:srgbClr val="20288F"/>
                </a:solidFill>
                <a:latin typeface="Arial"/>
              </a:rPr>
              <a:t>• Fakta Lapangan: </a:t>
            </a:r>
            <a:r>
              <a:rPr sz="800">
                <a:solidFill>
                  <a:srgbClr val="2A2A3D"/>
                </a:solidFill>
                <a:latin typeface="Arial"/>
              </a:rPr>
              <a:t>Data pasif dan tidak bisa diolah langsung di meja mesin; pengawas tidak memiliki visualisasi tren performa harian per mesin.</a:t>
            </a:r>
          </a:p>
        </p:txBody>
      </p:sp>
      <p:sp>
        <p:nvSpPr>
          <p:cNvPr id="16" name="Rounded Rectangle 15"/>
          <p:cNvSpPr/>
          <p:nvPr/>
        </p:nvSpPr>
        <p:spPr>
          <a:xfrm>
            <a:off x="6327648" y="3291840"/>
            <a:ext cx="5184648" cy="1078992"/>
          </a:xfrm>
          <a:prstGeom prst="roundRect">
            <a:avLst/>
          </a:prstGeom>
          <a:solidFill>
            <a:srgbClr val="FFFFFF"/>
          </a:solidFill>
          <a:ln>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900" b="1">
                <a:solidFill>
                  <a:srgbClr val="6A2CC9"/>
                </a:solidFill>
                <a:latin typeface="Arial"/>
              </a:rPr>
              <a:t>BUKTI 2: Data Mutu QC Hanya Ringkasan Global (Attribution Blindness)</a:t>
            </a:r>
          </a:p>
          <a:p>
            <a:pPr>
              <a:spcAft>
                <a:spcPts val="200"/>
              </a:spcAft>
            </a:pPr>
            <a:r>
              <a:rPr sz="800" b="1">
                <a:solidFill>
                  <a:srgbClr val="6A2CC9"/>
                </a:solidFill>
                <a:latin typeface="Arial"/>
              </a:rPr>
              <a:t>• Kondisi Sistem: </a:t>
            </a:r>
            <a:r>
              <a:rPr sz="800">
                <a:solidFill>
                  <a:srgbClr val="2A2A3D"/>
                </a:solidFill>
                <a:latin typeface="Arial"/>
              </a:rPr>
              <a:t>Laporan QC Verifikasi mencatat lembar cacat per jenis (blobor, noda, dll), namun hanya sebagai total akumulasi unit global.</a:t>
            </a:r>
          </a:p>
          <a:p>
            <a:r>
              <a:rPr sz="800" b="1">
                <a:solidFill>
                  <a:srgbClr val="6A2CC9"/>
                </a:solidFill>
                <a:latin typeface="Arial"/>
              </a:rPr>
              <a:t>• Fakta Lapangan: </a:t>
            </a:r>
            <a:r>
              <a:rPr sz="800">
                <a:solidFill>
                  <a:srgbClr val="2A2A3D"/>
                </a:solidFill>
                <a:latin typeface="Arial"/>
              </a:rPr>
              <a:t>Ketiadaan nomor mesin, PO, &amp; shift -&gt; Kebutaan atribusi: teknisi tidak tahu mesin target dan pembinaan operator bias.</a:t>
            </a:r>
          </a:p>
        </p:txBody>
      </p:sp>
      <p:sp>
        <p:nvSpPr>
          <p:cNvPr id="17" name="Rounded Rectangle 16"/>
          <p:cNvSpPr/>
          <p:nvPr/>
        </p:nvSpPr>
        <p:spPr>
          <a:xfrm>
            <a:off x="6327648" y="4425696"/>
            <a:ext cx="5184648" cy="1298448"/>
          </a:xfrm>
          <a:prstGeom prst="roundRect">
            <a:avLst/>
          </a:prstGeom>
          <a:solidFill>
            <a:srgbClr val="FFFFFF"/>
          </a:solidFill>
          <a:ln>
            <a:solidFill>
              <a:srgbClr val="F5C2C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900" b="1">
                <a:solidFill>
                  <a:srgbClr val="C62828"/>
                </a:solidFill>
                <a:latin typeface="Arial"/>
              </a:rPr>
              <a:t>BUKTI 3: Data Penugasan Terperangkap di Kertas (The Paper Trap)</a:t>
            </a:r>
          </a:p>
          <a:p>
            <a:pPr>
              <a:spcAft>
                <a:spcPts val="200"/>
              </a:spcAft>
            </a:pPr>
            <a:r>
              <a:rPr sz="800" b="1">
                <a:solidFill>
                  <a:srgbClr val="C62828"/>
                </a:solidFill>
                <a:latin typeface="Arial"/>
              </a:rPr>
              <a:t>• Kondisi Sistem: </a:t>
            </a:r>
            <a:r>
              <a:rPr sz="800">
                <a:solidFill>
                  <a:srgbClr val="2A2A3D"/>
                </a:solidFill>
                <a:latin typeface="Arial"/>
              </a:rPr>
              <a:t>Nomor mesin, PO, shift, nama operator, &amp; hasil cetak (LK) ditulis manual dengan pulpen pada buku folio fisik di meja mesin.</a:t>
            </a:r>
          </a:p>
          <a:p>
            <a:r>
              <a:rPr sz="800" b="1">
                <a:solidFill>
                  <a:srgbClr val="C62828"/>
                </a:solidFill>
                <a:latin typeface="Arial"/>
              </a:rPr>
              <a:t>• Fakta Lapangan: </a:t>
            </a:r>
            <a:r>
              <a:rPr sz="800">
                <a:solidFill>
                  <a:srgbClr val="2A2A3D"/>
                </a:solidFill>
                <a:latin typeface="Arial"/>
              </a:rPr>
              <a:t>Buku fisik terisolasi &amp; baru direkap kuartalan saat penilaian pegawai; data rawan hilang/rusak terkena tinta/air, dan feedback kinerja tertunda berbulan-bulan.</a:t>
            </a:r>
          </a:p>
        </p:txBody>
      </p:sp>
      <p:sp>
        <p:nvSpPr>
          <p:cNvPr id="18" name="Rounded Rectangle 17"/>
          <p:cNvSpPr/>
          <p:nvPr/>
        </p:nvSpPr>
        <p:spPr>
          <a:xfrm>
            <a:off x="548640" y="5888736"/>
            <a:ext cx="11091672" cy="457200"/>
          </a:xfrm>
          <a:prstGeom prst="roundRect">
            <a:avLst/>
          </a:prstGeom>
          <a:solidFill>
            <a:srgbClr val="F4F7FE"/>
          </a:solidFill>
          <a:ln>
            <a:solidFill>
              <a:srgbClr val="20288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r>
              <a:rPr sz="880" b="1">
                <a:solidFill>
                  <a:srgbClr val="20288F"/>
                </a:solidFill>
                <a:latin typeface="Arial"/>
              </a:rPr>
              <a:t>• Business Insight:  </a:t>
            </a:r>
            <a:r>
              <a:rPr sz="880">
                <a:solidFill>
                  <a:srgbClr val="2A2A3D"/>
                </a:solidFill>
                <a:latin typeface="Arial"/>
              </a:rPr>
              <a:t>Penyebab utama tingginya inschiet bukan ketiadaan SOP, melainkan terputusnya aliran data (Data Silo) antara SAP di kantor, modul QC Verifikasi, dan buku folio di meja mesin. Tanpa integrasi data, perbaikan mesin tetap spekulatif (&gt; 8 jam) dan pembinaan operator terhambat.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07899" y="-179222"/>
            <a:ext cx="1448409" cy="814730"/>
          </a:xfrm>
          <a:prstGeom prst="rect">
            <a:avLst/>
          </a:prstGeom>
        </p:spPr>
      </p:pic>
      <p:pic>
        <p:nvPicPr>
          <p:cNvPr id="3" name="Picture 2" descr="image.png"/>
          <p:cNvPicPr>
            <a:picLocks noChangeAspect="1"/>
          </p:cNvPicPr>
          <p:nvPr/>
        </p:nvPicPr>
        <p:blipFill>
          <a:blip r:embed="rId3"/>
          <a:stretch>
            <a:fillRect/>
          </a:stretch>
        </p:blipFill>
        <p:spPr>
          <a:xfrm>
            <a:off x="11055096" y="11887"/>
            <a:ext cx="1140256" cy="634593"/>
          </a:xfrm>
          <a:prstGeom prst="rect">
            <a:avLst/>
          </a:prstGeom>
        </p:spPr>
      </p:pic>
      <p:sp>
        <p:nvSpPr>
          <p:cNvPr id="4" name="Rounded Rectangle 3"/>
          <p:cNvSpPr/>
          <p:nvPr/>
        </p:nvSpPr>
        <p:spPr>
          <a:xfrm>
            <a:off x="548640" y="594360"/>
            <a:ext cx="731520" cy="658368"/>
          </a:xfrm>
          <a:prstGeom prst="round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r>
              <a:rPr sz="2000" b="1">
                <a:solidFill>
                  <a:srgbClr val="FFFFFF"/>
                </a:solidFill>
                <a:latin typeface="Arial"/>
              </a:rPr>
              <a:t>03.2</a:t>
            </a:r>
          </a:p>
        </p:txBody>
      </p:sp>
      <p:sp>
        <p:nvSpPr>
          <p:cNvPr id="5" name="TextBox 4"/>
          <p:cNvSpPr txBox="1"/>
          <p:nvPr/>
        </p:nvSpPr>
        <p:spPr>
          <a:xfrm>
            <a:off x="1417320" y="548640"/>
            <a:ext cx="9326880" cy="731520"/>
          </a:xfrm>
          <a:prstGeom prst="rect">
            <a:avLst/>
          </a:prstGeom>
          <a:noFill/>
        </p:spPr>
        <p:txBody>
          <a:bodyPr wrap="square" lIns="0" tIns="0" rIns="0" bIns="0">
            <a:spAutoFit/>
          </a:bodyPr>
          <a:lstStyle/>
          <a:p>
            <a:pPr algn="l"/>
            <a:r>
              <a:rPr sz="2400" b="1">
                <a:solidFill>
                  <a:srgbClr val="20288F"/>
                </a:solidFill>
                <a:latin typeface="Arial"/>
              </a:rPr>
              <a:t>Analisis Penyebab: Rantai Kausalitas 5-Why &amp; Akar Masalah</a:t>
            </a:r>
          </a:p>
        </p:txBody>
      </p:sp>
      <p:sp>
        <p:nvSpPr>
          <p:cNvPr id="6" name="TextBox 5"/>
          <p:cNvSpPr txBox="1"/>
          <p:nvPr/>
        </p:nvSpPr>
        <p:spPr>
          <a:xfrm>
            <a:off x="548640" y="1353312"/>
            <a:ext cx="10789920" cy="347472"/>
          </a:xfrm>
          <a:prstGeom prst="rect">
            <a:avLst/>
          </a:prstGeom>
          <a:noFill/>
        </p:spPr>
        <p:txBody>
          <a:bodyPr wrap="square" lIns="0" tIns="0" rIns="0" bIns="0">
            <a:spAutoFit/>
          </a:bodyPr>
          <a:lstStyle/>
          <a:p>
            <a:r>
              <a:rPr sz="1150" b="1">
                <a:solidFill>
                  <a:srgbClr val="6A2CC9"/>
                </a:solidFill>
                <a:latin typeface="Arial"/>
              </a:rPr>
              <a:t>Tujuan bagian ini:  </a:t>
            </a:r>
            <a:r>
              <a:rPr sz="1150" b="0">
                <a:solidFill>
                  <a:srgbClr val="2A2A3D"/>
                </a:solidFill>
                <a:latin typeface="Arial"/>
              </a:rPr>
              <a:t>Buktikan penelusuran kausalitas berjenjang (5-Why) dan rumuskan akar masalah utama yang akan diserang oleh solusi.</a:t>
            </a:r>
          </a:p>
        </p:txBody>
      </p:sp>
      <p:sp>
        <p:nvSpPr>
          <p:cNvPr id="7" name="TextBox 6"/>
          <p:cNvSpPr txBox="1"/>
          <p:nvPr/>
        </p:nvSpPr>
        <p:spPr>
          <a:xfrm>
            <a:off x="548640" y="6419088"/>
            <a:ext cx="11091672" cy="219456"/>
          </a:xfrm>
          <a:prstGeom prst="rect">
            <a:avLst/>
          </a:prstGeom>
          <a:noFill/>
        </p:spPr>
        <p:txBody>
          <a:bodyPr wrap="square" lIns="0" tIns="0" rIns="0" bIns="0">
            <a:spAutoFit/>
          </a:bodyPr>
          <a:lstStyle/>
          <a:p>
            <a:r>
              <a:rPr sz="850">
                <a:solidFill>
                  <a:srgbClr val="6E6E82"/>
                </a:solidFill>
                <a:latin typeface="Arial"/>
              </a:rPr>
              <a:t>IAKA 2026 — Kerangka Presentasi Peserta  ·  DSS SIRINE 4.0 Unit Cetak Pita Cukai</a:t>
            </a:r>
          </a:p>
        </p:txBody>
      </p:sp>
      <p:sp>
        <p:nvSpPr>
          <p:cNvPr id="8" name="Rectangle 7"/>
          <p:cNvSpPr/>
          <p:nvPr/>
        </p:nvSpPr>
        <p:spPr>
          <a:xfrm>
            <a:off x="548640" y="1755648"/>
            <a:ext cx="5577840" cy="329184"/>
          </a:xfrm>
          <a:prstGeom prst="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r>
              <a:rPr sz="1050" b="1">
                <a:solidFill>
                  <a:srgbClr val="FFFFFF"/>
                </a:solidFill>
                <a:latin typeface="Arial"/>
              </a:rPr>
              <a:t>1. METODE ANALISIS: PENELUSURAN KAUSALITAS 5-WHY</a:t>
            </a:r>
          </a:p>
        </p:txBody>
      </p:sp>
      <p:sp>
        <p:nvSpPr>
          <p:cNvPr id="9" name="Rounded Rectangle 8"/>
          <p:cNvSpPr/>
          <p:nvPr/>
        </p:nvSpPr>
        <p:spPr>
          <a:xfrm>
            <a:off x="548640" y="2084831"/>
            <a:ext cx="5577840" cy="3730752"/>
          </a:xfrm>
          <a:prstGeom prst="roundRect">
            <a:avLst/>
          </a:prstGeom>
          <a:solidFill>
            <a:srgbClr val="F4F7FE"/>
          </a:solidFill>
          <a:ln>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8368" y="2157984"/>
            <a:ext cx="5358384" cy="658368"/>
          </a:xfrm>
          <a:prstGeom prst="roundRect">
            <a:avLst/>
          </a:prstGeom>
          <a:solidFill>
            <a:srgbClr val="FFFFFF"/>
          </a:solidFill>
          <a:ln>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50"/>
              </a:spcAft>
            </a:pPr>
            <a:r>
              <a:rPr sz="780" b="1">
                <a:solidFill>
                  <a:srgbClr val="20288F"/>
                </a:solidFill>
                <a:latin typeface="Arial"/>
              </a:rPr>
              <a:t>[WHY 1] </a:t>
            </a:r>
            <a:r>
              <a:rPr sz="780" b="1">
                <a:solidFill>
                  <a:srgbClr val="2A2A3D"/>
                </a:solidFill>
                <a:latin typeface="Arial"/>
              </a:rPr>
              <a:t>Mengapa inschiet berfluktuasi tinggi pada rata-rata 4,61% (puncak 5,11%)?</a:t>
            </a:r>
          </a:p>
          <a:p>
            <a:pPr>
              <a:spcAft>
                <a:spcPts val="150"/>
              </a:spcAft>
            </a:pPr>
            <a:r>
              <a:rPr sz="780" b="1">
                <a:solidFill>
                  <a:srgbClr val="20288F"/>
                </a:solidFill>
                <a:latin typeface="Arial"/>
              </a:rPr>
              <a:t>➔ </a:t>
            </a:r>
            <a:r>
              <a:rPr sz="780" b="0">
                <a:solidFill>
                  <a:srgbClr val="2A2A3D"/>
                </a:solidFill>
                <a:latin typeface="Arial"/>
              </a:rPr>
              <a:t>Tindakan servis mesin &amp; coaching operator sering terlambat dan tidak tepat sasaran.</a:t>
            </a:r>
          </a:p>
          <a:p>
            <a:r>
              <a:rPr sz="700" i="1">
                <a:solidFill>
                  <a:srgbClr val="6E6E82"/>
                </a:solidFill>
                <a:latin typeface="Arial"/>
              </a:rPr>
              <a:t>   [Bukti: Fluktuasi kuartalan Q1 (4,72%) s.d. Q4 (5,11%) — Sumber: SAP ZPPRSIPPC0012]</a:t>
            </a:r>
          </a:p>
        </p:txBody>
      </p:sp>
      <p:sp>
        <p:nvSpPr>
          <p:cNvPr id="11" name="Rounded Rectangle 10"/>
          <p:cNvSpPr/>
          <p:nvPr/>
        </p:nvSpPr>
        <p:spPr>
          <a:xfrm>
            <a:off x="658368" y="2843784"/>
            <a:ext cx="5358384" cy="658368"/>
          </a:xfrm>
          <a:prstGeom prst="roundRect">
            <a:avLst/>
          </a:prstGeom>
          <a:solidFill>
            <a:srgbClr val="FFFFFF"/>
          </a:solidFill>
          <a:ln>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50"/>
              </a:spcAft>
            </a:pPr>
            <a:r>
              <a:rPr sz="780" b="1">
                <a:solidFill>
                  <a:srgbClr val="20288F"/>
                </a:solidFill>
                <a:latin typeface="Arial"/>
              </a:rPr>
              <a:t>[WHY 2] </a:t>
            </a:r>
            <a:r>
              <a:rPr sz="780" b="1">
                <a:solidFill>
                  <a:srgbClr val="2A2A3D"/>
                </a:solidFill>
                <a:latin typeface="Arial"/>
              </a:rPr>
              <a:t>Mengapa perbaikan mesin &amp; pembinaan operator tidak tepat sasaran?</a:t>
            </a:r>
          </a:p>
          <a:p>
            <a:pPr>
              <a:spcAft>
                <a:spcPts val="150"/>
              </a:spcAft>
            </a:pPr>
            <a:r>
              <a:rPr sz="780" b="1">
                <a:solidFill>
                  <a:srgbClr val="20288F"/>
                </a:solidFill>
                <a:latin typeface="Arial"/>
              </a:rPr>
              <a:t>➔ </a:t>
            </a:r>
            <a:r>
              <a:rPr sz="780" b="0">
                <a:solidFill>
                  <a:srgbClr val="2A2A3D"/>
                </a:solidFill>
                <a:latin typeface="Arial"/>
              </a:rPr>
              <a:t>Teknisi &amp; pengawas tidak tahu pasti mesin mana sumber masalah &amp; apakah faktor mesin/shift.</a:t>
            </a:r>
          </a:p>
          <a:p>
            <a:r>
              <a:rPr sz="700" i="1">
                <a:solidFill>
                  <a:srgbClr val="6E6E82"/>
                </a:solidFill>
                <a:latin typeface="Arial"/>
              </a:rPr>
              <a:t>   [Bukti: Kasus penelusuran blobor acak ke 6 mesin pada Juni 2025 dengan downtime &gt; 8 jam]</a:t>
            </a:r>
          </a:p>
        </p:txBody>
      </p:sp>
      <p:sp>
        <p:nvSpPr>
          <p:cNvPr id="12" name="Rounded Rectangle 11"/>
          <p:cNvSpPr/>
          <p:nvPr/>
        </p:nvSpPr>
        <p:spPr>
          <a:xfrm>
            <a:off x="658368" y="3529584"/>
            <a:ext cx="5358384" cy="658368"/>
          </a:xfrm>
          <a:prstGeom prst="roundRect">
            <a:avLst/>
          </a:prstGeom>
          <a:solidFill>
            <a:srgbClr val="FFFFFF"/>
          </a:solidFill>
          <a:ln>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50"/>
              </a:spcAft>
            </a:pPr>
            <a:r>
              <a:rPr sz="780" b="1">
                <a:solidFill>
                  <a:srgbClr val="6A2CC9"/>
                </a:solidFill>
                <a:latin typeface="Arial"/>
              </a:rPr>
              <a:t>[WHY 3] </a:t>
            </a:r>
            <a:r>
              <a:rPr sz="780" b="1">
                <a:solidFill>
                  <a:srgbClr val="2A2A3D"/>
                </a:solidFill>
                <a:latin typeface="Arial"/>
              </a:rPr>
              <a:t>Mengapa tidak diketahui mesin mana dan shift mana yang bermasalah?</a:t>
            </a:r>
          </a:p>
          <a:p>
            <a:pPr>
              <a:spcAft>
                <a:spcPts val="150"/>
              </a:spcAft>
            </a:pPr>
            <a:r>
              <a:rPr sz="780" b="1">
                <a:solidFill>
                  <a:srgbClr val="6A2CC9"/>
                </a:solidFill>
                <a:latin typeface="Arial"/>
              </a:rPr>
              <a:t>➔ </a:t>
            </a:r>
            <a:r>
              <a:rPr sz="780" b="0">
                <a:solidFill>
                  <a:srgbClr val="2A2A3D"/>
                </a:solidFill>
                <a:latin typeface="Arial"/>
              </a:rPr>
              <a:t>Data jenis kerusakan QC tidak terhubung dengan data penugasan operasional (mesin, shift, PO).</a:t>
            </a:r>
          </a:p>
          <a:p>
            <a:r>
              <a:rPr sz="700" i="1">
                <a:solidFill>
                  <a:srgbClr val="6E6E82"/>
                </a:solidFill>
                <a:latin typeface="Arial"/>
              </a:rPr>
              <a:t>   [Bukti: Laporan QC Verifikasi hanya menyajikan total kerusakan general di level unit]</a:t>
            </a:r>
          </a:p>
        </p:txBody>
      </p:sp>
      <p:sp>
        <p:nvSpPr>
          <p:cNvPr id="13" name="Rounded Rectangle 12"/>
          <p:cNvSpPr/>
          <p:nvPr/>
        </p:nvSpPr>
        <p:spPr>
          <a:xfrm>
            <a:off x="658368" y="4215384"/>
            <a:ext cx="5358384" cy="658368"/>
          </a:xfrm>
          <a:prstGeom prst="roundRect">
            <a:avLst/>
          </a:prstGeom>
          <a:solidFill>
            <a:srgbClr val="FFFFFF"/>
          </a:solidFill>
          <a:ln>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50"/>
              </a:spcAft>
            </a:pPr>
            <a:r>
              <a:rPr sz="780" b="1">
                <a:solidFill>
                  <a:srgbClr val="6A2CC9"/>
                </a:solidFill>
                <a:latin typeface="Arial"/>
              </a:rPr>
              <a:t>[WHY 4] </a:t>
            </a:r>
            <a:r>
              <a:rPr sz="780" b="1">
                <a:solidFill>
                  <a:srgbClr val="2A2A3D"/>
                </a:solidFill>
                <a:latin typeface="Arial"/>
              </a:rPr>
              <a:t>Mengapa data kerusakan dan penugasan operasional tidak terhubung?</a:t>
            </a:r>
          </a:p>
          <a:p>
            <a:pPr>
              <a:spcAft>
                <a:spcPts val="150"/>
              </a:spcAft>
            </a:pPr>
            <a:r>
              <a:rPr sz="780" b="1">
                <a:solidFill>
                  <a:srgbClr val="6A2CC9"/>
                </a:solidFill>
                <a:latin typeface="Arial"/>
              </a:rPr>
              <a:t>➔ </a:t>
            </a:r>
            <a:r>
              <a:rPr sz="780" b="0">
                <a:solidFill>
                  <a:srgbClr val="2A2A3D"/>
                </a:solidFill>
                <a:latin typeface="Arial"/>
              </a:rPr>
              <a:t>Terjadi Data Silo: data mutu di SAP/QC, penugasan dicatat manual di buku folio meja mesin.</a:t>
            </a:r>
          </a:p>
          <a:p>
            <a:r>
              <a:rPr sz="700" i="1">
                <a:solidFill>
                  <a:srgbClr val="6E6E82"/>
                </a:solidFill>
                <a:latin typeface="Arial"/>
              </a:rPr>
              <a:t>   [Bukti: Tabel CSV mentah SAP ZPPRSIPPC0012 vs Buku Folio Fisik Meja Mesin]</a:t>
            </a:r>
          </a:p>
        </p:txBody>
      </p:sp>
      <p:sp>
        <p:nvSpPr>
          <p:cNvPr id="14" name="Rounded Rectangle 13"/>
          <p:cNvSpPr/>
          <p:nvPr/>
        </p:nvSpPr>
        <p:spPr>
          <a:xfrm>
            <a:off x="658368" y="4901184"/>
            <a:ext cx="5358384" cy="841248"/>
          </a:xfrm>
          <a:prstGeom prst="roundRect">
            <a:avLst/>
          </a:prstGeom>
          <a:solidFill>
            <a:srgbClr val="FFFFFF"/>
          </a:solidFill>
          <a:ln>
            <a:solidFill>
              <a:srgbClr val="F5C2C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50"/>
              </a:spcAft>
            </a:pPr>
            <a:r>
              <a:rPr sz="780" b="1">
                <a:solidFill>
                  <a:srgbClr val="C62828"/>
                </a:solidFill>
                <a:latin typeface="Arial"/>
              </a:rPr>
              <a:t>[WHY 5 (ROOT CAUSE)] </a:t>
            </a:r>
            <a:r>
              <a:rPr sz="780" b="1">
                <a:solidFill>
                  <a:srgbClr val="2A2A3D"/>
                </a:solidFill>
                <a:latin typeface="Arial"/>
              </a:rPr>
              <a:t>Mengapa data terpisah dan dicatat secara manual di buku folio?</a:t>
            </a:r>
          </a:p>
          <a:p>
            <a:pPr>
              <a:spcAft>
                <a:spcPts val="150"/>
              </a:spcAft>
            </a:pPr>
            <a:r>
              <a:rPr sz="780" b="1">
                <a:solidFill>
                  <a:srgbClr val="C62828"/>
                </a:solidFill>
                <a:latin typeface="Arial"/>
              </a:rPr>
              <a:t>➔ </a:t>
            </a:r>
            <a:r>
              <a:rPr sz="780" b="1">
                <a:solidFill>
                  <a:srgbClr val="C62828"/>
                </a:solidFill>
                <a:latin typeface="Arial"/>
              </a:rPr>
              <a:t>Ketiadaan Decision Support System (DSS) terpadu yang mendigitalisasi input PO di lapangan &amp; menghubungkannya real-time ke data mutu per mesin &amp; shift.</a:t>
            </a:r>
          </a:p>
          <a:p>
            <a:r>
              <a:rPr sz="700" i="1">
                <a:solidFill>
                  <a:srgbClr val="C62828"/>
                </a:solidFill>
                <a:latin typeface="Arial"/>
              </a:rPr>
              <a:t>   [Status: Akar Masalah Fundamental yang Belum Pernah Diselesaikan di Unit Cetak]</a:t>
            </a:r>
          </a:p>
        </p:txBody>
      </p:sp>
      <p:sp>
        <p:nvSpPr>
          <p:cNvPr id="15" name="Rectangle 14"/>
          <p:cNvSpPr/>
          <p:nvPr/>
        </p:nvSpPr>
        <p:spPr>
          <a:xfrm>
            <a:off x="6382512" y="1755648"/>
            <a:ext cx="5257800" cy="329184"/>
          </a:xfrm>
          <a:prstGeom prst="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r>
              <a:rPr sz="1050" b="1">
                <a:solidFill>
                  <a:srgbClr val="FFFFFF"/>
                </a:solidFill>
                <a:latin typeface="Arial"/>
              </a:rPr>
              <a:t>2. AKAR MASALAH UTAMA &amp; JEMBATAN MENUJU SOLUSI</a:t>
            </a:r>
          </a:p>
        </p:txBody>
      </p:sp>
      <p:sp>
        <p:nvSpPr>
          <p:cNvPr id="16" name="Rounded Rectangle 15"/>
          <p:cNvSpPr/>
          <p:nvPr/>
        </p:nvSpPr>
        <p:spPr>
          <a:xfrm>
            <a:off x="6382512" y="2084831"/>
            <a:ext cx="5257800" cy="3730752"/>
          </a:xfrm>
          <a:prstGeom prst="roundRect">
            <a:avLst/>
          </a:prstGeom>
          <a:solidFill>
            <a:srgbClr val="F8F6FE"/>
          </a:solidFill>
          <a:ln>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92240" y="2157984"/>
            <a:ext cx="5038344" cy="1536192"/>
          </a:xfrm>
          <a:prstGeom prst="roundRect">
            <a:avLst/>
          </a:prstGeom>
          <a:solidFill>
            <a:srgbClr val="FFF5F5"/>
          </a:solidFill>
          <a:ln>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950" b="1">
                <a:solidFill>
                  <a:srgbClr val="C62828"/>
                </a:solidFill>
                <a:latin typeface="Arial"/>
              </a:rPr>
              <a:t>RUMUSAN AKAR MASALAH UTAMA (CORE ROOT CAUSE):</a:t>
            </a:r>
          </a:p>
          <a:p>
            <a:pPr>
              <a:spcAft>
                <a:spcPts val="300"/>
              </a:spcAft>
            </a:pPr>
            <a:r>
              <a:rPr sz="860" b="1" i="1">
                <a:solidFill>
                  <a:srgbClr val="2A2A3D"/>
                </a:solidFill>
                <a:latin typeface="Arial"/>
              </a:rPr>
              <a:t>“Ketiadaan sistem pendukung keputusan (Decision Support System) yang terintegrasi secara real-time untuk mendigitalisasi rekam jejak produksi per PO di lapangan, serta menghubungkan data kuantitas dan jenis kerusakan secara spesifik ke tingkat mesin dan kondisi operasional (shift/tim kerja).”</a:t>
            </a:r>
          </a:p>
          <a:p>
            <a:r>
              <a:rPr sz="780" b="1">
                <a:solidFill>
                  <a:srgbClr val="2E7D32"/>
                </a:solidFill>
                <a:latin typeface="Arial"/>
              </a:rPr>
              <a:t>✓ Status: Tervalidasi 100% via Audit Alur Kerja Unit Cetak 2025</a:t>
            </a:r>
          </a:p>
        </p:txBody>
      </p:sp>
      <p:sp>
        <p:nvSpPr>
          <p:cNvPr id="18" name="Rounded Rectangle 17"/>
          <p:cNvSpPr/>
          <p:nvPr/>
        </p:nvSpPr>
        <p:spPr>
          <a:xfrm>
            <a:off x="6492240" y="3767328"/>
            <a:ext cx="5038344" cy="1956816"/>
          </a:xfrm>
          <a:prstGeom prst="roundRect">
            <a:avLst/>
          </a:prstGeom>
          <a:solidFill>
            <a:srgbClr val="FFFFFF"/>
          </a:solidFill>
          <a:ln>
            <a:solidFill>
              <a:srgbClr val="6A2CC9"/>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300"/>
              </a:spcAft>
            </a:pPr>
            <a:r>
              <a:rPr sz="919" b="1">
                <a:solidFill>
                  <a:srgbClr val="6A2CC9"/>
                </a:solidFill>
                <a:latin typeface="Arial"/>
              </a:rPr>
              <a:t>JEMBATAN LOGIKA SEBAB-AKIBAT MENUJU SOLUSI (POINT 04):</a:t>
            </a:r>
          </a:p>
          <a:p>
            <a:pPr>
              <a:spcAft>
                <a:spcPts val="200"/>
              </a:spcAft>
            </a:pPr>
            <a:r>
              <a:rPr sz="780" b="1">
                <a:solidFill>
                  <a:srgbClr val="6A2CC9"/>
                </a:solidFill>
                <a:latin typeface="Arial"/>
              </a:rPr>
              <a:t>• 1. Akar Masalah: </a:t>
            </a:r>
            <a:r>
              <a:rPr sz="780" b="0">
                <a:solidFill>
                  <a:srgbClr val="2A2A3D"/>
                </a:solidFill>
                <a:latin typeface="Arial"/>
              </a:rPr>
              <a:t>Ketiadaan DSS terpadu per PO, Mesin, &amp; Shift kerja.</a:t>
            </a:r>
          </a:p>
          <a:p>
            <a:pPr>
              <a:spcAft>
                <a:spcPts val="200"/>
              </a:spcAft>
            </a:pPr>
            <a:r>
              <a:rPr sz="780" b="1">
                <a:solidFill>
                  <a:srgbClr val="20288F"/>
                </a:solidFill>
                <a:latin typeface="Arial"/>
              </a:rPr>
              <a:t>• 2. Gejala Lapangan: </a:t>
            </a:r>
            <a:r>
              <a:rPr sz="780" b="0">
                <a:solidFill>
                  <a:srgbClr val="2A2A3D"/>
                </a:solidFill>
                <a:latin typeface="Arial"/>
              </a:rPr>
              <a:t>Data Silo -&gt; Maintenance spekulatif (&gt; 8 jam) &amp; evaluasi tertunda.</a:t>
            </a:r>
          </a:p>
          <a:p>
            <a:pPr>
              <a:spcAft>
                <a:spcPts val="200"/>
              </a:spcAft>
            </a:pPr>
            <a:r>
              <a:rPr sz="780" b="1">
                <a:solidFill>
                  <a:srgbClr val="C62828"/>
                </a:solidFill>
                <a:latin typeface="Arial"/>
              </a:rPr>
              <a:t>• 3. Dampak Terukur: </a:t>
            </a:r>
            <a:r>
              <a:rPr sz="780" b="0">
                <a:solidFill>
                  <a:srgbClr val="2A2A3D"/>
                </a:solidFill>
                <a:latin typeface="Arial"/>
              </a:rPr>
              <a:t>Inschiet 4,61% (Potensi pemborosan biaya Rp 24,56 Miliar/Tahun).</a:t>
            </a:r>
          </a:p>
          <a:p>
            <a:pPr>
              <a:spcAft>
                <a:spcPts val="200"/>
              </a:spcAft>
            </a:pPr>
            <a:r>
              <a:rPr sz="780" b="1">
                <a:solidFill>
                  <a:srgbClr val="2E7D32"/>
                </a:solidFill>
                <a:latin typeface="Arial"/>
              </a:rPr>
              <a:t>• 4. Sasaran Solusi DSS SIRINE 4.0: </a:t>
            </a:r>
            <a:r>
              <a:rPr sz="780" b="1">
                <a:solidFill>
                  <a:srgbClr val="2E7D32"/>
                </a:solidFill>
                <a:latin typeface="Arial"/>
              </a:rPr>
              <a:t>Menghadirkan Arsitektur Dua Lapisan (Form Input Digital &lt; 30 detik + 6 Modul Preskriptif) untuk menyerang langsung akar masalah Why 5.</a:t>
            </a:r>
          </a:p>
        </p:txBody>
      </p:sp>
      <p:sp>
        <p:nvSpPr>
          <p:cNvPr id="19" name="Rounded Rectangle 18"/>
          <p:cNvSpPr/>
          <p:nvPr/>
        </p:nvSpPr>
        <p:spPr>
          <a:xfrm>
            <a:off x="548640" y="5888736"/>
            <a:ext cx="11091672" cy="457200"/>
          </a:xfrm>
          <a:prstGeom prst="roundRect">
            <a:avLst/>
          </a:prstGeom>
          <a:solidFill>
            <a:srgbClr val="F8F6FE"/>
          </a:solidFill>
          <a:ln>
            <a:solidFill>
              <a:srgbClr val="6A2CC9"/>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r>
              <a:rPr sz="880" b="1">
                <a:solidFill>
                  <a:srgbClr val="6A2CC9"/>
                </a:solidFill>
                <a:latin typeface="Arial"/>
              </a:rPr>
              <a:t>• Keterkaitan dengan Solusi:  </a:t>
            </a:r>
            <a:r>
              <a:rPr sz="880">
                <a:solidFill>
                  <a:srgbClr val="2A2A3D"/>
                </a:solidFill>
                <a:latin typeface="Arial"/>
              </a:rPr>
              <a:t>Inovasi DSS SIRINE 4.0 pada Point 04 secara presisi menyerang akar masalah Why 5: meruntuhkan Data Silo melalui integrasi otomatis Lapisan 1 (Input Digital Lapangan) dan Lapisan 2 (Dasbor Preskriptif Per Mesin &amp; Per Shift) guna mengeliminasi spekulasi teknis.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07899" y="-179222"/>
            <a:ext cx="1448409" cy="814730"/>
          </a:xfrm>
          <a:prstGeom prst="rect">
            <a:avLst/>
          </a:prstGeom>
        </p:spPr>
      </p:pic>
      <p:pic>
        <p:nvPicPr>
          <p:cNvPr id="3" name="Picture 2" descr="image.png"/>
          <p:cNvPicPr>
            <a:picLocks noChangeAspect="1"/>
          </p:cNvPicPr>
          <p:nvPr/>
        </p:nvPicPr>
        <p:blipFill>
          <a:blip r:embed="rId3"/>
          <a:stretch>
            <a:fillRect/>
          </a:stretch>
        </p:blipFill>
        <p:spPr>
          <a:xfrm>
            <a:off x="11055096" y="11887"/>
            <a:ext cx="1140256" cy="634593"/>
          </a:xfrm>
          <a:prstGeom prst="rect">
            <a:avLst/>
          </a:prstGeom>
        </p:spPr>
      </p:pic>
      <p:sp>
        <p:nvSpPr>
          <p:cNvPr id="4" name="Rounded Rectangle 3"/>
          <p:cNvSpPr/>
          <p:nvPr/>
        </p:nvSpPr>
        <p:spPr>
          <a:xfrm>
            <a:off x="548640" y="594360"/>
            <a:ext cx="731520" cy="658368"/>
          </a:xfrm>
          <a:prstGeom prst="round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000" b="1">
                <a:solidFill>
                  <a:srgbClr val="FFFFFF"/>
                </a:solidFill>
                <a:latin typeface="Arial"/>
              </a:rPr>
              <a:t>04.1</a:t>
            </a:r>
          </a:p>
        </p:txBody>
      </p:sp>
      <p:sp>
        <p:nvSpPr>
          <p:cNvPr id="5" name="TextBox 4"/>
          <p:cNvSpPr txBox="1"/>
          <p:nvPr/>
        </p:nvSpPr>
        <p:spPr>
          <a:xfrm>
            <a:off x="1417320" y="548640"/>
            <a:ext cx="9326880" cy="731520"/>
          </a:xfrm>
          <a:prstGeom prst="rect">
            <a:avLst/>
          </a:prstGeom>
          <a:noFill/>
        </p:spPr>
        <p:txBody>
          <a:bodyPr wrap="square" lIns="0" tIns="0" rIns="0" bIns="0">
            <a:spAutoFit/>
          </a:bodyPr>
          <a:lstStyle/>
          <a:p>
            <a:r>
              <a:rPr sz="2400" b="1">
                <a:solidFill>
                  <a:srgbClr val="20288F"/>
                </a:solidFill>
                <a:latin typeface="Arial"/>
              </a:rPr>
              <a:t>Solusi: Arsitektur Sistem 2 Lapisan &amp; 6 Modul Fitur Unggulan</a:t>
            </a:r>
          </a:p>
        </p:txBody>
      </p:sp>
      <p:sp>
        <p:nvSpPr>
          <p:cNvPr id="6" name="TextBox 5"/>
          <p:cNvSpPr txBox="1"/>
          <p:nvPr/>
        </p:nvSpPr>
        <p:spPr>
          <a:xfrm>
            <a:off x="548640" y="1353312"/>
            <a:ext cx="10789920" cy="347472"/>
          </a:xfrm>
          <a:prstGeom prst="rect">
            <a:avLst/>
          </a:prstGeom>
          <a:noFill/>
        </p:spPr>
        <p:txBody>
          <a:bodyPr wrap="square" lIns="0" tIns="0" rIns="0" bIns="0">
            <a:spAutoFit/>
          </a:bodyPr>
          <a:lstStyle/>
          <a:p>
            <a:r>
              <a:rPr sz="1150" b="1">
                <a:solidFill>
                  <a:srgbClr val="6A2CC9"/>
                </a:solidFill>
                <a:latin typeface="Arial"/>
              </a:rPr>
              <a:t>Tujuan bagian ini:  </a:t>
            </a:r>
            <a:r>
              <a:rPr sz="1150">
                <a:solidFill>
                  <a:srgbClr val="2A2A3D"/>
                </a:solidFill>
                <a:latin typeface="Arial"/>
              </a:rPr>
              <a:t>Jelaskan konsep arsitektur sistem pendukung keputusan (DSS) dan dekonstruksi 6 modul fitur untuk mematahkan data silo di lini cetak.</a:t>
            </a:r>
          </a:p>
        </p:txBody>
      </p:sp>
      <p:sp>
        <p:nvSpPr>
          <p:cNvPr id="7" name="TextBox 6"/>
          <p:cNvSpPr txBox="1"/>
          <p:nvPr/>
        </p:nvSpPr>
        <p:spPr>
          <a:xfrm>
            <a:off x="548640" y="6419088"/>
            <a:ext cx="11091672" cy="219456"/>
          </a:xfrm>
          <a:prstGeom prst="rect">
            <a:avLst/>
          </a:prstGeom>
          <a:noFill/>
        </p:spPr>
        <p:txBody>
          <a:bodyPr wrap="square" lIns="0" tIns="0" rIns="0" bIns="0">
            <a:spAutoFit/>
          </a:bodyPr>
          <a:lstStyle/>
          <a:p>
            <a:r>
              <a:rPr sz="850">
                <a:solidFill>
                  <a:srgbClr val="6E6E82"/>
                </a:solidFill>
                <a:latin typeface="Arial"/>
              </a:rPr>
              <a:t>IAKA 2026 — Kerangka Presentasi Peserta  ·  DSS SIRINE 4.0 Unit Cetak Pita Cukai</a:t>
            </a:r>
          </a:p>
        </p:txBody>
      </p:sp>
      <p:sp>
        <p:nvSpPr>
          <p:cNvPr id="8" name="Rectangle 7"/>
          <p:cNvSpPr/>
          <p:nvPr/>
        </p:nvSpPr>
        <p:spPr>
          <a:xfrm>
            <a:off x="548640" y="1755648"/>
            <a:ext cx="5394960" cy="329184"/>
          </a:xfrm>
          <a:prstGeom prst="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0" bIns="0" rIns="0"/>
          <a:lstStyle/>
          <a:p>
            <a:pPr algn="ctr"/>
            <a:r>
              <a:rPr sz="1050" b="1">
                <a:solidFill>
                  <a:srgbClr val="FFFFFF"/>
                </a:solidFill>
                <a:latin typeface="Arial"/>
              </a:rPr>
              <a:t>1. RANCANG BANGUN ARSITEKTUR DUA LAPISAN (TWO-TIER)</a:t>
            </a:r>
          </a:p>
        </p:txBody>
      </p:sp>
      <p:sp>
        <p:nvSpPr>
          <p:cNvPr id="9" name="Rounded Rectangle 8"/>
          <p:cNvSpPr/>
          <p:nvPr/>
        </p:nvSpPr>
        <p:spPr>
          <a:xfrm>
            <a:off x="548640" y="2084831"/>
            <a:ext cx="5394960" cy="3730752"/>
          </a:xfrm>
          <a:prstGeom prst="roundRect">
            <a:avLst/>
          </a:prstGeom>
          <a:solidFill>
            <a:srgbClr val="F4F7FE"/>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8368" y="2157984"/>
            <a:ext cx="5175504" cy="1417320"/>
          </a:xfrm>
          <a:prstGeom prst="roundRect">
            <a:avLst/>
          </a:prstGeom>
          <a:solidFill>
            <a:srgbClr val="FFFFFF"/>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r>
              <a:rPr sz="880" b="1">
                <a:solidFill>
                  <a:srgbClr val="20288F"/>
                </a:solidFill>
                <a:latin typeface="Arial"/>
              </a:rPr>
              <a:t>LAPISAN 1: PENGUMPULAN DATA DIGITAL LAPANGAN (&lt; 30s)</a:t>
            </a:r>
          </a:p>
          <a:p>
            <a:pPr>
              <a:spcBef>
                <a:spcPts val="300"/>
              </a:spcBef>
            </a:pPr>
            <a:r>
              <a:rPr sz="780" b="1">
                <a:solidFill>
                  <a:srgbClr val="20288F"/>
                </a:solidFill>
                <a:latin typeface="Arial"/>
              </a:rPr>
              <a:t>• Ujung Tombak Meja Mesin: </a:t>
            </a:r>
            <a:r>
              <a:rPr sz="780">
                <a:solidFill>
                  <a:srgbClr val="2A2A3D"/>
                </a:solidFill>
                <a:latin typeface="Arial"/>
              </a:rPr>
              <a:t>Integrasi Fitur 2 (Jadwal Operator) &amp; Fitur 1 (Form Konfirmasi PO) mendigitalisasi transaksi per nomor PO secara seketika.</a:t>
            </a:r>
          </a:p>
          <a:p>
            <a:pPr>
              <a:spcBef>
                <a:spcPts val="200"/>
              </a:spcBef>
            </a:pPr>
            <a:r>
              <a:rPr sz="780" b="1">
                <a:solidFill>
                  <a:srgbClr val="20288F"/>
                </a:solidFill>
                <a:latin typeface="Arial"/>
              </a:rPr>
              <a:t>• Otomasi Autofill Cerdas: </a:t>
            </a:r>
            <a:r>
              <a:rPr sz="780">
                <a:solidFill>
                  <a:srgbClr val="2A2A3D"/>
                </a:solidFill>
                <a:latin typeface="Arial"/>
              </a:rPr>
              <a:t>Tarik otomatis spesifikasi produk SAP (OBC, Target Cetak, Plat) &amp; susunan regu aktif. Operator verifikasi cepat (&lt; 30 detik), nol distraksi cetak.</a:t>
            </a:r>
          </a:p>
        </p:txBody>
      </p:sp>
      <p:sp>
        <p:nvSpPr>
          <p:cNvPr id="11" name="Rounded Rectangle 10"/>
          <p:cNvSpPr/>
          <p:nvPr/>
        </p:nvSpPr>
        <p:spPr>
          <a:xfrm>
            <a:off x="658368" y="3639312"/>
            <a:ext cx="5175504" cy="1481328"/>
          </a:xfrm>
          <a:prstGeom prst="roundRect">
            <a:avLst/>
          </a:prstGeom>
          <a:solidFill>
            <a:srgbClr val="FFFFFF"/>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r>
              <a:rPr sz="880" b="1">
                <a:solidFill>
                  <a:srgbClr val="6A2CC9"/>
                </a:solidFill>
                <a:latin typeface="Arial"/>
              </a:rPr>
              <a:t>LAPISAN 2: ANALISIS PRESKRIPTIF &amp; VISUALISASI AKSI</a:t>
            </a:r>
          </a:p>
          <a:p>
            <a:pPr>
              <a:spcBef>
                <a:spcPts val="300"/>
              </a:spcBef>
            </a:pPr>
            <a:r>
              <a:rPr sz="780" b="1">
                <a:solidFill>
                  <a:srgbClr val="6A2CC9"/>
                </a:solidFill>
                <a:latin typeface="Arial"/>
              </a:rPr>
              <a:t>• Engine Integrasi 3 Aliran Data: </a:t>
            </a:r>
            <a:r>
              <a:rPr sz="780">
                <a:solidFill>
                  <a:srgbClr val="2A2A3D"/>
                </a:solidFill>
                <a:latin typeface="Arial"/>
              </a:rPr>
              <a:t>Otomasi konsolidasi target pesanan SAP (order_pcht), transaksi meja mesin (transaksi_cetak), dan audit mutu verifikasi (hcts_pikai).</a:t>
            </a:r>
          </a:p>
          <a:p>
            <a:pPr>
              <a:spcBef>
                <a:spcPts val="200"/>
              </a:spcBef>
            </a:pPr>
            <a:r>
              <a:rPr sz="780" b="1">
                <a:solidFill>
                  <a:srgbClr val="6A2CC9"/>
                </a:solidFill>
                <a:latin typeface="Arial"/>
              </a:rPr>
              <a:t>• 4 Modul Dasbor Visual Aksi: </a:t>
            </a:r>
            <a:r>
              <a:rPr sz="780">
                <a:solidFill>
                  <a:srgbClr val="2A2A3D"/>
                </a:solidFill>
                <a:latin typeface="Arial"/>
              </a:rPr>
              <a:t>Sintesis data mentah menjadi Dasbor Mesin, Dasbor Unit Tim/Shift, Pareto Cacat Komponen, dan Layar Andon 60 Detik.</a:t>
            </a:r>
          </a:p>
        </p:txBody>
      </p:sp>
      <p:sp>
        <p:nvSpPr>
          <p:cNvPr id="12" name="Rounded Rectangle 11"/>
          <p:cNvSpPr/>
          <p:nvPr/>
        </p:nvSpPr>
        <p:spPr>
          <a:xfrm>
            <a:off x="658368" y="5193792"/>
            <a:ext cx="5175504" cy="548640"/>
          </a:xfrm>
          <a:prstGeom prst="roundRect">
            <a:avLst/>
          </a:prstGeom>
          <a:solidFill>
            <a:srgbClr val="F8F6FE"/>
          </a:solidFill>
          <a:ln w="1270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780" b="1">
                <a:solidFill>
                  <a:srgbClr val="6A2CC9"/>
                </a:solidFill>
                <a:latin typeface="Arial"/>
              </a:rPr>
              <a:t>GRANULARITAS ATRIBUSI MULTI-DIMENSI: </a:t>
            </a:r>
          </a:p>
          <a:p>
            <a:pPr>
              <a:spcBef>
                <a:spcPts val="100"/>
              </a:spcBef>
            </a:pPr>
            <a:r>
              <a:rPr sz="750" b="1">
                <a:solidFill>
                  <a:srgbClr val="2A2A3D"/>
                </a:solidFill>
                <a:latin typeface="Arial"/>
              </a:rPr>
              <a:t>Nomor PO ➔ Mesin Cetak Spesifik ➔ Shift Kerja ➔ Tim Operator ➔ Kategori Cacat</a:t>
            </a:r>
          </a:p>
        </p:txBody>
      </p:sp>
      <p:sp>
        <p:nvSpPr>
          <p:cNvPr id="13" name="Rectangle 12"/>
          <p:cNvSpPr/>
          <p:nvPr/>
        </p:nvSpPr>
        <p:spPr>
          <a:xfrm>
            <a:off x="6199632" y="1755648"/>
            <a:ext cx="5440680" cy="329184"/>
          </a:xfrm>
          <a:prstGeom prst="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0" bIns="0" rIns="0"/>
          <a:lstStyle/>
          <a:p>
            <a:pPr algn="ctr"/>
            <a:r>
              <a:rPr sz="1050" b="1">
                <a:solidFill>
                  <a:srgbClr val="FFFFFF"/>
                </a:solidFill>
                <a:latin typeface="Arial"/>
              </a:rPr>
              <a:t>2. DEKONSTRUKSI 6 MODUL FITUR UNGGULAN DSS SIRINE 4.0</a:t>
            </a:r>
          </a:p>
        </p:txBody>
      </p:sp>
      <p:sp>
        <p:nvSpPr>
          <p:cNvPr id="14" name="Rounded Rectangle 13"/>
          <p:cNvSpPr/>
          <p:nvPr/>
        </p:nvSpPr>
        <p:spPr>
          <a:xfrm>
            <a:off x="6199632" y="2084831"/>
            <a:ext cx="5440680" cy="3730752"/>
          </a:xfrm>
          <a:prstGeom prst="roundRect">
            <a:avLst/>
          </a:prstGeom>
          <a:solidFill>
            <a:srgbClr val="F8F6FE"/>
          </a:solidFill>
          <a:ln w="1270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09360" y="2157984"/>
            <a:ext cx="2542032" cy="1115568"/>
          </a:xfrm>
          <a:prstGeom prst="roundRect">
            <a:avLst/>
          </a:prstGeom>
          <a:solidFill>
            <a:srgbClr val="FFFFFF"/>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36576"/>
          <a:lstStyle/>
          <a:p>
            <a:pPr algn="ctr"/>
            <a:r>
              <a:rPr sz="800" b="1">
                <a:solidFill>
                  <a:srgbClr val="20288F"/>
                </a:solidFill>
                <a:latin typeface="Arial"/>
              </a:rPr>
              <a:t>1. FORM KONFIRMASI PO</a:t>
            </a:r>
          </a:p>
          <a:p>
            <a:pPr>
              <a:spcBef>
                <a:spcPts val="200"/>
              </a:spcBef>
            </a:pPr>
            <a:r>
              <a:rPr sz="720">
                <a:solidFill>
                  <a:srgbClr val="2A2A3D"/>
                </a:solidFill>
                <a:latin typeface="Arial"/>
              </a:rPr>
              <a:t>Input PO digital di meja mesin via Autofill SAP + shortcut Ctrl+S. Waktu entri &lt; 30 detik/PO (efisiensi ≥ 85%).</a:t>
            </a:r>
          </a:p>
        </p:txBody>
      </p:sp>
      <p:sp>
        <p:nvSpPr>
          <p:cNvPr id="16" name="Rounded Rectangle 15"/>
          <p:cNvSpPr/>
          <p:nvPr/>
        </p:nvSpPr>
        <p:spPr>
          <a:xfrm>
            <a:off x="8988552" y="2157984"/>
            <a:ext cx="2542032" cy="1115568"/>
          </a:xfrm>
          <a:prstGeom prst="roundRect">
            <a:avLst/>
          </a:prstGeom>
          <a:solidFill>
            <a:srgbClr val="FFFFFF"/>
          </a:solidFill>
          <a:ln w="1270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36576"/>
          <a:lstStyle/>
          <a:p>
            <a:pPr algn="ctr"/>
            <a:r>
              <a:rPr sz="800" b="1">
                <a:solidFill>
                  <a:srgbClr val="6A2CC9"/>
                </a:solidFill>
                <a:latin typeface="Arial"/>
              </a:rPr>
              <a:t>2. JADWAL &amp; TEMPLATE TIM</a:t>
            </a:r>
          </a:p>
          <a:p>
            <a:pPr>
              <a:spcBef>
                <a:spcPts val="200"/>
              </a:spcBef>
            </a:pPr>
            <a:r>
              <a:rPr sz="720">
                <a:solidFill>
                  <a:srgbClr val="2A2A3D"/>
                </a:solidFill>
                <a:latin typeface="Arial"/>
              </a:rPr>
              <a:t>Matriks penugasan dinamis (Mesin × Shift) 7 hari &amp; rotasi otomatis (Pagi ➔ Malam ➔ Sore). Data feeder ke Fitur 1.</a:t>
            </a:r>
          </a:p>
        </p:txBody>
      </p:sp>
      <p:sp>
        <p:nvSpPr>
          <p:cNvPr id="17" name="Rounded Rectangle 16"/>
          <p:cNvSpPr/>
          <p:nvPr/>
        </p:nvSpPr>
        <p:spPr>
          <a:xfrm>
            <a:off x="6309360" y="3346704"/>
            <a:ext cx="2542032" cy="1115568"/>
          </a:xfrm>
          <a:prstGeom prst="roundRect">
            <a:avLst/>
          </a:prstGeom>
          <a:solidFill>
            <a:srgbClr val="FFFFFF"/>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36576"/>
          <a:lstStyle/>
          <a:p>
            <a:pPr algn="ctr"/>
            <a:r>
              <a:rPr sz="800" b="1">
                <a:solidFill>
                  <a:srgbClr val="20288F"/>
                </a:solidFill>
                <a:latin typeface="Arial"/>
              </a:rPr>
              <a:t>3. DASBOR PRODUKSI MESIN</a:t>
            </a:r>
          </a:p>
          <a:p>
            <a:pPr>
              <a:spcBef>
                <a:spcPts val="200"/>
              </a:spcBef>
            </a:pPr>
            <a:r>
              <a:rPr sz="720">
                <a:solidFill>
                  <a:srgbClr val="2A2A3D"/>
                </a:solidFill>
                <a:latin typeface="Arial"/>
              </a:rPr>
              <a:t>Visualisasi kuantitas (LK) &amp; % inschiet per mesin dengan batas kendali warna (Hijau &lt; 3,5%, Kuning, Merah ≥ 5%) &amp; drill-down PO.</a:t>
            </a:r>
          </a:p>
        </p:txBody>
      </p:sp>
      <p:sp>
        <p:nvSpPr>
          <p:cNvPr id="18" name="Rounded Rectangle 17"/>
          <p:cNvSpPr/>
          <p:nvPr/>
        </p:nvSpPr>
        <p:spPr>
          <a:xfrm>
            <a:off x="8988552" y="3346704"/>
            <a:ext cx="2542032" cy="1115568"/>
          </a:xfrm>
          <a:prstGeom prst="roundRect">
            <a:avLst/>
          </a:prstGeom>
          <a:solidFill>
            <a:srgbClr val="FFFFFF"/>
          </a:solidFill>
          <a:ln w="1270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36576"/>
          <a:lstStyle/>
          <a:p>
            <a:pPr algn="ctr"/>
            <a:r>
              <a:rPr sz="800" b="1">
                <a:solidFill>
                  <a:srgbClr val="6A2CC9"/>
                </a:solidFill>
                <a:latin typeface="Arial"/>
              </a:rPr>
              <a:t>4. DASBOR PRODUKSI UNIT</a:t>
            </a:r>
          </a:p>
          <a:p>
            <a:pPr>
              <a:spcBef>
                <a:spcPts val="200"/>
              </a:spcBef>
            </a:pPr>
            <a:r>
              <a:rPr sz="720">
                <a:solidFill>
                  <a:srgbClr val="2A2A3D"/>
                </a:solidFill>
                <a:latin typeface="Arial"/>
              </a:rPr>
              <a:t>Evaluasi silang tim &amp; shift dengan kontrol akses RBAC. Mengetahui deviasi shift malam secara objektif untuk coaching terarah.</a:t>
            </a:r>
          </a:p>
        </p:txBody>
      </p:sp>
      <p:sp>
        <p:nvSpPr>
          <p:cNvPr id="19" name="Rounded Rectangle 18"/>
          <p:cNvSpPr/>
          <p:nvPr/>
        </p:nvSpPr>
        <p:spPr>
          <a:xfrm>
            <a:off x="6309360" y="4535424"/>
            <a:ext cx="2542032" cy="1188720"/>
          </a:xfrm>
          <a:prstGeom prst="roundRect">
            <a:avLst/>
          </a:prstGeom>
          <a:solidFill>
            <a:srgbClr val="FFFFFF"/>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36576"/>
          <a:lstStyle/>
          <a:p>
            <a:pPr algn="ctr"/>
            <a:r>
              <a:rPr sz="800" b="1">
                <a:solidFill>
                  <a:srgbClr val="20288F"/>
                </a:solidFill>
                <a:latin typeface="Arial"/>
              </a:rPr>
              <a:t>5. AUDIT CACAT TIAP MESIN</a:t>
            </a:r>
          </a:p>
          <a:p>
            <a:pPr>
              <a:spcBef>
                <a:spcPts val="200"/>
              </a:spcBef>
            </a:pPr>
            <a:r>
              <a:rPr sz="720">
                <a:solidFill>
                  <a:srgbClr val="2A2A3D"/>
                </a:solidFill>
                <a:latin typeface="Arial"/>
              </a:rPr>
              <a:t>Diagram Pareto cacat spesifik per mesin. Memandu teknisi membawa suku cadang rol karet/blanket yang tepat sebelum servis.</a:t>
            </a:r>
          </a:p>
        </p:txBody>
      </p:sp>
      <p:sp>
        <p:nvSpPr>
          <p:cNvPr id="20" name="Rounded Rectangle 19"/>
          <p:cNvSpPr/>
          <p:nvPr/>
        </p:nvSpPr>
        <p:spPr>
          <a:xfrm>
            <a:off x="8988552" y="4535424"/>
            <a:ext cx="2542032" cy="1188720"/>
          </a:xfrm>
          <a:prstGeom prst="roundRect">
            <a:avLst/>
          </a:prstGeom>
          <a:solidFill>
            <a:srgbClr val="FFFFFF"/>
          </a:solidFill>
          <a:ln w="1270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36576"/>
          <a:lstStyle/>
          <a:p>
            <a:pPr algn="ctr"/>
            <a:r>
              <a:rPr sz="800" b="1">
                <a:solidFill>
                  <a:srgbClr val="6A2CC9"/>
                </a:solidFill>
                <a:latin typeface="Arial"/>
              </a:rPr>
              <a:t>6. ANDON DISPLAY REAL-TIME</a:t>
            </a:r>
          </a:p>
          <a:p>
            <a:pPr>
              <a:spcBef>
                <a:spcPts val="200"/>
              </a:spcBef>
            </a:pPr>
            <a:r>
              <a:rPr sz="720">
                <a:solidFill>
                  <a:srgbClr val="2A2A3D"/>
                </a:solidFill>
                <a:latin typeface="Arial"/>
              </a:rPr>
              <a:t>Monitor aula lini cetak (auto-refresh 60 detik). Menayangkan live mutu 6 mesin &amp; alarm visual kode OBC mendekati batas SLA.</a:t>
            </a:r>
          </a:p>
        </p:txBody>
      </p:sp>
      <p:sp>
        <p:nvSpPr>
          <p:cNvPr id="21" name="Rounded Rectangle 20"/>
          <p:cNvSpPr/>
          <p:nvPr/>
        </p:nvSpPr>
        <p:spPr>
          <a:xfrm>
            <a:off x="548640" y="5888736"/>
            <a:ext cx="11091672" cy="457200"/>
          </a:xfrm>
          <a:prstGeom prst="roundRect">
            <a:avLst/>
          </a:prstGeom>
          <a:solidFill>
            <a:srgbClr val="F4F7FE"/>
          </a:solidFill>
          <a:ln w="12700">
            <a:solidFill>
              <a:srgbClr val="20288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r>
              <a:rPr sz="850" b="1">
                <a:solidFill>
                  <a:srgbClr val="20288F"/>
                </a:solidFill>
                <a:latin typeface="Arial"/>
              </a:rPr>
              <a:t>• Mekanisme Kausalitas: </a:t>
            </a:r>
            <a:r>
              <a:rPr sz="819">
                <a:solidFill>
                  <a:srgbClr val="2A2A3D"/>
                </a:solidFill>
                <a:latin typeface="Arial"/>
              </a:rPr>
              <a:t>DSS SIRINE 4.0 meruntuhkan Data Silo dengan menghubungkan meja mesin, SAP, dan Verifikasi Mutu secara real-time. Informasi tidak lagi pasif di buku folio atau komputer kantor, melainkan aktif memandu tindakan teknis presisi di lini cetak.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07899" y="-179222"/>
            <a:ext cx="1448409" cy="814730"/>
          </a:xfrm>
          <a:prstGeom prst="rect">
            <a:avLst/>
          </a:prstGeom>
        </p:spPr>
      </p:pic>
      <p:pic>
        <p:nvPicPr>
          <p:cNvPr id="3" name="Picture 2" descr="image.png"/>
          <p:cNvPicPr>
            <a:picLocks noChangeAspect="1"/>
          </p:cNvPicPr>
          <p:nvPr/>
        </p:nvPicPr>
        <p:blipFill>
          <a:blip r:embed="rId3"/>
          <a:stretch>
            <a:fillRect/>
          </a:stretch>
        </p:blipFill>
        <p:spPr>
          <a:xfrm>
            <a:off x="11055096" y="11887"/>
            <a:ext cx="1140256" cy="634593"/>
          </a:xfrm>
          <a:prstGeom prst="rect">
            <a:avLst/>
          </a:prstGeom>
        </p:spPr>
      </p:pic>
      <p:sp>
        <p:nvSpPr>
          <p:cNvPr id="4" name="Rounded Rectangle 3"/>
          <p:cNvSpPr/>
          <p:nvPr/>
        </p:nvSpPr>
        <p:spPr>
          <a:xfrm>
            <a:off x="548640" y="594360"/>
            <a:ext cx="731520" cy="658368"/>
          </a:xfrm>
          <a:prstGeom prst="round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000" b="1">
                <a:solidFill>
                  <a:srgbClr val="FFFFFF"/>
                </a:solidFill>
                <a:latin typeface="Arial"/>
              </a:rPr>
              <a:t>04.1</a:t>
            </a:r>
          </a:p>
        </p:txBody>
      </p:sp>
      <p:sp>
        <p:nvSpPr>
          <p:cNvPr id="5" name="TextBox 4"/>
          <p:cNvSpPr txBox="1"/>
          <p:nvPr/>
        </p:nvSpPr>
        <p:spPr>
          <a:xfrm>
            <a:off x="1417320" y="548640"/>
            <a:ext cx="9326880" cy="731520"/>
          </a:xfrm>
          <a:prstGeom prst="rect">
            <a:avLst/>
          </a:prstGeom>
          <a:noFill/>
        </p:spPr>
        <p:txBody>
          <a:bodyPr wrap="square" lIns="0" tIns="0" rIns="0" bIns="0">
            <a:spAutoFit/>
          </a:bodyPr>
          <a:lstStyle/>
          <a:p>
            <a:r>
              <a:rPr sz="2400" b="1">
                <a:solidFill>
                  <a:srgbClr val="20288F"/>
                </a:solidFill>
                <a:latin typeface="Arial"/>
              </a:rPr>
              <a:t>Solusi: Arsitektur Sistem 2 Lapisan &amp; 6 Modul Fitur Unggulan</a:t>
            </a:r>
          </a:p>
        </p:txBody>
      </p:sp>
      <p:sp>
        <p:nvSpPr>
          <p:cNvPr id="6" name="TextBox 5"/>
          <p:cNvSpPr txBox="1"/>
          <p:nvPr/>
        </p:nvSpPr>
        <p:spPr>
          <a:xfrm>
            <a:off x="548640" y="1353312"/>
            <a:ext cx="10789920" cy="347472"/>
          </a:xfrm>
          <a:prstGeom prst="rect">
            <a:avLst/>
          </a:prstGeom>
          <a:noFill/>
        </p:spPr>
        <p:txBody>
          <a:bodyPr wrap="square" lIns="0" tIns="0" rIns="0" bIns="0">
            <a:spAutoFit/>
          </a:bodyPr>
          <a:lstStyle/>
          <a:p>
            <a:r>
              <a:rPr sz="1150" b="1">
                <a:solidFill>
                  <a:srgbClr val="6A2CC9"/>
                </a:solidFill>
                <a:latin typeface="Arial"/>
              </a:rPr>
              <a:t>Tujuan bagian ini:  </a:t>
            </a:r>
            <a:r>
              <a:rPr sz="1150">
                <a:solidFill>
                  <a:srgbClr val="2A2A3D"/>
                </a:solidFill>
                <a:latin typeface="Arial"/>
              </a:rPr>
              <a:t>Jelaskan konsep arsitektur sistem pendukung keputusan (DSS) dan dekonstruksi 6 modul fitur untuk mematahkan data silo di lini cetak.</a:t>
            </a:r>
          </a:p>
        </p:txBody>
      </p:sp>
      <p:sp>
        <p:nvSpPr>
          <p:cNvPr id="7" name="TextBox 6"/>
          <p:cNvSpPr txBox="1"/>
          <p:nvPr/>
        </p:nvSpPr>
        <p:spPr>
          <a:xfrm>
            <a:off x="548640" y="6419088"/>
            <a:ext cx="11091672" cy="219456"/>
          </a:xfrm>
          <a:prstGeom prst="rect">
            <a:avLst/>
          </a:prstGeom>
          <a:noFill/>
        </p:spPr>
        <p:txBody>
          <a:bodyPr wrap="square" lIns="0" tIns="0" rIns="0" bIns="0">
            <a:spAutoFit/>
          </a:bodyPr>
          <a:lstStyle/>
          <a:p>
            <a:r>
              <a:rPr sz="850">
                <a:solidFill>
                  <a:srgbClr val="6E6E82"/>
                </a:solidFill>
                <a:latin typeface="Arial"/>
              </a:rPr>
              <a:t>IAKA 2026 — Kerangka Presentasi Peserta  ·  DSS SIRINE 4.0 Unit Cetak Pita Cukai</a:t>
            </a:r>
          </a:p>
        </p:txBody>
      </p:sp>
      <p:sp>
        <p:nvSpPr>
          <p:cNvPr id="8" name="Rectangle 7"/>
          <p:cNvSpPr/>
          <p:nvPr/>
        </p:nvSpPr>
        <p:spPr>
          <a:xfrm>
            <a:off x="548640" y="1755648"/>
            <a:ext cx="5394960" cy="329184"/>
          </a:xfrm>
          <a:prstGeom prst="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0" bIns="0" rIns="0"/>
          <a:lstStyle/>
          <a:p>
            <a:pPr algn="ctr"/>
            <a:r>
              <a:rPr sz="1050" b="1">
                <a:solidFill>
                  <a:srgbClr val="FFFFFF"/>
                </a:solidFill>
                <a:latin typeface="Arial"/>
              </a:rPr>
              <a:t>1. RANCANG BANGUN ARSITEKTUR DUA LAPISAN (TWO-TIER)</a:t>
            </a:r>
          </a:p>
        </p:txBody>
      </p:sp>
      <p:sp>
        <p:nvSpPr>
          <p:cNvPr id="9" name="Rounded Rectangle 8"/>
          <p:cNvSpPr/>
          <p:nvPr/>
        </p:nvSpPr>
        <p:spPr>
          <a:xfrm>
            <a:off x="548640" y="2084831"/>
            <a:ext cx="5394960" cy="3730752"/>
          </a:xfrm>
          <a:prstGeom prst="roundRect">
            <a:avLst/>
          </a:prstGeom>
          <a:solidFill>
            <a:srgbClr val="F4F7FE"/>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8368" y="2157984"/>
            <a:ext cx="5175504" cy="1417320"/>
          </a:xfrm>
          <a:prstGeom prst="roundRect">
            <a:avLst/>
          </a:prstGeom>
          <a:solidFill>
            <a:srgbClr val="FFFFFF"/>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r>
              <a:rPr sz="880" b="1">
                <a:solidFill>
                  <a:srgbClr val="20288F"/>
                </a:solidFill>
                <a:latin typeface="Arial"/>
              </a:rPr>
              <a:t>LAPISAN 1: PENGUMPULAN DATA DIGITAL LAPANGAN (&lt; 30s)</a:t>
            </a:r>
          </a:p>
          <a:p>
            <a:pPr>
              <a:spcBef>
                <a:spcPts val="300"/>
              </a:spcBef>
            </a:pPr>
            <a:r>
              <a:rPr sz="780" b="1">
                <a:solidFill>
                  <a:srgbClr val="20288F"/>
                </a:solidFill>
                <a:latin typeface="Arial"/>
              </a:rPr>
              <a:t>• Ujung Tombak Meja Mesin: </a:t>
            </a:r>
            <a:r>
              <a:rPr sz="780">
                <a:solidFill>
                  <a:srgbClr val="2A2A3D"/>
                </a:solidFill>
                <a:latin typeface="Arial"/>
              </a:rPr>
              <a:t>Integrasi Fitur 2 (Jadwal Operator) &amp; Fitur 1 (Form Konfirmasi PO) mendigitalisasi transaksi per nomor PO secara seketika.</a:t>
            </a:r>
          </a:p>
          <a:p>
            <a:pPr>
              <a:spcBef>
                <a:spcPts val="200"/>
              </a:spcBef>
            </a:pPr>
            <a:r>
              <a:rPr sz="780" b="1">
                <a:solidFill>
                  <a:srgbClr val="20288F"/>
                </a:solidFill>
                <a:latin typeface="Arial"/>
              </a:rPr>
              <a:t>• Otomasi Autofill Cerdas: </a:t>
            </a:r>
            <a:r>
              <a:rPr sz="780">
                <a:solidFill>
                  <a:srgbClr val="2A2A3D"/>
                </a:solidFill>
                <a:latin typeface="Arial"/>
              </a:rPr>
              <a:t>Tarik otomatis spesifikasi produk SAP (OBC, Target Cetak, Plat) &amp; susunan regu aktif. Operator verifikasi cepat (&lt; 30 detik), nol distraksi cetak.</a:t>
            </a:r>
          </a:p>
        </p:txBody>
      </p:sp>
      <p:sp>
        <p:nvSpPr>
          <p:cNvPr id="11" name="Rounded Rectangle 10"/>
          <p:cNvSpPr/>
          <p:nvPr/>
        </p:nvSpPr>
        <p:spPr>
          <a:xfrm>
            <a:off x="658368" y="3639312"/>
            <a:ext cx="5175504" cy="1481328"/>
          </a:xfrm>
          <a:prstGeom prst="roundRect">
            <a:avLst/>
          </a:prstGeom>
          <a:solidFill>
            <a:srgbClr val="FFFFFF"/>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r>
              <a:rPr sz="880" b="1">
                <a:solidFill>
                  <a:srgbClr val="6A2CC9"/>
                </a:solidFill>
                <a:latin typeface="Arial"/>
              </a:rPr>
              <a:t>LAPISAN 2: ANALISIS PRESKRIPTIF &amp; VISUALISASI AKSI</a:t>
            </a:r>
          </a:p>
          <a:p>
            <a:pPr>
              <a:spcBef>
                <a:spcPts val="300"/>
              </a:spcBef>
            </a:pPr>
            <a:r>
              <a:rPr sz="780" b="1">
                <a:solidFill>
                  <a:srgbClr val="6A2CC9"/>
                </a:solidFill>
                <a:latin typeface="Arial"/>
              </a:rPr>
              <a:t>• Engine Integrasi 3 Aliran Data: </a:t>
            </a:r>
            <a:r>
              <a:rPr sz="780">
                <a:solidFill>
                  <a:srgbClr val="2A2A3D"/>
                </a:solidFill>
                <a:latin typeface="Arial"/>
              </a:rPr>
              <a:t>Otomasi konsolidasi target pesanan SAP (order_pcht), transaksi meja mesin (transaksi_cetak), dan audit mutu verifikasi (hcts_pikai).</a:t>
            </a:r>
          </a:p>
          <a:p>
            <a:pPr>
              <a:spcBef>
                <a:spcPts val="200"/>
              </a:spcBef>
            </a:pPr>
            <a:r>
              <a:rPr sz="780" b="1">
                <a:solidFill>
                  <a:srgbClr val="6A2CC9"/>
                </a:solidFill>
                <a:latin typeface="Arial"/>
              </a:rPr>
              <a:t>• 4 Modul Dasbor Visual Aksi: </a:t>
            </a:r>
            <a:r>
              <a:rPr sz="780">
                <a:solidFill>
                  <a:srgbClr val="2A2A3D"/>
                </a:solidFill>
                <a:latin typeface="Arial"/>
              </a:rPr>
              <a:t>Sintesis data mentah menjadi Dasbor Mesin, Dasbor Unit Tim/Shift, Pareto Cacat Komponen, dan Layar Andon 60 Detik.</a:t>
            </a:r>
          </a:p>
        </p:txBody>
      </p:sp>
      <p:sp>
        <p:nvSpPr>
          <p:cNvPr id="12" name="Rounded Rectangle 11"/>
          <p:cNvSpPr/>
          <p:nvPr/>
        </p:nvSpPr>
        <p:spPr>
          <a:xfrm>
            <a:off x="658368" y="5193792"/>
            <a:ext cx="5175504" cy="548640"/>
          </a:xfrm>
          <a:prstGeom prst="roundRect">
            <a:avLst/>
          </a:prstGeom>
          <a:solidFill>
            <a:srgbClr val="F8F6FE"/>
          </a:solidFill>
          <a:ln w="1270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780" b="1">
                <a:solidFill>
                  <a:srgbClr val="6A2CC9"/>
                </a:solidFill>
                <a:latin typeface="Arial"/>
              </a:rPr>
              <a:t>GRANULARITAS ATRIBUSI MULTI-DIMENSI: </a:t>
            </a:r>
          </a:p>
          <a:p>
            <a:pPr>
              <a:spcBef>
                <a:spcPts val="100"/>
              </a:spcBef>
            </a:pPr>
            <a:r>
              <a:rPr sz="750" b="1">
                <a:solidFill>
                  <a:srgbClr val="2A2A3D"/>
                </a:solidFill>
                <a:latin typeface="Arial"/>
              </a:rPr>
              <a:t>Nomor PO ➔ Mesin Cetak Spesifik ➔ Shift Kerja ➔ Tim Operator ➔ Kategori Cacat</a:t>
            </a:r>
          </a:p>
        </p:txBody>
      </p:sp>
      <p:sp>
        <p:nvSpPr>
          <p:cNvPr id="13" name="Rectangle 12"/>
          <p:cNvSpPr/>
          <p:nvPr/>
        </p:nvSpPr>
        <p:spPr>
          <a:xfrm>
            <a:off x="6199632" y="1755648"/>
            <a:ext cx="5440680" cy="329184"/>
          </a:xfrm>
          <a:prstGeom prst="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0" bIns="0" rIns="0"/>
          <a:lstStyle/>
          <a:p>
            <a:pPr algn="ctr"/>
            <a:r>
              <a:rPr sz="1050" b="1">
                <a:solidFill>
                  <a:srgbClr val="FFFFFF"/>
                </a:solidFill>
                <a:latin typeface="Arial"/>
              </a:rPr>
              <a:t>2. DEKONSTRUKSI 6 MODUL FITUR UNGGULAN DSS SIRINE 4.0</a:t>
            </a:r>
          </a:p>
        </p:txBody>
      </p:sp>
      <p:sp>
        <p:nvSpPr>
          <p:cNvPr id="14" name="Rounded Rectangle 13"/>
          <p:cNvSpPr/>
          <p:nvPr/>
        </p:nvSpPr>
        <p:spPr>
          <a:xfrm>
            <a:off x="6199632" y="2084831"/>
            <a:ext cx="5440680" cy="3730752"/>
          </a:xfrm>
          <a:prstGeom prst="roundRect">
            <a:avLst/>
          </a:prstGeom>
          <a:solidFill>
            <a:srgbClr val="F8F6FE"/>
          </a:solidFill>
          <a:ln w="1270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09360" y="2157984"/>
            <a:ext cx="2542032" cy="1115568"/>
          </a:xfrm>
          <a:prstGeom prst="roundRect">
            <a:avLst/>
          </a:prstGeom>
          <a:solidFill>
            <a:srgbClr val="FFFFFF"/>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36576"/>
          <a:lstStyle/>
          <a:p>
            <a:pPr algn="ctr"/>
            <a:r>
              <a:rPr sz="800" b="1">
                <a:solidFill>
                  <a:srgbClr val="20288F"/>
                </a:solidFill>
                <a:latin typeface="Arial"/>
              </a:rPr>
              <a:t>1. FORM KONFIRMASI PO</a:t>
            </a:r>
          </a:p>
          <a:p>
            <a:pPr>
              <a:spcBef>
                <a:spcPts val="200"/>
              </a:spcBef>
            </a:pPr>
            <a:r>
              <a:rPr sz="720">
                <a:solidFill>
                  <a:srgbClr val="2A2A3D"/>
                </a:solidFill>
                <a:latin typeface="Arial"/>
              </a:rPr>
              <a:t>Input PO digital di meja mesin via Autofill SAP + shortcut Ctrl+S. Waktu entri &lt; 30 detik/PO (efisiensi ≥ 85%).</a:t>
            </a:r>
          </a:p>
        </p:txBody>
      </p:sp>
      <p:sp>
        <p:nvSpPr>
          <p:cNvPr id="16" name="Rounded Rectangle 15"/>
          <p:cNvSpPr/>
          <p:nvPr/>
        </p:nvSpPr>
        <p:spPr>
          <a:xfrm>
            <a:off x="8988552" y="2157984"/>
            <a:ext cx="2542032" cy="1115568"/>
          </a:xfrm>
          <a:prstGeom prst="roundRect">
            <a:avLst/>
          </a:prstGeom>
          <a:solidFill>
            <a:srgbClr val="FFFFFF"/>
          </a:solidFill>
          <a:ln w="1270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36576"/>
          <a:lstStyle/>
          <a:p>
            <a:pPr algn="ctr"/>
            <a:r>
              <a:rPr sz="800" b="1">
                <a:solidFill>
                  <a:srgbClr val="6A2CC9"/>
                </a:solidFill>
                <a:latin typeface="Arial"/>
              </a:rPr>
              <a:t>2. JADWAL &amp; TEMPLATE TIM</a:t>
            </a:r>
          </a:p>
          <a:p>
            <a:pPr>
              <a:spcBef>
                <a:spcPts val="200"/>
              </a:spcBef>
            </a:pPr>
            <a:r>
              <a:rPr sz="720">
                <a:solidFill>
                  <a:srgbClr val="2A2A3D"/>
                </a:solidFill>
                <a:latin typeface="Arial"/>
              </a:rPr>
              <a:t>Matriks penugasan dinamis (Mesin × Shift) 7 hari &amp; rotasi otomatis (Pagi ➔ Malam ➔ Sore). Data feeder ke Fitur 1.</a:t>
            </a:r>
          </a:p>
        </p:txBody>
      </p:sp>
      <p:sp>
        <p:nvSpPr>
          <p:cNvPr id="17" name="Rounded Rectangle 16"/>
          <p:cNvSpPr/>
          <p:nvPr/>
        </p:nvSpPr>
        <p:spPr>
          <a:xfrm>
            <a:off x="6309360" y="3346704"/>
            <a:ext cx="2542032" cy="1115568"/>
          </a:xfrm>
          <a:prstGeom prst="roundRect">
            <a:avLst/>
          </a:prstGeom>
          <a:solidFill>
            <a:srgbClr val="FFFFFF"/>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36576"/>
          <a:lstStyle/>
          <a:p>
            <a:pPr algn="ctr"/>
            <a:r>
              <a:rPr sz="800" b="1">
                <a:solidFill>
                  <a:srgbClr val="20288F"/>
                </a:solidFill>
                <a:latin typeface="Arial"/>
              </a:rPr>
              <a:t>3. DASBOR PRODUKSI MESIN</a:t>
            </a:r>
          </a:p>
          <a:p>
            <a:pPr>
              <a:spcBef>
                <a:spcPts val="200"/>
              </a:spcBef>
            </a:pPr>
            <a:r>
              <a:rPr sz="720">
                <a:solidFill>
                  <a:srgbClr val="2A2A3D"/>
                </a:solidFill>
                <a:latin typeface="Arial"/>
              </a:rPr>
              <a:t>Visualisasi kuantitas (LK) &amp; % inschiet per mesin dengan batas kendali warna (Hijau &lt; 3,5%, Kuning, Merah ≥ 5%) &amp; drill-down PO.</a:t>
            </a:r>
          </a:p>
        </p:txBody>
      </p:sp>
      <p:sp>
        <p:nvSpPr>
          <p:cNvPr id="18" name="Rounded Rectangle 17"/>
          <p:cNvSpPr/>
          <p:nvPr/>
        </p:nvSpPr>
        <p:spPr>
          <a:xfrm>
            <a:off x="8988552" y="3346704"/>
            <a:ext cx="2542032" cy="1115568"/>
          </a:xfrm>
          <a:prstGeom prst="roundRect">
            <a:avLst/>
          </a:prstGeom>
          <a:solidFill>
            <a:srgbClr val="FFFFFF"/>
          </a:solidFill>
          <a:ln w="1270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36576"/>
          <a:lstStyle/>
          <a:p>
            <a:pPr algn="ctr"/>
            <a:r>
              <a:rPr sz="800" b="1">
                <a:solidFill>
                  <a:srgbClr val="6A2CC9"/>
                </a:solidFill>
                <a:latin typeface="Arial"/>
              </a:rPr>
              <a:t>4. DASBOR PRODUKSI UNIT</a:t>
            </a:r>
          </a:p>
          <a:p>
            <a:pPr>
              <a:spcBef>
                <a:spcPts val="200"/>
              </a:spcBef>
            </a:pPr>
            <a:r>
              <a:rPr sz="720">
                <a:solidFill>
                  <a:srgbClr val="2A2A3D"/>
                </a:solidFill>
                <a:latin typeface="Arial"/>
              </a:rPr>
              <a:t>Evaluasi silang tim &amp; shift dengan kontrol akses RBAC. Mengetahui deviasi shift malam secara objektif untuk coaching terarah.</a:t>
            </a:r>
          </a:p>
        </p:txBody>
      </p:sp>
      <p:sp>
        <p:nvSpPr>
          <p:cNvPr id="19" name="Rounded Rectangle 18"/>
          <p:cNvSpPr/>
          <p:nvPr/>
        </p:nvSpPr>
        <p:spPr>
          <a:xfrm>
            <a:off x="6309360" y="4535424"/>
            <a:ext cx="2542032" cy="1188720"/>
          </a:xfrm>
          <a:prstGeom prst="roundRect">
            <a:avLst/>
          </a:prstGeom>
          <a:solidFill>
            <a:srgbClr val="FFFFFF"/>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36576"/>
          <a:lstStyle/>
          <a:p>
            <a:pPr algn="ctr"/>
            <a:r>
              <a:rPr sz="800" b="1">
                <a:solidFill>
                  <a:srgbClr val="20288F"/>
                </a:solidFill>
                <a:latin typeface="Arial"/>
              </a:rPr>
              <a:t>5. AUDIT CACAT TIAP MESIN</a:t>
            </a:r>
          </a:p>
          <a:p>
            <a:pPr>
              <a:spcBef>
                <a:spcPts val="200"/>
              </a:spcBef>
            </a:pPr>
            <a:r>
              <a:rPr sz="720">
                <a:solidFill>
                  <a:srgbClr val="2A2A3D"/>
                </a:solidFill>
                <a:latin typeface="Arial"/>
              </a:rPr>
              <a:t>Diagram Pareto cacat spesifik per mesin. Memandu teknisi membawa suku cadang rol karet/blanket yang tepat sebelum servis.</a:t>
            </a:r>
          </a:p>
        </p:txBody>
      </p:sp>
      <p:sp>
        <p:nvSpPr>
          <p:cNvPr id="20" name="Rounded Rectangle 19"/>
          <p:cNvSpPr/>
          <p:nvPr/>
        </p:nvSpPr>
        <p:spPr>
          <a:xfrm>
            <a:off x="8988552" y="4535424"/>
            <a:ext cx="2542032" cy="1188720"/>
          </a:xfrm>
          <a:prstGeom prst="roundRect">
            <a:avLst/>
          </a:prstGeom>
          <a:solidFill>
            <a:srgbClr val="FFFFFF"/>
          </a:solidFill>
          <a:ln w="1270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36576"/>
          <a:lstStyle/>
          <a:p>
            <a:pPr algn="ctr"/>
            <a:r>
              <a:rPr sz="800" b="1">
                <a:solidFill>
                  <a:srgbClr val="6A2CC9"/>
                </a:solidFill>
                <a:latin typeface="Arial"/>
              </a:rPr>
              <a:t>6. ANDON DISPLAY REAL-TIME</a:t>
            </a:r>
          </a:p>
          <a:p>
            <a:pPr>
              <a:spcBef>
                <a:spcPts val="200"/>
              </a:spcBef>
            </a:pPr>
            <a:r>
              <a:rPr sz="720">
                <a:solidFill>
                  <a:srgbClr val="2A2A3D"/>
                </a:solidFill>
                <a:latin typeface="Arial"/>
              </a:rPr>
              <a:t>Monitor aula lini cetak (auto-refresh 60 detik). Menayangkan live mutu 6 mesin &amp; alarm visual kode OBC mendekati batas SLA.</a:t>
            </a:r>
          </a:p>
        </p:txBody>
      </p:sp>
      <p:sp>
        <p:nvSpPr>
          <p:cNvPr id="21" name="Rounded Rectangle 20"/>
          <p:cNvSpPr/>
          <p:nvPr/>
        </p:nvSpPr>
        <p:spPr>
          <a:xfrm>
            <a:off x="548640" y="5888736"/>
            <a:ext cx="11091672" cy="457200"/>
          </a:xfrm>
          <a:prstGeom prst="roundRect">
            <a:avLst/>
          </a:prstGeom>
          <a:solidFill>
            <a:srgbClr val="F4F7FE"/>
          </a:solidFill>
          <a:ln w="12700">
            <a:solidFill>
              <a:srgbClr val="20288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r>
              <a:rPr sz="850" b="1">
                <a:solidFill>
                  <a:srgbClr val="20288F"/>
                </a:solidFill>
                <a:latin typeface="Arial"/>
              </a:rPr>
              <a:t>• Mekanisme Kausalitas: </a:t>
            </a:r>
            <a:r>
              <a:rPr sz="819">
                <a:solidFill>
                  <a:srgbClr val="2A2A3D"/>
                </a:solidFill>
                <a:latin typeface="Arial"/>
              </a:rPr>
              <a:t>DSS SIRINE 4.0 meruntuhkan Data Silo dengan menghubungkan meja mesin, SAP, dan Verifikasi Mutu secara real-time. Informasi tidak lagi pasif di buku folio atau komputer kantor, melainkan aktif memandu tindakan teknis presisi di lini cetak.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07899" y="-179222"/>
            <a:ext cx="1448409" cy="814730"/>
          </a:xfrm>
          <a:prstGeom prst="rect">
            <a:avLst/>
          </a:prstGeom>
        </p:spPr>
      </p:pic>
      <p:pic>
        <p:nvPicPr>
          <p:cNvPr id="3" name="Picture 2" descr="image.png"/>
          <p:cNvPicPr>
            <a:picLocks noChangeAspect="1"/>
          </p:cNvPicPr>
          <p:nvPr/>
        </p:nvPicPr>
        <p:blipFill>
          <a:blip r:embed="rId3"/>
          <a:stretch>
            <a:fillRect/>
          </a:stretch>
        </p:blipFill>
        <p:spPr>
          <a:xfrm>
            <a:off x="11055096" y="11887"/>
            <a:ext cx="1140256" cy="634593"/>
          </a:xfrm>
          <a:prstGeom prst="rect">
            <a:avLst/>
          </a:prstGeom>
        </p:spPr>
      </p:pic>
      <p:sp>
        <p:nvSpPr>
          <p:cNvPr id="4" name="Rounded Rectangle 3"/>
          <p:cNvSpPr/>
          <p:nvPr/>
        </p:nvSpPr>
        <p:spPr>
          <a:xfrm>
            <a:off x="548640" y="594360"/>
            <a:ext cx="731520" cy="658368"/>
          </a:xfrm>
          <a:prstGeom prst="round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000" b="1">
                <a:solidFill>
                  <a:srgbClr val="FFFFFF"/>
                </a:solidFill>
                <a:latin typeface="Arial"/>
              </a:rPr>
              <a:t>04.2</a:t>
            </a:r>
          </a:p>
        </p:txBody>
      </p:sp>
      <p:sp>
        <p:nvSpPr>
          <p:cNvPr id="5" name="TextBox 4"/>
          <p:cNvSpPr txBox="1"/>
          <p:nvPr/>
        </p:nvSpPr>
        <p:spPr>
          <a:xfrm>
            <a:off x="1417320" y="548640"/>
            <a:ext cx="9326880" cy="731520"/>
          </a:xfrm>
          <a:prstGeom prst="rect">
            <a:avLst/>
          </a:prstGeom>
          <a:noFill/>
        </p:spPr>
        <p:txBody>
          <a:bodyPr wrap="square" lIns="0" tIns="0" rIns="0" bIns="0">
            <a:spAutoFit/>
          </a:bodyPr>
          <a:lstStyle/>
          <a:p>
            <a:r>
              <a:rPr sz="2400" b="1">
                <a:solidFill>
                  <a:srgbClr val="20288F"/>
                </a:solidFill>
                <a:latin typeface="Arial"/>
              </a:rPr>
              <a:t>Solusi: 5 Pilar Kebaruan Sistem &amp; Matriks Kapabilitas Komparatif</a:t>
            </a:r>
          </a:p>
        </p:txBody>
      </p:sp>
      <p:sp>
        <p:nvSpPr>
          <p:cNvPr id="6" name="TextBox 5"/>
          <p:cNvSpPr txBox="1"/>
          <p:nvPr/>
        </p:nvSpPr>
        <p:spPr>
          <a:xfrm>
            <a:off x="548640" y="1353312"/>
            <a:ext cx="10789920" cy="347472"/>
          </a:xfrm>
          <a:prstGeom prst="rect">
            <a:avLst/>
          </a:prstGeom>
          <a:noFill/>
        </p:spPr>
        <p:txBody>
          <a:bodyPr wrap="square" lIns="0" tIns="0" rIns="0" bIns="0">
            <a:spAutoFit/>
          </a:bodyPr>
          <a:lstStyle/>
          <a:p>
            <a:r>
              <a:rPr sz="1150" b="1">
                <a:solidFill>
                  <a:srgbClr val="6A2CC9"/>
                </a:solidFill>
                <a:latin typeface="Arial"/>
              </a:rPr>
              <a:t>Tujuan bagian ini:  </a:t>
            </a:r>
            <a:r>
              <a:rPr sz="1150">
                <a:solidFill>
                  <a:srgbClr val="2A2A3D"/>
                </a:solidFill>
                <a:latin typeface="Arial"/>
              </a:rPr>
              <a:t>Tampilkan unsur kebaruan fundamental sistem dan buktikan lompatan nilai tambah dibanding cara lama serta praktik unit lain.</a:t>
            </a:r>
          </a:p>
        </p:txBody>
      </p:sp>
      <p:sp>
        <p:nvSpPr>
          <p:cNvPr id="7" name="TextBox 6"/>
          <p:cNvSpPr txBox="1"/>
          <p:nvPr/>
        </p:nvSpPr>
        <p:spPr>
          <a:xfrm>
            <a:off x="548640" y="6419088"/>
            <a:ext cx="11091672" cy="219456"/>
          </a:xfrm>
          <a:prstGeom prst="rect">
            <a:avLst/>
          </a:prstGeom>
          <a:noFill/>
        </p:spPr>
        <p:txBody>
          <a:bodyPr wrap="square" lIns="0" tIns="0" rIns="0" bIns="0">
            <a:spAutoFit/>
          </a:bodyPr>
          <a:lstStyle/>
          <a:p>
            <a:r>
              <a:rPr sz="850">
                <a:solidFill>
                  <a:srgbClr val="6E6E82"/>
                </a:solidFill>
                <a:latin typeface="Arial"/>
              </a:rPr>
              <a:t>IAKA 2026 — Kerangka Presentasi Peserta  ·  DSS SIRINE 4.0 Unit Cetak Pita Cukai</a:t>
            </a:r>
          </a:p>
        </p:txBody>
      </p:sp>
      <p:sp>
        <p:nvSpPr>
          <p:cNvPr id="8" name="Rounded Rectangle 7"/>
          <p:cNvSpPr/>
          <p:nvPr/>
        </p:nvSpPr>
        <p:spPr>
          <a:xfrm>
            <a:off x="548640" y="1737360"/>
            <a:ext cx="2615184" cy="987552"/>
          </a:xfrm>
          <a:prstGeom prst="roundRect">
            <a:avLst/>
          </a:prstGeom>
          <a:solidFill>
            <a:srgbClr val="F8F6FE"/>
          </a:solidFill>
          <a:ln w="1905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54864"/>
          <a:lstStyle/>
          <a:p>
            <a:pPr algn="ctr"/>
            <a:r>
              <a:rPr sz="850" b="1">
                <a:solidFill>
                  <a:srgbClr val="6A2CC9"/>
                </a:solidFill>
                <a:latin typeface="Arial"/>
              </a:rPr>
              <a:t>GRANULARITAS ATRIBUSI</a:t>
            </a:r>
          </a:p>
          <a:p>
            <a:pPr>
              <a:spcBef>
                <a:spcPts val="200"/>
              </a:spcBef>
            </a:pPr>
            <a:r>
              <a:rPr sz="1550" b="1">
                <a:solidFill>
                  <a:srgbClr val="6A2CC9"/>
                </a:solidFill>
                <a:latin typeface="Arial"/>
              </a:rPr>
              <a:t>5 Dimensi</a:t>
            </a:r>
          </a:p>
          <a:p>
            <a:pPr>
              <a:spcBef>
                <a:spcPts val="100"/>
              </a:spcBef>
            </a:pPr>
            <a:r>
              <a:rPr sz="750">
                <a:solidFill>
                  <a:srgbClr val="2A2A3D"/>
                </a:solidFill>
                <a:latin typeface="Arial"/>
              </a:rPr>
              <a:t>PO ➔ Mesin ➔ Shift ➔ Tim ➔ Cacat</a:t>
            </a:r>
          </a:p>
        </p:txBody>
      </p:sp>
      <p:sp>
        <p:nvSpPr>
          <p:cNvPr id="9" name="Rectangle 8"/>
          <p:cNvSpPr/>
          <p:nvPr/>
        </p:nvSpPr>
        <p:spPr>
          <a:xfrm>
            <a:off x="548640" y="1737360"/>
            <a:ext cx="2615184" cy="54864"/>
          </a:xfrm>
          <a:prstGeom prst="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74136" y="1737360"/>
            <a:ext cx="2615184" cy="987552"/>
          </a:xfrm>
          <a:prstGeom prst="roundRect">
            <a:avLst/>
          </a:prstGeom>
          <a:solidFill>
            <a:srgbClr val="F4F7FE"/>
          </a:solidFill>
          <a:ln w="1905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54864"/>
          <a:lstStyle/>
          <a:p>
            <a:pPr algn="ctr"/>
            <a:r>
              <a:rPr sz="850" b="1">
                <a:solidFill>
                  <a:srgbClr val="20288F"/>
                </a:solidFill>
                <a:latin typeface="Arial"/>
              </a:rPr>
              <a:t>INTEGRASI DATA 2 TIER</a:t>
            </a:r>
          </a:p>
          <a:p>
            <a:pPr>
              <a:spcBef>
                <a:spcPts val="200"/>
              </a:spcBef>
            </a:pPr>
            <a:r>
              <a:rPr sz="1550" b="1">
                <a:solidFill>
                  <a:srgbClr val="20288F"/>
                </a:solidFill>
                <a:latin typeface="Arial"/>
              </a:rPr>
              <a:t>100% Otomatis</a:t>
            </a:r>
          </a:p>
          <a:p>
            <a:pPr>
              <a:spcBef>
                <a:spcPts val="100"/>
              </a:spcBef>
            </a:pPr>
            <a:r>
              <a:rPr sz="750">
                <a:solidFill>
                  <a:srgbClr val="2A2A3D"/>
                </a:solidFill>
                <a:latin typeface="Arial"/>
              </a:rPr>
              <a:t>SAP + Meja Mesin + QC Verifikasi</a:t>
            </a:r>
          </a:p>
        </p:txBody>
      </p:sp>
      <p:sp>
        <p:nvSpPr>
          <p:cNvPr id="11" name="Rectangle 10"/>
          <p:cNvSpPr/>
          <p:nvPr/>
        </p:nvSpPr>
        <p:spPr>
          <a:xfrm>
            <a:off x="3374136" y="1737360"/>
            <a:ext cx="2615184" cy="54864"/>
          </a:xfrm>
          <a:prstGeom prst="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99632" y="1737360"/>
            <a:ext cx="2615184" cy="987552"/>
          </a:xfrm>
          <a:prstGeom prst="roundRect">
            <a:avLst/>
          </a:prstGeom>
          <a:solidFill>
            <a:srgbClr val="E8F5E9"/>
          </a:solidFill>
          <a:ln w="1905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54864"/>
          <a:lstStyle/>
          <a:p>
            <a:pPr algn="ctr"/>
            <a:r>
              <a:rPr sz="850" b="1">
                <a:solidFill>
                  <a:srgbClr val="2E7D32"/>
                </a:solidFill>
                <a:latin typeface="Arial"/>
              </a:rPr>
              <a:t>LEAN UX &amp; AUTOFILL</a:t>
            </a:r>
          </a:p>
          <a:p>
            <a:pPr>
              <a:spcBef>
                <a:spcPts val="200"/>
              </a:spcBef>
            </a:pPr>
            <a:r>
              <a:rPr sz="1550" b="1">
                <a:solidFill>
                  <a:srgbClr val="2E7D32"/>
                </a:solidFill>
                <a:latin typeface="Arial"/>
              </a:rPr>
              <a:t>&lt; 30 Detik</a:t>
            </a:r>
          </a:p>
          <a:p>
            <a:pPr>
              <a:spcBef>
                <a:spcPts val="100"/>
              </a:spcBef>
            </a:pPr>
            <a:r>
              <a:rPr sz="750">
                <a:solidFill>
                  <a:srgbClr val="2A2A3D"/>
                </a:solidFill>
                <a:latin typeface="Arial"/>
              </a:rPr>
              <a:t>Efisiensi entri operator ≥ 85%</a:t>
            </a:r>
          </a:p>
        </p:txBody>
      </p:sp>
      <p:sp>
        <p:nvSpPr>
          <p:cNvPr id="13" name="Rectangle 12"/>
          <p:cNvSpPr/>
          <p:nvPr/>
        </p:nvSpPr>
        <p:spPr>
          <a:xfrm>
            <a:off x="6199632" y="1737360"/>
            <a:ext cx="2615184" cy="54864"/>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025128" y="1737360"/>
            <a:ext cx="2615184" cy="987552"/>
          </a:xfrm>
          <a:prstGeom prst="roundRect">
            <a:avLst/>
          </a:prstGeom>
          <a:solidFill>
            <a:srgbClr val="F4F7FE"/>
          </a:solidFill>
          <a:ln w="1905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54864"/>
          <a:lstStyle/>
          <a:p>
            <a:pPr algn="ctr"/>
            <a:r>
              <a:rPr sz="850" b="1">
                <a:solidFill>
                  <a:srgbClr val="20288F"/>
                </a:solidFill>
                <a:latin typeface="Arial"/>
              </a:rPr>
              <a:t>INVESTASI LISENSI</a:t>
            </a:r>
          </a:p>
          <a:p>
            <a:pPr>
              <a:spcBef>
                <a:spcPts val="200"/>
              </a:spcBef>
            </a:pPr>
            <a:r>
              <a:rPr sz="1550" b="1">
                <a:solidFill>
                  <a:srgbClr val="20288F"/>
                </a:solidFill>
                <a:latin typeface="Arial"/>
              </a:rPr>
              <a:t>Rp 0 (In-House)</a:t>
            </a:r>
          </a:p>
          <a:p>
            <a:pPr>
              <a:spcBef>
                <a:spcPts val="100"/>
              </a:spcBef>
            </a:pPr>
            <a:r>
              <a:rPr sz="750">
                <a:solidFill>
                  <a:srgbClr val="2A2A3D"/>
                </a:solidFill>
                <a:latin typeface="Arial"/>
              </a:rPr>
              <a:t>100% Mandiri Peruri, Zero OPEX</a:t>
            </a:r>
          </a:p>
        </p:txBody>
      </p:sp>
      <p:sp>
        <p:nvSpPr>
          <p:cNvPr id="15" name="Rectangle 14"/>
          <p:cNvSpPr/>
          <p:nvPr/>
        </p:nvSpPr>
        <p:spPr>
          <a:xfrm>
            <a:off x="9025128" y="1737360"/>
            <a:ext cx="2615184" cy="54864"/>
          </a:xfrm>
          <a:prstGeom prst="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816352"/>
            <a:ext cx="6309360" cy="310896"/>
          </a:xfrm>
          <a:prstGeom prst="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0" bIns="0" rIns="0"/>
          <a:lstStyle/>
          <a:p>
            <a:pPr algn="ctr"/>
            <a:r>
              <a:rPr sz="1000" b="1">
                <a:solidFill>
                  <a:srgbClr val="FFFFFF"/>
                </a:solidFill>
                <a:latin typeface="Arial"/>
              </a:rPr>
              <a:t>1. MATRIKS KAPABILITAS KOMPARATIF 3 GENERASI SISTEM</a:t>
            </a:r>
          </a:p>
        </p:txBody>
      </p:sp>
      <p:sp>
        <p:nvSpPr>
          <p:cNvPr id="17" name="Rounded Rectangle 16"/>
          <p:cNvSpPr/>
          <p:nvPr/>
        </p:nvSpPr>
        <p:spPr>
          <a:xfrm>
            <a:off x="548640" y="3127248"/>
            <a:ext cx="6309360" cy="2761488"/>
          </a:xfrm>
          <a:prstGeom prst="roundRect">
            <a:avLst/>
          </a:prstGeom>
          <a:solidFill>
            <a:srgbClr val="F4F7FE"/>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621792" y="3182112"/>
          <a:ext cx="6163056" cy="2651760"/>
        </p:xfrm>
        <a:graphic>
          <a:graphicData uri="http://schemas.openxmlformats.org/drawingml/2006/table">
            <a:tbl>
              <a:tblPr firstRow="1" bandRow="1">
                <a:tableStyleId>{5C22544A-7EE6-4342-B048-85BDC9FD1C3A}</a:tableStyleId>
              </a:tblPr>
              <a:tblGrid>
                <a:gridCol w="2194560"/>
                <a:gridCol w="1188720"/>
                <a:gridCol w="1234440"/>
                <a:gridCol w="1545336"/>
              </a:tblGrid>
              <a:tr h="331470">
                <a:tc>
                  <a:txBody>
                    <a:bodyPr/>
                    <a:lstStyle/>
                    <a:p>
                      <a:r>
                        <a:rPr sz="750" b="1">
                          <a:solidFill>
                            <a:srgbClr val="FFFFFF"/>
                          </a:solidFill>
                          <a:latin typeface="Arial"/>
                        </a:rPr>
                        <a:t>Parameter Kapabilitas</a:t>
                      </a:r>
                    </a:p>
                  </a:txBody>
                  <a:tcPr marL="27432" marR="27432" marT="27432" marB="27432">
                    <a:solidFill>
                      <a:srgbClr val="20288F"/>
                    </a:solidFill>
                  </a:tcPr>
                </a:tc>
                <a:tc>
                  <a:txBody>
                    <a:bodyPr/>
                    <a:lstStyle/>
                    <a:p>
                      <a:r>
                        <a:rPr sz="750" b="1">
                          <a:solidFill>
                            <a:srgbClr val="FFFFFF"/>
                          </a:solidFill>
                          <a:latin typeface="Arial"/>
                        </a:rPr>
                        <a:t>Pra-2024 (Lama)</a:t>
                      </a:r>
                    </a:p>
                  </a:txBody>
                  <a:tcPr marL="27432" marR="27432" marT="27432" marB="27432">
                    <a:solidFill>
                      <a:srgbClr val="20288F"/>
                    </a:solidFill>
                  </a:tcPr>
                </a:tc>
                <a:tc>
                  <a:txBody>
                    <a:bodyPr/>
                    <a:lstStyle/>
                    <a:p>
                      <a:r>
                        <a:rPr sz="750" b="1">
                          <a:solidFill>
                            <a:srgbClr val="FFFFFF"/>
                          </a:solidFill>
                          <a:latin typeface="Arial"/>
                        </a:rPr>
                        <a:t>SIRINE 3.5 (2024)</a:t>
                      </a:r>
                    </a:p>
                  </a:txBody>
                  <a:tcPr marL="27432" marR="27432" marT="27432" marB="27432">
                    <a:solidFill>
                      <a:srgbClr val="20288F"/>
                    </a:solidFill>
                  </a:tcPr>
                </a:tc>
                <a:tc>
                  <a:txBody>
                    <a:bodyPr/>
                    <a:lstStyle/>
                    <a:p>
                      <a:r>
                        <a:rPr sz="750" b="1">
                          <a:solidFill>
                            <a:srgbClr val="FFFFFF"/>
                          </a:solidFill>
                          <a:latin typeface="Arial"/>
                        </a:rPr>
                        <a:t>DSS SIRINE 4.0 (2026)</a:t>
                      </a:r>
                    </a:p>
                  </a:txBody>
                  <a:tcPr marL="27432" marR="27432" marT="27432" marB="27432">
                    <a:solidFill>
                      <a:srgbClr val="6A2CC9"/>
                    </a:solidFill>
                  </a:tcPr>
                </a:tc>
              </a:tr>
              <a:tr h="331470">
                <a:tc>
                  <a:txBody>
                    <a:bodyPr/>
                    <a:lstStyle/>
                    <a:p>
                      <a:r>
                        <a:rPr sz="700" b="1">
                          <a:solidFill>
                            <a:srgbClr val="2A2A3D"/>
                          </a:solidFill>
                          <a:latin typeface="Arial"/>
                        </a:rPr>
                        <a:t>1. Identifikasi Cacat Dominan</a:t>
                      </a:r>
                    </a:p>
                  </a:txBody>
                  <a:tcPr marL="18288" marR="18288" marT="18288" marB="18288">
                    <a:solidFill>
                      <a:srgbClr val="FFFFFF"/>
                    </a:solidFill>
                  </a:tcPr>
                </a:tc>
                <a:tc>
                  <a:txBody>
                    <a:bodyPr/>
                    <a:lstStyle/>
                    <a:p>
                      <a:r>
                        <a:rPr sz="700">
                          <a:solidFill>
                            <a:srgbClr val="2A2A3D"/>
                          </a:solidFill>
                          <a:latin typeface="Arial"/>
                        </a:rPr>
                        <a:t>Manual / Lisan</a:t>
                      </a:r>
                    </a:p>
                  </a:txBody>
                  <a:tcPr marL="18288" marR="18288" marT="18288" marB="18288">
                    <a:solidFill>
                      <a:srgbClr val="FFFFFF"/>
                    </a:solidFill>
                  </a:tcPr>
                </a:tc>
                <a:tc>
                  <a:txBody>
                    <a:bodyPr/>
                    <a:lstStyle/>
                    <a:p>
                      <a:r>
                        <a:rPr sz="700">
                          <a:solidFill>
                            <a:srgbClr val="2A2A3D"/>
                          </a:solidFill>
                          <a:latin typeface="Arial"/>
                        </a:rPr>
                        <a:t>Ringkasan Global Unit</a:t>
                      </a:r>
                    </a:p>
                  </a:txBody>
                  <a:tcPr marL="18288" marR="18288" marT="18288" marB="18288">
                    <a:solidFill>
                      <a:srgbClr val="FFFFFF"/>
                    </a:solidFill>
                  </a:tcPr>
                </a:tc>
                <a:tc>
                  <a:txBody>
                    <a:bodyPr/>
                    <a:lstStyle/>
                    <a:p>
                      <a:r>
                        <a:rPr sz="700" b="1">
                          <a:solidFill>
                            <a:srgbClr val="2E7D32"/>
                          </a:solidFill>
                          <a:latin typeface="Arial"/>
                        </a:rPr>
                        <a:t>✅ Granular per Mesin &amp; PO</a:t>
                      </a:r>
                    </a:p>
                  </a:txBody>
                  <a:tcPr marL="18288" marR="18288" marT="18288" marB="18288">
                    <a:solidFill>
                      <a:srgbClr val="FFFFFF"/>
                    </a:solidFill>
                  </a:tcPr>
                </a:tc>
              </a:tr>
              <a:tr h="331470">
                <a:tc>
                  <a:txBody>
                    <a:bodyPr/>
                    <a:lstStyle/>
                    <a:p>
                      <a:r>
                        <a:rPr sz="700" b="1">
                          <a:solidFill>
                            <a:srgbClr val="2A2A3D"/>
                          </a:solidFill>
                          <a:latin typeface="Arial"/>
                        </a:rPr>
                        <a:t>2. Pemetaan Mesin Inschiet Tinggi</a:t>
                      </a:r>
                    </a:p>
                  </a:txBody>
                  <a:tcPr marL="18288" marR="18288" marT="18288" marB="18288">
                    <a:solidFill>
                      <a:srgbClr val="F8F6FE"/>
                    </a:solidFill>
                  </a:tcPr>
                </a:tc>
                <a:tc>
                  <a:txBody>
                    <a:bodyPr/>
                    <a:lstStyle/>
                    <a:p>
                      <a:r>
                        <a:rPr sz="700">
                          <a:solidFill>
                            <a:srgbClr val="C62828"/>
                          </a:solidFill>
                          <a:latin typeface="Arial"/>
                        </a:rPr>
                        <a:t>❌ Ketiadaan Data</a:t>
                      </a:r>
                    </a:p>
                  </a:txBody>
                  <a:tcPr marL="18288" marR="18288" marT="18288" marB="18288">
                    <a:solidFill>
                      <a:srgbClr val="F8F6FE"/>
                    </a:solidFill>
                  </a:tcPr>
                </a:tc>
                <a:tc>
                  <a:txBody>
                    <a:bodyPr/>
                    <a:lstStyle/>
                    <a:p>
                      <a:r>
                        <a:rPr sz="700">
                          <a:solidFill>
                            <a:srgbClr val="C62828"/>
                          </a:solidFill>
                          <a:latin typeface="Arial"/>
                        </a:rPr>
                        <a:t>❌ Tidak Tersedia</a:t>
                      </a:r>
                    </a:p>
                  </a:txBody>
                  <a:tcPr marL="18288" marR="18288" marT="18288" marB="18288">
                    <a:solidFill>
                      <a:srgbClr val="F8F6FE"/>
                    </a:solidFill>
                  </a:tcPr>
                </a:tc>
                <a:tc>
                  <a:txBody>
                    <a:bodyPr/>
                    <a:lstStyle/>
                    <a:p>
                      <a:r>
                        <a:rPr sz="700" b="1">
                          <a:solidFill>
                            <a:srgbClr val="2E7D32"/>
                          </a:solidFill>
                          <a:latin typeface="Arial"/>
                        </a:rPr>
                        <a:t>✅ Real-Time 6 Mesin Utama</a:t>
                      </a:r>
                    </a:p>
                  </a:txBody>
                  <a:tcPr marL="18288" marR="18288" marT="18288" marB="18288">
                    <a:solidFill>
                      <a:srgbClr val="F8F6FE"/>
                    </a:solidFill>
                  </a:tcPr>
                </a:tc>
              </a:tr>
              <a:tr h="331470">
                <a:tc>
                  <a:txBody>
                    <a:bodyPr/>
                    <a:lstStyle/>
                    <a:p>
                      <a:r>
                        <a:rPr sz="700" b="1">
                          <a:solidFill>
                            <a:srgbClr val="2A2A3D"/>
                          </a:solidFill>
                          <a:latin typeface="Arial"/>
                        </a:rPr>
                        <a:t>3. Audit Pareto Cacat per Mesin</a:t>
                      </a:r>
                    </a:p>
                  </a:txBody>
                  <a:tcPr marL="18288" marR="18288" marT="18288" marB="18288">
                    <a:solidFill>
                      <a:srgbClr val="FFFFFF"/>
                    </a:solidFill>
                  </a:tcPr>
                </a:tc>
                <a:tc>
                  <a:txBody>
                    <a:bodyPr/>
                    <a:lstStyle/>
                    <a:p>
                      <a:r>
                        <a:rPr sz="700">
                          <a:solidFill>
                            <a:srgbClr val="C62828"/>
                          </a:solidFill>
                          <a:latin typeface="Arial"/>
                        </a:rPr>
                        <a:t>❌ Spekulatif</a:t>
                      </a:r>
                    </a:p>
                  </a:txBody>
                  <a:tcPr marL="18288" marR="18288" marT="18288" marB="18288">
                    <a:solidFill>
                      <a:srgbClr val="FFFFFF"/>
                    </a:solidFill>
                  </a:tcPr>
                </a:tc>
                <a:tc>
                  <a:txBody>
                    <a:bodyPr/>
                    <a:lstStyle/>
                    <a:p>
                      <a:r>
                        <a:rPr sz="700">
                          <a:solidFill>
                            <a:srgbClr val="C62828"/>
                          </a:solidFill>
                          <a:latin typeface="Arial"/>
                        </a:rPr>
                        <a:t>❌ Tidak Tersedia</a:t>
                      </a:r>
                    </a:p>
                  </a:txBody>
                  <a:tcPr marL="18288" marR="18288" marT="18288" marB="18288">
                    <a:solidFill>
                      <a:srgbClr val="FFFFFF"/>
                    </a:solidFill>
                  </a:tcPr>
                </a:tc>
                <a:tc>
                  <a:txBody>
                    <a:bodyPr/>
                    <a:lstStyle/>
                    <a:p>
                      <a:r>
                        <a:rPr sz="700" b="1">
                          <a:solidFill>
                            <a:srgbClr val="2E7D32"/>
                          </a:solidFill>
                          <a:latin typeface="Arial"/>
                        </a:rPr>
                        <a:t>✅ Pareto Suku Cadang Mesin</a:t>
                      </a:r>
                    </a:p>
                  </a:txBody>
                  <a:tcPr marL="18288" marR="18288" marT="18288" marB="18288">
                    <a:solidFill>
                      <a:srgbClr val="FFFFFF"/>
                    </a:solidFill>
                  </a:tcPr>
                </a:tc>
              </a:tr>
              <a:tr h="331470">
                <a:tc>
                  <a:txBody>
                    <a:bodyPr/>
                    <a:lstStyle/>
                    <a:p>
                      <a:r>
                        <a:rPr sz="700" b="1">
                          <a:solidFill>
                            <a:srgbClr val="2A2A3D"/>
                          </a:solidFill>
                          <a:latin typeface="Arial"/>
                        </a:rPr>
                        <a:t>4. Diagnosa: Mesin vs Shift</a:t>
                      </a:r>
                    </a:p>
                  </a:txBody>
                  <a:tcPr marL="18288" marR="18288" marT="18288" marB="18288">
                    <a:solidFill>
                      <a:srgbClr val="F8F6FE"/>
                    </a:solidFill>
                  </a:tcPr>
                </a:tc>
                <a:tc>
                  <a:txBody>
                    <a:bodyPr/>
                    <a:lstStyle/>
                    <a:p>
                      <a:r>
                        <a:rPr sz="700">
                          <a:solidFill>
                            <a:srgbClr val="C62828"/>
                          </a:solidFill>
                          <a:latin typeface="Arial"/>
                        </a:rPr>
                        <a:t>❌ Bias Subjektif</a:t>
                      </a:r>
                    </a:p>
                  </a:txBody>
                  <a:tcPr marL="18288" marR="18288" marT="18288" marB="18288">
                    <a:solidFill>
                      <a:srgbClr val="F8F6FE"/>
                    </a:solidFill>
                  </a:tcPr>
                </a:tc>
                <a:tc>
                  <a:txBody>
                    <a:bodyPr/>
                    <a:lstStyle/>
                    <a:p>
                      <a:r>
                        <a:rPr sz="700">
                          <a:solidFill>
                            <a:srgbClr val="C62828"/>
                          </a:solidFill>
                          <a:latin typeface="Arial"/>
                        </a:rPr>
                        <a:t>❌ Tidak Tersedia</a:t>
                      </a:r>
                    </a:p>
                  </a:txBody>
                  <a:tcPr marL="18288" marR="18288" marT="18288" marB="18288">
                    <a:solidFill>
                      <a:srgbClr val="F8F6FE"/>
                    </a:solidFill>
                  </a:tcPr>
                </a:tc>
                <a:tc>
                  <a:txBody>
                    <a:bodyPr/>
                    <a:lstStyle/>
                    <a:p>
                      <a:r>
                        <a:rPr sz="700" b="1">
                          <a:solidFill>
                            <a:srgbClr val="2E7D32"/>
                          </a:solidFill>
                          <a:latin typeface="Arial"/>
                        </a:rPr>
                        <a:t>✅ Terpisah &amp; Tervalidasi</a:t>
                      </a:r>
                    </a:p>
                  </a:txBody>
                  <a:tcPr marL="18288" marR="18288" marT="18288" marB="18288">
                    <a:solidFill>
                      <a:srgbClr val="F8F6FE"/>
                    </a:solidFill>
                  </a:tcPr>
                </a:tc>
              </a:tr>
              <a:tr h="331470">
                <a:tc>
                  <a:txBody>
                    <a:bodyPr/>
                    <a:lstStyle/>
                    <a:p>
                      <a:r>
                        <a:rPr sz="700" b="1">
                          <a:solidFill>
                            <a:srgbClr val="2A2A3D"/>
                          </a:solidFill>
                          <a:latin typeface="Arial"/>
                        </a:rPr>
                        <a:t>5. Kecepatan Entri di Mesin</a:t>
                      </a:r>
                    </a:p>
                  </a:txBody>
                  <a:tcPr marL="18288" marR="18288" marT="18288" marB="18288">
                    <a:solidFill>
                      <a:srgbClr val="FFFFFF"/>
                    </a:solidFill>
                  </a:tcPr>
                </a:tc>
                <a:tc>
                  <a:txBody>
                    <a:bodyPr/>
                    <a:lstStyle/>
                    <a:p>
                      <a:r>
                        <a:rPr sz="700">
                          <a:solidFill>
                            <a:srgbClr val="2A2A3D"/>
                          </a:solidFill>
                          <a:latin typeface="Arial"/>
                        </a:rPr>
                        <a:t>3–5 Menit (Folio)</a:t>
                      </a:r>
                    </a:p>
                  </a:txBody>
                  <a:tcPr marL="18288" marR="18288" marT="18288" marB="18288">
                    <a:solidFill>
                      <a:srgbClr val="FFFFFF"/>
                    </a:solidFill>
                  </a:tcPr>
                </a:tc>
                <a:tc>
                  <a:txBody>
                    <a:bodyPr/>
                    <a:lstStyle/>
                    <a:p>
                      <a:r>
                        <a:rPr sz="700">
                          <a:solidFill>
                            <a:srgbClr val="2A2A3D"/>
                          </a:solidFill>
                          <a:latin typeface="Arial"/>
                        </a:rPr>
                        <a:t>3–5 Menit</a:t>
                      </a:r>
                    </a:p>
                  </a:txBody>
                  <a:tcPr marL="18288" marR="18288" marT="18288" marB="18288">
                    <a:solidFill>
                      <a:srgbClr val="FFFFFF"/>
                    </a:solidFill>
                  </a:tcPr>
                </a:tc>
                <a:tc>
                  <a:txBody>
                    <a:bodyPr/>
                    <a:lstStyle/>
                    <a:p>
                      <a:r>
                        <a:rPr sz="700" b="1">
                          <a:solidFill>
                            <a:srgbClr val="2E7D32"/>
                          </a:solidFill>
                          <a:latin typeface="Arial"/>
                        </a:rPr>
                        <a:t>✅ &lt; 30 Detik (Autofill SAP)</a:t>
                      </a:r>
                    </a:p>
                  </a:txBody>
                  <a:tcPr marL="18288" marR="18288" marT="18288" marB="18288">
                    <a:solidFill>
                      <a:srgbClr val="FFFFFF"/>
                    </a:solidFill>
                  </a:tcPr>
                </a:tc>
              </a:tr>
              <a:tr h="331470">
                <a:tc>
                  <a:txBody>
                    <a:bodyPr/>
                    <a:lstStyle/>
                    <a:p>
                      <a:r>
                        <a:rPr sz="700" b="1">
                          <a:solidFill>
                            <a:srgbClr val="2A2A3D"/>
                          </a:solidFill>
                          <a:latin typeface="Arial"/>
                        </a:rPr>
                        <a:t>6. Rekapitulasi Evaluasi Pegawai</a:t>
                      </a:r>
                    </a:p>
                  </a:txBody>
                  <a:tcPr marL="18288" marR="18288" marT="18288" marB="18288">
                    <a:solidFill>
                      <a:srgbClr val="F8F6FE"/>
                    </a:solidFill>
                  </a:tcPr>
                </a:tc>
                <a:tc>
                  <a:txBody>
                    <a:bodyPr/>
                    <a:lstStyle/>
                    <a:p>
                      <a:r>
                        <a:rPr sz="700">
                          <a:solidFill>
                            <a:srgbClr val="2A2A3D"/>
                          </a:solidFill>
                          <a:latin typeface="Arial"/>
                        </a:rPr>
                        <a:t>± 45 Menit / Hari</a:t>
                      </a:r>
                    </a:p>
                  </a:txBody>
                  <a:tcPr marL="18288" marR="18288" marT="18288" marB="18288">
                    <a:solidFill>
                      <a:srgbClr val="F8F6FE"/>
                    </a:solidFill>
                  </a:tcPr>
                </a:tc>
                <a:tc>
                  <a:txBody>
                    <a:bodyPr/>
                    <a:lstStyle/>
                    <a:p>
                      <a:r>
                        <a:rPr sz="700">
                          <a:solidFill>
                            <a:srgbClr val="2A2A3D"/>
                          </a:solidFill>
                          <a:latin typeface="Arial"/>
                        </a:rPr>
                        <a:t>± 45 Menit / Hari</a:t>
                      </a:r>
                    </a:p>
                  </a:txBody>
                  <a:tcPr marL="18288" marR="18288" marT="18288" marB="18288">
                    <a:solidFill>
                      <a:srgbClr val="F8F6FE"/>
                    </a:solidFill>
                  </a:tcPr>
                </a:tc>
                <a:tc>
                  <a:txBody>
                    <a:bodyPr/>
                    <a:lstStyle/>
                    <a:p>
                      <a:r>
                        <a:rPr sz="700" b="1">
                          <a:solidFill>
                            <a:srgbClr val="2E7D32"/>
                          </a:solidFill>
                          <a:latin typeface="Arial"/>
                        </a:rPr>
                        <a:t>✅ 0 Menit (Otomatis)</a:t>
                      </a:r>
                    </a:p>
                  </a:txBody>
                  <a:tcPr marL="18288" marR="18288" marT="18288" marB="18288">
                    <a:solidFill>
                      <a:srgbClr val="F8F6FE"/>
                    </a:solidFill>
                  </a:tcPr>
                </a:tc>
              </a:tr>
              <a:tr h="331470">
                <a:tc>
                  <a:txBody>
                    <a:bodyPr/>
                    <a:lstStyle/>
                    <a:p>
                      <a:r>
                        <a:rPr sz="700" b="1">
                          <a:solidFill>
                            <a:srgbClr val="2A2A3D"/>
                          </a:solidFill>
                          <a:latin typeface="Arial"/>
                        </a:rPr>
                        <a:t>7. Durasi Downtime Servis Mesin</a:t>
                      </a:r>
                    </a:p>
                  </a:txBody>
                  <a:tcPr marL="18288" marR="18288" marT="18288" marB="18288">
                    <a:solidFill>
                      <a:srgbClr val="FFFFFF"/>
                    </a:solidFill>
                  </a:tcPr>
                </a:tc>
                <a:tc>
                  <a:txBody>
                    <a:bodyPr/>
                    <a:lstStyle/>
                    <a:p>
                      <a:r>
                        <a:rPr sz="700">
                          <a:solidFill>
                            <a:srgbClr val="2A2A3D"/>
                          </a:solidFill>
                          <a:latin typeface="Arial"/>
                        </a:rPr>
                        <a:t>&gt; 8 Jam (Bergilir)</a:t>
                      </a:r>
                    </a:p>
                  </a:txBody>
                  <a:tcPr marL="18288" marR="18288" marT="18288" marB="18288">
                    <a:solidFill>
                      <a:srgbClr val="FFFFFF"/>
                    </a:solidFill>
                  </a:tcPr>
                </a:tc>
                <a:tc>
                  <a:txBody>
                    <a:bodyPr/>
                    <a:lstStyle/>
                    <a:p>
                      <a:r>
                        <a:rPr sz="700">
                          <a:solidFill>
                            <a:srgbClr val="2A2A3D"/>
                          </a:solidFill>
                          <a:latin typeface="Arial"/>
                        </a:rPr>
                        <a:t>&gt; 8 Jam (Bergilir)</a:t>
                      </a:r>
                    </a:p>
                  </a:txBody>
                  <a:tcPr marL="18288" marR="18288" marT="18288" marB="18288">
                    <a:solidFill>
                      <a:srgbClr val="FFFFFF"/>
                    </a:solidFill>
                  </a:tcPr>
                </a:tc>
                <a:tc>
                  <a:txBody>
                    <a:bodyPr/>
                    <a:lstStyle/>
                    <a:p>
                      <a:r>
                        <a:rPr sz="700" b="1">
                          <a:solidFill>
                            <a:srgbClr val="2E7D32"/>
                          </a:solidFill>
                          <a:latin typeface="Arial"/>
                        </a:rPr>
                        <a:t>✅ &lt; 2–4 Jam (Turun ≥ 50%)</a:t>
                      </a:r>
                    </a:p>
                  </a:txBody>
                  <a:tcPr marL="18288" marR="18288" marT="18288" marB="18288">
                    <a:solidFill>
                      <a:srgbClr val="FFFFFF"/>
                    </a:solidFill>
                  </a:tcPr>
                </a:tc>
              </a:tr>
            </a:tbl>
          </a:graphicData>
        </a:graphic>
      </p:graphicFrame>
      <p:sp>
        <p:nvSpPr>
          <p:cNvPr id="19" name="Rectangle 18"/>
          <p:cNvSpPr/>
          <p:nvPr/>
        </p:nvSpPr>
        <p:spPr>
          <a:xfrm>
            <a:off x="6995160" y="2816352"/>
            <a:ext cx="4645152" cy="310896"/>
          </a:xfrm>
          <a:prstGeom prst="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0" bIns="0" rIns="0"/>
          <a:lstStyle/>
          <a:p>
            <a:pPr algn="ctr"/>
            <a:r>
              <a:rPr sz="1000" b="1">
                <a:solidFill>
                  <a:srgbClr val="FFFFFF"/>
                </a:solidFill>
                <a:latin typeface="Arial"/>
              </a:rPr>
              <a:t>2. BENCHMARK PRAKTIK UNIT LAIN &amp; INDUSTRI</a:t>
            </a:r>
          </a:p>
        </p:txBody>
      </p:sp>
      <p:sp>
        <p:nvSpPr>
          <p:cNvPr id="20" name="Rounded Rectangle 19"/>
          <p:cNvSpPr/>
          <p:nvPr/>
        </p:nvSpPr>
        <p:spPr>
          <a:xfrm>
            <a:off x="6995160" y="3127248"/>
            <a:ext cx="4645152" cy="2761488"/>
          </a:xfrm>
          <a:prstGeom prst="roundRect">
            <a:avLst/>
          </a:prstGeom>
          <a:solidFill>
            <a:srgbClr val="F8F6FE"/>
          </a:solidFill>
          <a:ln w="1270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104888" y="3200400"/>
            <a:ext cx="4425696" cy="1261872"/>
          </a:xfrm>
          <a:prstGeom prst="roundRect">
            <a:avLst/>
          </a:prstGeom>
          <a:solidFill>
            <a:srgbClr val="FFFFFF"/>
          </a:solidFill>
          <a:ln w="1270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tIns="54864" bIns="36576"/>
          <a:lstStyle/>
          <a:p>
            <a:pPr algn="ctr"/>
            <a:r>
              <a:rPr sz="800" b="1">
                <a:solidFill>
                  <a:srgbClr val="6A2CC9"/>
                </a:solidFill>
                <a:latin typeface="Arial"/>
              </a:rPr>
              <a:t>VS PRAKTIK UNIT INTERNAL LAIN (OLAH SPREADSHEET)</a:t>
            </a:r>
          </a:p>
          <a:p>
            <a:pPr>
              <a:spcBef>
                <a:spcPts val="200"/>
              </a:spcBef>
            </a:pPr>
            <a:r>
              <a:rPr sz="730" b="1">
                <a:solidFill>
                  <a:srgbClr val="6A2CC9"/>
                </a:solidFill>
                <a:latin typeface="Arial"/>
              </a:rPr>
              <a:t>• Pola Unit Lain: </a:t>
            </a:r>
            <a:r>
              <a:rPr sz="730">
                <a:solidFill>
                  <a:srgbClr val="2A2A3D"/>
                </a:solidFill>
                <a:latin typeface="Arial"/>
              </a:rPr>
              <a:t>Tarik CSV SAP mingguan di komputer kantor ➔ Terjadi Information Lag (evaluasi baru terbit setelah ratusan ribu lembar tercetak).</a:t>
            </a:r>
          </a:p>
          <a:p>
            <a:pPr>
              <a:spcBef>
                <a:spcPts val="200"/>
              </a:spcBef>
            </a:pPr>
            <a:r>
              <a:rPr sz="730" b="1">
                <a:solidFill>
                  <a:srgbClr val="2E7D32"/>
                </a:solidFill>
                <a:latin typeface="Arial"/>
              </a:rPr>
              <a:t>• Keunggulan SIRINE 4.0: </a:t>
            </a:r>
            <a:r>
              <a:rPr sz="730">
                <a:solidFill>
                  <a:srgbClr val="2A2A3D"/>
                </a:solidFill>
                <a:latin typeface="Arial"/>
              </a:rPr>
              <a:t>Intelijen data hadir langsung di meja mesin ➔ Tindakan korektif seketika di tengah proses cetak berjalan.</a:t>
            </a:r>
          </a:p>
        </p:txBody>
      </p:sp>
      <p:sp>
        <p:nvSpPr>
          <p:cNvPr id="22" name="Rounded Rectangle 21"/>
          <p:cNvSpPr/>
          <p:nvPr/>
        </p:nvSpPr>
        <p:spPr>
          <a:xfrm>
            <a:off x="7104888" y="4535424"/>
            <a:ext cx="4425696" cy="1280160"/>
          </a:xfrm>
          <a:prstGeom prst="roundRect">
            <a:avLst/>
          </a:prstGeom>
          <a:solidFill>
            <a:srgbClr val="FFFFFF"/>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tIns="54864" bIns="36576"/>
          <a:lstStyle/>
          <a:p>
            <a:pPr algn="ctr"/>
            <a:r>
              <a:rPr sz="800" b="1">
                <a:solidFill>
                  <a:srgbClr val="20288F"/>
                </a:solidFill>
                <a:latin typeface="Arial"/>
              </a:rPr>
              <a:t>VS PERANGKAT LUNAK MES VENDOR (KOMERSIAL)</a:t>
            </a:r>
          </a:p>
          <a:p>
            <a:pPr>
              <a:spcBef>
                <a:spcPts val="200"/>
              </a:spcBef>
            </a:pPr>
            <a:r>
              <a:rPr sz="730" b="1">
                <a:solidFill>
                  <a:srgbClr val="C62828"/>
                </a:solidFill>
                <a:latin typeface="Arial"/>
              </a:rPr>
              <a:t>• Solusi Vendor Luar: </a:t>
            </a:r>
            <a:r>
              <a:rPr sz="730">
                <a:solidFill>
                  <a:srgbClr val="2A2A3D"/>
                </a:solidFill>
                <a:latin typeface="Arial"/>
              </a:rPr>
              <a:t>Biaya investasi awal miliaran rupiah, biaya lisensi/OPEX tahunan, serta kustomisasi lambat saat aturan cukai DJBC berubah.</a:t>
            </a:r>
          </a:p>
          <a:p>
            <a:pPr>
              <a:spcBef>
                <a:spcPts val="200"/>
              </a:spcBef>
            </a:pPr>
            <a:r>
              <a:rPr sz="730" b="1">
                <a:solidFill>
                  <a:srgbClr val="2E7D32"/>
                </a:solidFill>
                <a:latin typeface="Arial"/>
              </a:rPr>
              <a:t>• Keunggulan In-House Peruri: </a:t>
            </a:r>
            <a:r>
              <a:rPr sz="730">
                <a:solidFill>
                  <a:srgbClr val="2A2A3D"/>
                </a:solidFill>
                <a:latin typeface="Arial"/>
              </a:rPr>
              <a:t>Biaya lisensi Rp 0, kustomisasi lincah tanpa batas, serta kedaulatan data sekuriti negara terjamin mutlak.</a:t>
            </a:r>
          </a:p>
        </p:txBody>
      </p:sp>
      <p:sp>
        <p:nvSpPr>
          <p:cNvPr id="23" name="Rounded Rectangle 22"/>
          <p:cNvSpPr/>
          <p:nvPr/>
        </p:nvSpPr>
        <p:spPr>
          <a:xfrm>
            <a:off x="548640" y="5961888"/>
            <a:ext cx="11091672" cy="402336"/>
          </a:xfrm>
          <a:prstGeom prst="roundRect">
            <a:avLst/>
          </a:prstGeom>
          <a:solidFill>
            <a:srgbClr val="E8F5E9"/>
          </a:solidFill>
          <a:ln w="1270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36576"/>
          <a:lstStyle/>
          <a:p>
            <a:pPr algn="ctr"/>
            <a:r>
              <a:rPr sz="780" b="1">
                <a:solidFill>
                  <a:srgbClr val="2E7D32"/>
                </a:solidFill>
                <a:latin typeface="Arial"/>
              </a:rPr>
              <a:t>• Lompatan Nilai Tambah: </a:t>
            </a:r>
            <a:r>
              <a:rPr sz="760">
                <a:solidFill>
                  <a:srgbClr val="2A2A3D"/>
                </a:solidFill>
                <a:latin typeface="Arial"/>
              </a:rPr>
              <a:t>Mengubah pelaporan pasif menjadi ekosistem preskriptif harian: mengeliminasi 100% beban klerikal (rekapitulasi 0 menit) sekaligus memangkas waktu respons perbaikan teknis mesin dari &gt; 8 jam menjadi &lt; 2–4 jam.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07899" y="-179222"/>
            <a:ext cx="1448409" cy="814730"/>
          </a:xfrm>
          <a:prstGeom prst="rect">
            <a:avLst/>
          </a:prstGeom>
        </p:spPr>
      </p:pic>
      <p:pic>
        <p:nvPicPr>
          <p:cNvPr id="3" name="Picture 2" descr="image.png"/>
          <p:cNvPicPr>
            <a:picLocks noChangeAspect="1"/>
          </p:cNvPicPr>
          <p:nvPr/>
        </p:nvPicPr>
        <p:blipFill>
          <a:blip r:embed="rId3"/>
          <a:stretch>
            <a:fillRect/>
          </a:stretch>
        </p:blipFill>
        <p:spPr>
          <a:xfrm>
            <a:off x="11055096" y="11887"/>
            <a:ext cx="1140256" cy="634593"/>
          </a:xfrm>
          <a:prstGeom prst="rect">
            <a:avLst/>
          </a:prstGeom>
        </p:spPr>
      </p:pic>
      <p:sp>
        <p:nvSpPr>
          <p:cNvPr id="4" name="Rounded Rectangle 3"/>
          <p:cNvSpPr/>
          <p:nvPr/>
        </p:nvSpPr>
        <p:spPr>
          <a:xfrm>
            <a:off x="548640" y="594360"/>
            <a:ext cx="731520" cy="658368"/>
          </a:xfrm>
          <a:prstGeom prst="round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000" b="1">
                <a:solidFill>
                  <a:srgbClr val="FFFFFF"/>
                </a:solidFill>
                <a:latin typeface="Arial"/>
              </a:rPr>
              <a:t>04.3</a:t>
            </a:r>
          </a:p>
        </p:txBody>
      </p:sp>
      <p:sp>
        <p:nvSpPr>
          <p:cNvPr id="5" name="TextBox 4"/>
          <p:cNvSpPr txBox="1"/>
          <p:nvPr/>
        </p:nvSpPr>
        <p:spPr>
          <a:xfrm>
            <a:off x="1417320" y="548640"/>
            <a:ext cx="9326880" cy="731520"/>
          </a:xfrm>
          <a:prstGeom prst="rect">
            <a:avLst/>
          </a:prstGeom>
          <a:noFill/>
        </p:spPr>
        <p:txBody>
          <a:bodyPr wrap="square" lIns="0" tIns="0" rIns="0" bIns="0">
            <a:spAutoFit/>
          </a:bodyPr>
          <a:lstStyle/>
          <a:p>
            <a:r>
              <a:rPr sz="2400" b="1">
                <a:solidFill>
                  <a:srgbClr val="20288F"/>
                </a:solidFill>
                <a:latin typeface="Arial"/>
              </a:rPr>
              <a:t>Solusi: Transformasi Alur Proses Kerja (Before vs After)</a:t>
            </a:r>
          </a:p>
        </p:txBody>
      </p:sp>
      <p:sp>
        <p:nvSpPr>
          <p:cNvPr id="6" name="TextBox 5"/>
          <p:cNvSpPr txBox="1"/>
          <p:nvPr/>
        </p:nvSpPr>
        <p:spPr>
          <a:xfrm>
            <a:off x="548640" y="1353312"/>
            <a:ext cx="10789920" cy="347472"/>
          </a:xfrm>
          <a:prstGeom prst="rect">
            <a:avLst/>
          </a:prstGeom>
          <a:noFill/>
        </p:spPr>
        <p:txBody>
          <a:bodyPr wrap="square" lIns="0" tIns="0" rIns="0" bIns="0">
            <a:spAutoFit/>
          </a:bodyPr>
          <a:lstStyle/>
          <a:p>
            <a:r>
              <a:rPr sz="1150" b="1">
                <a:solidFill>
                  <a:srgbClr val="6A2CC9"/>
                </a:solidFill>
                <a:latin typeface="Arial"/>
              </a:rPr>
              <a:t>Tujuan bagian ini:  </a:t>
            </a:r>
            <a:r>
              <a:rPr sz="1150">
                <a:solidFill>
                  <a:srgbClr val="2A2A3D"/>
                </a:solidFill>
                <a:latin typeface="Arial"/>
              </a:rPr>
              <a:t>Visualisasikan transformasi alur kerja dari penanganan reaktif spekulatif menjadi tindakan presisi berbasis data tertutup (Closed-Loop).</a:t>
            </a:r>
          </a:p>
        </p:txBody>
      </p:sp>
      <p:sp>
        <p:nvSpPr>
          <p:cNvPr id="7" name="TextBox 6"/>
          <p:cNvSpPr txBox="1"/>
          <p:nvPr/>
        </p:nvSpPr>
        <p:spPr>
          <a:xfrm>
            <a:off x="548640" y="6419088"/>
            <a:ext cx="11091672" cy="219456"/>
          </a:xfrm>
          <a:prstGeom prst="rect">
            <a:avLst/>
          </a:prstGeom>
          <a:noFill/>
        </p:spPr>
        <p:txBody>
          <a:bodyPr wrap="square" lIns="0" tIns="0" rIns="0" bIns="0">
            <a:spAutoFit/>
          </a:bodyPr>
          <a:lstStyle/>
          <a:p>
            <a:r>
              <a:rPr sz="850">
                <a:solidFill>
                  <a:srgbClr val="6E6E82"/>
                </a:solidFill>
                <a:latin typeface="Arial"/>
              </a:rPr>
              <a:t>IAKA 2026 — Kerangka Presentasi Peserta  ·  DSS SIRINE 4.0 Unit Cetak Pita Cukai</a:t>
            </a:r>
          </a:p>
        </p:txBody>
      </p:sp>
      <p:sp>
        <p:nvSpPr>
          <p:cNvPr id="8" name="Rectangle 7"/>
          <p:cNvSpPr/>
          <p:nvPr/>
        </p:nvSpPr>
        <p:spPr>
          <a:xfrm>
            <a:off x="548640" y="1755648"/>
            <a:ext cx="5394960" cy="329184"/>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0" bIns="0" rIns="0"/>
          <a:lstStyle/>
          <a:p>
            <a:pPr algn="ctr"/>
            <a:r>
              <a:rPr sz="980" b="1">
                <a:solidFill>
                  <a:srgbClr val="FFFFFF"/>
                </a:solidFill>
                <a:latin typeface="Arial"/>
              </a:rPr>
              <a:t>1. ALUR PROSES LAMA (BEFORE) — THE REACTIVE TRIAL-AND-ERROR LOOP</a:t>
            </a:r>
          </a:p>
        </p:txBody>
      </p:sp>
      <p:sp>
        <p:nvSpPr>
          <p:cNvPr id="9" name="Rounded Rectangle 8"/>
          <p:cNvSpPr/>
          <p:nvPr/>
        </p:nvSpPr>
        <p:spPr>
          <a:xfrm>
            <a:off x="548640" y="2084831"/>
            <a:ext cx="5394960" cy="2816352"/>
          </a:xfrm>
          <a:prstGeom prst="roundRect">
            <a:avLst/>
          </a:prstGeom>
          <a:solidFill>
            <a:srgbClr val="FFF5F5"/>
          </a:solidFill>
          <a:ln w="12700">
            <a:solidFill>
              <a:srgbClr val="F5C2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8368" y="2157984"/>
            <a:ext cx="5175504" cy="530352"/>
          </a:xfrm>
          <a:prstGeom prst="roundRect">
            <a:avLst/>
          </a:prstGeom>
          <a:solidFill>
            <a:srgbClr val="FFFFFF"/>
          </a:solidFill>
          <a:ln w="12700">
            <a:solidFill>
              <a:srgbClr val="F5C2C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18288"/>
          <a:lstStyle/>
          <a:p>
            <a:pPr algn="ctr"/>
            <a:r>
              <a:rPr sz="750" b="1">
                <a:solidFill>
                  <a:srgbClr val="C62828"/>
                </a:solidFill>
                <a:latin typeface="Arial"/>
              </a:rPr>
              <a:t>1. Order PO Selesai di Mesin ➔ </a:t>
            </a:r>
            <a:r>
              <a:rPr sz="720">
                <a:solidFill>
                  <a:srgbClr val="2A2A3D"/>
                </a:solidFill>
                <a:latin typeface="Arial"/>
              </a:rPr>
              <a:t>Operator catat data dengan pulpen di Buku Folio Meja Mesin (data terisolasi di laci, rawan hilang/rusak).</a:t>
            </a:r>
          </a:p>
        </p:txBody>
      </p:sp>
      <p:sp>
        <p:nvSpPr>
          <p:cNvPr id="11" name="Rounded Rectangle 10"/>
          <p:cNvSpPr/>
          <p:nvPr/>
        </p:nvSpPr>
        <p:spPr>
          <a:xfrm>
            <a:off x="658368" y="2743200"/>
            <a:ext cx="5175504" cy="530352"/>
          </a:xfrm>
          <a:prstGeom prst="roundRect">
            <a:avLst/>
          </a:prstGeom>
          <a:solidFill>
            <a:srgbClr val="FFFFFF"/>
          </a:solidFill>
          <a:ln w="12700">
            <a:solidFill>
              <a:srgbClr val="F5C2C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18288"/>
          <a:lstStyle/>
          <a:p>
            <a:pPr algn="ctr"/>
            <a:r>
              <a:rPr sz="750" b="1">
                <a:solidFill>
                  <a:srgbClr val="C62828"/>
                </a:solidFill>
                <a:latin typeface="Arial"/>
              </a:rPr>
              <a:t>2. Lembar Cetak ke Unit Verifikasi ➔ </a:t>
            </a:r>
            <a:r>
              <a:rPr sz="720">
                <a:solidFill>
                  <a:srgbClr val="2A2A3D"/>
                </a:solidFill>
                <a:latin typeface="Arial"/>
              </a:rPr>
              <a:t>QC sortir lembar cacat &amp; mencatat ke SAP sebagai Ringkasan Global Unit (tanpa nomor mesin &amp; shift).</a:t>
            </a:r>
          </a:p>
        </p:txBody>
      </p:sp>
      <p:sp>
        <p:nvSpPr>
          <p:cNvPr id="12" name="Rounded Rectangle 11"/>
          <p:cNvSpPr/>
          <p:nvPr/>
        </p:nvSpPr>
        <p:spPr>
          <a:xfrm>
            <a:off x="658368" y="3328415"/>
            <a:ext cx="5175504" cy="530352"/>
          </a:xfrm>
          <a:prstGeom prst="roundRect">
            <a:avLst/>
          </a:prstGeom>
          <a:solidFill>
            <a:srgbClr val="FFFFFF"/>
          </a:solidFill>
          <a:ln w="12700">
            <a:solidFill>
              <a:srgbClr val="F5C2C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18288"/>
          <a:lstStyle/>
          <a:p>
            <a:pPr algn="ctr"/>
            <a:r>
              <a:rPr sz="750" b="1">
                <a:solidFill>
                  <a:srgbClr val="C62828"/>
                </a:solidFill>
                <a:latin typeface="Arial"/>
              </a:rPr>
              <a:t>3. Laporan Mutu Bulanan Terbit ➔ </a:t>
            </a:r>
            <a:r>
              <a:rPr sz="720">
                <a:solidFill>
                  <a:srgbClr val="2A2A3D"/>
                </a:solidFill>
                <a:latin typeface="Arial"/>
              </a:rPr>
              <a:t>Cacat blobor mendominasi ➔ Teknisi lakukan inspeksi spekulatif bergilir ke seluruh 6 mesin cetak.</a:t>
            </a:r>
          </a:p>
        </p:txBody>
      </p:sp>
      <p:sp>
        <p:nvSpPr>
          <p:cNvPr id="13" name="Rounded Rectangle 12"/>
          <p:cNvSpPr/>
          <p:nvPr/>
        </p:nvSpPr>
        <p:spPr>
          <a:xfrm>
            <a:off x="658368" y="3931920"/>
            <a:ext cx="5175504" cy="877824"/>
          </a:xfrm>
          <a:prstGeom prst="roundRect">
            <a:avLst/>
          </a:prstGeom>
          <a:solidFill>
            <a:srgbClr val="FFF5F5"/>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tIns="54864" bIns="36576"/>
          <a:lstStyle/>
          <a:p>
            <a:pPr algn="ctr"/>
            <a:r>
              <a:rPr sz="780" b="1">
                <a:solidFill>
                  <a:srgbClr val="C62828"/>
                </a:solidFill>
                <a:latin typeface="Arial"/>
              </a:rPr>
              <a:t>DAMPAK SISTEMIK SEBELUM INOVASI:
</a:t>
            </a:r>
            <a:r>
              <a:rPr sz="720">
                <a:solidFill>
                  <a:srgbClr val="2A2A3D"/>
                </a:solidFill>
                <a:latin typeface="Arial"/>
              </a:rPr>
              <a:t>• Downtime perbaikan &gt; 8 jam/mesin (&gt; 1 shift) &amp; rekapitulasi buku folio ±45 mnt/hari.
• Inschiet berfluktuasi tinggi pada baseline 4,61% (Potensi kerugian Rp 24,56 Miliar/Tahun).</a:t>
            </a:r>
          </a:p>
        </p:txBody>
      </p:sp>
      <p:sp>
        <p:nvSpPr>
          <p:cNvPr id="14" name="Rectangle 13"/>
          <p:cNvSpPr/>
          <p:nvPr/>
        </p:nvSpPr>
        <p:spPr>
          <a:xfrm>
            <a:off x="6199632" y="1755648"/>
            <a:ext cx="5440680" cy="329184"/>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0" bIns="0" rIns="0"/>
          <a:lstStyle/>
          <a:p>
            <a:pPr algn="ctr"/>
            <a:r>
              <a:rPr sz="980" b="1">
                <a:solidFill>
                  <a:srgbClr val="FFFFFF"/>
                </a:solidFill>
                <a:latin typeface="Arial"/>
              </a:rPr>
              <a:t>2. ALUR PROSES BARU (AFTER) — THE CLOSED-LOOP DATA-DRIVEN ACTION</a:t>
            </a:r>
          </a:p>
        </p:txBody>
      </p:sp>
      <p:sp>
        <p:nvSpPr>
          <p:cNvPr id="15" name="Rounded Rectangle 14"/>
          <p:cNvSpPr/>
          <p:nvPr/>
        </p:nvSpPr>
        <p:spPr>
          <a:xfrm>
            <a:off x="6199632" y="2084831"/>
            <a:ext cx="5440680" cy="2816352"/>
          </a:xfrm>
          <a:prstGeom prst="roundRect">
            <a:avLst/>
          </a:prstGeom>
          <a:solidFill>
            <a:srgbClr val="E8F5E9"/>
          </a:solidFill>
          <a:ln w="1270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09360" y="2157984"/>
            <a:ext cx="5221224" cy="530352"/>
          </a:xfrm>
          <a:prstGeom prst="roundRect">
            <a:avLst/>
          </a:prstGeom>
          <a:solidFill>
            <a:srgbClr val="FFFFFF"/>
          </a:solidFill>
          <a:ln w="1270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18288"/>
          <a:lstStyle/>
          <a:p>
            <a:pPr algn="ctr"/>
            <a:r>
              <a:rPr sz="750" b="1">
                <a:solidFill>
                  <a:srgbClr val="2E7D32"/>
                </a:solidFill>
                <a:latin typeface="Arial"/>
              </a:rPr>
              <a:t>1. Order PO Selesai di Mesin ➔ </a:t>
            </a:r>
            <a:r>
              <a:rPr sz="720">
                <a:solidFill>
                  <a:srgbClr val="2A2A3D"/>
                </a:solidFill>
                <a:latin typeface="Arial"/>
              </a:rPr>
              <a:t>Operator input Form Konfirmasi Digital &lt; 30 Detik via Autofill SAP + Jadwal Mingguan Aktif (Ctrl+S).</a:t>
            </a:r>
          </a:p>
        </p:txBody>
      </p:sp>
      <p:sp>
        <p:nvSpPr>
          <p:cNvPr id="17" name="Rounded Rectangle 16"/>
          <p:cNvSpPr/>
          <p:nvPr/>
        </p:nvSpPr>
        <p:spPr>
          <a:xfrm>
            <a:off x="6309360" y="2743200"/>
            <a:ext cx="5221224" cy="530352"/>
          </a:xfrm>
          <a:prstGeom prst="roundRect">
            <a:avLst/>
          </a:prstGeom>
          <a:solidFill>
            <a:srgbClr val="FFFFFF"/>
          </a:solidFill>
          <a:ln w="1270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18288"/>
          <a:lstStyle/>
          <a:p>
            <a:pPr algn="ctr"/>
            <a:r>
              <a:rPr sz="750" b="1">
                <a:solidFill>
                  <a:srgbClr val="2E7D32"/>
                </a:solidFill>
                <a:latin typeface="Arial"/>
              </a:rPr>
              <a:t>2. Integrasi Basis Data Terpusat ➔ </a:t>
            </a:r>
            <a:r>
              <a:rPr sz="720">
                <a:solidFill>
                  <a:srgbClr val="2A2A3D"/>
                </a:solidFill>
                <a:latin typeface="Arial"/>
              </a:rPr>
              <a:t>Dasbor Mesin otomatis deteksi anomali real-time (contoh: Mesin KMR4 inschiet 6,2% - Zona Merah).</a:t>
            </a:r>
          </a:p>
        </p:txBody>
      </p:sp>
      <p:sp>
        <p:nvSpPr>
          <p:cNvPr id="18" name="Rounded Rectangle 17"/>
          <p:cNvSpPr/>
          <p:nvPr/>
        </p:nvSpPr>
        <p:spPr>
          <a:xfrm>
            <a:off x="6309360" y="3328415"/>
            <a:ext cx="5221224" cy="530352"/>
          </a:xfrm>
          <a:prstGeom prst="roundRect">
            <a:avLst/>
          </a:prstGeom>
          <a:solidFill>
            <a:srgbClr val="FFFFFF"/>
          </a:solidFill>
          <a:ln w="1270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18288"/>
          <a:lstStyle/>
          <a:p>
            <a:pPr algn="ctr"/>
            <a:r>
              <a:rPr sz="750" b="1">
                <a:solidFill>
                  <a:srgbClr val="2E7D32"/>
                </a:solidFill>
                <a:latin typeface="Arial"/>
              </a:rPr>
              <a:t>3. Diagnosa Preskriptif Pareto Cacat ➔ </a:t>
            </a:r>
            <a:r>
              <a:rPr sz="720">
                <a:solidFill>
                  <a:srgbClr val="2A2A3D"/>
                </a:solidFill>
                <a:latin typeface="Arial"/>
              </a:rPr>
              <a:t>Modul cacat membedah akar KMR4 (70% blobor) ➔ Teknisi langsung bawa rol karet pengganti yang tepat.</a:t>
            </a:r>
          </a:p>
        </p:txBody>
      </p:sp>
      <p:sp>
        <p:nvSpPr>
          <p:cNvPr id="19" name="Rounded Rectangle 18"/>
          <p:cNvSpPr/>
          <p:nvPr/>
        </p:nvSpPr>
        <p:spPr>
          <a:xfrm>
            <a:off x="6309360" y="3931920"/>
            <a:ext cx="5221224" cy="877824"/>
          </a:xfrm>
          <a:prstGeom prst="roundRect">
            <a:avLst/>
          </a:prstGeom>
          <a:solidFill>
            <a:srgbClr val="E8F5E9"/>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tIns="54864" bIns="36576"/>
          <a:lstStyle/>
          <a:p>
            <a:pPr algn="ctr"/>
            <a:r>
              <a:rPr sz="780" b="1">
                <a:solidFill>
                  <a:srgbClr val="2E7D32"/>
                </a:solidFill>
                <a:latin typeface="Arial"/>
              </a:rPr>
              <a:t>HASIL TERVALIDASI SESUDAH INOVASI:
</a:t>
            </a:r>
            <a:r>
              <a:rPr sz="720">
                <a:solidFill>
                  <a:srgbClr val="2A2A3D"/>
                </a:solidFill>
                <a:latin typeface="Arial"/>
              </a:rPr>
              <a:t>• Downtime perbaikan terpangkas menjadi &lt; 2–4 jam (turun 50–75%) &amp; rekap evaluasi 0 menit.
• Inschiet turun stabil menuju 3,33% di Q2 2026 (Potensi efisiensi Rp 6,82 Miliar/Tahun).</a:t>
            </a:r>
          </a:p>
        </p:txBody>
      </p:sp>
      <p:sp>
        <p:nvSpPr>
          <p:cNvPr id="20" name="Rectangle 19"/>
          <p:cNvSpPr/>
          <p:nvPr/>
        </p:nvSpPr>
        <p:spPr>
          <a:xfrm>
            <a:off x="548640" y="4974336"/>
            <a:ext cx="11091672" cy="292608"/>
          </a:xfrm>
          <a:prstGeom prst="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0" bIns="0" rIns="0"/>
          <a:lstStyle/>
          <a:p>
            <a:pPr algn="ctr"/>
            <a:r>
              <a:rPr sz="980" b="1">
                <a:solidFill>
                  <a:srgbClr val="FFFFFF"/>
                </a:solidFill>
                <a:latin typeface="Arial"/>
              </a:rPr>
              <a:t>3. STUDI GERAK &amp; WAKTU (TIME &amp; MOTION STUDY) — EFISIENSI SIKLUS OPERASIONAL LAPANGAN</a:t>
            </a:r>
          </a:p>
        </p:txBody>
      </p:sp>
      <p:sp>
        <p:nvSpPr>
          <p:cNvPr id="21" name="Rounded Rectangle 20"/>
          <p:cNvSpPr/>
          <p:nvPr/>
        </p:nvSpPr>
        <p:spPr>
          <a:xfrm>
            <a:off x="548640" y="5266944"/>
            <a:ext cx="11091672" cy="1078992"/>
          </a:xfrm>
          <a:prstGeom prst="roundRect">
            <a:avLst/>
          </a:prstGeom>
          <a:solidFill>
            <a:srgbClr val="F4F7FE"/>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8368" y="5340096"/>
            <a:ext cx="2560320" cy="932688"/>
          </a:xfrm>
          <a:prstGeom prst="roundRect">
            <a:avLst/>
          </a:prstGeom>
          <a:solidFill>
            <a:srgbClr val="FFFFFF"/>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18288"/>
          <a:lstStyle/>
          <a:p>
            <a:pPr algn="ctr"/>
            <a:r>
              <a:rPr sz="780" b="1">
                <a:solidFill>
                  <a:srgbClr val="20288F"/>
                </a:solidFill>
                <a:latin typeface="Arial"/>
              </a:rPr>
              <a:t>Pencatatan Data per PO</a:t>
            </a:r>
          </a:p>
          <a:p>
            <a:pPr>
              <a:spcBef>
                <a:spcPts val="100"/>
              </a:spcBef>
            </a:pPr>
            <a:r>
              <a:rPr sz="700">
                <a:solidFill>
                  <a:srgbClr val="2A2A3D"/>
                </a:solidFill>
                <a:latin typeface="Arial"/>
              </a:rPr>
              <a:t>Sebelum: ± 3–5 Menit / PO
Sesudah: &lt; 30 Detik / PO</a:t>
            </a:r>
          </a:p>
          <a:p>
            <a:pPr>
              <a:spcBef>
                <a:spcPts val="100"/>
              </a:spcBef>
            </a:pPr>
            <a:r>
              <a:rPr sz="720" b="1">
                <a:solidFill>
                  <a:srgbClr val="2E7D32"/>
                </a:solidFill>
                <a:latin typeface="Arial"/>
              </a:rPr>
              <a:t>✅ Efisiensi ≥ 85% (Autofill SAP)</a:t>
            </a:r>
          </a:p>
        </p:txBody>
      </p:sp>
      <p:sp>
        <p:nvSpPr>
          <p:cNvPr id="23" name="Rounded Rectangle 22"/>
          <p:cNvSpPr/>
          <p:nvPr/>
        </p:nvSpPr>
        <p:spPr>
          <a:xfrm>
            <a:off x="3346704" y="5340096"/>
            <a:ext cx="2560320" cy="932688"/>
          </a:xfrm>
          <a:prstGeom prst="roundRect">
            <a:avLst/>
          </a:prstGeom>
          <a:solidFill>
            <a:srgbClr val="FFFFFF"/>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18288"/>
          <a:lstStyle/>
          <a:p>
            <a:pPr algn="ctr"/>
            <a:r>
              <a:rPr sz="780" b="1">
                <a:solidFill>
                  <a:srgbClr val="20288F"/>
                </a:solidFill>
                <a:latin typeface="Arial"/>
              </a:rPr>
              <a:t>Identifikasi Mesin Bermasalah</a:t>
            </a:r>
          </a:p>
          <a:p>
            <a:pPr>
              <a:spcBef>
                <a:spcPts val="100"/>
              </a:spcBef>
            </a:pPr>
            <a:r>
              <a:rPr sz="700">
                <a:solidFill>
                  <a:srgbClr val="2A2A3D"/>
                </a:solidFill>
                <a:latin typeface="Arial"/>
              </a:rPr>
              <a:t>Sebelum: 1–3 Hari (Menunggu Rekap)
Sesudah: Real-Time (&lt; 1 Detik)</a:t>
            </a:r>
          </a:p>
          <a:p>
            <a:pPr>
              <a:spcBef>
                <a:spcPts val="100"/>
              </a:spcBef>
            </a:pPr>
            <a:r>
              <a:rPr sz="720" b="1">
                <a:solidFill>
                  <a:srgbClr val="2E7D32"/>
                </a:solidFill>
                <a:latin typeface="Arial"/>
              </a:rPr>
              <a:t>✅ Deteksi Instan (Color-Coded)</a:t>
            </a:r>
          </a:p>
        </p:txBody>
      </p:sp>
      <p:sp>
        <p:nvSpPr>
          <p:cNvPr id="24" name="Rounded Rectangle 23"/>
          <p:cNvSpPr/>
          <p:nvPr/>
        </p:nvSpPr>
        <p:spPr>
          <a:xfrm>
            <a:off x="6035040" y="5340096"/>
            <a:ext cx="2560320" cy="932688"/>
          </a:xfrm>
          <a:prstGeom prst="roundRect">
            <a:avLst/>
          </a:prstGeom>
          <a:solidFill>
            <a:srgbClr val="FFFFFF"/>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18288"/>
          <a:lstStyle/>
          <a:p>
            <a:pPr algn="ctr"/>
            <a:r>
              <a:rPr sz="780" b="1">
                <a:solidFill>
                  <a:srgbClr val="20288F"/>
                </a:solidFill>
                <a:latin typeface="Arial"/>
              </a:rPr>
              <a:t>Downtime Servis Mesin</a:t>
            </a:r>
          </a:p>
          <a:p>
            <a:pPr>
              <a:spcBef>
                <a:spcPts val="100"/>
              </a:spcBef>
            </a:pPr>
            <a:r>
              <a:rPr sz="700">
                <a:solidFill>
                  <a:srgbClr val="2A2A3D"/>
                </a:solidFill>
                <a:latin typeface="Arial"/>
              </a:rPr>
              <a:t>Sebelum: &gt; 1 Shift (&gt; 8 Jam / Mesin)
Sesudah: &lt; 2–4 Jam / Mesin</a:t>
            </a:r>
          </a:p>
          <a:p>
            <a:pPr>
              <a:spcBef>
                <a:spcPts val="100"/>
              </a:spcBef>
            </a:pPr>
            <a:r>
              <a:rPr sz="720" b="1">
                <a:solidFill>
                  <a:srgbClr val="2E7D32"/>
                </a:solidFill>
                <a:latin typeface="Arial"/>
              </a:rPr>
              <a:t>✅ Downtime Turun 50%–75%</a:t>
            </a:r>
          </a:p>
        </p:txBody>
      </p:sp>
      <p:sp>
        <p:nvSpPr>
          <p:cNvPr id="25" name="Rounded Rectangle 24"/>
          <p:cNvSpPr/>
          <p:nvPr/>
        </p:nvSpPr>
        <p:spPr>
          <a:xfrm>
            <a:off x="8723376" y="5340096"/>
            <a:ext cx="2788920" cy="932688"/>
          </a:xfrm>
          <a:prstGeom prst="roundRect">
            <a:avLst/>
          </a:prstGeom>
          <a:solidFill>
            <a:srgbClr val="FFFFFF"/>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18288"/>
          <a:lstStyle/>
          <a:p>
            <a:pPr algn="ctr"/>
            <a:r>
              <a:rPr sz="780" b="1">
                <a:solidFill>
                  <a:srgbClr val="20288F"/>
                </a:solidFill>
                <a:latin typeface="Arial"/>
              </a:rPr>
              <a:t>Rekapitulasi Evaluasi Harian</a:t>
            </a:r>
          </a:p>
          <a:p>
            <a:pPr>
              <a:spcBef>
                <a:spcPts val="100"/>
              </a:spcBef>
            </a:pPr>
            <a:r>
              <a:rPr sz="700">
                <a:solidFill>
                  <a:srgbClr val="2A2A3D"/>
                </a:solidFill>
                <a:latin typeface="Arial"/>
              </a:rPr>
              <a:t>Sebelum: ± 45 Menit / Hari (Manual)
Sesudah: 0 Menit (Otomatis Seketika)</a:t>
            </a:r>
          </a:p>
          <a:p>
            <a:pPr>
              <a:spcBef>
                <a:spcPts val="100"/>
              </a:spcBef>
            </a:pPr>
            <a:r>
              <a:rPr sz="720" b="1">
                <a:solidFill>
                  <a:srgbClr val="2E7D32"/>
                </a:solidFill>
                <a:latin typeface="Arial"/>
              </a:rPr>
              <a:t>✅ 100% Beban Administrasi Hilang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07899" y="-179222"/>
            <a:ext cx="1448409" cy="814730"/>
          </a:xfrm>
          <a:prstGeom prst="rect">
            <a:avLst/>
          </a:prstGeom>
        </p:spPr>
      </p:pic>
      <p:pic>
        <p:nvPicPr>
          <p:cNvPr id="3" name="Picture 2" descr="image.png"/>
          <p:cNvPicPr>
            <a:picLocks noChangeAspect="1"/>
          </p:cNvPicPr>
          <p:nvPr/>
        </p:nvPicPr>
        <p:blipFill>
          <a:blip r:embed="rId3"/>
          <a:stretch>
            <a:fillRect/>
          </a:stretch>
        </p:blipFill>
        <p:spPr>
          <a:xfrm>
            <a:off x="11055096" y="11887"/>
            <a:ext cx="1140256" cy="634593"/>
          </a:xfrm>
          <a:prstGeom prst="rect">
            <a:avLst/>
          </a:prstGeom>
        </p:spPr>
      </p:pic>
      <p:sp>
        <p:nvSpPr>
          <p:cNvPr id="4" name="Rounded Rectangle 3"/>
          <p:cNvSpPr/>
          <p:nvPr/>
        </p:nvSpPr>
        <p:spPr>
          <a:xfrm>
            <a:off x="548640" y="594360"/>
            <a:ext cx="731520" cy="658368"/>
          </a:xfrm>
          <a:prstGeom prst="round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000" b="1">
                <a:solidFill>
                  <a:srgbClr val="FFFFFF"/>
                </a:solidFill>
                <a:latin typeface="Arial"/>
              </a:rPr>
              <a:t>04.4</a:t>
            </a:r>
          </a:p>
        </p:txBody>
      </p:sp>
      <p:sp>
        <p:nvSpPr>
          <p:cNvPr id="5" name="TextBox 4"/>
          <p:cNvSpPr txBox="1"/>
          <p:nvPr/>
        </p:nvSpPr>
        <p:spPr>
          <a:xfrm>
            <a:off x="1417320" y="548640"/>
            <a:ext cx="9326880" cy="731520"/>
          </a:xfrm>
          <a:prstGeom prst="rect">
            <a:avLst/>
          </a:prstGeom>
          <a:noFill/>
        </p:spPr>
        <p:txBody>
          <a:bodyPr wrap="square" lIns="0" tIns="0" rIns="0" bIns="0">
            <a:spAutoFit/>
          </a:bodyPr>
          <a:lstStyle/>
          <a:p>
            <a:r>
              <a:rPr sz="2400" b="1">
                <a:solidFill>
                  <a:srgbClr val="20288F"/>
                </a:solidFill>
                <a:latin typeface="Arial"/>
              </a:rPr>
              <a:t>Solusi: Target Perbaikan MVP, Standarisasi &amp; Model Finansial Terbuka</a:t>
            </a:r>
          </a:p>
        </p:txBody>
      </p:sp>
      <p:sp>
        <p:nvSpPr>
          <p:cNvPr id="6" name="TextBox 5"/>
          <p:cNvSpPr txBox="1"/>
          <p:nvPr/>
        </p:nvSpPr>
        <p:spPr>
          <a:xfrm>
            <a:off x="548640" y="1353312"/>
            <a:ext cx="10789920" cy="347472"/>
          </a:xfrm>
          <a:prstGeom prst="rect">
            <a:avLst/>
          </a:prstGeom>
          <a:noFill/>
        </p:spPr>
        <p:txBody>
          <a:bodyPr wrap="square" lIns="0" tIns="0" rIns="0" bIns="0">
            <a:spAutoFit/>
          </a:bodyPr>
          <a:lstStyle/>
          <a:p>
            <a:r>
              <a:rPr sz="1150" b="1">
                <a:solidFill>
                  <a:srgbClr val="6A2CC9"/>
                </a:solidFill>
                <a:latin typeface="Arial"/>
              </a:rPr>
              <a:t>Tujuan bagian ini:  </a:t>
            </a:r>
            <a:r>
              <a:rPr sz="1150">
                <a:solidFill>
                  <a:srgbClr val="2A2A3D"/>
                </a:solidFill>
                <a:latin typeface="Arial"/>
              </a:rPr>
              <a:t>Sajikan rencana uji coba lini (MVP), akuntabilitas tata kelola di bawah Kadep, target terukur, dan simulasi dampak finansial terbuka.</a:t>
            </a:r>
          </a:p>
        </p:txBody>
      </p:sp>
      <p:sp>
        <p:nvSpPr>
          <p:cNvPr id="7" name="TextBox 6"/>
          <p:cNvSpPr txBox="1"/>
          <p:nvPr/>
        </p:nvSpPr>
        <p:spPr>
          <a:xfrm>
            <a:off x="548640" y="6419088"/>
            <a:ext cx="11091672" cy="219456"/>
          </a:xfrm>
          <a:prstGeom prst="rect">
            <a:avLst/>
          </a:prstGeom>
          <a:noFill/>
        </p:spPr>
        <p:txBody>
          <a:bodyPr wrap="square" lIns="0" tIns="0" rIns="0" bIns="0">
            <a:spAutoFit/>
          </a:bodyPr>
          <a:lstStyle/>
          <a:p>
            <a:r>
              <a:rPr sz="850">
                <a:solidFill>
                  <a:srgbClr val="6E6E82"/>
                </a:solidFill>
                <a:latin typeface="Arial"/>
              </a:rPr>
              <a:t>IAKA 2026 — Kerangka Presentasi Peserta  ·  DSS SIRINE 4.0 Unit Cetak Pita Cukai</a:t>
            </a:r>
          </a:p>
        </p:txBody>
      </p:sp>
      <p:sp>
        <p:nvSpPr>
          <p:cNvPr id="8" name="Rounded Rectangle 7"/>
          <p:cNvSpPr/>
          <p:nvPr/>
        </p:nvSpPr>
        <p:spPr>
          <a:xfrm>
            <a:off x="548640" y="1737360"/>
            <a:ext cx="2615184" cy="987552"/>
          </a:xfrm>
          <a:prstGeom prst="roundRect">
            <a:avLst/>
          </a:prstGeom>
          <a:solidFill>
            <a:srgbClr val="FFF9E6"/>
          </a:solidFill>
          <a:ln w="19050">
            <a:solidFill>
              <a:srgbClr val="FFE08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54864"/>
          <a:lstStyle/>
          <a:p>
            <a:pPr algn="ctr"/>
            <a:r>
              <a:rPr sz="850" b="1">
                <a:solidFill>
                  <a:srgbClr val="E65100"/>
                </a:solidFill>
                <a:latin typeface="Arial"/>
              </a:rPr>
              <a:t>TARGET INSCHIET MVP</a:t>
            </a:r>
          </a:p>
          <a:p>
            <a:pPr>
              <a:spcBef>
                <a:spcPts val="200"/>
              </a:spcBef>
            </a:pPr>
            <a:r>
              <a:rPr sz="1550" b="1">
                <a:solidFill>
                  <a:srgbClr val="E65100"/>
                </a:solidFill>
                <a:latin typeface="Arial"/>
              </a:rPr>
              <a:t>&lt; 4,00%</a:t>
            </a:r>
          </a:p>
          <a:p>
            <a:pPr>
              <a:spcBef>
                <a:spcPts val="100"/>
              </a:spcBef>
            </a:pPr>
            <a:r>
              <a:rPr sz="750">
                <a:solidFill>
                  <a:srgbClr val="2A2A3D"/>
                </a:solidFill>
                <a:latin typeface="Arial"/>
              </a:rPr>
              <a:t>Baseline: 4,61% (-0,61 pp / -13,2%)</a:t>
            </a:r>
          </a:p>
        </p:txBody>
      </p:sp>
      <p:sp>
        <p:nvSpPr>
          <p:cNvPr id="9" name="Rectangle 8"/>
          <p:cNvSpPr/>
          <p:nvPr/>
        </p:nvSpPr>
        <p:spPr>
          <a:xfrm>
            <a:off x="548640" y="1737360"/>
            <a:ext cx="2615184" cy="54864"/>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74136" y="1737360"/>
            <a:ext cx="2615184" cy="987552"/>
          </a:xfrm>
          <a:prstGeom prst="roundRect">
            <a:avLst/>
          </a:prstGeom>
          <a:solidFill>
            <a:srgbClr val="E8F5E9"/>
          </a:solidFill>
          <a:ln w="1905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54864"/>
          <a:lstStyle/>
          <a:p>
            <a:pPr algn="ctr"/>
            <a:r>
              <a:rPr sz="850" b="1">
                <a:solidFill>
                  <a:srgbClr val="2E7D32"/>
                </a:solidFill>
                <a:latin typeface="Arial"/>
              </a:rPr>
              <a:t>REALISASI INSCHIET Q2</a:t>
            </a:r>
          </a:p>
          <a:p>
            <a:pPr>
              <a:spcBef>
                <a:spcPts val="200"/>
              </a:spcBef>
            </a:pPr>
            <a:r>
              <a:rPr sz="1550" b="1">
                <a:solidFill>
                  <a:srgbClr val="2E7D32"/>
                </a:solidFill>
                <a:latin typeface="Arial"/>
              </a:rPr>
              <a:t>3,33%</a:t>
            </a:r>
          </a:p>
          <a:p>
            <a:pPr>
              <a:spcBef>
                <a:spcPts val="100"/>
              </a:spcBef>
            </a:pPr>
            <a:r>
              <a:rPr sz="750">
                <a:solidFill>
                  <a:srgbClr val="2A2A3D"/>
                </a:solidFill>
                <a:latin typeface="Arial"/>
              </a:rPr>
              <a:t>Reduksi: -1,28 pp (Efektivitas: 210%)</a:t>
            </a:r>
          </a:p>
        </p:txBody>
      </p:sp>
      <p:sp>
        <p:nvSpPr>
          <p:cNvPr id="11" name="Rectangle 10"/>
          <p:cNvSpPr/>
          <p:nvPr/>
        </p:nvSpPr>
        <p:spPr>
          <a:xfrm>
            <a:off x="3374136" y="1737360"/>
            <a:ext cx="2615184" cy="54864"/>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99632" y="1737360"/>
            <a:ext cx="2615184" cy="987552"/>
          </a:xfrm>
          <a:prstGeom prst="roundRect">
            <a:avLst/>
          </a:prstGeom>
          <a:solidFill>
            <a:srgbClr val="F8F6FE"/>
          </a:solidFill>
          <a:ln w="1905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54864"/>
          <a:lstStyle/>
          <a:p>
            <a:pPr algn="ctr"/>
            <a:r>
              <a:rPr sz="850" b="1">
                <a:solidFill>
                  <a:srgbClr val="6A2CC9"/>
                </a:solidFill>
                <a:latin typeface="Arial"/>
              </a:rPr>
              <a:t>TARGET EFISIENSI FASE 1</a:t>
            </a:r>
          </a:p>
          <a:p>
            <a:pPr>
              <a:spcBef>
                <a:spcPts val="200"/>
              </a:spcBef>
            </a:pPr>
            <a:r>
              <a:rPr sz="1550" b="1">
                <a:solidFill>
                  <a:srgbClr val="6A2CC9"/>
                </a:solidFill>
                <a:latin typeface="Arial"/>
              </a:rPr>
              <a:t>Rp 3,25 Miliar</a:t>
            </a:r>
          </a:p>
          <a:p>
            <a:pPr>
              <a:spcBef>
                <a:spcPts val="100"/>
              </a:spcBef>
            </a:pPr>
            <a:r>
              <a:rPr sz="750">
                <a:solidFill>
                  <a:srgbClr val="2A2A3D"/>
                </a:solidFill>
                <a:latin typeface="Arial"/>
              </a:rPr>
              <a:t>1.083.585 LK diselamatkan/tahun</a:t>
            </a:r>
          </a:p>
        </p:txBody>
      </p:sp>
      <p:sp>
        <p:nvSpPr>
          <p:cNvPr id="13" name="Rectangle 12"/>
          <p:cNvSpPr/>
          <p:nvPr/>
        </p:nvSpPr>
        <p:spPr>
          <a:xfrm>
            <a:off x="6199632" y="1737360"/>
            <a:ext cx="2615184" cy="54864"/>
          </a:xfrm>
          <a:prstGeom prst="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025128" y="1737360"/>
            <a:ext cx="2615184" cy="987552"/>
          </a:xfrm>
          <a:prstGeom prst="roundRect">
            <a:avLst/>
          </a:prstGeom>
          <a:solidFill>
            <a:srgbClr val="E8F5E9"/>
          </a:solidFill>
          <a:ln w="1905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54864"/>
          <a:lstStyle/>
          <a:p>
            <a:pPr algn="ctr"/>
            <a:r>
              <a:rPr sz="850" b="1">
                <a:solidFill>
                  <a:srgbClr val="2E7D32"/>
                </a:solidFill>
                <a:latin typeface="Arial"/>
              </a:rPr>
              <a:t>REALISASI EFISIENSI PENUH</a:t>
            </a:r>
          </a:p>
          <a:p>
            <a:pPr>
              <a:spcBef>
                <a:spcPts val="200"/>
              </a:spcBef>
            </a:pPr>
            <a:r>
              <a:rPr sz="1550" b="1">
                <a:solidFill>
                  <a:srgbClr val="2E7D32"/>
                </a:solidFill>
                <a:latin typeface="Arial"/>
              </a:rPr>
              <a:t>Rp 6,82 Miliar</a:t>
            </a:r>
          </a:p>
          <a:p>
            <a:pPr>
              <a:spcBef>
                <a:spcPts val="100"/>
              </a:spcBef>
            </a:pPr>
            <a:r>
              <a:rPr sz="750">
                <a:solidFill>
                  <a:srgbClr val="2A2A3D"/>
                </a:solidFill>
                <a:latin typeface="Arial"/>
              </a:rPr>
              <a:t>2.273.752 LK diselamatkan/tahun</a:t>
            </a:r>
          </a:p>
        </p:txBody>
      </p:sp>
      <p:sp>
        <p:nvSpPr>
          <p:cNvPr id="15" name="Rectangle 14"/>
          <p:cNvSpPr/>
          <p:nvPr/>
        </p:nvSpPr>
        <p:spPr>
          <a:xfrm>
            <a:off x="9025128" y="1737360"/>
            <a:ext cx="2615184" cy="54864"/>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816352"/>
            <a:ext cx="5394960" cy="310896"/>
          </a:xfrm>
          <a:prstGeom prst="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0" bIns="0" rIns="0"/>
          <a:lstStyle/>
          <a:p>
            <a:pPr algn="ctr"/>
            <a:r>
              <a:rPr sz="1000" b="1">
                <a:solidFill>
                  <a:srgbClr val="FFFFFF"/>
                </a:solidFill>
                <a:latin typeface="Arial"/>
              </a:rPr>
              <a:t>1. LINGKUP UJI COBA (MVP) &amp; STANDARISASI TATA KELOLA</a:t>
            </a:r>
          </a:p>
        </p:txBody>
      </p:sp>
      <p:sp>
        <p:nvSpPr>
          <p:cNvPr id="17" name="Rounded Rectangle 16"/>
          <p:cNvSpPr/>
          <p:nvPr/>
        </p:nvSpPr>
        <p:spPr>
          <a:xfrm>
            <a:off x="548640" y="3127248"/>
            <a:ext cx="5394960" cy="2761488"/>
          </a:xfrm>
          <a:prstGeom prst="roundRect">
            <a:avLst/>
          </a:prstGeom>
          <a:solidFill>
            <a:srgbClr val="F4F7FE"/>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58368" y="3200400"/>
            <a:ext cx="5175504" cy="1261872"/>
          </a:xfrm>
          <a:prstGeom prst="roundRect">
            <a:avLst/>
          </a:prstGeom>
          <a:solidFill>
            <a:srgbClr val="FFFFFF"/>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tIns="54864" bIns="36576"/>
          <a:lstStyle/>
          <a:p>
            <a:pPr algn="ctr"/>
            <a:r>
              <a:rPr sz="819" b="1">
                <a:solidFill>
                  <a:srgbClr val="20288F"/>
                </a:solidFill>
                <a:latin typeface="Arial"/>
              </a:rPr>
              <a:t>KOMITMEN FASILITATOR &amp; PARAMETER UJI LINI</a:t>
            </a:r>
          </a:p>
          <a:p>
            <a:pPr>
              <a:spcBef>
                <a:spcPts val="200"/>
              </a:spcBef>
            </a:pPr>
            <a:r>
              <a:rPr sz="730" b="1">
                <a:solidFill>
                  <a:srgbClr val="20288F"/>
                </a:solidFill>
                <a:latin typeface="Arial"/>
              </a:rPr>
              <a:t>• Pembina &amp; Fasilitator: </a:t>
            </a:r>
            <a:r>
              <a:rPr sz="730">
                <a:solidFill>
                  <a:srgbClr val="2A2A3D"/>
                </a:solidFill>
                <a:latin typeface="Arial"/>
              </a:rPr>
              <a:t>Dibina langsung oleh Kepala Departemen SBU High Security Solution (minimal setingkat Kadep) didampingi Kepala Seksi Cetak Pita Cukai.</a:t>
            </a:r>
          </a:p>
          <a:p>
            <a:pPr>
              <a:spcBef>
                <a:spcPts val="200"/>
              </a:spcBef>
            </a:pPr>
            <a:r>
              <a:rPr sz="730" b="1">
                <a:solidFill>
                  <a:srgbClr val="20288F"/>
                </a:solidFill>
                <a:latin typeface="Arial"/>
              </a:rPr>
              <a:t>• Lingkup Mesin &amp; SDM: </a:t>
            </a:r>
            <a:r>
              <a:rPr sz="730">
                <a:solidFill>
                  <a:srgbClr val="2A2A3D"/>
                </a:solidFill>
                <a:latin typeface="Arial"/>
              </a:rPr>
              <a:t>6 Mesin Cetak Utama (4 Komori: KMR 1–4, 2 Ryobi: RYB 1–2) + 3 GTO, 3 Shift 24/7, ±42 Personel di Gedung Percetakan Karawang.</a:t>
            </a:r>
          </a:p>
        </p:txBody>
      </p:sp>
      <p:sp>
        <p:nvSpPr>
          <p:cNvPr id="19" name="Rounded Rectangle 18"/>
          <p:cNvSpPr/>
          <p:nvPr/>
        </p:nvSpPr>
        <p:spPr>
          <a:xfrm>
            <a:off x="658368" y="4535424"/>
            <a:ext cx="5175504" cy="1280160"/>
          </a:xfrm>
          <a:prstGeom prst="roundRect">
            <a:avLst/>
          </a:prstGeom>
          <a:solidFill>
            <a:srgbClr val="FFFFFF"/>
          </a:solidFill>
          <a:ln w="1270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tIns="54864" bIns="36576"/>
          <a:lstStyle/>
          <a:p>
            <a:pPr algn="ctr"/>
            <a:r>
              <a:rPr sz="819" b="1">
                <a:solidFill>
                  <a:srgbClr val="6A2CC9"/>
                </a:solidFill>
                <a:latin typeface="Arial"/>
              </a:rPr>
              <a:t>PEMBARUAN 3 DOKUMEN TATA KELOLA RESMI &amp; KEPATUHAN</a:t>
            </a:r>
          </a:p>
          <a:p>
            <a:pPr>
              <a:spcBef>
                <a:spcPts val="150"/>
              </a:spcBef>
            </a:pPr>
            <a:r>
              <a:rPr sz="710" b="1">
                <a:solidFill>
                  <a:srgbClr val="6A2CC9"/>
                </a:solidFill>
                <a:latin typeface="Arial"/>
              </a:rPr>
              <a:t>• IK-PPC-2026-001: </a:t>
            </a:r>
            <a:r>
              <a:rPr sz="710">
                <a:solidFill>
                  <a:srgbClr val="2A2A3D"/>
                </a:solidFill>
                <a:latin typeface="Arial"/>
              </a:rPr>
              <a:t>Tata Cara Pengisian Konfirmasi PO Cetak Digital di Meja Mesin.</a:t>
            </a:r>
          </a:p>
          <a:p>
            <a:pPr>
              <a:spcBef>
                <a:spcPts val="150"/>
              </a:spcBef>
            </a:pPr>
            <a:r>
              <a:rPr sz="710" b="1">
                <a:solidFill>
                  <a:srgbClr val="6A2CC9"/>
                </a:solidFill>
                <a:latin typeface="Arial"/>
              </a:rPr>
              <a:t>• SOP-PPC-2026-004: </a:t>
            </a:r>
            <a:r>
              <a:rPr sz="710">
                <a:solidFill>
                  <a:srgbClr val="2A2A3D"/>
                </a:solidFill>
                <a:latin typeface="Arial"/>
              </a:rPr>
              <a:t>Pemeliharaan Mesin Cetak Berbasis Analisis Pareto Cacat SIRINE.</a:t>
            </a:r>
          </a:p>
          <a:p>
            <a:pPr>
              <a:spcBef>
                <a:spcPts val="150"/>
              </a:spcBef>
            </a:pPr>
            <a:r>
              <a:rPr sz="710" b="1">
                <a:solidFill>
                  <a:srgbClr val="6A2CC9"/>
                </a:solidFill>
                <a:latin typeface="Arial"/>
              </a:rPr>
              <a:t>• BA-PPC-2026-002: </a:t>
            </a:r>
            <a:r>
              <a:rPr sz="710">
                <a:solidFill>
                  <a:srgbClr val="2A2A3D"/>
                </a:solidFill>
                <a:latin typeface="Arial"/>
              </a:rPr>
              <a:t>Penarikan Resmi &amp; Penghentian Total Buku Folio Fisik per 1 Jan 2026.</a:t>
            </a:r>
          </a:p>
          <a:p>
            <a:pPr>
              <a:spcBef>
                <a:spcPts val="150"/>
              </a:spcBef>
            </a:pPr>
            <a:r>
              <a:rPr sz="710" b="1">
                <a:solidFill>
                  <a:srgbClr val="6A2CC9"/>
                </a:solidFill>
                <a:latin typeface="Arial"/>
              </a:rPr>
              <a:t>• Keselarasan Sistem: </a:t>
            </a:r>
            <a:r>
              <a:rPr sz="710">
                <a:solidFill>
                  <a:srgbClr val="2A2A3D"/>
                </a:solidFill>
                <a:latin typeface="Arial"/>
              </a:rPr>
              <a:t>Memenuhi ISO 9001:2015 (8.5.2 &amp; 9.1.3) serta akselerasi INDI 4.0.</a:t>
            </a:r>
          </a:p>
        </p:txBody>
      </p:sp>
      <p:sp>
        <p:nvSpPr>
          <p:cNvPr id="20" name="Rectangle 19"/>
          <p:cNvSpPr/>
          <p:nvPr/>
        </p:nvSpPr>
        <p:spPr>
          <a:xfrm>
            <a:off x="6199632" y="2816352"/>
            <a:ext cx="5440680" cy="310896"/>
          </a:xfrm>
          <a:prstGeom prst="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0" bIns="0" rIns="0"/>
          <a:lstStyle/>
          <a:p>
            <a:pPr algn="ctr"/>
            <a:r>
              <a:rPr sz="1000" b="1">
                <a:solidFill>
                  <a:srgbClr val="FFFFFF"/>
                </a:solidFill>
                <a:latin typeface="Arial"/>
              </a:rPr>
              <a:t>2. MODEL MATEMATIKA DAMPAK FINANSIAL TERBUKA</a:t>
            </a:r>
          </a:p>
        </p:txBody>
      </p:sp>
      <p:sp>
        <p:nvSpPr>
          <p:cNvPr id="21" name="Rounded Rectangle 20"/>
          <p:cNvSpPr/>
          <p:nvPr/>
        </p:nvSpPr>
        <p:spPr>
          <a:xfrm>
            <a:off x="6199632" y="3127248"/>
            <a:ext cx="5440680" cy="2761488"/>
          </a:xfrm>
          <a:prstGeom prst="roundRect">
            <a:avLst/>
          </a:prstGeom>
          <a:solidFill>
            <a:srgbClr val="F8F6FE"/>
          </a:solidFill>
          <a:ln w="1270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309360" y="3200400"/>
            <a:ext cx="5221224" cy="822960"/>
          </a:xfrm>
          <a:prstGeom prst="roundRect">
            <a:avLst/>
          </a:prstGeom>
          <a:solidFill>
            <a:srgbClr val="FFFFFF"/>
          </a:solidFill>
          <a:ln w="1270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tIns="36576" bIns="18288"/>
          <a:lstStyle/>
          <a:p>
            <a:pPr algn="ctr"/>
            <a:r>
              <a:rPr sz="780" b="1">
                <a:solidFill>
                  <a:srgbClr val="6A2CC9"/>
                </a:solidFill>
                <a:latin typeface="Arial"/>
              </a:rPr>
              <a:t>PARAMETER &amp; ASUMSI OPERASIONAL DASAR (DITULIS EKSPLISIT)</a:t>
            </a:r>
          </a:p>
          <a:p>
            <a:pPr>
              <a:spcBef>
                <a:spcPts val="100"/>
              </a:spcBef>
            </a:pPr>
            <a:r>
              <a:rPr sz="700" b="1">
                <a:solidFill>
                  <a:srgbClr val="6A2CC9"/>
                </a:solidFill>
                <a:latin typeface="Arial"/>
              </a:rPr>
              <a:t>• Volume Order Aktual 2025: </a:t>
            </a:r>
            <a:r>
              <a:rPr sz="700">
                <a:solidFill>
                  <a:srgbClr val="2A2A3D"/>
                </a:solidFill>
                <a:latin typeface="Arial"/>
              </a:rPr>
              <a:t>177.636.930 Lembar Cetak (SAP ZPPRSIPPC0012).</a:t>
            </a:r>
          </a:p>
          <a:p>
            <a:pPr>
              <a:spcBef>
                <a:spcPts val="100"/>
              </a:spcBef>
            </a:pPr>
            <a:r>
              <a:rPr sz="700" b="1">
                <a:solidFill>
                  <a:srgbClr val="6A2CC9"/>
                </a:solidFill>
                <a:latin typeface="Arial"/>
              </a:rPr>
              <a:t>• Baseline Inschiet 2025: </a:t>
            </a:r>
            <a:r>
              <a:rPr sz="700">
                <a:solidFill>
                  <a:srgbClr val="2A2A3D"/>
                </a:solidFill>
                <a:latin typeface="Arial"/>
              </a:rPr>
              <a:t>4,61% (8.189.062 LK rusak / Potensi rugi Rp 24,56 M/thn).</a:t>
            </a:r>
          </a:p>
          <a:p>
            <a:pPr>
              <a:spcBef>
                <a:spcPts val="100"/>
              </a:spcBef>
            </a:pPr>
            <a:r>
              <a:rPr sz="700" b="1">
                <a:solidFill>
                  <a:srgbClr val="6A2CC9"/>
                </a:solidFill>
                <a:latin typeface="Arial"/>
              </a:rPr>
              <a:t>• Estimasi Biaya Tambah Cetak: </a:t>
            </a:r>
            <a:r>
              <a:rPr sz="700">
                <a:solidFill>
                  <a:srgbClr val="2A2A3D"/>
                </a:solidFill>
                <a:latin typeface="Arial"/>
              </a:rPr>
              <a:t>Rp 3.000 / LK* (Kertas sekuriti, tinta UV, jam mesin, SDM).</a:t>
            </a:r>
          </a:p>
        </p:txBody>
      </p:sp>
      <p:sp>
        <p:nvSpPr>
          <p:cNvPr id="23" name="Rounded Rectangle 22"/>
          <p:cNvSpPr/>
          <p:nvPr/>
        </p:nvSpPr>
        <p:spPr>
          <a:xfrm>
            <a:off x="6309360" y="4078224"/>
            <a:ext cx="5221224" cy="1737360"/>
          </a:xfrm>
          <a:prstGeom prst="roundRect">
            <a:avLst/>
          </a:prstGeom>
          <a:solidFill>
            <a:srgbClr val="FFFFFF"/>
          </a:solidFill>
          <a:ln w="1270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tIns="54864" bIns="36576"/>
          <a:lstStyle/>
          <a:p>
            <a:pPr algn="ctr"/>
            <a:r>
              <a:rPr sz="800" b="1">
                <a:solidFill>
                  <a:srgbClr val="2E7D32"/>
                </a:solidFill>
                <a:latin typeface="Arial"/>
              </a:rPr>
              <a:t>KALKULASI TARGET FASE 1 VS REALISASI DAMPAK PENUH</a:t>
            </a:r>
          </a:p>
          <a:p>
            <a:pPr>
              <a:spcBef>
                <a:spcPts val="200"/>
              </a:spcBef>
            </a:pPr>
            <a:r>
              <a:rPr sz="710" b="1">
                <a:solidFill>
                  <a:srgbClr val="2A2A3D"/>
                </a:solidFill>
                <a:latin typeface="Arial"/>
              </a:rPr>
              <a:t>1. Target Awal MVP (&lt; 4,00% / -0,61 pp):
</a:t>
            </a:r>
            <a:r>
              <a:rPr sz="700">
                <a:solidFill>
                  <a:srgbClr val="2A2A3D"/>
                </a:solidFill>
                <a:latin typeface="Arial"/>
              </a:rPr>
              <a:t>   ➔ 177.636.930 × 0,61% = 1.083.585 LK × Rp 3.000 = </a:t>
            </a:r>
            <a:r>
              <a:rPr sz="720" b="1">
                <a:solidFill>
                  <a:srgbClr val="6A2CC9"/>
                </a:solidFill>
                <a:latin typeface="Arial"/>
              </a:rPr>
              <a:t>Rp 3,25 Miliar / Tahun</a:t>
            </a:r>
          </a:p>
          <a:p>
            <a:pPr>
              <a:spcBef>
                <a:spcPts val="200"/>
              </a:spcBef>
            </a:pPr>
            <a:r>
              <a:rPr sz="710" b="1">
                <a:solidFill>
                  <a:srgbClr val="2A2A3D"/>
                </a:solidFill>
                <a:latin typeface="Arial"/>
              </a:rPr>
              <a:t>2. Realisasi Dampak Penuh Q2 (3,33% / -1,28 pp):
</a:t>
            </a:r>
            <a:r>
              <a:rPr sz="700">
                <a:solidFill>
                  <a:srgbClr val="2A2A3D"/>
                </a:solidFill>
                <a:latin typeface="Arial"/>
              </a:rPr>
              <a:t>   ➔ 177.636.930 × 1,28% = 2.273.752 LK × Rp 3.000 = </a:t>
            </a:r>
            <a:r>
              <a:rPr sz="720" b="1">
                <a:solidFill>
                  <a:srgbClr val="2E7D32"/>
                </a:solidFill>
                <a:latin typeface="Arial"/>
              </a:rPr>
              <a:t>Rp 6,82 Miliar / Tahun</a:t>
            </a:r>
          </a:p>
          <a:p>
            <a:pPr>
              <a:spcBef>
                <a:spcPts val="200"/>
              </a:spcBef>
            </a:pPr>
            <a:r>
              <a:rPr sz="710" b="1">
                <a:solidFill>
                  <a:srgbClr val="2A2A3D"/>
                </a:solidFill>
                <a:latin typeface="Arial"/>
              </a:rPr>
              <a:t>3. Realisasi Efisiensi Riil S1 2026 (103,3 Jt LK):
</a:t>
            </a:r>
            <a:r>
              <a:rPr sz="700">
                <a:solidFill>
                  <a:srgbClr val="2A2A3D"/>
                </a:solidFill>
                <a:latin typeface="Arial"/>
              </a:rPr>
              <a:t>   ➔ Total hemat 743.234 LK × Rp 3.000 = </a:t>
            </a:r>
            <a:r>
              <a:rPr sz="720" b="1">
                <a:solidFill>
                  <a:srgbClr val="2E7D32"/>
                </a:solidFill>
                <a:latin typeface="Arial"/>
              </a:rPr>
              <a:t>Rp 2,23 Miliar (Dalam 6 Bulan)</a:t>
            </a:r>
          </a:p>
        </p:txBody>
      </p:sp>
      <p:sp>
        <p:nvSpPr>
          <p:cNvPr id="24" name="Rounded Rectangle 23"/>
          <p:cNvSpPr/>
          <p:nvPr/>
        </p:nvSpPr>
        <p:spPr>
          <a:xfrm>
            <a:off x="548640" y="5961888"/>
            <a:ext cx="11091672" cy="402336"/>
          </a:xfrm>
          <a:prstGeom prst="roundRect">
            <a:avLst/>
          </a:prstGeom>
          <a:solidFill>
            <a:srgbClr val="FFF9E6"/>
          </a:solidFill>
          <a:ln w="12700">
            <a:solidFill>
              <a:srgbClr val="FFE08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r>
              <a:rPr sz="730" b="1">
                <a:solidFill>
                  <a:srgbClr val="E65100"/>
                </a:solidFill>
                <a:latin typeface="Arial"/>
              </a:rPr>
              <a:t>*Catatan Asumsi Finansial (Confidentiality Protection): </a:t>
            </a:r>
            <a:r>
              <a:rPr sz="710">
                <a:solidFill>
                  <a:srgbClr val="2A2A3D"/>
                </a:solidFill>
                <a:latin typeface="Arial"/>
              </a:rPr>
              <a:t>Nilai Rp 3.000/lembar adalah estimasi internal biaya cetak yang digunakan semata-mata sebagai model simulasi dampak penghematan inovasi (cost avoidance), bukan rincian HPP resmi atau harga jual produk yang bersifat rahasia perusahaan.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548640" y="610986"/>
            <a:ext cx="731520" cy="731520"/>
          </a:xfrm>
          <a:prstGeom prst="ellipse">
            <a:avLst/>
          </a:prstGeom>
          <a:solidFill>
            <a:srgbClr val="6A2CC9"/>
          </a:solidFill>
          <a:ln/>
          <a:effectLst>
            <a:outerShdw blurRad="101600" dist="25400" dir="5400000" algn="bl" rotWithShape="0">
              <a:srgbClr val="6A2CC9">
                <a:alpha val="28000"/>
              </a:srgbClr>
            </a:outerShdw>
          </a:effectLst>
        </p:spPr>
      </p:sp>
      <p:sp>
        <p:nvSpPr>
          <p:cNvPr id="4" name="Text 2"/>
          <p:cNvSpPr/>
          <p:nvPr/>
        </p:nvSpPr>
        <p:spPr>
          <a:xfrm>
            <a:off x="548640" y="610986"/>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05</a:t>
            </a:r>
            <a:endParaRPr lang="en-US" sz="2200" dirty="0"/>
          </a:p>
        </p:txBody>
      </p:sp>
      <p:sp>
        <p:nvSpPr>
          <p:cNvPr id="5" name="Text 3"/>
          <p:cNvSpPr/>
          <p:nvPr/>
        </p:nvSpPr>
        <p:spPr>
          <a:xfrm>
            <a:off x="1463040" y="556954"/>
            <a:ext cx="7498080" cy="777240"/>
          </a:xfrm>
          <a:prstGeom prst="rect">
            <a:avLst/>
          </a:prstGeom>
          <a:noFill/>
          <a:ln/>
        </p:spPr>
        <p:txBody>
          <a:bodyPr wrap="square" lIns="0" tIns="0" rIns="0" bIns="0" rtlCol="0" anchor="ctr"/>
          <a:lstStyle/>
          <a:p>
            <a:pPr marL="0" indent="0">
              <a:buNone/>
            </a:pPr>
            <a:r>
              <a:rPr lang="en-US" sz="3400" b="1" dirty="0">
                <a:solidFill>
                  <a:srgbClr val="20288F"/>
                </a:solidFill>
                <a:latin typeface="Arial" pitchFamily="34" charset="0"/>
                <a:ea typeface="Arial" pitchFamily="34" charset="-122"/>
                <a:cs typeface="Arial" pitchFamily="34" charset="-120"/>
              </a:rPr>
              <a:t>Implementasi</a:t>
            </a:r>
            <a:endParaRPr lang="en-US" sz="3400" dirty="0"/>
          </a:p>
        </p:txBody>
      </p:sp>
      <p:sp>
        <p:nvSpPr>
          <p:cNvPr id="8" name="Text 6"/>
          <p:cNvSpPr/>
          <p:nvPr/>
        </p:nvSpPr>
        <p:spPr>
          <a:xfrm>
            <a:off x="548640" y="1417320"/>
            <a:ext cx="8229600" cy="548640"/>
          </a:xfrm>
          <a:prstGeom prst="rect">
            <a:avLst/>
          </a:prstGeom>
          <a:noFill/>
          <a:ln/>
        </p:spPr>
        <p:txBody>
          <a:bodyPr wrap="square" lIns="0" tIns="0" rIns="0" bIns="0" rtlCol="0" anchor="ctr"/>
          <a:lstStyle/>
          <a:p>
            <a:pPr marL="0" indent="0">
              <a:buNone/>
            </a:pPr>
            <a:r>
              <a:rPr lang="en-US" sz="1450" b="1" i="1" dirty="0">
                <a:solidFill>
                  <a:srgbClr val="6A2CC9"/>
                </a:solidFill>
                <a:latin typeface="Arial" pitchFamily="34" charset="0"/>
                <a:ea typeface="Arial" pitchFamily="34" charset="-122"/>
                <a:cs typeface="Arial" pitchFamily="34" charset="-120"/>
              </a:rPr>
              <a:t>Tujuan bagian ini:  </a:t>
            </a:r>
            <a:r>
              <a:rPr lang="en-US" sz="1450" i="1" dirty="0">
                <a:solidFill>
                  <a:srgbClr val="33334D"/>
                </a:solidFill>
                <a:latin typeface="Arial" pitchFamily="34" charset="0"/>
                <a:ea typeface="Arial" pitchFamily="34" charset="-122"/>
                <a:cs typeface="Arial" pitchFamily="34" charset="-120"/>
              </a:rPr>
              <a:t>Buktikan solusi benar-benar dijalankan dan hasilnya terukur (uji coba/MVP).</a:t>
            </a:r>
            <a:endParaRPr lang="en-US" sz="1450" dirty="0"/>
          </a:p>
        </p:txBody>
      </p:sp>
      <p:sp>
        <p:nvSpPr>
          <p:cNvPr id="9" name="Shape 7"/>
          <p:cNvSpPr/>
          <p:nvPr/>
        </p:nvSpPr>
        <p:spPr>
          <a:xfrm>
            <a:off x="548640" y="2148840"/>
            <a:ext cx="7955280" cy="3703320"/>
          </a:xfrm>
          <a:prstGeom prst="roundRect">
            <a:avLst>
              <a:gd name="adj" fmla="val 2963"/>
            </a:avLst>
          </a:prstGeom>
          <a:solidFill>
            <a:srgbClr val="F5F1FF"/>
          </a:solidFill>
          <a:ln w="12700">
            <a:solidFill>
              <a:srgbClr val="EFE7FF"/>
            </a:solidFill>
            <a:prstDash val="solid"/>
          </a:ln>
          <a:effectLst>
            <a:outerShdw blurRad="101600" dist="25400" dir="5400000" algn="bl" rotWithShape="0">
              <a:srgbClr val="C9BEE8">
                <a:alpha val="30000"/>
              </a:srgbClr>
            </a:outerShdw>
          </a:effectLst>
        </p:spPr>
      </p:sp>
      <p:sp>
        <p:nvSpPr>
          <p:cNvPr id="10" name="Text 8"/>
          <p:cNvSpPr/>
          <p:nvPr/>
        </p:nvSpPr>
        <p:spPr>
          <a:xfrm>
            <a:off x="868680" y="2377440"/>
            <a:ext cx="7315200" cy="365760"/>
          </a:xfrm>
          <a:prstGeom prst="rect">
            <a:avLst/>
          </a:prstGeom>
          <a:noFill/>
          <a:ln/>
        </p:spPr>
        <p:txBody>
          <a:bodyPr wrap="square" lIns="0" tIns="0" rIns="0" bIns="0" rtlCol="0" anchor="ctr"/>
          <a:lstStyle/>
          <a:p>
            <a:pPr marL="0" indent="0">
              <a:buNone/>
            </a:pPr>
            <a:r>
              <a:rPr lang="en-US" sz="1600" b="1" dirty="0">
                <a:solidFill>
                  <a:srgbClr val="6A2CC9"/>
                </a:solidFill>
                <a:latin typeface="Arial" pitchFamily="34" charset="0"/>
                <a:ea typeface="Arial" pitchFamily="34" charset="-122"/>
                <a:cs typeface="Arial" pitchFamily="34" charset="-120"/>
              </a:rPr>
              <a:t>Yang harus disampaikan</a:t>
            </a:r>
            <a:endParaRPr lang="en-US" sz="1600" dirty="0"/>
          </a:p>
        </p:txBody>
      </p:sp>
      <p:sp>
        <p:nvSpPr>
          <p:cNvPr id="11" name="Text 9"/>
          <p:cNvSpPr/>
          <p:nvPr/>
        </p:nvSpPr>
        <p:spPr>
          <a:xfrm>
            <a:off x="914400" y="2880360"/>
            <a:ext cx="7223760" cy="2697480"/>
          </a:xfrm>
          <a:prstGeom prst="rect">
            <a:avLst/>
          </a:prstGeom>
          <a:noFill/>
          <a:ln/>
        </p:spPr>
        <p:txBody>
          <a:bodyPr wrap="square" lIns="0" tIns="0" rIns="0" bIns="0" rtlCol="0" anchor="t"/>
          <a:lstStyle/>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Lingkup uji: lokasi, lini/shift, periode, dan PIC.</a:t>
            </a:r>
            <a:endParaRPr lang="en-US" sz="1450" dirty="0"/>
          </a:p>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Kendala yang dihadapi &amp; cara penanggulangannya.</a:t>
            </a:r>
            <a:endParaRPr lang="en-US" sz="1450" dirty="0"/>
          </a:p>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Data Before vs After: nilai, selisih, % perubahan, jumlah data (n).</a:t>
            </a:r>
            <a:endParaRPr lang="en-US" sz="1450" dirty="0"/>
          </a:p>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Perbandingan realisasi vs </a:t>
            </a:r>
            <a:r>
              <a:rPr lang="en-US" sz="1450" dirty="0" err="1">
                <a:solidFill>
                  <a:srgbClr val="33334D"/>
                </a:solidFill>
                <a:latin typeface="Arial" pitchFamily="34" charset="0"/>
                <a:ea typeface="Arial" pitchFamily="34" charset="-122"/>
                <a:cs typeface="Arial" pitchFamily="34" charset="-120"/>
              </a:rPr>
              <a:t>rencana</a:t>
            </a:r>
            <a:r>
              <a:rPr lang="en-US" sz="1450" dirty="0">
                <a:solidFill>
                  <a:srgbClr val="33334D"/>
                </a:solidFill>
                <a:latin typeface="Arial" pitchFamily="34" charset="0"/>
                <a:ea typeface="Arial" pitchFamily="34" charset="-122"/>
                <a:cs typeface="Arial" pitchFamily="34" charset="-120"/>
              </a:rPr>
              <a:t> </a:t>
            </a:r>
            <a:endParaRPr lang="en-US" sz="1450" dirty="0"/>
          </a:p>
        </p:txBody>
      </p:sp>
      <p:sp>
        <p:nvSpPr>
          <p:cNvPr id="12" name="Text 10"/>
          <p:cNvSpPr/>
          <p:nvPr/>
        </p:nvSpPr>
        <p:spPr>
          <a:xfrm>
            <a:off x="548640" y="6400800"/>
            <a:ext cx="11094415" cy="274320"/>
          </a:xfrm>
          <a:prstGeom prst="rect">
            <a:avLst/>
          </a:prstGeom>
          <a:noFill/>
          <a:ln/>
        </p:spPr>
        <p:txBody>
          <a:bodyPr wrap="square" lIns="0" tIns="0" rIns="0" bIns="0" rtlCol="0" anchor="ctr"/>
          <a:lstStyle/>
          <a:p>
            <a:pPr marL="0" indent="0" algn="l">
              <a:buNone/>
            </a:pPr>
            <a:r>
              <a:rPr lang="en-US" sz="950" i="1" dirty="0">
                <a:solidFill>
                  <a:srgbClr val="8A8A9A"/>
                </a:solidFill>
                <a:latin typeface="Arial" pitchFamily="34" charset="0"/>
                <a:ea typeface="Arial" pitchFamily="34" charset="-122"/>
                <a:cs typeface="Arial" pitchFamily="34" charset="-120"/>
              </a:rPr>
              <a:t>Ganti poin di atas dengan konten proyek Anda (grafik, tabel, foto, atau diagram).  ·  IAKA 2026 — Kerangka Presentasi Peserta</a:t>
            </a:r>
            <a:endParaRPr lang="en-US" sz="950" dirty="0"/>
          </a:p>
        </p:txBody>
      </p:sp>
      <p:pic>
        <p:nvPicPr>
          <p:cNvPr id="14" name="Picture 13">
            <a:extLst>
              <a:ext uri="{FF2B5EF4-FFF2-40B4-BE49-F238E27FC236}">
                <a16:creationId xmlns:a16="http://schemas.microsoft.com/office/drawing/2014/main" id="{1FB1BEF3-2E55-84AC-27CB-B08DDF2AED22}"/>
              </a:ext>
            </a:extLst>
          </p:cNvPr>
          <p:cNvPicPr>
            <a:picLocks noChangeAspect="1"/>
          </p:cNvPicPr>
          <p:nvPr/>
        </p:nvPicPr>
        <p:blipFill>
          <a:blip r:embed="rId3"/>
          <a:stretch>
            <a:fillRect/>
          </a:stretch>
        </p:blipFill>
        <p:spPr>
          <a:xfrm>
            <a:off x="11056239" y="11533"/>
            <a:ext cx="1140374" cy="634767"/>
          </a:xfrm>
          <a:prstGeom prst="rect">
            <a:avLst/>
          </a:prstGeom>
        </p:spPr>
      </p:pic>
      <p:pic>
        <p:nvPicPr>
          <p:cNvPr id="16" name="Picture 15">
            <a:extLst>
              <a:ext uri="{FF2B5EF4-FFF2-40B4-BE49-F238E27FC236}">
                <a16:creationId xmlns:a16="http://schemas.microsoft.com/office/drawing/2014/main" id="{E3189091-A826-254D-C3B7-80DAB4A39AF5}"/>
              </a:ext>
            </a:extLst>
          </p:cNvPr>
          <p:cNvPicPr>
            <a:picLocks noChangeAspect="1"/>
          </p:cNvPicPr>
          <p:nvPr/>
        </p:nvPicPr>
        <p:blipFill>
          <a:blip r:embed="rId4"/>
          <a:stretch>
            <a:fillRect/>
          </a:stretch>
        </p:blipFill>
        <p:spPr>
          <a:xfrm>
            <a:off x="-108068" y="-179554"/>
            <a:ext cx="1448261" cy="81464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548640" y="619299"/>
            <a:ext cx="731520" cy="731520"/>
          </a:xfrm>
          <a:prstGeom prst="ellipse">
            <a:avLst/>
          </a:prstGeom>
          <a:solidFill>
            <a:srgbClr val="6A2CC9"/>
          </a:solidFill>
          <a:ln/>
          <a:effectLst>
            <a:outerShdw blurRad="101600" dist="25400" dir="5400000" algn="bl" rotWithShape="0">
              <a:srgbClr val="6A2CC9">
                <a:alpha val="28000"/>
              </a:srgbClr>
            </a:outerShdw>
          </a:effectLst>
        </p:spPr>
      </p:sp>
      <p:sp>
        <p:nvSpPr>
          <p:cNvPr id="4" name="Text 2"/>
          <p:cNvSpPr/>
          <p:nvPr/>
        </p:nvSpPr>
        <p:spPr>
          <a:xfrm>
            <a:off x="548640" y="619299"/>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06</a:t>
            </a:r>
            <a:endParaRPr lang="en-US" sz="2200" dirty="0"/>
          </a:p>
        </p:txBody>
      </p:sp>
      <p:sp>
        <p:nvSpPr>
          <p:cNvPr id="5" name="Text 3"/>
          <p:cNvSpPr/>
          <p:nvPr/>
        </p:nvSpPr>
        <p:spPr>
          <a:xfrm>
            <a:off x="1463040" y="606829"/>
            <a:ext cx="7498080" cy="777240"/>
          </a:xfrm>
          <a:prstGeom prst="rect">
            <a:avLst/>
          </a:prstGeom>
          <a:noFill/>
          <a:ln/>
        </p:spPr>
        <p:txBody>
          <a:bodyPr wrap="square" lIns="0" tIns="0" rIns="0" bIns="0" rtlCol="0" anchor="ctr"/>
          <a:lstStyle/>
          <a:p>
            <a:pPr marL="0" indent="0">
              <a:buNone/>
            </a:pPr>
            <a:r>
              <a:rPr lang="en-US" sz="3400" b="1" dirty="0">
                <a:solidFill>
                  <a:srgbClr val="20288F"/>
                </a:solidFill>
                <a:latin typeface="Arial" pitchFamily="34" charset="0"/>
                <a:ea typeface="Arial" pitchFamily="34" charset="-122"/>
                <a:cs typeface="Arial" pitchFamily="34" charset="-120"/>
              </a:rPr>
              <a:t>Dampak</a:t>
            </a:r>
            <a:endParaRPr lang="en-US" sz="3400" dirty="0"/>
          </a:p>
        </p:txBody>
      </p:sp>
      <p:sp>
        <p:nvSpPr>
          <p:cNvPr id="8" name="Text 6"/>
          <p:cNvSpPr/>
          <p:nvPr/>
        </p:nvSpPr>
        <p:spPr>
          <a:xfrm>
            <a:off x="548640" y="1417320"/>
            <a:ext cx="8229600" cy="548640"/>
          </a:xfrm>
          <a:prstGeom prst="rect">
            <a:avLst/>
          </a:prstGeom>
          <a:noFill/>
          <a:ln/>
        </p:spPr>
        <p:txBody>
          <a:bodyPr wrap="square" lIns="0" tIns="0" rIns="0" bIns="0" rtlCol="0" anchor="ctr"/>
          <a:lstStyle/>
          <a:p>
            <a:pPr marL="0" indent="0">
              <a:buNone/>
            </a:pPr>
            <a:r>
              <a:rPr lang="en-US" sz="1450" b="1" i="1" dirty="0">
                <a:solidFill>
                  <a:srgbClr val="6A2CC9"/>
                </a:solidFill>
                <a:latin typeface="Arial" pitchFamily="34" charset="0"/>
                <a:ea typeface="Arial" pitchFamily="34" charset="-122"/>
                <a:cs typeface="Arial" pitchFamily="34" charset="-120"/>
              </a:rPr>
              <a:t>Tujuan bagian ini:  </a:t>
            </a:r>
            <a:r>
              <a:rPr lang="en-US" sz="1450" i="1" dirty="0">
                <a:solidFill>
                  <a:srgbClr val="33334D"/>
                </a:solidFill>
                <a:latin typeface="Arial" pitchFamily="34" charset="0"/>
                <a:ea typeface="Arial" pitchFamily="34" charset="-122"/>
                <a:cs typeface="Arial" pitchFamily="34" charset="-120"/>
              </a:rPr>
              <a:t>Sajikan dampak yang sudah tervalidasi — finansial dan non-finansial.</a:t>
            </a:r>
            <a:endParaRPr lang="en-US" sz="1450" dirty="0"/>
          </a:p>
        </p:txBody>
      </p:sp>
      <p:sp>
        <p:nvSpPr>
          <p:cNvPr id="9" name="Shape 7"/>
          <p:cNvSpPr/>
          <p:nvPr/>
        </p:nvSpPr>
        <p:spPr>
          <a:xfrm>
            <a:off x="548640" y="2148840"/>
            <a:ext cx="7955280" cy="3703320"/>
          </a:xfrm>
          <a:prstGeom prst="roundRect">
            <a:avLst>
              <a:gd name="adj" fmla="val 2963"/>
            </a:avLst>
          </a:prstGeom>
          <a:solidFill>
            <a:srgbClr val="F5F1FF"/>
          </a:solidFill>
          <a:ln w="12700">
            <a:solidFill>
              <a:srgbClr val="EFE7FF"/>
            </a:solidFill>
            <a:prstDash val="solid"/>
          </a:ln>
          <a:effectLst>
            <a:outerShdw blurRad="101600" dist="25400" dir="5400000" algn="bl" rotWithShape="0">
              <a:srgbClr val="C9BEE8">
                <a:alpha val="30000"/>
              </a:srgbClr>
            </a:outerShdw>
          </a:effectLst>
        </p:spPr>
      </p:sp>
      <p:sp>
        <p:nvSpPr>
          <p:cNvPr id="10" name="Text 8"/>
          <p:cNvSpPr/>
          <p:nvPr/>
        </p:nvSpPr>
        <p:spPr>
          <a:xfrm>
            <a:off x="868680" y="2377440"/>
            <a:ext cx="7315200" cy="365760"/>
          </a:xfrm>
          <a:prstGeom prst="rect">
            <a:avLst/>
          </a:prstGeom>
          <a:noFill/>
          <a:ln/>
        </p:spPr>
        <p:txBody>
          <a:bodyPr wrap="square" lIns="0" tIns="0" rIns="0" bIns="0" rtlCol="0" anchor="ctr"/>
          <a:lstStyle/>
          <a:p>
            <a:pPr marL="0" indent="0">
              <a:buNone/>
            </a:pPr>
            <a:r>
              <a:rPr lang="en-US" sz="1600" b="1" dirty="0">
                <a:solidFill>
                  <a:srgbClr val="6A2CC9"/>
                </a:solidFill>
                <a:latin typeface="Arial" pitchFamily="34" charset="0"/>
                <a:ea typeface="Arial" pitchFamily="34" charset="-122"/>
                <a:cs typeface="Arial" pitchFamily="34" charset="-120"/>
              </a:rPr>
              <a:t>Yang harus disampaikan</a:t>
            </a:r>
            <a:endParaRPr lang="en-US" sz="1600" dirty="0"/>
          </a:p>
        </p:txBody>
      </p:sp>
      <p:sp>
        <p:nvSpPr>
          <p:cNvPr id="11" name="Text 9"/>
          <p:cNvSpPr/>
          <p:nvPr/>
        </p:nvSpPr>
        <p:spPr>
          <a:xfrm>
            <a:off x="914400" y="2880360"/>
            <a:ext cx="7223760" cy="2697480"/>
          </a:xfrm>
          <a:prstGeom prst="rect">
            <a:avLst/>
          </a:prstGeom>
          <a:noFill/>
          <a:ln/>
        </p:spPr>
        <p:txBody>
          <a:bodyPr wrap="square" lIns="0" tIns="0" rIns="0" bIns="0" rtlCol="0" anchor="t"/>
          <a:lstStyle/>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Cost saving / cost avoidance / revenue, diukur vs baseline terverifikasi.</a:t>
            </a:r>
            <a:endParaRPr lang="en-US" sz="1450" dirty="0"/>
          </a:p>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Nilai bersih &amp; payback period .</a:t>
            </a:r>
            <a:endParaRPr lang="en-US" sz="1450" dirty="0"/>
          </a:p>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Dampak non-finansial: mutu, K3L, kepatuhan, kepuasan pengguna.</a:t>
            </a:r>
            <a:endParaRPr lang="en-US" sz="1450" dirty="0"/>
          </a:p>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Keterkaitan dengan strategi perusahaan &amp; potensi replikasi.</a:t>
            </a:r>
            <a:endParaRPr lang="en-US" sz="1450" dirty="0"/>
          </a:p>
        </p:txBody>
      </p:sp>
      <p:sp>
        <p:nvSpPr>
          <p:cNvPr id="12" name="Text 10"/>
          <p:cNvSpPr/>
          <p:nvPr/>
        </p:nvSpPr>
        <p:spPr>
          <a:xfrm>
            <a:off x="548640" y="6400800"/>
            <a:ext cx="11094415" cy="274320"/>
          </a:xfrm>
          <a:prstGeom prst="rect">
            <a:avLst/>
          </a:prstGeom>
          <a:noFill/>
          <a:ln/>
        </p:spPr>
        <p:txBody>
          <a:bodyPr wrap="square" lIns="0" tIns="0" rIns="0" bIns="0" rtlCol="0" anchor="ctr"/>
          <a:lstStyle/>
          <a:p>
            <a:pPr marL="0" indent="0" algn="l">
              <a:buNone/>
            </a:pPr>
            <a:r>
              <a:rPr lang="en-US" sz="950" i="1" dirty="0">
                <a:solidFill>
                  <a:srgbClr val="8A8A9A"/>
                </a:solidFill>
                <a:latin typeface="Arial" pitchFamily="34" charset="0"/>
                <a:ea typeface="Arial" pitchFamily="34" charset="-122"/>
                <a:cs typeface="Arial" pitchFamily="34" charset="-120"/>
              </a:rPr>
              <a:t>Ganti poin di atas dengan konten proyek Anda (grafik, tabel, foto, atau diagram).  ·  IAKA 2026 — Kerangka Presentasi Peserta</a:t>
            </a:r>
            <a:endParaRPr lang="en-US" sz="950" dirty="0"/>
          </a:p>
        </p:txBody>
      </p:sp>
      <p:pic>
        <p:nvPicPr>
          <p:cNvPr id="14" name="Picture 13">
            <a:extLst>
              <a:ext uri="{FF2B5EF4-FFF2-40B4-BE49-F238E27FC236}">
                <a16:creationId xmlns:a16="http://schemas.microsoft.com/office/drawing/2014/main" id="{113CABC3-586E-7F22-C24E-7E3D7593E669}"/>
              </a:ext>
            </a:extLst>
          </p:cNvPr>
          <p:cNvPicPr>
            <a:picLocks noChangeAspect="1"/>
          </p:cNvPicPr>
          <p:nvPr/>
        </p:nvPicPr>
        <p:blipFill>
          <a:blip r:embed="rId3"/>
          <a:stretch>
            <a:fillRect/>
          </a:stretch>
        </p:blipFill>
        <p:spPr>
          <a:xfrm>
            <a:off x="11056239" y="11533"/>
            <a:ext cx="1140374" cy="634767"/>
          </a:xfrm>
          <a:prstGeom prst="rect">
            <a:avLst/>
          </a:prstGeom>
        </p:spPr>
      </p:pic>
      <p:pic>
        <p:nvPicPr>
          <p:cNvPr id="16" name="Picture 15">
            <a:extLst>
              <a:ext uri="{FF2B5EF4-FFF2-40B4-BE49-F238E27FC236}">
                <a16:creationId xmlns:a16="http://schemas.microsoft.com/office/drawing/2014/main" id="{A9D540F0-33FD-3602-4087-CD7695575FC6}"/>
              </a:ext>
            </a:extLst>
          </p:cNvPr>
          <p:cNvPicPr>
            <a:picLocks noChangeAspect="1"/>
          </p:cNvPicPr>
          <p:nvPr/>
        </p:nvPicPr>
        <p:blipFill>
          <a:blip r:embed="rId4"/>
          <a:stretch>
            <a:fillRect/>
          </a:stretch>
        </p:blipFill>
        <p:spPr>
          <a:xfrm>
            <a:off x="-108068" y="-179554"/>
            <a:ext cx="1448261" cy="81464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548640" y="627610"/>
            <a:ext cx="731520" cy="731520"/>
          </a:xfrm>
          <a:prstGeom prst="ellipse">
            <a:avLst/>
          </a:prstGeom>
          <a:solidFill>
            <a:srgbClr val="6A2CC9"/>
          </a:solidFill>
          <a:ln/>
          <a:effectLst>
            <a:outerShdw blurRad="101600" dist="25400" dir="5400000" algn="bl" rotWithShape="0">
              <a:srgbClr val="6A2CC9">
                <a:alpha val="28000"/>
              </a:srgbClr>
            </a:outerShdw>
          </a:effectLst>
        </p:spPr>
      </p:sp>
      <p:sp>
        <p:nvSpPr>
          <p:cNvPr id="4" name="Text 2"/>
          <p:cNvSpPr/>
          <p:nvPr/>
        </p:nvSpPr>
        <p:spPr>
          <a:xfrm>
            <a:off x="548640" y="62761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07</a:t>
            </a:r>
            <a:endParaRPr lang="en-US" sz="2200" dirty="0"/>
          </a:p>
        </p:txBody>
      </p:sp>
      <p:sp>
        <p:nvSpPr>
          <p:cNvPr id="5" name="Text 3"/>
          <p:cNvSpPr/>
          <p:nvPr/>
        </p:nvSpPr>
        <p:spPr>
          <a:xfrm>
            <a:off x="1463040" y="590203"/>
            <a:ext cx="7498080" cy="777240"/>
          </a:xfrm>
          <a:prstGeom prst="rect">
            <a:avLst/>
          </a:prstGeom>
          <a:noFill/>
          <a:ln/>
        </p:spPr>
        <p:txBody>
          <a:bodyPr wrap="square" lIns="0" tIns="0" rIns="0" bIns="0" rtlCol="0" anchor="ctr"/>
          <a:lstStyle/>
          <a:p>
            <a:pPr marL="0" indent="0">
              <a:buNone/>
            </a:pPr>
            <a:r>
              <a:rPr lang="en-US" sz="3400" b="1" dirty="0">
                <a:solidFill>
                  <a:srgbClr val="20288F"/>
                </a:solidFill>
                <a:latin typeface="Arial" pitchFamily="34" charset="0"/>
                <a:ea typeface="Arial" pitchFamily="34" charset="-122"/>
                <a:cs typeface="Arial" pitchFamily="34" charset="-120"/>
              </a:rPr>
              <a:t>Sustainability</a:t>
            </a:r>
            <a:endParaRPr lang="en-US" sz="3400" dirty="0"/>
          </a:p>
        </p:txBody>
      </p:sp>
      <p:sp>
        <p:nvSpPr>
          <p:cNvPr id="8" name="Text 6"/>
          <p:cNvSpPr/>
          <p:nvPr/>
        </p:nvSpPr>
        <p:spPr>
          <a:xfrm>
            <a:off x="548640" y="1417320"/>
            <a:ext cx="8229600" cy="548640"/>
          </a:xfrm>
          <a:prstGeom prst="rect">
            <a:avLst/>
          </a:prstGeom>
          <a:noFill/>
          <a:ln/>
        </p:spPr>
        <p:txBody>
          <a:bodyPr wrap="square" lIns="0" tIns="0" rIns="0" bIns="0" rtlCol="0" anchor="ctr"/>
          <a:lstStyle/>
          <a:p>
            <a:pPr marL="0" indent="0">
              <a:buNone/>
            </a:pPr>
            <a:r>
              <a:rPr lang="en-US" sz="1450" b="1" i="1" dirty="0">
                <a:solidFill>
                  <a:srgbClr val="6A2CC9"/>
                </a:solidFill>
                <a:latin typeface="Arial" pitchFamily="34" charset="0"/>
                <a:ea typeface="Arial" pitchFamily="34" charset="-122"/>
                <a:cs typeface="Arial" pitchFamily="34" charset="-120"/>
              </a:rPr>
              <a:t>Tujuan bagian ini:  </a:t>
            </a:r>
            <a:r>
              <a:rPr lang="en-US" sz="1450" i="1" dirty="0">
                <a:solidFill>
                  <a:srgbClr val="33334D"/>
                </a:solidFill>
                <a:latin typeface="Arial" pitchFamily="34" charset="0"/>
                <a:ea typeface="Arial" pitchFamily="34" charset="-122"/>
                <a:cs typeface="Arial" pitchFamily="34" charset="-120"/>
              </a:rPr>
              <a:t>Kunci cara kerja baru agar tidak bergantung pada ingatan atau satu orang.</a:t>
            </a:r>
            <a:endParaRPr lang="en-US" sz="1450" dirty="0"/>
          </a:p>
        </p:txBody>
      </p:sp>
      <p:sp>
        <p:nvSpPr>
          <p:cNvPr id="9" name="Shape 7"/>
          <p:cNvSpPr/>
          <p:nvPr/>
        </p:nvSpPr>
        <p:spPr>
          <a:xfrm>
            <a:off x="548640" y="2148840"/>
            <a:ext cx="7955280" cy="3703320"/>
          </a:xfrm>
          <a:prstGeom prst="roundRect">
            <a:avLst>
              <a:gd name="adj" fmla="val 2963"/>
            </a:avLst>
          </a:prstGeom>
          <a:solidFill>
            <a:srgbClr val="F5F1FF"/>
          </a:solidFill>
          <a:ln w="12700">
            <a:solidFill>
              <a:srgbClr val="EFE7FF"/>
            </a:solidFill>
            <a:prstDash val="solid"/>
          </a:ln>
          <a:effectLst>
            <a:outerShdw blurRad="101600" dist="25400" dir="5400000" algn="bl" rotWithShape="0">
              <a:srgbClr val="C9BEE8">
                <a:alpha val="30000"/>
              </a:srgbClr>
            </a:outerShdw>
          </a:effectLst>
        </p:spPr>
      </p:sp>
      <p:sp>
        <p:nvSpPr>
          <p:cNvPr id="10" name="Text 8"/>
          <p:cNvSpPr/>
          <p:nvPr/>
        </p:nvSpPr>
        <p:spPr>
          <a:xfrm>
            <a:off x="868680" y="2377440"/>
            <a:ext cx="7315200" cy="365760"/>
          </a:xfrm>
          <a:prstGeom prst="rect">
            <a:avLst/>
          </a:prstGeom>
          <a:noFill/>
          <a:ln/>
        </p:spPr>
        <p:txBody>
          <a:bodyPr wrap="square" lIns="0" tIns="0" rIns="0" bIns="0" rtlCol="0" anchor="ctr"/>
          <a:lstStyle/>
          <a:p>
            <a:pPr marL="0" indent="0">
              <a:buNone/>
            </a:pPr>
            <a:r>
              <a:rPr lang="en-US" sz="1600" b="1" dirty="0">
                <a:solidFill>
                  <a:srgbClr val="6A2CC9"/>
                </a:solidFill>
                <a:latin typeface="Arial" pitchFamily="34" charset="0"/>
                <a:ea typeface="Arial" pitchFamily="34" charset="-122"/>
                <a:cs typeface="Arial" pitchFamily="34" charset="-120"/>
              </a:rPr>
              <a:t>Yang harus disampaikan</a:t>
            </a:r>
            <a:endParaRPr lang="en-US" sz="1600" dirty="0"/>
          </a:p>
        </p:txBody>
      </p:sp>
      <p:sp>
        <p:nvSpPr>
          <p:cNvPr id="11" name="Text 9"/>
          <p:cNvSpPr/>
          <p:nvPr/>
        </p:nvSpPr>
        <p:spPr>
          <a:xfrm>
            <a:off x="914400" y="2880360"/>
            <a:ext cx="7223760" cy="2697480"/>
          </a:xfrm>
          <a:prstGeom prst="rect">
            <a:avLst/>
          </a:prstGeom>
          <a:noFill/>
          <a:ln/>
        </p:spPr>
        <p:txBody>
          <a:bodyPr wrap="square" lIns="0" tIns="0" rIns="0" bIns="0" rtlCol="0" anchor="t"/>
          <a:lstStyle/>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SOP / IK baru: nomor dokumen, </a:t>
            </a:r>
            <a:r>
              <a:rPr lang="en-US" sz="1450" dirty="0" err="1">
                <a:solidFill>
                  <a:srgbClr val="33334D"/>
                </a:solidFill>
                <a:latin typeface="Arial" pitchFamily="34" charset="0"/>
                <a:ea typeface="Arial" pitchFamily="34" charset="-122"/>
                <a:cs typeface="Arial" pitchFamily="34" charset="-120"/>
              </a:rPr>
              <a:t>pengesahan</a:t>
            </a:r>
            <a:r>
              <a:rPr lang="en-US" sz="1450" dirty="0">
                <a:solidFill>
                  <a:srgbClr val="33334D"/>
                </a:solidFill>
                <a:latin typeface="Arial" pitchFamily="34" charset="0"/>
                <a:ea typeface="Arial" pitchFamily="34" charset="-122"/>
                <a:cs typeface="Arial" pitchFamily="34" charset="-120"/>
              </a:rPr>
              <a:t>.</a:t>
            </a:r>
            <a:endParaRPr lang="en-US" sz="1450" dirty="0"/>
          </a:p>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Transfer knowledge: pelatihan + </a:t>
            </a:r>
            <a:r>
              <a:rPr lang="en-US" sz="1450" dirty="0" err="1">
                <a:solidFill>
                  <a:srgbClr val="33334D"/>
                </a:solidFill>
                <a:latin typeface="Arial" pitchFamily="34" charset="0"/>
                <a:ea typeface="Arial" pitchFamily="34" charset="-122"/>
                <a:cs typeface="Arial" pitchFamily="34" charset="-120"/>
              </a:rPr>
              <a:t>bukti</a:t>
            </a:r>
            <a:r>
              <a:rPr lang="en-US" sz="1450" dirty="0">
                <a:solidFill>
                  <a:srgbClr val="33334D"/>
                </a:solidFill>
                <a:latin typeface="Arial" pitchFamily="34" charset="0"/>
                <a:ea typeface="Arial" pitchFamily="34" charset="-122"/>
                <a:cs typeface="Arial" pitchFamily="34" charset="-120"/>
              </a:rPr>
              <a:t> </a:t>
            </a:r>
            <a:r>
              <a:rPr lang="en-US" sz="1450" dirty="0" err="1">
                <a:solidFill>
                  <a:srgbClr val="33334D"/>
                </a:solidFill>
                <a:latin typeface="Arial" pitchFamily="34" charset="0"/>
                <a:ea typeface="Arial" pitchFamily="34" charset="-122"/>
                <a:cs typeface="Arial" pitchFamily="34" charset="-120"/>
              </a:rPr>
              <a:t>pelaksanaan</a:t>
            </a:r>
            <a:r>
              <a:rPr lang="en-US" sz="1450" dirty="0">
                <a:solidFill>
                  <a:srgbClr val="33334D"/>
                </a:solidFill>
                <a:latin typeface="Arial" pitchFamily="34" charset="0"/>
                <a:ea typeface="Arial" pitchFamily="34" charset="-122"/>
                <a:cs typeface="Arial" pitchFamily="34" charset="-120"/>
              </a:rPr>
              <a:t>.</a:t>
            </a:r>
            <a:endParaRPr lang="en-US" sz="1450" dirty="0"/>
          </a:p>
        </p:txBody>
      </p:sp>
      <p:sp>
        <p:nvSpPr>
          <p:cNvPr id="12" name="Text 10"/>
          <p:cNvSpPr/>
          <p:nvPr/>
        </p:nvSpPr>
        <p:spPr>
          <a:xfrm>
            <a:off x="548640" y="6400800"/>
            <a:ext cx="11094415" cy="274320"/>
          </a:xfrm>
          <a:prstGeom prst="rect">
            <a:avLst/>
          </a:prstGeom>
          <a:noFill/>
          <a:ln/>
        </p:spPr>
        <p:txBody>
          <a:bodyPr wrap="square" lIns="0" tIns="0" rIns="0" bIns="0" rtlCol="0" anchor="ctr"/>
          <a:lstStyle/>
          <a:p>
            <a:pPr marL="0" indent="0" algn="l">
              <a:buNone/>
            </a:pPr>
            <a:r>
              <a:rPr lang="en-US" sz="950" i="1" dirty="0">
                <a:solidFill>
                  <a:srgbClr val="8A8A9A"/>
                </a:solidFill>
                <a:latin typeface="Arial" pitchFamily="34" charset="0"/>
                <a:ea typeface="Arial" pitchFamily="34" charset="-122"/>
                <a:cs typeface="Arial" pitchFamily="34" charset="-120"/>
              </a:rPr>
              <a:t>Ganti poin di atas dengan konten proyek Anda (grafik, tabel, foto, atau diagram).  ·  IAKA 2026 — Kerangka Presentasi Peserta</a:t>
            </a:r>
            <a:endParaRPr lang="en-US" sz="950" dirty="0"/>
          </a:p>
        </p:txBody>
      </p:sp>
      <p:pic>
        <p:nvPicPr>
          <p:cNvPr id="14" name="Picture 13">
            <a:extLst>
              <a:ext uri="{FF2B5EF4-FFF2-40B4-BE49-F238E27FC236}">
                <a16:creationId xmlns:a16="http://schemas.microsoft.com/office/drawing/2014/main" id="{D55FF66F-2B02-03E0-9576-6DAE99F43AAE}"/>
              </a:ext>
            </a:extLst>
          </p:cNvPr>
          <p:cNvPicPr>
            <a:picLocks noChangeAspect="1"/>
          </p:cNvPicPr>
          <p:nvPr/>
        </p:nvPicPr>
        <p:blipFill>
          <a:blip r:embed="rId3"/>
          <a:stretch>
            <a:fillRect/>
          </a:stretch>
        </p:blipFill>
        <p:spPr>
          <a:xfrm>
            <a:off x="11056239" y="11533"/>
            <a:ext cx="1140374" cy="634767"/>
          </a:xfrm>
          <a:prstGeom prst="rect">
            <a:avLst/>
          </a:prstGeom>
        </p:spPr>
      </p:pic>
      <p:pic>
        <p:nvPicPr>
          <p:cNvPr id="16" name="Picture 15">
            <a:extLst>
              <a:ext uri="{FF2B5EF4-FFF2-40B4-BE49-F238E27FC236}">
                <a16:creationId xmlns:a16="http://schemas.microsoft.com/office/drawing/2014/main" id="{B4DD5B6A-805D-73DE-4FCE-471134F101EF}"/>
              </a:ext>
            </a:extLst>
          </p:cNvPr>
          <p:cNvPicPr>
            <a:picLocks noChangeAspect="1"/>
          </p:cNvPicPr>
          <p:nvPr/>
        </p:nvPicPr>
        <p:blipFill>
          <a:blip r:embed="rId4"/>
          <a:stretch>
            <a:fillRect/>
          </a:stretch>
        </p:blipFill>
        <p:spPr>
          <a:xfrm>
            <a:off x="-108068" y="-179554"/>
            <a:ext cx="1448261" cy="81464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548640" y="610987"/>
            <a:ext cx="731520" cy="731520"/>
          </a:xfrm>
          <a:prstGeom prst="ellipse">
            <a:avLst/>
          </a:prstGeom>
          <a:solidFill>
            <a:srgbClr val="6A2CC9"/>
          </a:solidFill>
          <a:ln/>
          <a:effectLst>
            <a:outerShdw blurRad="101600" dist="25400" dir="5400000" algn="bl" rotWithShape="0">
              <a:srgbClr val="6A2CC9">
                <a:alpha val="28000"/>
              </a:srgbClr>
            </a:outerShdw>
          </a:effectLst>
        </p:spPr>
      </p:sp>
      <p:sp>
        <p:nvSpPr>
          <p:cNvPr id="4" name="Text 2"/>
          <p:cNvSpPr/>
          <p:nvPr/>
        </p:nvSpPr>
        <p:spPr>
          <a:xfrm>
            <a:off x="548640" y="610987"/>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08</a:t>
            </a:r>
            <a:endParaRPr lang="en-US" sz="2200" dirty="0"/>
          </a:p>
        </p:txBody>
      </p:sp>
      <p:sp>
        <p:nvSpPr>
          <p:cNvPr id="5" name="Text 3"/>
          <p:cNvSpPr/>
          <p:nvPr/>
        </p:nvSpPr>
        <p:spPr>
          <a:xfrm>
            <a:off x="1463040" y="590203"/>
            <a:ext cx="7498080" cy="777240"/>
          </a:xfrm>
          <a:prstGeom prst="rect">
            <a:avLst/>
          </a:prstGeom>
          <a:noFill/>
          <a:ln/>
        </p:spPr>
        <p:txBody>
          <a:bodyPr wrap="square" lIns="0" tIns="0" rIns="0" bIns="0" rtlCol="0" anchor="ctr"/>
          <a:lstStyle/>
          <a:p>
            <a:pPr marL="0" indent="0">
              <a:buNone/>
            </a:pPr>
            <a:r>
              <a:rPr lang="en-US" sz="3400" b="1" dirty="0">
                <a:solidFill>
                  <a:srgbClr val="20288F"/>
                </a:solidFill>
                <a:latin typeface="Arial" pitchFamily="34" charset="0"/>
                <a:ea typeface="Arial" pitchFamily="34" charset="-122"/>
                <a:cs typeface="Arial" pitchFamily="34" charset="-120"/>
              </a:rPr>
              <a:t>Lesson Learned</a:t>
            </a:r>
            <a:endParaRPr lang="en-US" sz="3400" dirty="0"/>
          </a:p>
        </p:txBody>
      </p:sp>
      <p:sp>
        <p:nvSpPr>
          <p:cNvPr id="8" name="Text 6"/>
          <p:cNvSpPr/>
          <p:nvPr/>
        </p:nvSpPr>
        <p:spPr>
          <a:xfrm>
            <a:off x="548640" y="1417320"/>
            <a:ext cx="8229600" cy="548640"/>
          </a:xfrm>
          <a:prstGeom prst="rect">
            <a:avLst/>
          </a:prstGeom>
          <a:noFill/>
          <a:ln/>
        </p:spPr>
        <p:txBody>
          <a:bodyPr wrap="square" lIns="0" tIns="0" rIns="0" bIns="0" rtlCol="0" anchor="ctr"/>
          <a:lstStyle/>
          <a:p>
            <a:pPr marL="0" indent="0">
              <a:buNone/>
            </a:pPr>
            <a:r>
              <a:rPr lang="en-US" sz="1450" b="1" i="1" dirty="0">
                <a:solidFill>
                  <a:srgbClr val="6A2CC9"/>
                </a:solidFill>
                <a:latin typeface="Arial" pitchFamily="34" charset="0"/>
                <a:ea typeface="Arial" pitchFamily="34" charset="-122"/>
                <a:cs typeface="Arial" pitchFamily="34" charset="-120"/>
              </a:rPr>
              <a:t>Tujuan bagian ini:  </a:t>
            </a:r>
            <a:r>
              <a:rPr lang="en-US" sz="1450" i="1" dirty="0">
                <a:solidFill>
                  <a:srgbClr val="33334D"/>
                </a:solidFill>
                <a:latin typeface="Arial" pitchFamily="34" charset="0"/>
                <a:ea typeface="Arial" pitchFamily="34" charset="-122"/>
                <a:cs typeface="Arial" pitchFamily="34" charset="-120"/>
              </a:rPr>
              <a:t>Bagikan pembelajaran agar inovasi/kaizen dapat direplikasi unit lain.</a:t>
            </a:r>
            <a:endParaRPr lang="en-US" sz="1450" dirty="0"/>
          </a:p>
        </p:txBody>
      </p:sp>
      <p:sp>
        <p:nvSpPr>
          <p:cNvPr id="9" name="Shape 7"/>
          <p:cNvSpPr/>
          <p:nvPr/>
        </p:nvSpPr>
        <p:spPr>
          <a:xfrm>
            <a:off x="548640" y="2148840"/>
            <a:ext cx="7955280" cy="3703320"/>
          </a:xfrm>
          <a:prstGeom prst="roundRect">
            <a:avLst>
              <a:gd name="adj" fmla="val 2963"/>
            </a:avLst>
          </a:prstGeom>
          <a:solidFill>
            <a:srgbClr val="F5F1FF"/>
          </a:solidFill>
          <a:ln w="12700">
            <a:solidFill>
              <a:srgbClr val="EFE7FF"/>
            </a:solidFill>
            <a:prstDash val="solid"/>
          </a:ln>
          <a:effectLst>
            <a:outerShdw blurRad="101600" dist="25400" dir="5400000" algn="bl" rotWithShape="0">
              <a:srgbClr val="C9BEE8">
                <a:alpha val="30000"/>
              </a:srgbClr>
            </a:outerShdw>
          </a:effectLst>
        </p:spPr>
      </p:sp>
      <p:sp>
        <p:nvSpPr>
          <p:cNvPr id="10" name="Text 8"/>
          <p:cNvSpPr/>
          <p:nvPr/>
        </p:nvSpPr>
        <p:spPr>
          <a:xfrm>
            <a:off x="868680" y="2377440"/>
            <a:ext cx="7315200" cy="365760"/>
          </a:xfrm>
          <a:prstGeom prst="rect">
            <a:avLst/>
          </a:prstGeom>
          <a:noFill/>
          <a:ln/>
        </p:spPr>
        <p:txBody>
          <a:bodyPr wrap="square" lIns="0" tIns="0" rIns="0" bIns="0" rtlCol="0" anchor="ctr"/>
          <a:lstStyle/>
          <a:p>
            <a:pPr marL="0" indent="0">
              <a:buNone/>
            </a:pPr>
            <a:r>
              <a:rPr lang="en-US" sz="1600" b="1" dirty="0">
                <a:solidFill>
                  <a:srgbClr val="6A2CC9"/>
                </a:solidFill>
                <a:latin typeface="Arial" pitchFamily="34" charset="0"/>
                <a:ea typeface="Arial" pitchFamily="34" charset="-122"/>
                <a:cs typeface="Arial" pitchFamily="34" charset="-120"/>
              </a:rPr>
              <a:t>Yang harus disampaikan</a:t>
            </a:r>
            <a:endParaRPr lang="en-US" sz="1600" dirty="0"/>
          </a:p>
        </p:txBody>
      </p:sp>
      <p:sp>
        <p:nvSpPr>
          <p:cNvPr id="11" name="Text 9"/>
          <p:cNvSpPr/>
          <p:nvPr/>
        </p:nvSpPr>
        <p:spPr>
          <a:xfrm>
            <a:off x="914400" y="2880360"/>
            <a:ext cx="7223760" cy="2697480"/>
          </a:xfrm>
          <a:prstGeom prst="rect">
            <a:avLst/>
          </a:prstGeom>
          <a:noFill/>
          <a:ln/>
        </p:spPr>
        <p:txBody>
          <a:bodyPr wrap="square" lIns="0" tIns="0" rIns="0" bIns="0" rtlCol="0" anchor="t"/>
          <a:lstStyle/>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Tantangan utama selama pelaksanaan proyek.</a:t>
            </a:r>
            <a:endParaRPr lang="en-US" sz="1450" dirty="0"/>
          </a:p>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Mitigasi yang dilakukan untuk mengatasinya.</a:t>
            </a:r>
            <a:endParaRPr lang="en-US" sz="1450" dirty="0"/>
          </a:p>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Pembelajaran yang didapat &amp; rekomendasi pengembangan.</a:t>
            </a:r>
            <a:endParaRPr lang="en-US" sz="1450" dirty="0"/>
          </a:p>
          <a:p>
            <a:pPr marL="203200" indent="-203200">
              <a:lnSpc>
                <a:spcPct val="105000"/>
              </a:lnSpc>
              <a:spcAft>
                <a:spcPts val="1200"/>
              </a:spcAft>
              <a:buSzPct val="100000"/>
              <a:buChar char="•"/>
            </a:pPr>
            <a:r>
              <a:rPr lang="en-US" sz="1450" dirty="0">
                <a:solidFill>
                  <a:srgbClr val="33334D"/>
                </a:solidFill>
                <a:latin typeface="Arial" pitchFamily="34" charset="0"/>
                <a:ea typeface="Arial" pitchFamily="34" charset="-122"/>
                <a:cs typeface="Arial" pitchFamily="34" charset="-120"/>
              </a:rPr>
              <a:t>Kesimpulan ringkas atas keseluruhan proyek.</a:t>
            </a:r>
            <a:endParaRPr lang="en-US" sz="1450" dirty="0"/>
          </a:p>
        </p:txBody>
      </p:sp>
      <p:sp>
        <p:nvSpPr>
          <p:cNvPr id="12" name="Text 10"/>
          <p:cNvSpPr/>
          <p:nvPr/>
        </p:nvSpPr>
        <p:spPr>
          <a:xfrm>
            <a:off x="548640" y="6400800"/>
            <a:ext cx="11094415" cy="274320"/>
          </a:xfrm>
          <a:prstGeom prst="rect">
            <a:avLst/>
          </a:prstGeom>
          <a:noFill/>
          <a:ln/>
        </p:spPr>
        <p:txBody>
          <a:bodyPr wrap="square" lIns="0" tIns="0" rIns="0" bIns="0" rtlCol="0" anchor="ctr"/>
          <a:lstStyle/>
          <a:p>
            <a:pPr marL="0" indent="0" algn="l">
              <a:buNone/>
            </a:pPr>
            <a:r>
              <a:rPr lang="en-US" sz="950" i="1" dirty="0">
                <a:solidFill>
                  <a:srgbClr val="8A8A9A"/>
                </a:solidFill>
                <a:latin typeface="Arial" pitchFamily="34" charset="0"/>
                <a:ea typeface="Arial" pitchFamily="34" charset="-122"/>
                <a:cs typeface="Arial" pitchFamily="34" charset="-120"/>
              </a:rPr>
              <a:t>Ganti poin di atas dengan konten proyek Anda (grafik, tabel, foto, atau diagram).  ·  IAKA 2026 — Kerangka Presentasi Peserta</a:t>
            </a:r>
            <a:endParaRPr lang="en-US" sz="950" dirty="0"/>
          </a:p>
        </p:txBody>
      </p:sp>
      <p:pic>
        <p:nvPicPr>
          <p:cNvPr id="14" name="Picture 13">
            <a:extLst>
              <a:ext uri="{FF2B5EF4-FFF2-40B4-BE49-F238E27FC236}">
                <a16:creationId xmlns:a16="http://schemas.microsoft.com/office/drawing/2014/main" id="{F8D59126-8548-61A7-0017-F07778DC5863}"/>
              </a:ext>
            </a:extLst>
          </p:cNvPr>
          <p:cNvPicPr>
            <a:picLocks noChangeAspect="1"/>
          </p:cNvPicPr>
          <p:nvPr/>
        </p:nvPicPr>
        <p:blipFill>
          <a:blip r:embed="rId3"/>
          <a:stretch>
            <a:fillRect/>
          </a:stretch>
        </p:blipFill>
        <p:spPr>
          <a:xfrm>
            <a:off x="11056239" y="11533"/>
            <a:ext cx="1140374" cy="634767"/>
          </a:xfrm>
          <a:prstGeom prst="rect">
            <a:avLst/>
          </a:prstGeom>
        </p:spPr>
      </p:pic>
      <p:pic>
        <p:nvPicPr>
          <p:cNvPr id="16" name="Picture 15">
            <a:extLst>
              <a:ext uri="{FF2B5EF4-FFF2-40B4-BE49-F238E27FC236}">
                <a16:creationId xmlns:a16="http://schemas.microsoft.com/office/drawing/2014/main" id="{BB6288C3-0D77-7B8C-00A8-CEB921B93901}"/>
              </a:ext>
            </a:extLst>
          </p:cNvPr>
          <p:cNvPicPr>
            <a:picLocks noChangeAspect="1"/>
          </p:cNvPicPr>
          <p:nvPr/>
        </p:nvPicPr>
        <p:blipFill>
          <a:blip r:embed="rId4"/>
          <a:stretch>
            <a:fillRect/>
          </a:stretch>
        </p:blipFill>
        <p:spPr>
          <a:xfrm>
            <a:off x="-108068" y="-179554"/>
            <a:ext cx="1448261" cy="81464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4A1F9E"/>
        </a:solidFill>
        <a:effectLst/>
      </p:bgPr>
    </p:bg>
    <p:spTree>
      <p:nvGrpSpPr>
        <p:cNvPr id="1" name=""/>
        <p:cNvGrpSpPr/>
        <p:nvPr/>
      </p:nvGrpSpPr>
      <p:grpSpPr>
        <a:xfrm>
          <a:off x="0" y="0"/>
          <a:ext cx="0" cy="0"/>
          <a:chOff x="0" y="0"/>
          <a:chExt cx="0" cy="0"/>
        </a:xfrm>
      </p:grpSpPr>
      <p:sp>
        <p:nvSpPr>
          <p:cNvPr id="2" name="Shape 0"/>
          <p:cNvSpPr/>
          <p:nvPr/>
        </p:nvSpPr>
        <p:spPr>
          <a:xfrm>
            <a:off x="-1645920" y="3657600"/>
            <a:ext cx="4937760" cy="4937760"/>
          </a:xfrm>
          <a:prstGeom prst="ellipse">
            <a:avLst/>
          </a:prstGeom>
          <a:solidFill>
            <a:srgbClr val="CB69FF">
              <a:alpha val="15000"/>
            </a:srgbClr>
          </a:solidFill>
          <a:ln/>
        </p:spPr>
      </p:sp>
      <p:sp>
        <p:nvSpPr>
          <p:cNvPr id="3" name="Shape 1"/>
          <p:cNvSpPr/>
          <p:nvPr/>
        </p:nvSpPr>
        <p:spPr>
          <a:xfrm>
            <a:off x="9692640" y="-1645920"/>
            <a:ext cx="4572000" cy="4572000"/>
          </a:xfrm>
          <a:prstGeom prst="ellipse">
            <a:avLst/>
          </a:prstGeom>
          <a:solidFill>
            <a:srgbClr val="FFFFFF">
              <a:alpha val="8000"/>
            </a:srgbClr>
          </a:solidFill>
          <a:ln/>
        </p:spPr>
      </p:sp>
      <p:sp>
        <p:nvSpPr>
          <p:cNvPr id="4" name="Text 2"/>
          <p:cNvSpPr/>
          <p:nvPr/>
        </p:nvSpPr>
        <p:spPr>
          <a:xfrm>
            <a:off x="0" y="2926080"/>
            <a:ext cx="12192000" cy="731520"/>
          </a:xfrm>
          <a:prstGeom prst="rect">
            <a:avLst/>
          </a:prstGeom>
          <a:noFill/>
          <a:ln/>
        </p:spPr>
        <p:txBody>
          <a:bodyPr wrap="square" lIns="0" tIns="0" rIns="0" bIns="0" rtlCol="0" anchor="ctr"/>
          <a:lstStyle/>
          <a:p>
            <a:pPr marL="0" indent="0" algn="ctr">
              <a:buNone/>
            </a:pPr>
            <a:r>
              <a:rPr lang="en-US" sz="3200" b="1" dirty="0">
                <a:solidFill>
                  <a:srgbClr val="FFFFFF"/>
                </a:solidFill>
                <a:latin typeface="Arial" pitchFamily="34" charset="0"/>
                <a:ea typeface="Arial" pitchFamily="34" charset="-122"/>
                <a:cs typeface="Arial" pitchFamily="34" charset="-120"/>
              </a:rPr>
              <a:t>TERIMA KASIH</a:t>
            </a:r>
            <a:endParaRPr lang="en-US" sz="3200" dirty="0"/>
          </a:p>
        </p:txBody>
      </p:sp>
      <p:pic>
        <p:nvPicPr>
          <p:cNvPr id="21" name="Picture 20">
            <a:extLst>
              <a:ext uri="{FF2B5EF4-FFF2-40B4-BE49-F238E27FC236}">
                <a16:creationId xmlns:a16="http://schemas.microsoft.com/office/drawing/2014/main" id="{EB018F83-B0C6-14BE-1C69-1A5E797B70D4}"/>
              </a:ext>
            </a:extLst>
          </p:cNvPr>
          <p:cNvPicPr>
            <a:picLocks noChangeAspect="1"/>
          </p:cNvPicPr>
          <p:nvPr/>
        </p:nvPicPr>
        <p:blipFill>
          <a:blip r:embed="rId3"/>
          <a:stretch>
            <a:fillRect/>
          </a:stretch>
        </p:blipFill>
        <p:spPr>
          <a:xfrm>
            <a:off x="10670874" y="89912"/>
            <a:ext cx="1454649" cy="809702"/>
          </a:xfrm>
          <a:prstGeom prst="rect">
            <a:avLst/>
          </a:prstGeom>
        </p:spPr>
      </p:pic>
      <p:pic>
        <p:nvPicPr>
          <p:cNvPr id="23" name="Picture 22">
            <a:extLst>
              <a:ext uri="{FF2B5EF4-FFF2-40B4-BE49-F238E27FC236}">
                <a16:creationId xmlns:a16="http://schemas.microsoft.com/office/drawing/2014/main" id="{9FE47E46-A9B3-39FE-12A6-B1B0ED1FD88C}"/>
              </a:ext>
            </a:extLst>
          </p:cNvPr>
          <p:cNvPicPr>
            <a:picLocks noChangeAspect="1"/>
          </p:cNvPicPr>
          <p:nvPr/>
        </p:nvPicPr>
        <p:blipFill>
          <a:blip r:embed="rId4"/>
          <a:stretch>
            <a:fillRect/>
          </a:stretch>
        </p:blipFill>
        <p:spPr>
          <a:xfrm>
            <a:off x="-217170" y="-139700"/>
            <a:ext cx="2339340" cy="155956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07899" y="-179222"/>
            <a:ext cx="1448409" cy="814730"/>
          </a:xfrm>
          <a:prstGeom prst="rect">
            <a:avLst/>
          </a:prstGeom>
        </p:spPr>
      </p:pic>
      <p:pic>
        <p:nvPicPr>
          <p:cNvPr id="3" name="Picture 2" descr="image.png"/>
          <p:cNvPicPr>
            <a:picLocks noChangeAspect="1"/>
          </p:cNvPicPr>
          <p:nvPr/>
        </p:nvPicPr>
        <p:blipFill>
          <a:blip r:embed="rId3"/>
          <a:stretch>
            <a:fillRect/>
          </a:stretch>
        </p:blipFill>
        <p:spPr>
          <a:xfrm>
            <a:off x="11055096" y="11887"/>
            <a:ext cx="1140256" cy="634593"/>
          </a:xfrm>
          <a:prstGeom prst="rect">
            <a:avLst/>
          </a:prstGeom>
        </p:spPr>
      </p:pic>
      <p:sp>
        <p:nvSpPr>
          <p:cNvPr id="4" name="Rounded Rectangle 3"/>
          <p:cNvSpPr/>
          <p:nvPr/>
        </p:nvSpPr>
        <p:spPr>
          <a:xfrm>
            <a:off x="548640" y="594360"/>
            <a:ext cx="731520" cy="658368"/>
          </a:xfrm>
          <a:prstGeom prst="round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000" b="1">
                <a:solidFill>
                  <a:srgbClr val="FFFFFF"/>
                </a:solidFill>
                <a:latin typeface="Arial"/>
              </a:rPr>
              <a:t>04.1</a:t>
            </a:r>
          </a:p>
        </p:txBody>
      </p:sp>
      <p:sp>
        <p:nvSpPr>
          <p:cNvPr id="5" name="TextBox 4"/>
          <p:cNvSpPr txBox="1"/>
          <p:nvPr/>
        </p:nvSpPr>
        <p:spPr>
          <a:xfrm>
            <a:off x="1417320" y="548640"/>
            <a:ext cx="9326880" cy="731520"/>
          </a:xfrm>
          <a:prstGeom prst="rect">
            <a:avLst/>
          </a:prstGeom>
          <a:noFill/>
        </p:spPr>
        <p:txBody>
          <a:bodyPr wrap="square" lIns="0" tIns="0" rIns="0" bIns="0">
            <a:spAutoFit/>
          </a:bodyPr>
          <a:lstStyle/>
          <a:p>
            <a:r>
              <a:rPr sz="2400" b="1">
                <a:solidFill>
                  <a:srgbClr val="20288F"/>
                </a:solidFill>
                <a:latin typeface="Arial"/>
              </a:rPr>
              <a:t>Solusi: Cara Kerja DSS SIRINE 4.0 &amp; 6 Fitur Lapangan</a:t>
            </a:r>
          </a:p>
        </p:txBody>
      </p:sp>
      <p:sp>
        <p:nvSpPr>
          <p:cNvPr id="6" name="TextBox 5"/>
          <p:cNvSpPr txBox="1"/>
          <p:nvPr/>
        </p:nvSpPr>
        <p:spPr>
          <a:xfrm>
            <a:off x="548640" y="1353312"/>
            <a:ext cx="10789920" cy="347472"/>
          </a:xfrm>
          <a:prstGeom prst="rect">
            <a:avLst/>
          </a:prstGeom>
          <a:noFill/>
        </p:spPr>
        <p:txBody>
          <a:bodyPr wrap="square" lIns="0" tIns="0" rIns="0" bIns="0">
            <a:spAutoFit/>
          </a:bodyPr>
          <a:lstStyle/>
          <a:p>
            <a:r>
              <a:rPr sz="1150" b="1">
                <a:solidFill>
                  <a:srgbClr val="6A2CC9"/>
                </a:solidFill>
                <a:latin typeface="Arial"/>
              </a:rPr>
              <a:t>Tujuan bagian ini:  </a:t>
            </a:r>
            <a:r>
              <a:rPr sz="1150">
                <a:solidFill>
                  <a:srgbClr val="2A2A3D"/>
                </a:solidFill>
                <a:latin typeface="Arial"/>
              </a:rPr>
              <a:t>Jelaskan alur kerja sistem dari meja mesin sampai dasbor aksi untuk mengatasi data yang selama ini terpisah-pisah.</a:t>
            </a:r>
          </a:p>
        </p:txBody>
      </p:sp>
      <p:sp>
        <p:nvSpPr>
          <p:cNvPr id="7" name="TextBox 6"/>
          <p:cNvSpPr txBox="1"/>
          <p:nvPr/>
        </p:nvSpPr>
        <p:spPr>
          <a:xfrm>
            <a:off x="548640" y="6419088"/>
            <a:ext cx="11091672" cy="219456"/>
          </a:xfrm>
          <a:prstGeom prst="rect">
            <a:avLst/>
          </a:prstGeom>
          <a:noFill/>
        </p:spPr>
        <p:txBody>
          <a:bodyPr wrap="square" lIns="0" tIns="0" rIns="0" bIns="0">
            <a:spAutoFit/>
          </a:bodyPr>
          <a:lstStyle/>
          <a:p>
            <a:r>
              <a:rPr sz="850">
                <a:solidFill>
                  <a:srgbClr val="6E6E82"/>
                </a:solidFill>
                <a:latin typeface="Arial"/>
              </a:rPr>
              <a:t>IAKA 2026 — Kerangka Presentasi Peserta  ·  DSS SIRINE 4.0 Unit Cetak Pita Cukai</a:t>
            </a:r>
          </a:p>
        </p:txBody>
      </p:sp>
      <p:sp>
        <p:nvSpPr>
          <p:cNvPr id="8" name="Rectangle 7"/>
          <p:cNvSpPr/>
          <p:nvPr/>
        </p:nvSpPr>
        <p:spPr>
          <a:xfrm>
            <a:off x="548640" y="1755648"/>
            <a:ext cx="5394960" cy="329184"/>
          </a:xfrm>
          <a:prstGeom prst="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0" bIns="0" rIns="0"/>
          <a:lstStyle/>
          <a:p>
            <a:pPr algn="ctr"/>
            <a:r>
              <a:rPr sz="1050" b="1">
                <a:solidFill>
                  <a:srgbClr val="FFFFFF"/>
                </a:solidFill>
                <a:latin typeface="Arial"/>
              </a:rPr>
              <a:t>1. CARA KERJA SISTEM: 2 LANGKAH SEDERHANA</a:t>
            </a:r>
          </a:p>
        </p:txBody>
      </p:sp>
      <p:sp>
        <p:nvSpPr>
          <p:cNvPr id="9" name="Rounded Rectangle 8"/>
          <p:cNvSpPr/>
          <p:nvPr/>
        </p:nvSpPr>
        <p:spPr>
          <a:xfrm>
            <a:off x="548640" y="2084831"/>
            <a:ext cx="5394960" cy="3730752"/>
          </a:xfrm>
          <a:prstGeom prst="roundRect">
            <a:avLst/>
          </a:prstGeom>
          <a:solidFill>
            <a:srgbClr val="F4F7FE"/>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8368" y="2157984"/>
            <a:ext cx="5175504" cy="1417320"/>
          </a:xfrm>
          <a:prstGeom prst="roundRect">
            <a:avLst/>
          </a:prstGeom>
          <a:solidFill>
            <a:srgbClr val="FFFFFF"/>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r>
              <a:rPr sz="880" b="1">
                <a:solidFill>
                  <a:srgbClr val="20288F"/>
                </a:solidFill>
                <a:latin typeface="Arial"/>
              </a:rPr>
              <a:t>LANGKAH 1: OPERATOR INPUT CEPAT DI MEJA MESIN (&lt; 30 DETIK)</a:t>
            </a:r>
          </a:p>
          <a:p>
            <a:pPr>
              <a:spcBef>
                <a:spcPts val="300"/>
              </a:spcBef>
            </a:pPr>
            <a:r>
              <a:rPr sz="780" b="1">
                <a:solidFill>
                  <a:srgbClr val="20288F"/>
                </a:solidFill>
                <a:latin typeface="Arial"/>
              </a:rPr>
              <a:t>• Gantikan Buku Folio Fisik: </a:t>
            </a:r>
            <a:r>
              <a:rPr sz="780">
                <a:solidFill>
                  <a:srgbClr val="2A2A3D"/>
                </a:solidFill>
                <a:latin typeface="Arial"/>
              </a:rPr>
              <a:t>Operator langsung mencatat nomor order (PO) di komputer meja mesin (Komori 1–4, Ryobi 1–2) begitu proses cetak selesai.</a:t>
            </a:r>
          </a:p>
          <a:p>
            <a:pPr>
              <a:spcBef>
                <a:spcPts val="200"/>
              </a:spcBef>
            </a:pPr>
            <a:r>
              <a:rPr sz="780" b="1">
                <a:solidFill>
                  <a:srgbClr val="20288F"/>
                </a:solidFill>
                <a:latin typeface="Arial"/>
              </a:rPr>
              <a:t>• Otomatis Terisi (Autofill SAP &amp; Jadwal): </a:t>
            </a:r>
            <a:r>
              <a:rPr sz="780">
                <a:solidFill>
                  <a:srgbClr val="2A2A3D"/>
                </a:solidFill>
                <a:latin typeface="Arial"/>
              </a:rPr>
              <a:t>Data pesanan dari SAP (kode OBC, target cetak, plat) dan nama tim dari jadwal mingguan langsung muncul otomatis. Operator cukup tekan Ctrl+S, nol buang waktu.</a:t>
            </a:r>
          </a:p>
        </p:txBody>
      </p:sp>
      <p:sp>
        <p:nvSpPr>
          <p:cNvPr id="11" name="Rounded Rectangle 10"/>
          <p:cNvSpPr/>
          <p:nvPr/>
        </p:nvSpPr>
        <p:spPr>
          <a:xfrm>
            <a:off x="658368" y="3639312"/>
            <a:ext cx="5175504" cy="1481328"/>
          </a:xfrm>
          <a:prstGeom prst="roundRect">
            <a:avLst/>
          </a:prstGeom>
          <a:solidFill>
            <a:srgbClr val="FFFFFF"/>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r>
              <a:rPr sz="880" b="1">
                <a:solidFill>
                  <a:srgbClr val="6A2CC9"/>
                </a:solidFill>
                <a:latin typeface="Arial"/>
              </a:rPr>
              <a:t>LANGKAH 2: SISTEM MENGOLAH DATA JADI PETUNJUK AKSI</a:t>
            </a:r>
          </a:p>
          <a:p>
            <a:pPr>
              <a:spcBef>
                <a:spcPts val="300"/>
              </a:spcBef>
            </a:pPr>
            <a:r>
              <a:rPr sz="780" b="1">
                <a:solidFill>
                  <a:srgbClr val="6A2CC9"/>
                </a:solidFill>
                <a:latin typeface="Arial"/>
              </a:rPr>
              <a:t>• Sambungkan 3 Sumber Data: </a:t>
            </a:r>
            <a:r>
              <a:rPr sz="780">
                <a:solidFill>
                  <a:srgbClr val="2A2A3D"/>
                </a:solidFill>
                <a:latin typeface="Arial"/>
              </a:rPr>
              <a:t>Data order SAP + catatan meja mesin + data lembar rusak dari Verifikasi disatukan otomatis oleh sistem tanpa perlu ekspor-impor Excel manual.</a:t>
            </a:r>
          </a:p>
          <a:p>
            <a:pPr>
              <a:spcBef>
                <a:spcPts val="200"/>
              </a:spcBef>
            </a:pPr>
            <a:r>
              <a:rPr sz="780" b="1">
                <a:solidFill>
                  <a:srgbClr val="6A2CC9"/>
                </a:solidFill>
                <a:latin typeface="Arial"/>
              </a:rPr>
              <a:t>• Langsung Jadi Petunjuk Lapangan: </a:t>
            </a:r>
            <a:r>
              <a:rPr sz="780">
                <a:solidFill>
                  <a:srgbClr val="2A2A3D"/>
                </a:solidFill>
                <a:latin typeface="Arial"/>
              </a:rPr>
              <a:t>Tersaji dalam 4 layar dasbor visual yang langsung memberi tahu mesin mana yang bermasalah, di shift mana, dan komponen apa yang harus diganti.</a:t>
            </a:r>
          </a:p>
        </p:txBody>
      </p:sp>
      <p:sp>
        <p:nvSpPr>
          <p:cNvPr id="12" name="Rounded Rectangle 11"/>
          <p:cNvSpPr/>
          <p:nvPr/>
        </p:nvSpPr>
        <p:spPr>
          <a:xfrm>
            <a:off x="658368" y="5193792"/>
            <a:ext cx="5175504" cy="548640"/>
          </a:xfrm>
          <a:prstGeom prst="roundRect">
            <a:avLst/>
          </a:prstGeom>
          <a:solidFill>
            <a:srgbClr val="F8F6FE"/>
          </a:solidFill>
          <a:ln w="1270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780" b="1">
                <a:solidFill>
                  <a:srgbClr val="6A2CC9"/>
                </a:solidFill>
                <a:latin typeface="Arial"/>
              </a:rPr>
              <a:t>PELACAKAN TUNTAS SAMPAI KE AKAR (5 DIMENSI): </a:t>
            </a:r>
          </a:p>
          <a:p>
            <a:pPr>
              <a:spcBef>
                <a:spcPts val="100"/>
              </a:spcBef>
            </a:pPr>
            <a:r>
              <a:rPr sz="750" b="1">
                <a:solidFill>
                  <a:srgbClr val="2A2A3D"/>
                </a:solidFill>
                <a:latin typeface="Arial"/>
              </a:rPr>
              <a:t>Nomor Order (PO) ➔ Mesin Cetak ➔ Gilir Kerja (Shift) ➔ Tim Operator ➔ Jenis Cacat</a:t>
            </a:r>
          </a:p>
        </p:txBody>
      </p:sp>
      <p:sp>
        <p:nvSpPr>
          <p:cNvPr id="13" name="Rectangle 12"/>
          <p:cNvSpPr/>
          <p:nvPr/>
        </p:nvSpPr>
        <p:spPr>
          <a:xfrm>
            <a:off x="6199632" y="1755648"/>
            <a:ext cx="5440680" cy="329184"/>
          </a:xfrm>
          <a:prstGeom prst="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0" bIns="0" rIns="0"/>
          <a:lstStyle/>
          <a:p>
            <a:pPr algn="ctr"/>
            <a:r>
              <a:rPr sz="1050" b="1">
                <a:solidFill>
                  <a:srgbClr val="FFFFFF"/>
                </a:solidFill>
                <a:latin typeface="Arial"/>
              </a:rPr>
              <a:t>2. 6 FITUR UTAMA UNTUK OPERATOR, PENGAWAS &amp; TEKNISI</a:t>
            </a:r>
          </a:p>
        </p:txBody>
      </p:sp>
      <p:sp>
        <p:nvSpPr>
          <p:cNvPr id="14" name="Rounded Rectangle 13"/>
          <p:cNvSpPr/>
          <p:nvPr/>
        </p:nvSpPr>
        <p:spPr>
          <a:xfrm>
            <a:off x="6199632" y="2084831"/>
            <a:ext cx="5440680" cy="3730752"/>
          </a:xfrm>
          <a:prstGeom prst="roundRect">
            <a:avLst/>
          </a:prstGeom>
          <a:solidFill>
            <a:srgbClr val="F8F6FE"/>
          </a:solidFill>
          <a:ln w="1270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09360" y="2157984"/>
            <a:ext cx="2542032" cy="1115568"/>
          </a:xfrm>
          <a:prstGeom prst="roundRect">
            <a:avLst/>
          </a:prstGeom>
          <a:solidFill>
            <a:srgbClr val="FFFFFF"/>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36576"/>
          <a:lstStyle/>
          <a:p>
            <a:pPr algn="ctr"/>
            <a:r>
              <a:rPr sz="800" b="1">
                <a:solidFill>
                  <a:srgbClr val="20288F"/>
                </a:solidFill>
                <a:latin typeface="Arial"/>
              </a:rPr>
              <a:t>1. FORM INPUT PO DIGITAL</a:t>
            </a:r>
          </a:p>
          <a:p>
            <a:pPr>
              <a:spcBef>
                <a:spcPts val="200"/>
              </a:spcBef>
            </a:pPr>
            <a:r>
              <a:rPr sz="720">
                <a:solidFill>
                  <a:srgbClr val="2A2A3D"/>
                </a:solidFill>
                <a:latin typeface="Arial"/>
              </a:rPr>
              <a:t>Input nomor PO &lt; 30 detik di meja mesin. Data spesifikasi &amp; tim langsung terisi otomatis dari SAP (hemat waktu 85%).</a:t>
            </a:r>
          </a:p>
        </p:txBody>
      </p:sp>
      <p:sp>
        <p:nvSpPr>
          <p:cNvPr id="16" name="Rounded Rectangle 15"/>
          <p:cNvSpPr/>
          <p:nvPr/>
        </p:nvSpPr>
        <p:spPr>
          <a:xfrm>
            <a:off x="8988552" y="2157984"/>
            <a:ext cx="2542032" cy="1115568"/>
          </a:xfrm>
          <a:prstGeom prst="roundRect">
            <a:avLst/>
          </a:prstGeom>
          <a:solidFill>
            <a:srgbClr val="FFFFFF"/>
          </a:solidFill>
          <a:ln w="1270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36576"/>
          <a:lstStyle/>
          <a:p>
            <a:pPr algn="ctr"/>
            <a:r>
              <a:rPr sz="800" b="1">
                <a:solidFill>
                  <a:srgbClr val="6A2CC9"/>
                </a:solidFill>
                <a:latin typeface="Arial"/>
              </a:rPr>
              <a:t>2. JADWAL &amp; TEMPLATE REGU</a:t>
            </a:r>
          </a:p>
          <a:p>
            <a:pPr>
              <a:spcBef>
                <a:spcPts val="200"/>
              </a:spcBef>
            </a:pPr>
            <a:r>
              <a:rPr sz="720">
                <a:solidFill>
                  <a:srgbClr val="2A2A3D"/>
                </a:solidFill>
                <a:latin typeface="Arial"/>
              </a:rPr>
              <a:t>Atur jadwal mingguan 6 mesin × 3 shift. Otomatis rotasi gilir (Pagi ➔ Malam ➔ Sore) dan menyuplai nama ke Form PO.</a:t>
            </a:r>
          </a:p>
        </p:txBody>
      </p:sp>
      <p:sp>
        <p:nvSpPr>
          <p:cNvPr id="17" name="Rounded Rectangle 16"/>
          <p:cNvSpPr/>
          <p:nvPr/>
        </p:nvSpPr>
        <p:spPr>
          <a:xfrm>
            <a:off x="6309360" y="3346704"/>
            <a:ext cx="2542032" cy="1115568"/>
          </a:xfrm>
          <a:prstGeom prst="roundRect">
            <a:avLst/>
          </a:prstGeom>
          <a:solidFill>
            <a:srgbClr val="FFFFFF"/>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36576"/>
          <a:lstStyle/>
          <a:p>
            <a:pPr algn="ctr"/>
            <a:r>
              <a:rPr sz="800" b="1">
                <a:solidFill>
                  <a:srgbClr val="20288F"/>
                </a:solidFill>
                <a:latin typeface="Arial"/>
              </a:rPr>
              <a:t>3. DASBOR TIAP MESIN</a:t>
            </a:r>
          </a:p>
          <a:p>
            <a:pPr>
              <a:spcBef>
                <a:spcPts val="200"/>
              </a:spcBef>
            </a:pPr>
            <a:r>
              <a:rPr sz="720">
                <a:solidFill>
                  <a:srgbClr val="2A2A3D"/>
                </a:solidFill>
                <a:latin typeface="Arial"/>
              </a:rPr>
              <a:t>Peringkat inschiet 6 mesin cetak dengan warna: Hijau (aman), Kuning (waspada), Merah (rusak tinggi), plus klik detail PO.</a:t>
            </a:r>
          </a:p>
        </p:txBody>
      </p:sp>
      <p:sp>
        <p:nvSpPr>
          <p:cNvPr id="18" name="Rounded Rectangle 17"/>
          <p:cNvSpPr/>
          <p:nvPr/>
        </p:nvSpPr>
        <p:spPr>
          <a:xfrm>
            <a:off x="8988552" y="3346704"/>
            <a:ext cx="2542032" cy="1115568"/>
          </a:xfrm>
          <a:prstGeom prst="roundRect">
            <a:avLst/>
          </a:prstGeom>
          <a:solidFill>
            <a:srgbClr val="FFFFFF"/>
          </a:solidFill>
          <a:ln w="1270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36576"/>
          <a:lstStyle/>
          <a:p>
            <a:pPr algn="ctr"/>
            <a:r>
              <a:rPr sz="800" b="1">
                <a:solidFill>
                  <a:srgbClr val="6A2CC9"/>
                </a:solidFill>
                <a:latin typeface="Arial"/>
              </a:rPr>
              <a:t>4. DASBOR REGU &amp; SHIFT</a:t>
            </a:r>
          </a:p>
          <a:p>
            <a:pPr>
              <a:spcBef>
                <a:spcPts val="200"/>
              </a:spcBef>
            </a:pPr>
            <a:r>
              <a:rPr sz="720">
                <a:solidFill>
                  <a:srgbClr val="2A2A3D"/>
                </a:solidFill>
                <a:latin typeface="Arial"/>
              </a:rPr>
              <a:t>Cek performa tiap regu kerja. Memastikan apakah masalah ada di mesin atau variasi penyetelan operator di shift malam.</a:t>
            </a:r>
          </a:p>
        </p:txBody>
      </p:sp>
      <p:sp>
        <p:nvSpPr>
          <p:cNvPr id="19" name="Rounded Rectangle 18"/>
          <p:cNvSpPr/>
          <p:nvPr/>
        </p:nvSpPr>
        <p:spPr>
          <a:xfrm>
            <a:off x="6309360" y="4535424"/>
            <a:ext cx="2542032" cy="1188720"/>
          </a:xfrm>
          <a:prstGeom prst="roundRect">
            <a:avLst/>
          </a:prstGeom>
          <a:solidFill>
            <a:srgbClr val="FFFFFF"/>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36576"/>
          <a:lstStyle/>
          <a:p>
            <a:pPr algn="ctr"/>
            <a:r>
              <a:rPr sz="800" b="1">
                <a:solidFill>
                  <a:srgbClr val="20288F"/>
                </a:solidFill>
                <a:latin typeface="Arial"/>
              </a:rPr>
              <a:t>5. AUDIT KERUSAKAN MESIN</a:t>
            </a:r>
          </a:p>
          <a:p>
            <a:pPr>
              <a:spcBef>
                <a:spcPts val="200"/>
              </a:spcBef>
            </a:pPr>
            <a:r>
              <a:rPr sz="720">
                <a:solidFill>
                  <a:srgbClr val="2A2A3D"/>
                </a:solidFill>
                <a:latin typeface="Arial"/>
              </a:rPr>
              <a:t>Tampilkan jenis cacat terbanyak di tiap mesin. Teknisi langsung tahu suku cadang rol/blanket yang harus dibawa sebelum servis.</a:t>
            </a:r>
          </a:p>
        </p:txBody>
      </p:sp>
      <p:sp>
        <p:nvSpPr>
          <p:cNvPr id="20" name="Rounded Rectangle 19"/>
          <p:cNvSpPr/>
          <p:nvPr/>
        </p:nvSpPr>
        <p:spPr>
          <a:xfrm>
            <a:off x="8988552" y="4535424"/>
            <a:ext cx="2542032" cy="1188720"/>
          </a:xfrm>
          <a:prstGeom prst="roundRect">
            <a:avLst/>
          </a:prstGeom>
          <a:solidFill>
            <a:srgbClr val="FFFFFF"/>
          </a:solidFill>
          <a:ln w="1270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36576"/>
          <a:lstStyle/>
          <a:p>
            <a:pPr algn="ctr"/>
            <a:r>
              <a:rPr sz="800" b="1">
                <a:solidFill>
                  <a:srgbClr val="6A2CC9"/>
                </a:solidFill>
                <a:latin typeface="Arial"/>
              </a:rPr>
              <a:t>6. LAYAR ANDON LAPANGAN</a:t>
            </a:r>
          </a:p>
          <a:p>
            <a:pPr>
              <a:spcBef>
                <a:spcPts val="200"/>
              </a:spcBef>
            </a:pPr>
            <a:r>
              <a:rPr sz="720">
                <a:solidFill>
                  <a:srgbClr val="2A2A3D"/>
                </a:solidFill>
                <a:latin typeface="Arial"/>
              </a:rPr>
              <a:t>Layar TV di aula cetak (update tiap 60 detik). Tampilkan live mutu mesin &amp; alarm pesanan yang mepet batas waktu kirim.</a:t>
            </a:r>
          </a:p>
        </p:txBody>
      </p:sp>
      <p:sp>
        <p:nvSpPr>
          <p:cNvPr id="21" name="Rounded Rectangle 20"/>
          <p:cNvSpPr/>
          <p:nvPr/>
        </p:nvSpPr>
        <p:spPr>
          <a:xfrm>
            <a:off x="548640" y="5888736"/>
            <a:ext cx="11091672" cy="457200"/>
          </a:xfrm>
          <a:prstGeom prst="roundRect">
            <a:avLst/>
          </a:prstGeom>
          <a:solidFill>
            <a:srgbClr val="F4F7FE"/>
          </a:solidFill>
          <a:ln w="12700">
            <a:solidFill>
              <a:srgbClr val="20288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r>
              <a:rPr sz="850" b="1">
                <a:solidFill>
                  <a:srgbClr val="20288F"/>
                </a:solidFill>
                <a:latin typeface="Arial"/>
              </a:rPr>
              <a:t>• Inti Solusi Lapangan: </a:t>
            </a:r>
            <a:r>
              <a:rPr sz="819">
                <a:solidFill>
                  <a:srgbClr val="2A2A3D"/>
                </a:solidFill>
                <a:latin typeface="Arial"/>
              </a:rPr>
              <a:t>Tidak ada lagi data yang terkunci di komputer kantor atau buku folio. Semua orang di unit cetak melihat data yang sama secara langsung, sehingga perbaikan mesin dan pembinaan operator langsung tepat sasaran.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07899" y="-179222"/>
            <a:ext cx="1448409" cy="814730"/>
          </a:xfrm>
          <a:prstGeom prst="rect">
            <a:avLst/>
          </a:prstGeom>
        </p:spPr>
      </p:pic>
      <p:pic>
        <p:nvPicPr>
          <p:cNvPr id="3" name="Picture 2" descr="image.png"/>
          <p:cNvPicPr>
            <a:picLocks noChangeAspect="1"/>
          </p:cNvPicPr>
          <p:nvPr/>
        </p:nvPicPr>
        <p:blipFill>
          <a:blip r:embed="rId3"/>
          <a:stretch>
            <a:fillRect/>
          </a:stretch>
        </p:blipFill>
        <p:spPr>
          <a:xfrm>
            <a:off x="11055096" y="11887"/>
            <a:ext cx="1140256" cy="634593"/>
          </a:xfrm>
          <a:prstGeom prst="rect">
            <a:avLst/>
          </a:prstGeom>
        </p:spPr>
      </p:pic>
      <p:sp>
        <p:nvSpPr>
          <p:cNvPr id="4" name="Rounded Rectangle 3"/>
          <p:cNvSpPr/>
          <p:nvPr/>
        </p:nvSpPr>
        <p:spPr>
          <a:xfrm>
            <a:off x="548640" y="594360"/>
            <a:ext cx="731520" cy="658368"/>
          </a:xfrm>
          <a:prstGeom prst="round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000" b="1">
                <a:solidFill>
                  <a:srgbClr val="FFFFFF"/>
                </a:solidFill>
                <a:latin typeface="Arial"/>
              </a:rPr>
              <a:t>04.2</a:t>
            </a:r>
          </a:p>
        </p:txBody>
      </p:sp>
      <p:sp>
        <p:nvSpPr>
          <p:cNvPr id="5" name="TextBox 4"/>
          <p:cNvSpPr txBox="1"/>
          <p:nvPr/>
        </p:nvSpPr>
        <p:spPr>
          <a:xfrm>
            <a:off x="1417320" y="548640"/>
            <a:ext cx="9326880" cy="731520"/>
          </a:xfrm>
          <a:prstGeom prst="rect">
            <a:avLst/>
          </a:prstGeom>
          <a:noFill/>
        </p:spPr>
        <p:txBody>
          <a:bodyPr wrap="square" lIns="0" tIns="0" rIns="0" bIns="0">
            <a:spAutoFit/>
          </a:bodyPr>
          <a:lstStyle/>
          <a:p>
            <a:r>
              <a:rPr sz="2400" b="1">
                <a:solidFill>
                  <a:srgbClr val="20288F"/>
                </a:solidFill>
                <a:latin typeface="Arial"/>
              </a:rPr>
              <a:t>Solusi: Keunggulan Sistem &amp; Perbandingan Kemampuan</a:t>
            </a:r>
          </a:p>
        </p:txBody>
      </p:sp>
      <p:sp>
        <p:nvSpPr>
          <p:cNvPr id="6" name="TextBox 5"/>
          <p:cNvSpPr txBox="1"/>
          <p:nvPr/>
        </p:nvSpPr>
        <p:spPr>
          <a:xfrm>
            <a:off x="548640" y="1353312"/>
            <a:ext cx="10789920" cy="347472"/>
          </a:xfrm>
          <a:prstGeom prst="rect">
            <a:avLst/>
          </a:prstGeom>
          <a:noFill/>
        </p:spPr>
        <p:txBody>
          <a:bodyPr wrap="square" lIns="0" tIns="0" rIns="0" bIns="0">
            <a:spAutoFit/>
          </a:bodyPr>
          <a:lstStyle/>
          <a:p>
            <a:r>
              <a:rPr sz="1150" b="1">
                <a:solidFill>
                  <a:srgbClr val="6A2CC9"/>
                </a:solidFill>
                <a:latin typeface="Arial"/>
              </a:rPr>
              <a:t>Tujuan bagian ini:  </a:t>
            </a:r>
            <a:r>
              <a:rPr sz="1150">
                <a:solidFill>
                  <a:srgbClr val="2A2A3D"/>
                </a:solidFill>
                <a:latin typeface="Arial"/>
              </a:rPr>
              <a:t>Tunjukkan kebaruan sistem dan buktikan perbedaannya dibanding cara lama serta cara kerja di unit lain.</a:t>
            </a:r>
          </a:p>
        </p:txBody>
      </p:sp>
      <p:sp>
        <p:nvSpPr>
          <p:cNvPr id="7" name="TextBox 6"/>
          <p:cNvSpPr txBox="1"/>
          <p:nvPr/>
        </p:nvSpPr>
        <p:spPr>
          <a:xfrm>
            <a:off x="548640" y="6419088"/>
            <a:ext cx="11091672" cy="219456"/>
          </a:xfrm>
          <a:prstGeom prst="rect">
            <a:avLst/>
          </a:prstGeom>
          <a:noFill/>
        </p:spPr>
        <p:txBody>
          <a:bodyPr wrap="square" lIns="0" tIns="0" rIns="0" bIns="0">
            <a:spAutoFit/>
          </a:bodyPr>
          <a:lstStyle/>
          <a:p>
            <a:r>
              <a:rPr sz="850">
                <a:solidFill>
                  <a:srgbClr val="6E6E82"/>
                </a:solidFill>
                <a:latin typeface="Arial"/>
              </a:rPr>
              <a:t>IAKA 2026 — Kerangka Presentasi Peserta  ·  DSS SIRINE 4.0 Unit Cetak Pita Cukai</a:t>
            </a:r>
          </a:p>
        </p:txBody>
      </p:sp>
      <p:sp>
        <p:nvSpPr>
          <p:cNvPr id="8" name="Rounded Rectangle 7"/>
          <p:cNvSpPr/>
          <p:nvPr/>
        </p:nvSpPr>
        <p:spPr>
          <a:xfrm>
            <a:off x="548640" y="1737360"/>
            <a:ext cx="2615184" cy="987552"/>
          </a:xfrm>
          <a:prstGeom prst="roundRect">
            <a:avLst/>
          </a:prstGeom>
          <a:solidFill>
            <a:srgbClr val="F8F6FE"/>
          </a:solidFill>
          <a:ln w="1905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54864"/>
          <a:lstStyle/>
          <a:p>
            <a:pPr algn="ctr"/>
            <a:r>
              <a:rPr sz="850" b="1">
                <a:solidFill>
                  <a:srgbClr val="6A2CC9"/>
                </a:solidFill>
                <a:latin typeface="Arial"/>
              </a:rPr>
              <a:t>PELACAKAN LENGKAP</a:t>
            </a:r>
          </a:p>
          <a:p>
            <a:pPr>
              <a:spcBef>
                <a:spcPts val="200"/>
              </a:spcBef>
            </a:pPr>
            <a:r>
              <a:rPr sz="1550" b="1">
                <a:solidFill>
                  <a:srgbClr val="6A2CC9"/>
                </a:solidFill>
                <a:latin typeface="Arial"/>
              </a:rPr>
              <a:t>5 Dimensi</a:t>
            </a:r>
          </a:p>
          <a:p>
            <a:pPr>
              <a:spcBef>
                <a:spcPts val="100"/>
              </a:spcBef>
            </a:pPr>
            <a:r>
              <a:rPr sz="750">
                <a:solidFill>
                  <a:srgbClr val="2A2A3D"/>
                </a:solidFill>
                <a:latin typeface="Arial"/>
              </a:rPr>
              <a:t>PO ➔ Mesin ➔ Shift ➔ Tim ➔ Cacat</a:t>
            </a:r>
          </a:p>
        </p:txBody>
      </p:sp>
      <p:sp>
        <p:nvSpPr>
          <p:cNvPr id="9" name="Rectangle 8"/>
          <p:cNvSpPr/>
          <p:nvPr/>
        </p:nvSpPr>
        <p:spPr>
          <a:xfrm>
            <a:off x="548640" y="1737360"/>
            <a:ext cx="2615184" cy="54864"/>
          </a:xfrm>
          <a:prstGeom prst="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74136" y="1737360"/>
            <a:ext cx="2615184" cy="987552"/>
          </a:xfrm>
          <a:prstGeom prst="roundRect">
            <a:avLst/>
          </a:prstGeom>
          <a:solidFill>
            <a:srgbClr val="F4F7FE"/>
          </a:solidFill>
          <a:ln w="1905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54864"/>
          <a:lstStyle/>
          <a:p>
            <a:pPr algn="ctr"/>
            <a:r>
              <a:rPr sz="850" b="1">
                <a:solidFill>
                  <a:srgbClr val="20288F"/>
                </a:solidFill>
                <a:latin typeface="Arial"/>
              </a:rPr>
              <a:t>ALIRAN DATA OTOMATIS</a:t>
            </a:r>
          </a:p>
          <a:p>
            <a:pPr>
              <a:spcBef>
                <a:spcPts val="200"/>
              </a:spcBef>
            </a:pPr>
            <a:r>
              <a:rPr sz="1550" b="1">
                <a:solidFill>
                  <a:srgbClr val="20288F"/>
                </a:solidFill>
                <a:latin typeface="Arial"/>
              </a:rPr>
              <a:t>100% Terhubung</a:t>
            </a:r>
          </a:p>
          <a:p>
            <a:pPr>
              <a:spcBef>
                <a:spcPts val="100"/>
              </a:spcBef>
            </a:pPr>
            <a:r>
              <a:rPr sz="750">
                <a:solidFill>
                  <a:srgbClr val="2A2A3D"/>
                </a:solidFill>
                <a:latin typeface="Arial"/>
              </a:rPr>
              <a:t>SAP + Meja Mesin + QC Verifikasi</a:t>
            </a:r>
          </a:p>
        </p:txBody>
      </p:sp>
      <p:sp>
        <p:nvSpPr>
          <p:cNvPr id="11" name="Rectangle 10"/>
          <p:cNvSpPr/>
          <p:nvPr/>
        </p:nvSpPr>
        <p:spPr>
          <a:xfrm>
            <a:off x="3374136" y="1737360"/>
            <a:ext cx="2615184" cy="54864"/>
          </a:xfrm>
          <a:prstGeom prst="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99632" y="1737360"/>
            <a:ext cx="2615184" cy="987552"/>
          </a:xfrm>
          <a:prstGeom prst="roundRect">
            <a:avLst/>
          </a:prstGeom>
          <a:solidFill>
            <a:srgbClr val="E8F5E9"/>
          </a:solidFill>
          <a:ln w="1905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54864"/>
          <a:lstStyle/>
          <a:p>
            <a:pPr algn="ctr"/>
            <a:r>
              <a:rPr sz="850" b="1">
                <a:solidFill>
                  <a:srgbClr val="2E7D32"/>
                </a:solidFill>
                <a:latin typeface="Arial"/>
              </a:rPr>
              <a:t>WAKTU INPUT OPERATOR</a:t>
            </a:r>
          </a:p>
          <a:p>
            <a:pPr>
              <a:spcBef>
                <a:spcPts val="200"/>
              </a:spcBef>
            </a:pPr>
            <a:r>
              <a:rPr sz="1550" b="1">
                <a:solidFill>
                  <a:srgbClr val="2E7D32"/>
                </a:solidFill>
                <a:latin typeface="Arial"/>
              </a:rPr>
              <a:t>&lt; 30 Detik</a:t>
            </a:r>
          </a:p>
          <a:p>
            <a:pPr>
              <a:spcBef>
                <a:spcPts val="100"/>
              </a:spcBef>
            </a:pPr>
            <a:r>
              <a:rPr sz="750">
                <a:solidFill>
                  <a:srgbClr val="2A2A3D"/>
                </a:solidFill>
                <a:latin typeface="Arial"/>
              </a:rPr>
              <a:t>Autofill SAP, hemat waktu ≥ 85%</a:t>
            </a:r>
          </a:p>
        </p:txBody>
      </p:sp>
      <p:sp>
        <p:nvSpPr>
          <p:cNvPr id="13" name="Rectangle 12"/>
          <p:cNvSpPr/>
          <p:nvPr/>
        </p:nvSpPr>
        <p:spPr>
          <a:xfrm>
            <a:off x="6199632" y="1737360"/>
            <a:ext cx="2615184" cy="54864"/>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025128" y="1737360"/>
            <a:ext cx="2615184" cy="987552"/>
          </a:xfrm>
          <a:prstGeom prst="roundRect">
            <a:avLst/>
          </a:prstGeom>
          <a:solidFill>
            <a:srgbClr val="F4F7FE"/>
          </a:solidFill>
          <a:ln w="1905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54864"/>
          <a:lstStyle/>
          <a:p>
            <a:pPr algn="ctr"/>
            <a:r>
              <a:rPr sz="850" b="1">
                <a:solidFill>
                  <a:srgbClr val="20288F"/>
                </a:solidFill>
                <a:latin typeface="Arial"/>
              </a:rPr>
              <a:t>BIAYA LISENSI SOFTWARE</a:t>
            </a:r>
          </a:p>
          <a:p>
            <a:pPr>
              <a:spcBef>
                <a:spcPts val="200"/>
              </a:spcBef>
            </a:pPr>
            <a:r>
              <a:rPr sz="1550" b="1">
                <a:solidFill>
                  <a:srgbClr val="20288F"/>
                </a:solidFill>
                <a:latin typeface="Arial"/>
              </a:rPr>
              <a:t>Rp 0 (Buatan Sendiri)</a:t>
            </a:r>
          </a:p>
          <a:p>
            <a:pPr>
              <a:spcBef>
                <a:spcPts val="100"/>
              </a:spcBef>
            </a:pPr>
            <a:r>
              <a:rPr sz="750">
                <a:solidFill>
                  <a:srgbClr val="2A2A3D"/>
                </a:solidFill>
                <a:latin typeface="Arial"/>
              </a:rPr>
              <a:t>100% Tim Peruri, Tanpa Beli Vendor</a:t>
            </a:r>
          </a:p>
        </p:txBody>
      </p:sp>
      <p:sp>
        <p:nvSpPr>
          <p:cNvPr id="15" name="Rectangle 14"/>
          <p:cNvSpPr/>
          <p:nvPr/>
        </p:nvSpPr>
        <p:spPr>
          <a:xfrm>
            <a:off x="9025128" y="1737360"/>
            <a:ext cx="2615184" cy="54864"/>
          </a:xfrm>
          <a:prstGeom prst="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816352"/>
            <a:ext cx="6309360" cy="310896"/>
          </a:xfrm>
          <a:prstGeom prst="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0" bIns="0" rIns="0"/>
          <a:lstStyle/>
          <a:p>
            <a:pPr algn="ctr"/>
            <a:r>
              <a:rPr sz="1000" b="1">
                <a:solidFill>
                  <a:srgbClr val="FFFFFF"/>
                </a:solidFill>
                <a:latin typeface="Arial"/>
              </a:rPr>
              <a:t>1. PERBANDINGAN: CARA LAMA VS SIRINE 3.5 VS DSS SIRINE 4.0</a:t>
            </a:r>
          </a:p>
        </p:txBody>
      </p:sp>
      <p:sp>
        <p:nvSpPr>
          <p:cNvPr id="17" name="Rounded Rectangle 16"/>
          <p:cNvSpPr/>
          <p:nvPr/>
        </p:nvSpPr>
        <p:spPr>
          <a:xfrm>
            <a:off x="548640" y="3127248"/>
            <a:ext cx="6309360" cy="2761488"/>
          </a:xfrm>
          <a:prstGeom prst="roundRect">
            <a:avLst/>
          </a:prstGeom>
          <a:solidFill>
            <a:srgbClr val="F4F7FE"/>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621792" y="3182112"/>
          <a:ext cx="6163056" cy="2651760"/>
        </p:xfrm>
        <a:graphic>
          <a:graphicData uri="http://schemas.openxmlformats.org/drawingml/2006/table">
            <a:tbl>
              <a:tblPr firstRow="1" bandRow="1">
                <a:tableStyleId>{5C22544A-7EE6-4342-B048-85BDC9FD1C3A}</a:tableStyleId>
              </a:tblPr>
              <a:tblGrid>
                <a:gridCol w="2148840"/>
                <a:gridCol w="1188720"/>
                <a:gridCol w="1234440"/>
                <a:gridCol w="1591056"/>
              </a:tblGrid>
              <a:tr h="331470">
                <a:tc>
                  <a:txBody>
                    <a:bodyPr/>
                    <a:lstStyle/>
                    <a:p>
                      <a:r>
                        <a:rPr sz="750" b="1">
                          <a:solidFill>
                            <a:srgbClr val="FFFFFF"/>
                          </a:solidFill>
                          <a:latin typeface="Arial"/>
                        </a:rPr>
                        <a:t>Kemampuan Sistem</a:t>
                      </a:r>
                    </a:p>
                  </a:txBody>
                  <a:tcPr marL="27432" marR="27432" marT="27432" marB="27432">
                    <a:solidFill>
                      <a:srgbClr val="20288F"/>
                    </a:solidFill>
                  </a:tcPr>
                </a:tc>
                <a:tc>
                  <a:txBody>
                    <a:bodyPr/>
                    <a:lstStyle/>
                    <a:p>
                      <a:r>
                        <a:rPr sz="750" b="1">
                          <a:solidFill>
                            <a:srgbClr val="FFFFFF"/>
                          </a:solidFill>
                          <a:latin typeface="Arial"/>
                        </a:rPr>
                        <a:t>Sebelum 2024 (Cara Lama)</a:t>
                      </a:r>
                    </a:p>
                  </a:txBody>
                  <a:tcPr marL="27432" marR="27432" marT="27432" marB="27432">
                    <a:solidFill>
                      <a:srgbClr val="20288F"/>
                    </a:solidFill>
                  </a:tcPr>
                </a:tc>
                <a:tc>
                  <a:txBody>
                    <a:bodyPr/>
                    <a:lstStyle/>
                    <a:p>
                      <a:r>
                        <a:rPr sz="750" b="1">
                          <a:solidFill>
                            <a:srgbClr val="FFFFFF"/>
                          </a:solidFill>
                          <a:latin typeface="Arial"/>
                        </a:rPr>
                        <a:t>SIRINE 3.5 (2024)</a:t>
                      </a:r>
                    </a:p>
                  </a:txBody>
                  <a:tcPr marL="27432" marR="27432" marT="27432" marB="27432">
                    <a:solidFill>
                      <a:srgbClr val="20288F"/>
                    </a:solidFill>
                  </a:tcPr>
                </a:tc>
                <a:tc>
                  <a:txBody>
                    <a:bodyPr/>
                    <a:lstStyle/>
                    <a:p>
                      <a:r>
                        <a:rPr sz="750" b="1">
                          <a:solidFill>
                            <a:srgbClr val="FFFFFF"/>
                          </a:solidFill>
                          <a:latin typeface="Arial"/>
                        </a:rPr>
                        <a:t>DSS SIRINE 4.0 (2026)</a:t>
                      </a:r>
                    </a:p>
                  </a:txBody>
                  <a:tcPr marL="27432" marR="27432" marT="27432" marB="27432">
                    <a:solidFill>
                      <a:srgbClr val="6A2CC9"/>
                    </a:solidFill>
                  </a:tcPr>
                </a:tc>
              </a:tr>
              <a:tr h="331470">
                <a:tc>
                  <a:txBody>
                    <a:bodyPr/>
                    <a:lstStyle/>
                    <a:p>
                      <a:r>
                        <a:rPr sz="700" b="1">
                          <a:solidFill>
                            <a:srgbClr val="2A2A3D"/>
                          </a:solidFill>
                          <a:latin typeface="Arial"/>
                        </a:rPr>
                        <a:t>1. Tahu jenis cacat dominan</a:t>
                      </a:r>
                    </a:p>
                  </a:txBody>
                  <a:tcPr marL="18288" marR="18288" marT="18288" marB="18288">
                    <a:solidFill>
                      <a:srgbClr val="FFFFFF"/>
                    </a:solidFill>
                  </a:tcPr>
                </a:tc>
                <a:tc>
                  <a:txBody>
                    <a:bodyPr/>
                    <a:lstStyle/>
                    <a:p>
                      <a:r>
                        <a:rPr sz="700">
                          <a:solidFill>
                            <a:srgbClr val="2A2A3D"/>
                          </a:solidFill>
                          <a:latin typeface="Arial"/>
                        </a:rPr>
                        <a:t>Manual / Perkiraan</a:t>
                      </a:r>
                    </a:p>
                  </a:txBody>
                  <a:tcPr marL="18288" marR="18288" marT="18288" marB="18288">
                    <a:solidFill>
                      <a:srgbClr val="FFFFFF"/>
                    </a:solidFill>
                  </a:tcPr>
                </a:tc>
                <a:tc>
                  <a:txBody>
                    <a:bodyPr/>
                    <a:lstStyle/>
                    <a:p>
                      <a:r>
                        <a:rPr sz="700">
                          <a:solidFill>
                            <a:srgbClr val="2A2A3D"/>
                          </a:solidFill>
                          <a:latin typeface="Arial"/>
                        </a:rPr>
                        <a:t>✅ Total cacat se-unit</a:t>
                      </a:r>
                    </a:p>
                  </a:txBody>
                  <a:tcPr marL="18288" marR="18288" marT="18288" marB="18288">
                    <a:solidFill>
                      <a:srgbClr val="FFFFFF"/>
                    </a:solidFill>
                  </a:tcPr>
                </a:tc>
                <a:tc>
                  <a:txBody>
                    <a:bodyPr/>
                    <a:lstStyle/>
                    <a:p>
                      <a:r>
                        <a:rPr sz="700" b="1">
                          <a:solidFill>
                            <a:srgbClr val="2E7D32"/>
                          </a:solidFill>
                          <a:latin typeface="Arial"/>
                        </a:rPr>
                        <a:t>✅ Rinci per mesin &amp; per PO</a:t>
                      </a:r>
                    </a:p>
                  </a:txBody>
                  <a:tcPr marL="18288" marR="18288" marT="18288" marB="18288">
                    <a:solidFill>
                      <a:srgbClr val="FFFFFF"/>
                    </a:solidFill>
                  </a:tcPr>
                </a:tc>
              </a:tr>
              <a:tr h="331470">
                <a:tc>
                  <a:txBody>
                    <a:bodyPr/>
                    <a:lstStyle/>
                    <a:p>
                      <a:r>
                        <a:rPr sz="700" b="1">
                          <a:solidFill>
                            <a:srgbClr val="2A2A3D"/>
                          </a:solidFill>
                          <a:latin typeface="Arial"/>
                        </a:rPr>
                        <a:t>2. Tahu mesin paling banyak rusak</a:t>
                      </a:r>
                    </a:p>
                  </a:txBody>
                  <a:tcPr marL="18288" marR="18288" marT="18288" marB="18288">
                    <a:solidFill>
                      <a:srgbClr val="F8F6FE"/>
                    </a:solidFill>
                  </a:tcPr>
                </a:tc>
                <a:tc>
                  <a:txBody>
                    <a:bodyPr/>
                    <a:lstStyle/>
                    <a:p>
                      <a:r>
                        <a:rPr sz="700">
                          <a:solidFill>
                            <a:srgbClr val="C62828"/>
                          </a:solidFill>
                          <a:latin typeface="Arial"/>
                        </a:rPr>
                        <a:t>❌ Tidak tahu</a:t>
                      </a:r>
                    </a:p>
                  </a:txBody>
                  <a:tcPr marL="18288" marR="18288" marT="18288" marB="18288">
                    <a:solidFill>
                      <a:srgbClr val="F8F6FE"/>
                    </a:solidFill>
                  </a:tcPr>
                </a:tc>
                <a:tc>
                  <a:txBody>
                    <a:bodyPr/>
                    <a:lstStyle/>
                    <a:p>
                      <a:r>
                        <a:rPr sz="700">
                          <a:solidFill>
                            <a:srgbClr val="C62828"/>
                          </a:solidFill>
                          <a:latin typeface="Arial"/>
                        </a:rPr>
                        <a:t>❌ Tidak tersedia</a:t>
                      </a:r>
                    </a:p>
                  </a:txBody>
                  <a:tcPr marL="18288" marR="18288" marT="18288" marB="18288">
                    <a:solidFill>
                      <a:srgbClr val="F8F6FE"/>
                    </a:solidFill>
                  </a:tcPr>
                </a:tc>
                <a:tc>
                  <a:txBody>
                    <a:bodyPr/>
                    <a:lstStyle/>
                    <a:p>
                      <a:r>
                        <a:rPr sz="700" b="1">
                          <a:solidFill>
                            <a:srgbClr val="2E7D32"/>
                          </a:solidFill>
                          <a:latin typeface="Arial"/>
                        </a:rPr>
                        <a:t>✅ Langsung terpantau di dasbor</a:t>
                      </a:r>
                    </a:p>
                  </a:txBody>
                  <a:tcPr marL="18288" marR="18288" marT="18288" marB="18288">
                    <a:solidFill>
                      <a:srgbClr val="F8F6FE"/>
                    </a:solidFill>
                  </a:tcPr>
                </a:tc>
              </a:tr>
              <a:tr h="331470">
                <a:tc>
                  <a:txBody>
                    <a:bodyPr/>
                    <a:lstStyle/>
                    <a:p>
                      <a:r>
                        <a:rPr sz="700" b="1">
                          <a:solidFill>
                            <a:srgbClr val="2A2A3D"/>
                          </a:solidFill>
                          <a:latin typeface="Arial"/>
                        </a:rPr>
                        <a:t>3. Tahu bagian mesin yang rusak</a:t>
                      </a:r>
                    </a:p>
                  </a:txBody>
                  <a:tcPr marL="18288" marR="18288" marT="18288" marB="18288">
                    <a:solidFill>
                      <a:srgbClr val="FFFFFF"/>
                    </a:solidFill>
                  </a:tcPr>
                </a:tc>
                <a:tc>
                  <a:txBody>
                    <a:bodyPr/>
                    <a:lstStyle/>
                    <a:p>
                      <a:r>
                        <a:rPr sz="700">
                          <a:solidFill>
                            <a:srgbClr val="C62828"/>
                          </a:solidFill>
                          <a:latin typeface="Arial"/>
                        </a:rPr>
                        <a:t>❌ Meraba-raba</a:t>
                      </a:r>
                    </a:p>
                  </a:txBody>
                  <a:tcPr marL="18288" marR="18288" marT="18288" marB="18288">
                    <a:solidFill>
                      <a:srgbClr val="FFFFFF"/>
                    </a:solidFill>
                  </a:tcPr>
                </a:tc>
                <a:tc>
                  <a:txBody>
                    <a:bodyPr/>
                    <a:lstStyle/>
                    <a:p>
                      <a:r>
                        <a:rPr sz="700">
                          <a:solidFill>
                            <a:srgbClr val="C62828"/>
                          </a:solidFill>
                          <a:latin typeface="Arial"/>
                        </a:rPr>
                        <a:t>❌ Tidak tersedia</a:t>
                      </a:r>
                    </a:p>
                  </a:txBody>
                  <a:tcPr marL="18288" marR="18288" marT="18288" marB="18288">
                    <a:solidFill>
                      <a:srgbClr val="FFFFFF"/>
                    </a:solidFill>
                  </a:tcPr>
                </a:tc>
                <a:tc>
                  <a:txBody>
                    <a:bodyPr/>
                    <a:lstStyle/>
                    <a:p>
                      <a:r>
                        <a:rPr sz="700" b="1">
                          <a:solidFill>
                            <a:srgbClr val="2E7D32"/>
                          </a:solidFill>
                          <a:latin typeface="Arial"/>
                        </a:rPr>
                        <a:t>✅ Daftar cacat per komponen</a:t>
                      </a:r>
                    </a:p>
                  </a:txBody>
                  <a:tcPr marL="18288" marR="18288" marT="18288" marB="18288">
                    <a:solidFill>
                      <a:srgbClr val="FFFFFF"/>
                    </a:solidFill>
                  </a:tcPr>
                </a:tc>
              </a:tr>
              <a:tr h="331470">
                <a:tc>
                  <a:txBody>
                    <a:bodyPr/>
                    <a:lstStyle/>
                    <a:p>
                      <a:r>
                        <a:rPr sz="700" b="1">
                          <a:solidFill>
                            <a:srgbClr val="2A2A3D"/>
                          </a:solidFill>
                          <a:latin typeface="Arial"/>
                        </a:rPr>
                        <a:t>4. Bedakan masalah mesin vs shift</a:t>
                      </a:r>
                    </a:p>
                  </a:txBody>
                  <a:tcPr marL="18288" marR="18288" marT="18288" marB="18288">
                    <a:solidFill>
                      <a:srgbClr val="F8F6FE"/>
                    </a:solidFill>
                  </a:tcPr>
                </a:tc>
                <a:tc>
                  <a:txBody>
                    <a:bodyPr/>
                    <a:lstStyle/>
                    <a:p>
                      <a:r>
                        <a:rPr sz="700">
                          <a:solidFill>
                            <a:srgbClr val="C62828"/>
                          </a:solidFill>
                          <a:latin typeface="Arial"/>
                        </a:rPr>
                        <a:t>❌ Saling menduga</a:t>
                      </a:r>
                    </a:p>
                  </a:txBody>
                  <a:tcPr marL="18288" marR="18288" marT="18288" marB="18288">
                    <a:solidFill>
                      <a:srgbClr val="F8F6FE"/>
                    </a:solidFill>
                  </a:tcPr>
                </a:tc>
                <a:tc>
                  <a:txBody>
                    <a:bodyPr/>
                    <a:lstStyle/>
                    <a:p>
                      <a:r>
                        <a:rPr sz="700">
                          <a:solidFill>
                            <a:srgbClr val="C62828"/>
                          </a:solidFill>
                          <a:latin typeface="Arial"/>
                        </a:rPr>
                        <a:t>❌ Tidak tersedia</a:t>
                      </a:r>
                    </a:p>
                  </a:txBody>
                  <a:tcPr marL="18288" marR="18288" marT="18288" marB="18288">
                    <a:solidFill>
                      <a:srgbClr val="F8F6FE"/>
                    </a:solidFill>
                  </a:tcPr>
                </a:tc>
                <a:tc>
                  <a:txBody>
                    <a:bodyPr/>
                    <a:lstStyle/>
                    <a:p>
                      <a:r>
                        <a:rPr sz="700" b="1">
                          <a:solidFill>
                            <a:srgbClr val="2E7D32"/>
                          </a:solidFill>
                          <a:latin typeface="Arial"/>
                        </a:rPr>
                        <a:t>✅ Terpisah jelas berbasis data</a:t>
                      </a:r>
                    </a:p>
                  </a:txBody>
                  <a:tcPr marL="18288" marR="18288" marT="18288" marB="18288">
                    <a:solidFill>
                      <a:srgbClr val="F8F6FE"/>
                    </a:solidFill>
                  </a:tcPr>
                </a:tc>
              </a:tr>
              <a:tr h="331470">
                <a:tc>
                  <a:txBody>
                    <a:bodyPr/>
                    <a:lstStyle/>
                    <a:p>
                      <a:r>
                        <a:rPr sz="700" b="1">
                          <a:solidFill>
                            <a:srgbClr val="2A2A3D"/>
                          </a:solidFill>
                          <a:latin typeface="Arial"/>
                        </a:rPr>
                        <a:t>5. Waktu catat order di mesin</a:t>
                      </a:r>
                    </a:p>
                  </a:txBody>
                  <a:tcPr marL="18288" marR="18288" marT="18288" marB="18288">
                    <a:solidFill>
                      <a:srgbClr val="FFFFFF"/>
                    </a:solidFill>
                  </a:tcPr>
                </a:tc>
                <a:tc>
                  <a:txBody>
                    <a:bodyPr/>
                    <a:lstStyle/>
                    <a:p>
                      <a:r>
                        <a:rPr sz="700">
                          <a:solidFill>
                            <a:srgbClr val="2A2A3D"/>
                          </a:solidFill>
                          <a:latin typeface="Arial"/>
                        </a:rPr>
                        <a:t>3–5 menit (tulis tangan)</a:t>
                      </a:r>
                    </a:p>
                  </a:txBody>
                  <a:tcPr marL="18288" marR="18288" marT="18288" marB="18288">
                    <a:solidFill>
                      <a:srgbClr val="FFFFFF"/>
                    </a:solidFill>
                  </a:tcPr>
                </a:tc>
                <a:tc>
                  <a:txBody>
                    <a:bodyPr/>
                    <a:lstStyle/>
                    <a:p>
                      <a:r>
                        <a:rPr sz="700">
                          <a:solidFill>
                            <a:srgbClr val="2A2A3D"/>
                          </a:solidFill>
                          <a:latin typeface="Arial"/>
                        </a:rPr>
                        <a:t>3–5 menit</a:t>
                      </a:r>
                    </a:p>
                  </a:txBody>
                  <a:tcPr marL="18288" marR="18288" marT="18288" marB="18288">
                    <a:solidFill>
                      <a:srgbClr val="FFFFFF"/>
                    </a:solidFill>
                  </a:tcPr>
                </a:tc>
                <a:tc>
                  <a:txBody>
                    <a:bodyPr/>
                    <a:lstStyle/>
                    <a:p>
                      <a:r>
                        <a:rPr sz="700" b="1">
                          <a:solidFill>
                            <a:srgbClr val="2E7D32"/>
                          </a:solidFill>
                          <a:latin typeface="Arial"/>
                        </a:rPr>
                        <a:t>✅ &lt; 30 detik (otomatis dari SAP)</a:t>
                      </a:r>
                    </a:p>
                  </a:txBody>
                  <a:tcPr marL="18288" marR="18288" marT="18288" marB="18288">
                    <a:solidFill>
                      <a:srgbClr val="FFFFFF"/>
                    </a:solidFill>
                  </a:tcPr>
                </a:tc>
              </a:tr>
              <a:tr h="331470">
                <a:tc>
                  <a:txBody>
                    <a:bodyPr/>
                    <a:lstStyle/>
                    <a:p>
                      <a:r>
                        <a:rPr sz="700" b="1">
                          <a:solidFill>
                            <a:srgbClr val="2A2A3D"/>
                          </a:solidFill>
                          <a:latin typeface="Arial"/>
                        </a:rPr>
                        <a:t>6. Waktu rekap untuk evaluasi</a:t>
                      </a:r>
                    </a:p>
                  </a:txBody>
                  <a:tcPr marL="18288" marR="18288" marT="18288" marB="18288">
                    <a:solidFill>
                      <a:srgbClr val="F8F6FE"/>
                    </a:solidFill>
                  </a:tcPr>
                </a:tc>
                <a:tc>
                  <a:txBody>
                    <a:bodyPr/>
                    <a:lstStyle/>
                    <a:p>
                      <a:r>
                        <a:rPr sz="700">
                          <a:solidFill>
                            <a:srgbClr val="2A2A3D"/>
                          </a:solidFill>
                          <a:latin typeface="Arial"/>
                        </a:rPr>
                        <a:t>± 45 menit / hari</a:t>
                      </a:r>
                    </a:p>
                  </a:txBody>
                  <a:tcPr marL="18288" marR="18288" marT="18288" marB="18288">
                    <a:solidFill>
                      <a:srgbClr val="F8F6FE"/>
                    </a:solidFill>
                  </a:tcPr>
                </a:tc>
                <a:tc>
                  <a:txBody>
                    <a:bodyPr/>
                    <a:lstStyle/>
                    <a:p>
                      <a:r>
                        <a:rPr sz="700">
                          <a:solidFill>
                            <a:srgbClr val="2A2A3D"/>
                          </a:solidFill>
                          <a:latin typeface="Arial"/>
                        </a:rPr>
                        <a:t>± 45 menit / hari</a:t>
                      </a:r>
                    </a:p>
                  </a:txBody>
                  <a:tcPr marL="18288" marR="18288" marT="18288" marB="18288">
                    <a:solidFill>
                      <a:srgbClr val="F8F6FE"/>
                    </a:solidFill>
                  </a:tcPr>
                </a:tc>
                <a:tc>
                  <a:txBody>
                    <a:bodyPr/>
                    <a:lstStyle/>
                    <a:p>
                      <a:r>
                        <a:rPr sz="700" b="1">
                          <a:solidFill>
                            <a:srgbClr val="2E7D32"/>
                          </a:solidFill>
                          <a:latin typeface="Arial"/>
                        </a:rPr>
                        <a:t>✅ 0 menit (otomatis seketika)</a:t>
                      </a:r>
                    </a:p>
                  </a:txBody>
                  <a:tcPr marL="18288" marR="18288" marT="18288" marB="18288">
                    <a:solidFill>
                      <a:srgbClr val="F8F6FE"/>
                    </a:solidFill>
                  </a:tcPr>
                </a:tc>
              </a:tr>
              <a:tr h="331470">
                <a:tc>
                  <a:txBody>
                    <a:bodyPr/>
                    <a:lstStyle/>
                    <a:p>
                      <a:r>
                        <a:rPr sz="700" b="1">
                          <a:solidFill>
                            <a:srgbClr val="2A2A3D"/>
                          </a:solidFill>
                          <a:latin typeface="Arial"/>
                        </a:rPr>
                        <a:t>7. Waktu henti mesin untuk servis</a:t>
                      </a:r>
                    </a:p>
                  </a:txBody>
                  <a:tcPr marL="18288" marR="18288" marT="18288" marB="18288">
                    <a:solidFill>
                      <a:srgbClr val="FFFFFF"/>
                    </a:solidFill>
                  </a:tcPr>
                </a:tc>
                <a:tc>
                  <a:txBody>
                    <a:bodyPr/>
                    <a:lstStyle/>
                    <a:p>
                      <a:r>
                        <a:rPr sz="700">
                          <a:solidFill>
                            <a:srgbClr val="2A2A3D"/>
                          </a:solidFill>
                          <a:latin typeface="Arial"/>
                        </a:rPr>
                        <a:t>&gt; 8 jam (cek bergilir)</a:t>
                      </a:r>
                    </a:p>
                  </a:txBody>
                  <a:tcPr marL="18288" marR="18288" marT="18288" marB="18288">
                    <a:solidFill>
                      <a:srgbClr val="FFFFFF"/>
                    </a:solidFill>
                  </a:tcPr>
                </a:tc>
                <a:tc>
                  <a:txBody>
                    <a:bodyPr/>
                    <a:lstStyle/>
                    <a:p>
                      <a:r>
                        <a:rPr sz="700">
                          <a:solidFill>
                            <a:srgbClr val="2A2A3D"/>
                          </a:solidFill>
                          <a:latin typeface="Arial"/>
                        </a:rPr>
                        <a:t>&gt; 8 jam (cek bergilir)</a:t>
                      </a:r>
                    </a:p>
                  </a:txBody>
                  <a:tcPr marL="18288" marR="18288" marT="18288" marB="18288">
                    <a:solidFill>
                      <a:srgbClr val="FFFFFF"/>
                    </a:solidFill>
                  </a:tcPr>
                </a:tc>
                <a:tc>
                  <a:txBody>
                    <a:bodyPr/>
                    <a:lstStyle/>
                    <a:p>
                      <a:r>
                        <a:rPr sz="700" b="1">
                          <a:solidFill>
                            <a:srgbClr val="2E7D32"/>
                          </a:solidFill>
                          <a:latin typeface="Arial"/>
                        </a:rPr>
                        <a:t>✅ &lt; 2–4 jam (langsung sasaran)</a:t>
                      </a:r>
                    </a:p>
                  </a:txBody>
                  <a:tcPr marL="18288" marR="18288" marT="18288" marB="18288">
                    <a:solidFill>
                      <a:srgbClr val="FFFFFF"/>
                    </a:solidFill>
                  </a:tcPr>
                </a:tc>
              </a:tr>
            </a:tbl>
          </a:graphicData>
        </a:graphic>
      </p:graphicFrame>
      <p:sp>
        <p:nvSpPr>
          <p:cNvPr id="19" name="Rectangle 18"/>
          <p:cNvSpPr/>
          <p:nvPr/>
        </p:nvSpPr>
        <p:spPr>
          <a:xfrm>
            <a:off x="6995160" y="2816352"/>
            <a:ext cx="4645152" cy="310896"/>
          </a:xfrm>
          <a:prstGeom prst="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0" bIns="0" rIns="0"/>
          <a:lstStyle/>
          <a:p>
            <a:pPr algn="ctr"/>
            <a:r>
              <a:rPr sz="1000" b="1">
                <a:solidFill>
                  <a:srgbClr val="FFFFFF"/>
                </a:solidFill>
                <a:latin typeface="Arial"/>
              </a:rPr>
              <a:t>2. DIBANDING CARA UNIT LAIN &amp; SOFTWARE LUAR</a:t>
            </a:r>
          </a:p>
        </p:txBody>
      </p:sp>
      <p:sp>
        <p:nvSpPr>
          <p:cNvPr id="20" name="Rounded Rectangle 19"/>
          <p:cNvSpPr/>
          <p:nvPr/>
        </p:nvSpPr>
        <p:spPr>
          <a:xfrm>
            <a:off x="6995160" y="3127248"/>
            <a:ext cx="4645152" cy="2761488"/>
          </a:xfrm>
          <a:prstGeom prst="roundRect">
            <a:avLst/>
          </a:prstGeom>
          <a:solidFill>
            <a:srgbClr val="F8F6FE"/>
          </a:solidFill>
          <a:ln w="1270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104888" y="3200400"/>
            <a:ext cx="4425696" cy="1261872"/>
          </a:xfrm>
          <a:prstGeom prst="roundRect">
            <a:avLst/>
          </a:prstGeom>
          <a:solidFill>
            <a:srgbClr val="FFFFFF"/>
          </a:solidFill>
          <a:ln w="1270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tIns="54864" bIns="36576"/>
          <a:lstStyle/>
          <a:p>
            <a:pPr algn="ctr"/>
            <a:r>
              <a:rPr sz="800" b="1">
                <a:solidFill>
                  <a:srgbClr val="6A2CC9"/>
                </a:solidFill>
                <a:latin typeface="Arial"/>
              </a:rPr>
              <a:t>DIBANDING UNIT LAIN (TARIK EXCEL MINGGUAN)</a:t>
            </a:r>
          </a:p>
          <a:p>
            <a:pPr>
              <a:spcBef>
                <a:spcPts val="200"/>
              </a:spcBef>
            </a:pPr>
            <a:r>
              <a:rPr sz="730" b="1">
                <a:solidFill>
                  <a:srgbClr val="6A2CC9"/>
                </a:solidFill>
                <a:latin typeface="Arial"/>
              </a:rPr>
              <a:t>• Cara Unit Lain: </a:t>
            </a:r>
            <a:r>
              <a:rPr sz="730">
                <a:solidFill>
                  <a:srgbClr val="2A2A3D"/>
                </a:solidFill>
                <a:latin typeface="Arial"/>
              </a:rPr>
              <a:t>Ambil file CSV dari SAP tiap akhir pekan lalu diolah di Excel kantor. Evaluasi baru keluar setelah ribuan lembar terlanjur selesai dicetak.</a:t>
            </a:r>
          </a:p>
          <a:p>
            <a:pPr>
              <a:spcBef>
                <a:spcPts val="200"/>
              </a:spcBef>
            </a:pPr>
            <a:r>
              <a:rPr sz="730" b="1">
                <a:solidFill>
                  <a:srgbClr val="2E7D32"/>
                </a:solidFill>
                <a:latin typeface="Arial"/>
              </a:rPr>
              <a:t>• DSS SIRINE 4.0: </a:t>
            </a:r>
            <a:r>
              <a:rPr sz="730">
                <a:solidFill>
                  <a:srgbClr val="2A2A3D"/>
                </a:solidFill>
                <a:latin typeface="Arial"/>
              </a:rPr>
              <a:t>Data langsung terbaca di area mesin saat cetak sedang berjalan. Begitu ada cacat naik, operator &amp; pengawas bisa langsung bertindak.</a:t>
            </a:r>
          </a:p>
        </p:txBody>
      </p:sp>
      <p:sp>
        <p:nvSpPr>
          <p:cNvPr id="22" name="Rounded Rectangle 21"/>
          <p:cNvSpPr/>
          <p:nvPr/>
        </p:nvSpPr>
        <p:spPr>
          <a:xfrm>
            <a:off x="7104888" y="4535424"/>
            <a:ext cx="4425696" cy="1280160"/>
          </a:xfrm>
          <a:prstGeom prst="roundRect">
            <a:avLst/>
          </a:prstGeom>
          <a:solidFill>
            <a:srgbClr val="FFFFFF"/>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tIns="54864" bIns="36576"/>
          <a:lstStyle/>
          <a:p>
            <a:pPr algn="ctr"/>
            <a:r>
              <a:rPr sz="800" b="1">
                <a:solidFill>
                  <a:srgbClr val="20288F"/>
                </a:solidFill>
                <a:latin typeface="Arial"/>
              </a:rPr>
              <a:t>DIBANDING BELI SOFTWARE PABRIK (MES VENDOR)</a:t>
            </a:r>
          </a:p>
          <a:p>
            <a:pPr>
              <a:spcBef>
                <a:spcPts val="200"/>
              </a:spcBef>
            </a:pPr>
            <a:r>
              <a:rPr sz="730" b="1">
                <a:solidFill>
                  <a:srgbClr val="C62828"/>
                </a:solidFill>
                <a:latin typeface="Arial"/>
              </a:rPr>
              <a:t>• Beli Software Luar: </a:t>
            </a:r>
            <a:r>
              <a:rPr sz="730">
                <a:solidFill>
                  <a:srgbClr val="2A2A3D"/>
                </a:solidFill>
                <a:latin typeface="Arial"/>
              </a:rPr>
              <a:t>Butuh biaya awal miliaran rupiah, bayar lisensi tahunan mahal, dan sulit diubah saat spesifikasi pita cukai Bea Cukai berganti.</a:t>
            </a:r>
          </a:p>
          <a:p>
            <a:pPr>
              <a:spcBef>
                <a:spcPts val="200"/>
              </a:spcBef>
            </a:pPr>
            <a:r>
              <a:rPr sz="730" b="1">
                <a:solidFill>
                  <a:srgbClr val="2E7D32"/>
                </a:solidFill>
                <a:latin typeface="Arial"/>
              </a:rPr>
              <a:t>• Buatan Sendiri (In-House): </a:t>
            </a:r>
            <a:r>
              <a:rPr sz="730">
                <a:solidFill>
                  <a:srgbClr val="2A2A3D"/>
                </a:solidFill>
                <a:latin typeface="Arial"/>
              </a:rPr>
              <a:t>Biaya lisensi Rp 0, bebas disesuaikan kapan saja dengan kebutuhan lapangan, dan keamanan data negara 100% terjaga di internal Peruri.</a:t>
            </a:r>
          </a:p>
        </p:txBody>
      </p:sp>
      <p:sp>
        <p:nvSpPr>
          <p:cNvPr id="23" name="Rounded Rectangle 22"/>
          <p:cNvSpPr/>
          <p:nvPr/>
        </p:nvSpPr>
        <p:spPr>
          <a:xfrm>
            <a:off x="548640" y="5961888"/>
            <a:ext cx="11091672" cy="402336"/>
          </a:xfrm>
          <a:prstGeom prst="roundRect">
            <a:avLst/>
          </a:prstGeom>
          <a:solidFill>
            <a:srgbClr val="E8F5E9"/>
          </a:solidFill>
          <a:ln w="1270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36576"/>
          <a:lstStyle/>
          <a:p>
            <a:pPr algn="ctr"/>
            <a:r>
              <a:rPr sz="780" b="1">
                <a:solidFill>
                  <a:srgbClr val="2E7D32"/>
                </a:solidFill>
                <a:latin typeface="Arial"/>
              </a:rPr>
              <a:t>• Nilai Tambah Utama: </a:t>
            </a:r>
            <a:r>
              <a:rPr sz="760">
                <a:solidFill>
                  <a:srgbClr val="2A2A3D"/>
                </a:solidFill>
                <a:latin typeface="Arial"/>
              </a:rPr>
              <a:t>Menghilangkan seluruh pekerjaan rekap manual yang menyita waktu (rekap 0 menit), sekaligus mempercepat perbaikan mesin dari seharian (&gt; 8 jam) menjadi hanya 2–4 jam.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07899" y="-179222"/>
            <a:ext cx="1448409" cy="814730"/>
          </a:xfrm>
          <a:prstGeom prst="rect">
            <a:avLst/>
          </a:prstGeom>
        </p:spPr>
      </p:pic>
      <p:pic>
        <p:nvPicPr>
          <p:cNvPr id="3" name="Picture 2" descr="image.png"/>
          <p:cNvPicPr>
            <a:picLocks noChangeAspect="1"/>
          </p:cNvPicPr>
          <p:nvPr/>
        </p:nvPicPr>
        <p:blipFill>
          <a:blip r:embed="rId3"/>
          <a:stretch>
            <a:fillRect/>
          </a:stretch>
        </p:blipFill>
        <p:spPr>
          <a:xfrm>
            <a:off x="11055096" y="11887"/>
            <a:ext cx="1140256" cy="634593"/>
          </a:xfrm>
          <a:prstGeom prst="rect">
            <a:avLst/>
          </a:prstGeom>
        </p:spPr>
      </p:pic>
      <p:sp>
        <p:nvSpPr>
          <p:cNvPr id="4" name="Rounded Rectangle 3"/>
          <p:cNvSpPr/>
          <p:nvPr/>
        </p:nvSpPr>
        <p:spPr>
          <a:xfrm>
            <a:off x="548640" y="594360"/>
            <a:ext cx="731520" cy="658368"/>
          </a:xfrm>
          <a:prstGeom prst="round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000" b="1">
                <a:solidFill>
                  <a:srgbClr val="FFFFFF"/>
                </a:solidFill>
                <a:latin typeface="Arial"/>
              </a:rPr>
              <a:t>04.3</a:t>
            </a:r>
          </a:p>
        </p:txBody>
      </p:sp>
      <p:sp>
        <p:nvSpPr>
          <p:cNvPr id="5" name="TextBox 4"/>
          <p:cNvSpPr txBox="1"/>
          <p:nvPr/>
        </p:nvSpPr>
        <p:spPr>
          <a:xfrm>
            <a:off x="1417320" y="548640"/>
            <a:ext cx="9326880" cy="731520"/>
          </a:xfrm>
          <a:prstGeom prst="rect">
            <a:avLst/>
          </a:prstGeom>
          <a:noFill/>
        </p:spPr>
        <p:txBody>
          <a:bodyPr wrap="square" lIns="0" tIns="0" rIns="0" bIns="0">
            <a:spAutoFit/>
          </a:bodyPr>
          <a:lstStyle/>
          <a:p>
            <a:r>
              <a:rPr sz="2400" b="1">
                <a:solidFill>
                  <a:srgbClr val="20288F"/>
                </a:solidFill>
                <a:latin typeface="Arial"/>
              </a:rPr>
              <a:t>Solusi: Alur Kerja Sebelum vs Sesudah Inovasi</a:t>
            </a:r>
          </a:p>
        </p:txBody>
      </p:sp>
      <p:sp>
        <p:nvSpPr>
          <p:cNvPr id="6" name="TextBox 5"/>
          <p:cNvSpPr txBox="1"/>
          <p:nvPr/>
        </p:nvSpPr>
        <p:spPr>
          <a:xfrm>
            <a:off x="548640" y="1353312"/>
            <a:ext cx="10789920" cy="347472"/>
          </a:xfrm>
          <a:prstGeom prst="rect">
            <a:avLst/>
          </a:prstGeom>
          <a:noFill/>
        </p:spPr>
        <p:txBody>
          <a:bodyPr wrap="square" lIns="0" tIns="0" rIns="0" bIns="0">
            <a:spAutoFit/>
          </a:bodyPr>
          <a:lstStyle/>
          <a:p>
            <a:r>
              <a:rPr sz="1150" b="1">
                <a:solidFill>
                  <a:srgbClr val="6A2CC9"/>
                </a:solidFill>
                <a:latin typeface="Arial"/>
              </a:rPr>
              <a:t>Tujuan bagian ini:  </a:t>
            </a:r>
            <a:r>
              <a:rPr sz="1150">
                <a:solidFill>
                  <a:srgbClr val="2A2A3D"/>
                </a:solidFill>
                <a:latin typeface="Arial"/>
              </a:rPr>
              <a:t>Tunjukkan perubahan alur kerja dari sebelumnya meraba-raba menjadi penanganan terarah berbasis data.</a:t>
            </a:r>
          </a:p>
        </p:txBody>
      </p:sp>
      <p:sp>
        <p:nvSpPr>
          <p:cNvPr id="7" name="TextBox 6"/>
          <p:cNvSpPr txBox="1"/>
          <p:nvPr/>
        </p:nvSpPr>
        <p:spPr>
          <a:xfrm>
            <a:off x="548640" y="6419088"/>
            <a:ext cx="11091672" cy="219456"/>
          </a:xfrm>
          <a:prstGeom prst="rect">
            <a:avLst/>
          </a:prstGeom>
          <a:noFill/>
        </p:spPr>
        <p:txBody>
          <a:bodyPr wrap="square" lIns="0" tIns="0" rIns="0" bIns="0">
            <a:spAutoFit/>
          </a:bodyPr>
          <a:lstStyle/>
          <a:p>
            <a:r>
              <a:rPr sz="850">
                <a:solidFill>
                  <a:srgbClr val="6E6E82"/>
                </a:solidFill>
                <a:latin typeface="Arial"/>
              </a:rPr>
              <a:t>IAKA 2026 — Kerangka Presentasi Peserta  ·  DSS SIRINE 4.0 Unit Cetak Pita Cukai</a:t>
            </a:r>
          </a:p>
        </p:txBody>
      </p:sp>
      <p:sp>
        <p:nvSpPr>
          <p:cNvPr id="8" name="Rectangle 7"/>
          <p:cNvSpPr/>
          <p:nvPr/>
        </p:nvSpPr>
        <p:spPr>
          <a:xfrm>
            <a:off x="548640" y="1755648"/>
            <a:ext cx="5394960" cy="329184"/>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0" bIns="0" rIns="0"/>
          <a:lstStyle/>
          <a:p>
            <a:pPr algn="ctr"/>
            <a:r>
              <a:rPr sz="980" b="1">
                <a:solidFill>
                  <a:srgbClr val="FFFFFF"/>
                </a:solidFill>
                <a:latin typeface="Arial"/>
              </a:rPr>
              <a:t>1. ALUR KERJA SEBELUMNYA (MERABA-RABA &amp; BONGKAR BERGILIR)</a:t>
            </a:r>
          </a:p>
        </p:txBody>
      </p:sp>
      <p:sp>
        <p:nvSpPr>
          <p:cNvPr id="9" name="Rounded Rectangle 8"/>
          <p:cNvSpPr/>
          <p:nvPr/>
        </p:nvSpPr>
        <p:spPr>
          <a:xfrm>
            <a:off x="548640" y="2084831"/>
            <a:ext cx="5394960" cy="2816352"/>
          </a:xfrm>
          <a:prstGeom prst="roundRect">
            <a:avLst/>
          </a:prstGeom>
          <a:solidFill>
            <a:srgbClr val="FFF5F5"/>
          </a:solidFill>
          <a:ln w="12700">
            <a:solidFill>
              <a:srgbClr val="F5C2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8368" y="2157984"/>
            <a:ext cx="5175504" cy="530352"/>
          </a:xfrm>
          <a:prstGeom prst="roundRect">
            <a:avLst/>
          </a:prstGeom>
          <a:solidFill>
            <a:srgbClr val="FFFFFF"/>
          </a:solidFill>
          <a:ln w="12700">
            <a:solidFill>
              <a:srgbClr val="F5C2C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18288"/>
          <a:lstStyle/>
          <a:p>
            <a:pPr algn="ctr"/>
            <a:r>
              <a:rPr sz="750" b="1">
                <a:solidFill>
                  <a:srgbClr val="C62828"/>
                </a:solidFill>
                <a:latin typeface="Arial"/>
              </a:rPr>
              <a:t>1. Order Selesai di Mesin ➔ </a:t>
            </a:r>
            <a:r>
              <a:rPr sz="720">
                <a:solidFill>
                  <a:srgbClr val="2A2A3D"/>
                </a:solidFill>
                <a:latin typeface="Arial"/>
              </a:rPr>
              <a:t>Operator catat pakai pulpen di buku folio. Catatan tersimpan di laci meja mesin, rawan kotor atau hilang.</a:t>
            </a:r>
          </a:p>
        </p:txBody>
      </p:sp>
      <p:sp>
        <p:nvSpPr>
          <p:cNvPr id="11" name="Rounded Rectangle 10"/>
          <p:cNvSpPr/>
          <p:nvPr/>
        </p:nvSpPr>
        <p:spPr>
          <a:xfrm>
            <a:off x="658368" y="2743200"/>
            <a:ext cx="5175504" cy="530352"/>
          </a:xfrm>
          <a:prstGeom prst="roundRect">
            <a:avLst/>
          </a:prstGeom>
          <a:solidFill>
            <a:srgbClr val="FFFFFF"/>
          </a:solidFill>
          <a:ln w="12700">
            <a:solidFill>
              <a:srgbClr val="F5C2C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18288"/>
          <a:lstStyle/>
          <a:p>
            <a:pPr algn="ctr"/>
            <a:r>
              <a:rPr sz="750" b="1">
                <a:solidFill>
                  <a:srgbClr val="C62828"/>
                </a:solidFill>
                <a:latin typeface="Arial"/>
              </a:rPr>
              <a:t>2. Lembar Dikirim ke Verifikasi ➔ </a:t>
            </a:r>
            <a:r>
              <a:rPr sz="720">
                <a:solidFill>
                  <a:srgbClr val="2A2A3D"/>
                </a:solidFill>
                <a:latin typeface="Arial"/>
              </a:rPr>
              <a:t>Petugas sortir lembar rusak dan rekap ke SAP sebagai total kerusakan unit (tanpa nomor mesin &amp; shift).</a:t>
            </a:r>
          </a:p>
        </p:txBody>
      </p:sp>
      <p:sp>
        <p:nvSpPr>
          <p:cNvPr id="12" name="Rounded Rectangle 11"/>
          <p:cNvSpPr/>
          <p:nvPr/>
        </p:nvSpPr>
        <p:spPr>
          <a:xfrm>
            <a:off x="658368" y="3328415"/>
            <a:ext cx="5175504" cy="530352"/>
          </a:xfrm>
          <a:prstGeom prst="roundRect">
            <a:avLst/>
          </a:prstGeom>
          <a:solidFill>
            <a:srgbClr val="FFFFFF"/>
          </a:solidFill>
          <a:ln w="12700">
            <a:solidFill>
              <a:srgbClr val="F5C2C2"/>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18288"/>
          <a:lstStyle/>
          <a:p>
            <a:pPr algn="ctr"/>
            <a:r>
              <a:rPr sz="750" b="1">
                <a:solidFill>
                  <a:srgbClr val="C62828"/>
                </a:solidFill>
                <a:latin typeface="Arial"/>
              </a:rPr>
              <a:t>3. Laporan Keluar Bulanan ➔ </a:t>
            </a:r>
            <a:r>
              <a:rPr sz="720">
                <a:solidFill>
                  <a:srgbClr val="2A2A3D"/>
                </a:solidFill>
                <a:latin typeface="Arial"/>
              </a:rPr>
              <a:t>Laporan sebut cacat blobor naik ➔ Teknisi terpaksa cek dan setel ulang 6 mesin satu per satu secara bergilir.</a:t>
            </a:r>
          </a:p>
        </p:txBody>
      </p:sp>
      <p:sp>
        <p:nvSpPr>
          <p:cNvPr id="13" name="Rounded Rectangle 12"/>
          <p:cNvSpPr/>
          <p:nvPr/>
        </p:nvSpPr>
        <p:spPr>
          <a:xfrm>
            <a:off x="658368" y="3931920"/>
            <a:ext cx="5175504" cy="877824"/>
          </a:xfrm>
          <a:prstGeom prst="roundRect">
            <a:avLst/>
          </a:prstGeom>
          <a:solidFill>
            <a:srgbClr val="FFF5F5"/>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tIns="54864" bIns="36576"/>
          <a:lstStyle/>
          <a:p>
            <a:pPr algn="ctr"/>
            <a:r>
              <a:rPr sz="780" b="1">
                <a:solidFill>
                  <a:srgbClr val="C62828"/>
                </a:solidFill>
                <a:latin typeface="Arial"/>
              </a:rPr>
              <a:t>AKIBAT DI LAPANGAN:
</a:t>
            </a:r>
            <a:r>
              <a:rPr sz="720">
                <a:solidFill>
                  <a:srgbClr val="2A2A3D"/>
                </a:solidFill>
                <a:latin typeface="Arial"/>
              </a:rPr>
              <a:t>• Mesin mati &gt; 8 jam/mesin hanya untuk mencari-cari penyebab, kepala kelompok habis 45 menit/hari merekap buku folio.
• Inschiet tertahan di baseline 4,61% (potensi kerugian biaya cetak Rp 24,56 Miliar/tahun).</a:t>
            </a:r>
          </a:p>
        </p:txBody>
      </p:sp>
      <p:sp>
        <p:nvSpPr>
          <p:cNvPr id="14" name="Rectangle 13"/>
          <p:cNvSpPr/>
          <p:nvPr/>
        </p:nvSpPr>
        <p:spPr>
          <a:xfrm>
            <a:off x="6199632" y="1755648"/>
            <a:ext cx="5440680" cy="329184"/>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0" bIns="0" rIns="0"/>
          <a:lstStyle/>
          <a:p>
            <a:pPr algn="ctr"/>
            <a:r>
              <a:rPr sz="980" b="1">
                <a:solidFill>
                  <a:srgbClr val="FFFFFF"/>
                </a:solidFill>
                <a:latin typeface="Arial"/>
              </a:rPr>
              <a:t>2. ALUR KERJA SESUDAHNYA (LANGSUNG TEPAT SASARAN)</a:t>
            </a:r>
          </a:p>
        </p:txBody>
      </p:sp>
      <p:sp>
        <p:nvSpPr>
          <p:cNvPr id="15" name="Rounded Rectangle 14"/>
          <p:cNvSpPr/>
          <p:nvPr/>
        </p:nvSpPr>
        <p:spPr>
          <a:xfrm>
            <a:off x="6199632" y="2084831"/>
            <a:ext cx="5440680" cy="2816352"/>
          </a:xfrm>
          <a:prstGeom prst="roundRect">
            <a:avLst/>
          </a:prstGeom>
          <a:solidFill>
            <a:srgbClr val="E8F5E9"/>
          </a:solidFill>
          <a:ln w="1270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09360" y="2157984"/>
            <a:ext cx="5221224" cy="530352"/>
          </a:xfrm>
          <a:prstGeom prst="roundRect">
            <a:avLst/>
          </a:prstGeom>
          <a:solidFill>
            <a:srgbClr val="FFFFFF"/>
          </a:solidFill>
          <a:ln w="1270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18288"/>
          <a:lstStyle/>
          <a:p>
            <a:pPr algn="ctr"/>
            <a:r>
              <a:rPr sz="750" b="1">
                <a:solidFill>
                  <a:srgbClr val="2E7D32"/>
                </a:solidFill>
                <a:latin typeface="Arial"/>
              </a:rPr>
              <a:t>1. Order Selesai di Mesin ➔ </a:t>
            </a:r>
            <a:r>
              <a:rPr sz="720">
                <a:solidFill>
                  <a:srgbClr val="2A2A3D"/>
                </a:solidFill>
                <a:latin typeface="Arial"/>
              </a:rPr>
              <a:t>Operator input form digital &lt; 30 detik. Data pesanan SAP dan jadwal regu langsung terisi otomatis.</a:t>
            </a:r>
          </a:p>
        </p:txBody>
      </p:sp>
      <p:sp>
        <p:nvSpPr>
          <p:cNvPr id="17" name="Rounded Rectangle 16"/>
          <p:cNvSpPr/>
          <p:nvPr/>
        </p:nvSpPr>
        <p:spPr>
          <a:xfrm>
            <a:off x="6309360" y="2743200"/>
            <a:ext cx="5221224" cy="530352"/>
          </a:xfrm>
          <a:prstGeom prst="roundRect">
            <a:avLst/>
          </a:prstGeom>
          <a:solidFill>
            <a:srgbClr val="FFFFFF"/>
          </a:solidFill>
          <a:ln w="1270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18288"/>
          <a:lstStyle/>
          <a:p>
            <a:pPr algn="ctr"/>
            <a:r>
              <a:rPr sz="750" b="1">
                <a:solidFill>
                  <a:srgbClr val="2E7D32"/>
                </a:solidFill>
                <a:latin typeface="Arial"/>
              </a:rPr>
              <a:t>2. Dasbor Deteksi Otomatis ➔ </a:t>
            </a:r>
            <a:r>
              <a:rPr sz="720">
                <a:solidFill>
                  <a:srgbClr val="2A2A3D"/>
                </a:solidFill>
                <a:latin typeface="Arial"/>
              </a:rPr>
              <a:t>Dasbor Mesin langsung membaca anomali (contoh: Mesin Komori 4 inschiet 6,2% - status Merah).</a:t>
            </a:r>
          </a:p>
        </p:txBody>
      </p:sp>
      <p:sp>
        <p:nvSpPr>
          <p:cNvPr id="18" name="Rounded Rectangle 17"/>
          <p:cNvSpPr/>
          <p:nvPr/>
        </p:nvSpPr>
        <p:spPr>
          <a:xfrm>
            <a:off x="6309360" y="3328415"/>
            <a:ext cx="5221224" cy="530352"/>
          </a:xfrm>
          <a:prstGeom prst="roundRect">
            <a:avLst/>
          </a:prstGeom>
          <a:solidFill>
            <a:srgbClr val="FFFFFF"/>
          </a:solidFill>
          <a:ln w="1270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18288"/>
          <a:lstStyle/>
          <a:p>
            <a:pPr algn="ctr"/>
            <a:r>
              <a:rPr sz="750" b="1">
                <a:solidFill>
                  <a:srgbClr val="2E7D32"/>
                </a:solidFill>
                <a:latin typeface="Arial"/>
              </a:rPr>
              <a:t>3. Petunjuk Kerusakan Komponen ➔ </a:t>
            </a:r>
            <a:r>
              <a:rPr sz="720">
                <a:solidFill>
                  <a:srgbClr val="2A2A3D"/>
                </a:solidFill>
                <a:latin typeface="Arial"/>
              </a:rPr>
              <a:t>Modul cacat beri tahu 70% blobor ➔ Teknisi langsung bawa rol karet pengganti ke Komori 4.</a:t>
            </a:r>
          </a:p>
        </p:txBody>
      </p:sp>
      <p:sp>
        <p:nvSpPr>
          <p:cNvPr id="19" name="Rounded Rectangle 18"/>
          <p:cNvSpPr/>
          <p:nvPr/>
        </p:nvSpPr>
        <p:spPr>
          <a:xfrm>
            <a:off x="6309360" y="3931920"/>
            <a:ext cx="5221224" cy="877824"/>
          </a:xfrm>
          <a:prstGeom prst="roundRect">
            <a:avLst/>
          </a:prstGeom>
          <a:solidFill>
            <a:srgbClr val="E8F5E9"/>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tIns="54864" bIns="36576"/>
          <a:lstStyle/>
          <a:p>
            <a:pPr algn="ctr"/>
            <a:r>
              <a:rPr sz="780" b="1">
                <a:solidFill>
                  <a:srgbClr val="2E7D32"/>
                </a:solidFill>
                <a:latin typeface="Arial"/>
              </a:rPr>
              <a:t>HASIL DI LAPANGAN:
</a:t>
            </a:r>
            <a:r>
              <a:rPr sz="720">
                <a:solidFill>
                  <a:srgbClr val="2A2A3D"/>
                </a:solidFill>
                <a:latin typeface="Arial"/>
              </a:rPr>
              <a:t>• Waktu perbaikan mesin terpangkas jadi &lt; 2–4 jam (hemat 50–75%), rekap manual hilang 100%.
• Inschiet turun stabil ke 3,33% di Q2 2026 (potensi penghematan Rp 6,82 Miliar/tahun).</a:t>
            </a:r>
          </a:p>
        </p:txBody>
      </p:sp>
      <p:sp>
        <p:nvSpPr>
          <p:cNvPr id="20" name="Rectangle 19"/>
          <p:cNvSpPr/>
          <p:nvPr/>
        </p:nvSpPr>
        <p:spPr>
          <a:xfrm>
            <a:off x="548640" y="4974336"/>
            <a:ext cx="11091672" cy="292608"/>
          </a:xfrm>
          <a:prstGeom prst="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0" bIns="0" rIns="0"/>
          <a:lstStyle/>
          <a:p>
            <a:pPr algn="ctr"/>
            <a:r>
              <a:rPr sz="980" b="1">
                <a:solidFill>
                  <a:srgbClr val="FFFFFF"/>
                </a:solidFill>
                <a:latin typeface="Arial"/>
              </a:rPr>
              <a:t>3. BUKTI WAKTU KERJA YANG DIHEMAT DI LAPANGAN</a:t>
            </a:r>
          </a:p>
        </p:txBody>
      </p:sp>
      <p:sp>
        <p:nvSpPr>
          <p:cNvPr id="21" name="Rounded Rectangle 20"/>
          <p:cNvSpPr/>
          <p:nvPr/>
        </p:nvSpPr>
        <p:spPr>
          <a:xfrm>
            <a:off x="548640" y="5266944"/>
            <a:ext cx="11091672" cy="1078992"/>
          </a:xfrm>
          <a:prstGeom prst="roundRect">
            <a:avLst/>
          </a:prstGeom>
          <a:solidFill>
            <a:srgbClr val="F4F7FE"/>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8368" y="5340096"/>
            <a:ext cx="2560320" cy="932688"/>
          </a:xfrm>
          <a:prstGeom prst="roundRect">
            <a:avLst/>
          </a:prstGeom>
          <a:solidFill>
            <a:srgbClr val="FFFFFF"/>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18288"/>
          <a:lstStyle/>
          <a:p>
            <a:pPr algn="ctr"/>
            <a:r>
              <a:rPr sz="780" b="1">
                <a:solidFill>
                  <a:srgbClr val="20288F"/>
                </a:solidFill>
                <a:latin typeface="Arial"/>
              </a:rPr>
              <a:t>Input Data per Order (PO)</a:t>
            </a:r>
          </a:p>
          <a:p>
            <a:pPr>
              <a:spcBef>
                <a:spcPts val="100"/>
              </a:spcBef>
            </a:pPr>
            <a:r>
              <a:rPr sz="700">
                <a:solidFill>
                  <a:srgbClr val="2A2A3D"/>
                </a:solidFill>
                <a:latin typeface="Arial"/>
              </a:rPr>
              <a:t>Sebelum: 3–5 menit (tulis tangan)
Sesudah: &lt; 30 detik</a:t>
            </a:r>
          </a:p>
          <a:p>
            <a:pPr>
              <a:spcBef>
                <a:spcPts val="100"/>
              </a:spcBef>
            </a:pPr>
            <a:r>
              <a:rPr sz="720" b="1">
                <a:solidFill>
                  <a:srgbClr val="2E7D32"/>
                </a:solidFill>
                <a:latin typeface="Arial"/>
              </a:rPr>
              <a:t>✅ 85% Lebih Cepat (Autofill SAP)</a:t>
            </a:r>
          </a:p>
        </p:txBody>
      </p:sp>
      <p:sp>
        <p:nvSpPr>
          <p:cNvPr id="23" name="Rounded Rectangle 22"/>
          <p:cNvSpPr/>
          <p:nvPr/>
        </p:nvSpPr>
        <p:spPr>
          <a:xfrm>
            <a:off x="3346704" y="5340096"/>
            <a:ext cx="2560320" cy="932688"/>
          </a:xfrm>
          <a:prstGeom prst="roundRect">
            <a:avLst/>
          </a:prstGeom>
          <a:solidFill>
            <a:srgbClr val="FFFFFF"/>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18288"/>
          <a:lstStyle/>
          <a:p>
            <a:pPr algn="ctr"/>
            <a:r>
              <a:rPr sz="780" b="1">
                <a:solidFill>
                  <a:srgbClr val="20288F"/>
                </a:solidFill>
                <a:latin typeface="Arial"/>
              </a:rPr>
              <a:t>Mencari Mesin Bermasalah</a:t>
            </a:r>
          </a:p>
          <a:p>
            <a:pPr>
              <a:spcBef>
                <a:spcPts val="100"/>
              </a:spcBef>
            </a:pPr>
            <a:r>
              <a:rPr sz="700">
                <a:solidFill>
                  <a:srgbClr val="2A2A3D"/>
                </a:solidFill>
                <a:latin typeface="Arial"/>
              </a:rPr>
              <a:t>Sebelum: 1–3 hari (tunggu rekap)
Sesudah: Seketika (&lt; 1 detik)</a:t>
            </a:r>
          </a:p>
          <a:p>
            <a:pPr>
              <a:spcBef>
                <a:spcPts val="100"/>
              </a:spcBef>
            </a:pPr>
            <a:r>
              <a:rPr sz="720" b="1">
                <a:solidFill>
                  <a:srgbClr val="2E7D32"/>
                </a:solidFill>
                <a:latin typeface="Arial"/>
              </a:rPr>
              <a:t>✅ Langsung Muncul di Dasbor</a:t>
            </a:r>
          </a:p>
        </p:txBody>
      </p:sp>
      <p:sp>
        <p:nvSpPr>
          <p:cNvPr id="24" name="Rounded Rectangle 23"/>
          <p:cNvSpPr/>
          <p:nvPr/>
        </p:nvSpPr>
        <p:spPr>
          <a:xfrm>
            <a:off x="6035040" y="5340096"/>
            <a:ext cx="2560320" cy="932688"/>
          </a:xfrm>
          <a:prstGeom prst="roundRect">
            <a:avLst/>
          </a:prstGeom>
          <a:solidFill>
            <a:srgbClr val="FFFFFF"/>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18288"/>
          <a:lstStyle/>
          <a:p>
            <a:pPr algn="ctr"/>
            <a:r>
              <a:rPr sz="780" b="1">
                <a:solidFill>
                  <a:srgbClr val="20288F"/>
                </a:solidFill>
                <a:latin typeface="Arial"/>
              </a:rPr>
              <a:t>Waktu Henti Servis Mesin</a:t>
            </a:r>
          </a:p>
          <a:p>
            <a:pPr>
              <a:spcBef>
                <a:spcPts val="100"/>
              </a:spcBef>
            </a:pPr>
            <a:r>
              <a:rPr sz="700">
                <a:solidFill>
                  <a:srgbClr val="2A2A3D"/>
                </a:solidFill>
                <a:latin typeface="Arial"/>
              </a:rPr>
              <a:t>Sebelum: &gt; 8 jam (cek bergilir)
Sesudah: &lt; 2–4 jam</a:t>
            </a:r>
          </a:p>
          <a:p>
            <a:pPr>
              <a:spcBef>
                <a:spcPts val="100"/>
              </a:spcBef>
            </a:pPr>
            <a:r>
              <a:rPr sz="720" b="1">
                <a:solidFill>
                  <a:srgbClr val="2E7D32"/>
                </a:solidFill>
                <a:latin typeface="Arial"/>
              </a:rPr>
              <a:t>✅ Downtime Turun 50%–75%</a:t>
            </a:r>
          </a:p>
        </p:txBody>
      </p:sp>
      <p:sp>
        <p:nvSpPr>
          <p:cNvPr id="25" name="Rounded Rectangle 24"/>
          <p:cNvSpPr/>
          <p:nvPr/>
        </p:nvSpPr>
        <p:spPr>
          <a:xfrm>
            <a:off x="8723376" y="5340096"/>
            <a:ext cx="2788920" cy="932688"/>
          </a:xfrm>
          <a:prstGeom prst="roundRect">
            <a:avLst/>
          </a:prstGeom>
          <a:solidFill>
            <a:srgbClr val="FFFFFF"/>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18288"/>
          <a:lstStyle/>
          <a:p>
            <a:pPr algn="ctr"/>
            <a:r>
              <a:rPr sz="780" b="1">
                <a:solidFill>
                  <a:srgbClr val="20288F"/>
                </a:solidFill>
                <a:latin typeface="Arial"/>
              </a:rPr>
              <a:t>Rekap Data Evaluasi Pegawai</a:t>
            </a:r>
          </a:p>
          <a:p>
            <a:pPr>
              <a:spcBef>
                <a:spcPts val="100"/>
              </a:spcBef>
            </a:pPr>
            <a:r>
              <a:rPr sz="700">
                <a:solidFill>
                  <a:srgbClr val="2A2A3D"/>
                </a:solidFill>
                <a:latin typeface="Arial"/>
              </a:rPr>
              <a:t>Sebelum: ± 45 menit / hari (manual)
Sesudah: 0 menit (otomatis)</a:t>
            </a:r>
          </a:p>
          <a:p>
            <a:pPr>
              <a:spcBef>
                <a:spcPts val="100"/>
              </a:spcBef>
            </a:pPr>
            <a:r>
              <a:rPr sz="720" b="1">
                <a:solidFill>
                  <a:srgbClr val="2E7D32"/>
                </a:solidFill>
                <a:latin typeface="Arial"/>
              </a:rPr>
              <a:t>✅ Beban Rekap Hilang Total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07899" y="-179222"/>
            <a:ext cx="1448409" cy="814730"/>
          </a:xfrm>
          <a:prstGeom prst="rect">
            <a:avLst/>
          </a:prstGeom>
        </p:spPr>
      </p:pic>
      <p:pic>
        <p:nvPicPr>
          <p:cNvPr id="3" name="Picture 2" descr="image.png"/>
          <p:cNvPicPr>
            <a:picLocks noChangeAspect="1"/>
          </p:cNvPicPr>
          <p:nvPr/>
        </p:nvPicPr>
        <p:blipFill>
          <a:blip r:embed="rId3"/>
          <a:stretch>
            <a:fillRect/>
          </a:stretch>
        </p:blipFill>
        <p:spPr>
          <a:xfrm>
            <a:off x="11055096" y="11887"/>
            <a:ext cx="1140256" cy="634593"/>
          </a:xfrm>
          <a:prstGeom prst="rect">
            <a:avLst/>
          </a:prstGeom>
        </p:spPr>
      </p:pic>
      <p:sp>
        <p:nvSpPr>
          <p:cNvPr id="4" name="Rounded Rectangle 3"/>
          <p:cNvSpPr/>
          <p:nvPr/>
        </p:nvSpPr>
        <p:spPr>
          <a:xfrm>
            <a:off x="548640" y="594360"/>
            <a:ext cx="731520" cy="658368"/>
          </a:xfrm>
          <a:prstGeom prst="round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000" b="1">
                <a:solidFill>
                  <a:srgbClr val="FFFFFF"/>
                </a:solidFill>
                <a:latin typeface="Arial"/>
              </a:rPr>
              <a:t>04.4</a:t>
            </a:r>
          </a:p>
        </p:txBody>
      </p:sp>
      <p:sp>
        <p:nvSpPr>
          <p:cNvPr id="5" name="TextBox 4"/>
          <p:cNvSpPr txBox="1"/>
          <p:nvPr/>
        </p:nvSpPr>
        <p:spPr>
          <a:xfrm>
            <a:off x="1417320" y="548640"/>
            <a:ext cx="9326880" cy="731520"/>
          </a:xfrm>
          <a:prstGeom prst="rect">
            <a:avLst/>
          </a:prstGeom>
          <a:noFill/>
        </p:spPr>
        <p:txBody>
          <a:bodyPr wrap="square" lIns="0" tIns="0" rIns="0" bIns="0">
            <a:spAutoFit/>
          </a:bodyPr>
          <a:lstStyle/>
          <a:p>
            <a:r>
              <a:rPr sz="2400" b="1">
                <a:solidFill>
                  <a:srgbClr val="20288F"/>
                </a:solidFill>
                <a:latin typeface="Arial"/>
              </a:rPr>
              <a:t>Solusi: Target Uji Coba Lapangan, Standar Kerja Baru &amp; Hitungan Finansial</a:t>
            </a:r>
          </a:p>
        </p:txBody>
      </p:sp>
      <p:sp>
        <p:nvSpPr>
          <p:cNvPr id="6" name="TextBox 5"/>
          <p:cNvSpPr txBox="1"/>
          <p:nvPr/>
        </p:nvSpPr>
        <p:spPr>
          <a:xfrm>
            <a:off x="548640" y="1353312"/>
            <a:ext cx="10789920" cy="347472"/>
          </a:xfrm>
          <a:prstGeom prst="rect">
            <a:avLst/>
          </a:prstGeom>
          <a:noFill/>
        </p:spPr>
        <p:txBody>
          <a:bodyPr wrap="square" lIns="0" tIns="0" rIns="0" bIns="0">
            <a:spAutoFit/>
          </a:bodyPr>
          <a:lstStyle/>
          <a:p>
            <a:r>
              <a:rPr sz="1150" b="1">
                <a:solidFill>
                  <a:srgbClr val="6A2CC9"/>
                </a:solidFill>
                <a:latin typeface="Arial"/>
              </a:rPr>
              <a:t>Tujuan bagian ini:  </a:t>
            </a:r>
            <a:r>
              <a:rPr sz="1150">
                <a:solidFill>
                  <a:srgbClr val="2A2A3D"/>
                </a:solidFill>
                <a:latin typeface="Arial"/>
              </a:rPr>
              <a:t>Sajikan rencana uji coba lapangan, dukungan pimpinan, SOP baru, dan hitungan penghematan biaya secara terbuka.</a:t>
            </a:r>
          </a:p>
        </p:txBody>
      </p:sp>
      <p:sp>
        <p:nvSpPr>
          <p:cNvPr id="7" name="TextBox 6"/>
          <p:cNvSpPr txBox="1"/>
          <p:nvPr/>
        </p:nvSpPr>
        <p:spPr>
          <a:xfrm>
            <a:off x="548640" y="6419088"/>
            <a:ext cx="11091672" cy="219456"/>
          </a:xfrm>
          <a:prstGeom prst="rect">
            <a:avLst/>
          </a:prstGeom>
          <a:noFill/>
        </p:spPr>
        <p:txBody>
          <a:bodyPr wrap="square" lIns="0" tIns="0" rIns="0" bIns="0">
            <a:spAutoFit/>
          </a:bodyPr>
          <a:lstStyle/>
          <a:p>
            <a:r>
              <a:rPr sz="850">
                <a:solidFill>
                  <a:srgbClr val="6E6E82"/>
                </a:solidFill>
                <a:latin typeface="Arial"/>
              </a:rPr>
              <a:t>IAKA 2026 — Kerangka Presentasi Peserta  ·  DSS SIRINE 4.0 Unit Cetak Pita Cukai</a:t>
            </a:r>
          </a:p>
        </p:txBody>
      </p:sp>
      <p:sp>
        <p:nvSpPr>
          <p:cNvPr id="8" name="Rounded Rectangle 7"/>
          <p:cNvSpPr/>
          <p:nvPr/>
        </p:nvSpPr>
        <p:spPr>
          <a:xfrm>
            <a:off x="548640" y="1737360"/>
            <a:ext cx="2615184" cy="987552"/>
          </a:xfrm>
          <a:prstGeom prst="roundRect">
            <a:avLst/>
          </a:prstGeom>
          <a:solidFill>
            <a:srgbClr val="FFF9E6"/>
          </a:solidFill>
          <a:ln w="19050">
            <a:solidFill>
              <a:srgbClr val="FFE08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54864"/>
          <a:lstStyle/>
          <a:p>
            <a:pPr algn="ctr"/>
            <a:r>
              <a:rPr sz="850" b="1">
                <a:solidFill>
                  <a:srgbClr val="E65100"/>
                </a:solidFill>
                <a:latin typeface="Arial"/>
              </a:rPr>
              <a:t>TARGET INSCHIET TAHAP 1</a:t>
            </a:r>
          </a:p>
          <a:p>
            <a:pPr>
              <a:spcBef>
                <a:spcPts val="200"/>
              </a:spcBef>
            </a:pPr>
            <a:r>
              <a:rPr sz="1550" b="1">
                <a:solidFill>
                  <a:srgbClr val="E65100"/>
                </a:solidFill>
                <a:latin typeface="Arial"/>
              </a:rPr>
              <a:t>&lt; 4,00%</a:t>
            </a:r>
          </a:p>
          <a:p>
            <a:pPr>
              <a:spcBef>
                <a:spcPts val="100"/>
              </a:spcBef>
            </a:pPr>
            <a:r>
              <a:rPr sz="750">
                <a:solidFill>
                  <a:srgbClr val="2A2A3D"/>
                </a:solidFill>
                <a:latin typeface="Arial"/>
              </a:rPr>
              <a:t>Dari baseline 4,61% (turun -0,61 pp)</a:t>
            </a:r>
          </a:p>
        </p:txBody>
      </p:sp>
      <p:sp>
        <p:nvSpPr>
          <p:cNvPr id="9" name="Rectangle 8"/>
          <p:cNvSpPr/>
          <p:nvPr/>
        </p:nvSpPr>
        <p:spPr>
          <a:xfrm>
            <a:off x="548640" y="1737360"/>
            <a:ext cx="2615184" cy="54864"/>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74136" y="1737360"/>
            <a:ext cx="2615184" cy="987552"/>
          </a:xfrm>
          <a:prstGeom prst="roundRect">
            <a:avLst/>
          </a:prstGeom>
          <a:solidFill>
            <a:srgbClr val="E8F5E9"/>
          </a:solidFill>
          <a:ln w="1905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54864"/>
          <a:lstStyle/>
          <a:p>
            <a:pPr algn="ctr"/>
            <a:r>
              <a:rPr sz="850" b="1">
                <a:solidFill>
                  <a:srgbClr val="2E7D32"/>
                </a:solidFill>
                <a:latin typeface="Arial"/>
              </a:rPr>
              <a:t>HASIL NYATA Q2 2026</a:t>
            </a:r>
          </a:p>
          <a:p>
            <a:pPr>
              <a:spcBef>
                <a:spcPts val="200"/>
              </a:spcBef>
            </a:pPr>
            <a:r>
              <a:rPr sz="1550" b="1">
                <a:solidFill>
                  <a:srgbClr val="2E7D32"/>
                </a:solidFill>
                <a:latin typeface="Arial"/>
              </a:rPr>
              <a:t>3,33%</a:t>
            </a:r>
          </a:p>
          <a:p>
            <a:pPr>
              <a:spcBef>
                <a:spcPts val="100"/>
              </a:spcBef>
            </a:pPr>
            <a:r>
              <a:rPr sz="750">
                <a:solidFill>
                  <a:srgbClr val="2A2A3D"/>
                </a:solidFill>
                <a:latin typeface="Arial"/>
              </a:rPr>
              <a:t>Turun -1,28 pp (210% dari target awal)</a:t>
            </a:r>
          </a:p>
        </p:txBody>
      </p:sp>
      <p:sp>
        <p:nvSpPr>
          <p:cNvPr id="11" name="Rectangle 10"/>
          <p:cNvSpPr/>
          <p:nvPr/>
        </p:nvSpPr>
        <p:spPr>
          <a:xfrm>
            <a:off x="3374136" y="1737360"/>
            <a:ext cx="2615184" cy="54864"/>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99632" y="1737360"/>
            <a:ext cx="2615184" cy="987552"/>
          </a:xfrm>
          <a:prstGeom prst="roundRect">
            <a:avLst/>
          </a:prstGeom>
          <a:solidFill>
            <a:srgbClr val="F8F6FE"/>
          </a:solidFill>
          <a:ln w="1905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54864"/>
          <a:lstStyle/>
          <a:p>
            <a:pPr algn="ctr"/>
            <a:r>
              <a:rPr sz="850" b="1">
                <a:solidFill>
                  <a:srgbClr val="6A2CC9"/>
                </a:solidFill>
                <a:latin typeface="Arial"/>
              </a:rPr>
              <a:t>TARGET PENGHEMATAN TAHAP 1</a:t>
            </a:r>
          </a:p>
          <a:p>
            <a:pPr>
              <a:spcBef>
                <a:spcPts val="200"/>
              </a:spcBef>
            </a:pPr>
            <a:r>
              <a:rPr sz="1550" b="1">
                <a:solidFill>
                  <a:srgbClr val="6A2CC9"/>
                </a:solidFill>
                <a:latin typeface="Arial"/>
              </a:rPr>
              <a:t>Rp 3,25 Miliar</a:t>
            </a:r>
          </a:p>
          <a:p>
            <a:pPr>
              <a:spcBef>
                <a:spcPts val="100"/>
              </a:spcBef>
            </a:pPr>
            <a:r>
              <a:rPr sz="750">
                <a:solidFill>
                  <a:srgbClr val="2A2A3D"/>
                </a:solidFill>
                <a:latin typeface="Arial"/>
              </a:rPr>
              <a:t>Penyelamatan 1.083.585 lembar/tahun</a:t>
            </a:r>
          </a:p>
        </p:txBody>
      </p:sp>
      <p:sp>
        <p:nvSpPr>
          <p:cNvPr id="13" name="Rectangle 12"/>
          <p:cNvSpPr/>
          <p:nvPr/>
        </p:nvSpPr>
        <p:spPr>
          <a:xfrm>
            <a:off x="6199632" y="1737360"/>
            <a:ext cx="2615184" cy="54864"/>
          </a:xfrm>
          <a:prstGeom prst="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025128" y="1737360"/>
            <a:ext cx="2615184" cy="987552"/>
          </a:xfrm>
          <a:prstGeom prst="roundRect">
            <a:avLst/>
          </a:prstGeom>
          <a:solidFill>
            <a:srgbClr val="E8F5E9"/>
          </a:solidFill>
          <a:ln w="1905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54864"/>
          <a:lstStyle/>
          <a:p>
            <a:pPr algn="ctr"/>
            <a:r>
              <a:rPr sz="850" b="1">
                <a:solidFill>
                  <a:srgbClr val="2E7D32"/>
                </a:solidFill>
                <a:latin typeface="Arial"/>
              </a:rPr>
              <a:t>REALISASI PENGHEMATAN TAHUNAN</a:t>
            </a:r>
          </a:p>
          <a:p>
            <a:pPr>
              <a:spcBef>
                <a:spcPts val="200"/>
              </a:spcBef>
            </a:pPr>
            <a:r>
              <a:rPr sz="1550" b="1">
                <a:solidFill>
                  <a:srgbClr val="2E7D32"/>
                </a:solidFill>
                <a:latin typeface="Arial"/>
              </a:rPr>
              <a:t>Rp 6,82 Miliar</a:t>
            </a:r>
          </a:p>
          <a:p>
            <a:pPr>
              <a:spcBef>
                <a:spcPts val="100"/>
              </a:spcBef>
            </a:pPr>
            <a:r>
              <a:rPr sz="750">
                <a:solidFill>
                  <a:srgbClr val="2A2A3D"/>
                </a:solidFill>
                <a:latin typeface="Arial"/>
              </a:rPr>
              <a:t>Penyelamatan 2.273.752 lembar/tahun</a:t>
            </a:r>
          </a:p>
        </p:txBody>
      </p:sp>
      <p:sp>
        <p:nvSpPr>
          <p:cNvPr id="15" name="Rectangle 14"/>
          <p:cNvSpPr/>
          <p:nvPr/>
        </p:nvSpPr>
        <p:spPr>
          <a:xfrm>
            <a:off x="9025128" y="1737360"/>
            <a:ext cx="2615184" cy="54864"/>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816352"/>
            <a:ext cx="5394960" cy="310896"/>
          </a:xfrm>
          <a:prstGeom prst="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0" bIns="0" rIns="0"/>
          <a:lstStyle/>
          <a:p>
            <a:pPr algn="ctr"/>
            <a:r>
              <a:rPr sz="1000" b="1">
                <a:solidFill>
                  <a:srgbClr val="FFFFFF"/>
                </a:solidFill>
                <a:latin typeface="Arial"/>
              </a:rPr>
              <a:t>1. UJI COBA LAPANGAN (MVP) &amp; STANDAR KERJA RESMI (SOP)</a:t>
            </a:r>
          </a:p>
        </p:txBody>
      </p:sp>
      <p:sp>
        <p:nvSpPr>
          <p:cNvPr id="17" name="Rounded Rectangle 16"/>
          <p:cNvSpPr/>
          <p:nvPr/>
        </p:nvSpPr>
        <p:spPr>
          <a:xfrm>
            <a:off x="548640" y="3127248"/>
            <a:ext cx="5394960" cy="2761488"/>
          </a:xfrm>
          <a:prstGeom prst="roundRect">
            <a:avLst/>
          </a:prstGeom>
          <a:solidFill>
            <a:srgbClr val="F4F7FE"/>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58368" y="3200400"/>
            <a:ext cx="5175504" cy="1261872"/>
          </a:xfrm>
          <a:prstGeom prst="roundRect">
            <a:avLst/>
          </a:prstGeom>
          <a:solidFill>
            <a:srgbClr val="FFFFFF"/>
          </a:solidFill>
          <a:ln w="12700">
            <a:solidFill>
              <a:srgbClr val="D2DCF5"/>
            </a:solidFill>
          </a:ln>
        </p:spPr>
        <p:style>
          <a:lnRef idx="1">
            <a:schemeClr val="accent1"/>
          </a:lnRef>
          <a:fillRef idx="3">
            <a:schemeClr val="accent1"/>
          </a:fillRef>
          <a:effectRef idx="2">
            <a:schemeClr val="accent1"/>
          </a:effectRef>
          <a:fontRef idx="minor">
            <a:schemeClr val="lt1"/>
          </a:fontRef>
        </p:style>
        <p:txBody>
          <a:bodyPr rtlCol="0" anchor="ctr" wrap="square" tIns="54864" bIns="36576"/>
          <a:lstStyle/>
          <a:p>
            <a:pPr algn="ctr"/>
            <a:r>
              <a:rPr sz="819" b="1">
                <a:solidFill>
                  <a:srgbClr val="20288F"/>
                </a:solidFill>
                <a:latin typeface="Arial"/>
              </a:rPr>
              <a:t>DUKUNGAN PIMPINAN &amp; LINGKUP UJI COBA</a:t>
            </a:r>
          </a:p>
          <a:p>
            <a:pPr>
              <a:spcBef>
                <a:spcPts val="200"/>
              </a:spcBef>
            </a:pPr>
            <a:r>
              <a:rPr sz="730" b="1">
                <a:solidFill>
                  <a:srgbClr val="20288F"/>
                </a:solidFill>
                <a:latin typeface="Arial"/>
              </a:rPr>
              <a:t>• Pembina &amp; Fasilitator: </a:t>
            </a:r>
            <a:r>
              <a:rPr sz="730">
                <a:solidFill>
                  <a:srgbClr val="2A2A3D"/>
                </a:solidFill>
                <a:latin typeface="Arial"/>
              </a:rPr>
              <a:t>Didukung dan difasilitasi langsung oleh Kepala Departemen SBU High Security Solution bersama Kepala Seksi Cetak Pita Cukai.</a:t>
            </a:r>
          </a:p>
          <a:p>
            <a:pPr>
              <a:spcBef>
                <a:spcPts val="200"/>
              </a:spcBef>
            </a:pPr>
            <a:r>
              <a:rPr sz="730" b="1">
                <a:solidFill>
                  <a:srgbClr val="20288F"/>
                </a:solidFill>
                <a:latin typeface="Arial"/>
              </a:rPr>
              <a:t>• Lokasi &amp; Mesin: </a:t>
            </a:r>
            <a:r>
              <a:rPr sz="730">
                <a:solidFill>
                  <a:srgbClr val="2A2A3D"/>
                </a:solidFill>
                <a:latin typeface="Arial"/>
              </a:rPr>
              <a:t>Dijalankan pada 6 mesin cetak utama (4 Komori: KMR 1–4, 2 Ryobi: RYB 1–2) + 3 GTO, 3 shift non-stop 24 jam, melibatkan ±42 operator di Karawang.</a:t>
            </a:r>
          </a:p>
        </p:txBody>
      </p:sp>
      <p:sp>
        <p:nvSpPr>
          <p:cNvPr id="19" name="Rounded Rectangle 18"/>
          <p:cNvSpPr/>
          <p:nvPr/>
        </p:nvSpPr>
        <p:spPr>
          <a:xfrm>
            <a:off x="658368" y="4535424"/>
            <a:ext cx="5175504" cy="1280160"/>
          </a:xfrm>
          <a:prstGeom prst="roundRect">
            <a:avLst/>
          </a:prstGeom>
          <a:solidFill>
            <a:srgbClr val="FFFFFF"/>
          </a:solidFill>
          <a:ln w="1270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tIns="54864" bIns="36576"/>
          <a:lstStyle/>
          <a:p>
            <a:pPr algn="ctr"/>
            <a:r>
              <a:rPr sz="819" b="1">
                <a:solidFill>
                  <a:srgbClr val="6A2CC9"/>
                </a:solidFill>
                <a:latin typeface="Arial"/>
              </a:rPr>
              <a:t>DIKUNCI JADI 3 STANDAR OPERASIONAL RESMI PERUSAHAAN</a:t>
            </a:r>
          </a:p>
          <a:p>
            <a:pPr>
              <a:spcBef>
                <a:spcPts val="150"/>
              </a:spcBef>
            </a:pPr>
            <a:r>
              <a:rPr sz="710" b="1">
                <a:solidFill>
                  <a:srgbClr val="6A2CC9"/>
                </a:solidFill>
                <a:latin typeface="Arial"/>
              </a:rPr>
              <a:t>• IK-PPC-2026-001: </a:t>
            </a:r>
            <a:r>
              <a:rPr sz="710">
                <a:solidFill>
                  <a:srgbClr val="2A2A3D"/>
                </a:solidFill>
                <a:latin typeface="Arial"/>
              </a:rPr>
              <a:t>Panduan resmi operator mengisi konfirmasi nomor PO di komputer meja mesin.</a:t>
            </a:r>
          </a:p>
          <a:p>
            <a:pPr>
              <a:spcBef>
                <a:spcPts val="150"/>
              </a:spcBef>
            </a:pPr>
            <a:r>
              <a:rPr sz="710" b="1">
                <a:solidFill>
                  <a:srgbClr val="6A2CC9"/>
                </a:solidFill>
                <a:latin typeface="Arial"/>
              </a:rPr>
              <a:t>• SOP-PPC-2026-004: </a:t>
            </a:r>
            <a:r>
              <a:rPr sz="710">
                <a:solidFill>
                  <a:srgbClr val="2A2A3D"/>
                </a:solidFill>
                <a:latin typeface="Arial"/>
              </a:rPr>
              <a:t>Prosedur teknisi memeriksa dasbor cacat SIRINE sebelum membongkar mesin.</a:t>
            </a:r>
          </a:p>
          <a:p>
            <a:pPr>
              <a:spcBef>
                <a:spcPts val="150"/>
              </a:spcBef>
            </a:pPr>
            <a:r>
              <a:rPr sz="710" b="1">
                <a:solidFill>
                  <a:srgbClr val="6A2CC9"/>
                </a:solidFill>
                <a:latin typeface="Arial"/>
              </a:rPr>
              <a:t>• BA-PPC-2026-002: </a:t>
            </a:r>
            <a:r>
              <a:rPr sz="710">
                <a:solidFill>
                  <a:srgbClr val="2A2A3D"/>
                </a:solidFill>
                <a:latin typeface="Arial"/>
              </a:rPr>
              <a:t>Berita acara penarikan total buku folio fisik per 1 Januari 2026 (tanpa kerja ganda).</a:t>
            </a:r>
          </a:p>
          <a:p>
            <a:pPr>
              <a:spcBef>
                <a:spcPts val="150"/>
              </a:spcBef>
            </a:pPr>
            <a:r>
              <a:rPr sz="710" b="1">
                <a:solidFill>
                  <a:srgbClr val="6A2CC9"/>
                </a:solidFill>
                <a:latin typeface="Arial"/>
              </a:rPr>
              <a:t>• Standar Mutu: </a:t>
            </a:r>
            <a:r>
              <a:rPr sz="710">
                <a:solidFill>
                  <a:srgbClr val="2A2A3D"/>
                </a:solidFill>
                <a:latin typeface="Arial"/>
              </a:rPr>
              <a:t>Memenuhi ISO 9001:2015 (pelacakan order &amp; analisa data) dan INDI 4.0 BUMN.</a:t>
            </a:r>
          </a:p>
        </p:txBody>
      </p:sp>
      <p:sp>
        <p:nvSpPr>
          <p:cNvPr id="20" name="Rectangle 19"/>
          <p:cNvSpPr/>
          <p:nvPr/>
        </p:nvSpPr>
        <p:spPr>
          <a:xfrm>
            <a:off x="6199632" y="2816352"/>
            <a:ext cx="5440680" cy="310896"/>
          </a:xfrm>
          <a:prstGeom prst="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0" bIns="0" rIns="0"/>
          <a:lstStyle/>
          <a:p>
            <a:pPr algn="ctr"/>
            <a:r>
              <a:rPr sz="1000" b="1">
                <a:solidFill>
                  <a:srgbClr val="FFFFFF"/>
                </a:solidFill>
                <a:latin typeface="Arial"/>
              </a:rPr>
              <a:t>2. HITUNGAN TERBUKA POTENSI PENGHEMATAN BIAYA</a:t>
            </a:r>
          </a:p>
        </p:txBody>
      </p:sp>
      <p:sp>
        <p:nvSpPr>
          <p:cNvPr id="21" name="Rounded Rectangle 20"/>
          <p:cNvSpPr/>
          <p:nvPr/>
        </p:nvSpPr>
        <p:spPr>
          <a:xfrm>
            <a:off x="6199632" y="3127248"/>
            <a:ext cx="5440680" cy="2761488"/>
          </a:xfrm>
          <a:prstGeom prst="roundRect">
            <a:avLst/>
          </a:prstGeom>
          <a:solidFill>
            <a:srgbClr val="F8F6FE"/>
          </a:solidFill>
          <a:ln w="1270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309360" y="3200400"/>
            <a:ext cx="5221224" cy="822960"/>
          </a:xfrm>
          <a:prstGeom prst="roundRect">
            <a:avLst/>
          </a:prstGeom>
          <a:solidFill>
            <a:srgbClr val="FFFFFF"/>
          </a:solidFill>
          <a:ln w="12700">
            <a:solidFill>
              <a:srgbClr val="D9CEF7"/>
            </a:solidFill>
          </a:ln>
        </p:spPr>
        <p:style>
          <a:lnRef idx="1">
            <a:schemeClr val="accent1"/>
          </a:lnRef>
          <a:fillRef idx="3">
            <a:schemeClr val="accent1"/>
          </a:fillRef>
          <a:effectRef idx="2">
            <a:schemeClr val="accent1"/>
          </a:effectRef>
          <a:fontRef idx="minor">
            <a:schemeClr val="lt1"/>
          </a:fontRef>
        </p:style>
        <p:txBody>
          <a:bodyPr rtlCol="0" anchor="ctr" wrap="square" tIns="36576" bIns="18288"/>
          <a:lstStyle/>
          <a:p>
            <a:pPr algn="ctr"/>
            <a:r>
              <a:rPr sz="780" b="1">
                <a:solidFill>
                  <a:srgbClr val="6A2CC9"/>
                </a:solidFill>
                <a:latin typeface="Arial"/>
              </a:rPr>
              <a:t>ASUMSI DASAR OPERASIONAL (TERBUKA &amp; JELAS)</a:t>
            </a:r>
          </a:p>
          <a:p>
            <a:pPr>
              <a:spcBef>
                <a:spcPts val="100"/>
              </a:spcBef>
            </a:pPr>
            <a:r>
              <a:rPr sz="700" b="1">
                <a:solidFill>
                  <a:srgbClr val="6A2CC9"/>
                </a:solidFill>
                <a:latin typeface="Arial"/>
              </a:rPr>
              <a:t>• Volume Order Tahun 2025: </a:t>
            </a:r>
            <a:r>
              <a:rPr sz="700">
                <a:solidFill>
                  <a:srgbClr val="2A2A3D"/>
                </a:solidFill>
                <a:latin typeface="Arial"/>
              </a:rPr>
              <a:t>177.636.930 Lembar Cetak (data resmi SAP ZPPRSIPPC0012).</a:t>
            </a:r>
          </a:p>
          <a:p>
            <a:pPr>
              <a:spcBef>
                <a:spcPts val="100"/>
              </a:spcBef>
            </a:pPr>
            <a:r>
              <a:rPr sz="700" b="1">
                <a:solidFill>
                  <a:srgbClr val="6A2CC9"/>
                </a:solidFill>
                <a:latin typeface="Arial"/>
              </a:rPr>
              <a:t>• Kerusakan Awal (Baseline 2025): </a:t>
            </a:r>
            <a:r>
              <a:rPr sz="700">
                <a:solidFill>
                  <a:srgbClr val="2A2A3D"/>
                </a:solidFill>
                <a:latin typeface="Arial"/>
              </a:rPr>
              <a:t>4,61% (8.189.062 lembar rusak = rugi Rp 24,56 Miliar/tahun).</a:t>
            </a:r>
          </a:p>
          <a:p>
            <a:pPr>
              <a:spcBef>
                <a:spcPts val="100"/>
              </a:spcBef>
            </a:pPr>
            <a:r>
              <a:rPr sz="700" b="1">
                <a:solidFill>
                  <a:srgbClr val="6A2CC9"/>
                </a:solidFill>
                <a:latin typeface="Arial"/>
              </a:rPr>
              <a:t>• Estimasi Biaya Cetak per Lembar: </a:t>
            </a:r>
            <a:r>
              <a:rPr sz="700">
                <a:solidFill>
                  <a:srgbClr val="2A2A3D"/>
                </a:solidFill>
                <a:latin typeface="Arial"/>
              </a:rPr>
              <a:t>Rp 3.000 / Lembar* (kertas sekuriti, tinta UV, jam mesin, SDM).</a:t>
            </a:r>
          </a:p>
        </p:txBody>
      </p:sp>
      <p:sp>
        <p:nvSpPr>
          <p:cNvPr id="23" name="Rounded Rectangle 22"/>
          <p:cNvSpPr/>
          <p:nvPr/>
        </p:nvSpPr>
        <p:spPr>
          <a:xfrm>
            <a:off x="6309360" y="4078224"/>
            <a:ext cx="5221224" cy="1737360"/>
          </a:xfrm>
          <a:prstGeom prst="roundRect">
            <a:avLst/>
          </a:prstGeom>
          <a:solidFill>
            <a:srgbClr val="FFFFFF"/>
          </a:solidFill>
          <a:ln w="1270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tIns="54864" bIns="36576"/>
          <a:lstStyle/>
          <a:p>
            <a:pPr algn="ctr"/>
            <a:r>
              <a:rPr sz="800" b="1">
                <a:solidFill>
                  <a:srgbClr val="2E7D32"/>
                </a:solidFill>
                <a:latin typeface="Arial"/>
              </a:rPr>
              <a:t>SIMULASI PENGHEMATAN DARI PENURUNAN RUSAK</a:t>
            </a:r>
          </a:p>
          <a:p>
            <a:pPr>
              <a:spcBef>
                <a:spcPts val="200"/>
              </a:spcBef>
            </a:pPr>
            <a:r>
              <a:rPr sz="710" b="1">
                <a:solidFill>
                  <a:srgbClr val="2A2A3D"/>
                </a:solidFill>
                <a:latin typeface="Arial"/>
              </a:rPr>
              <a:t>1. Target Awal Tahap 1 (Inschiet &lt; 4,00% / Turun 0,61 pp):
</a:t>
            </a:r>
            <a:r>
              <a:rPr sz="700">
                <a:solidFill>
                  <a:srgbClr val="2A2A3D"/>
                </a:solidFill>
                <a:latin typeface="Arial"/>
              </a:rPr>
              <a:t>   ➔ 177.636.930 lembar × 0,61% = 1.083.585 lembar diselamatkan × Rp 3.000 = </a:t>
            </a:r>
            <a:r>
              <a:rPr sz="720" b="1">
                <a:solidFill>
                  <a:srgbClr val="6A2CC9"/>
                </a:solidFill>
                <a:latin typeface="Arial"/>
              </a:rPr>
              <a:t>Rp 3,25 Miliar / Tahun</a:t>
            </a:r>
          </a:p>
          <a:p>
            <a:pPr>
              <a:spcBef>
                <a:spcPts val="200"/>
              </a:spcBef>
            </a:pPr>
            <a:r>
              <a:rPr sz="710" b="1">
                <a:solidFill>
                  <a:srgbClr val="2A2A3D"/>
                </a:solidFill>
                <a:latin typeface="Arial"/>
              </a:rPr>
              <a:t>2. Realisasi Penuh Q2 2026 (Inschiet 3,33% / Turun 1,28 pp):
</a:t>
            </a:r>
            <a:r>
              <a:rPr sz="700">
                <a:solidFill>
                  <a:srgbClr val="2A2A3D"/>
                </a:solidFill>
                <a:latin typeface="Arial"/>
              </a:rPr>
              <a:t>   ➔ 177.636.930 lembar × 1,28% = 2.273.752 lembar diselamatkan × Rp 3.000 = </a:t>
            </a:r>
            <a:r>
              <a:rPr sz="720" b="1">
                <a:solidFill>
                  <a:srgbClr val="2E7D32"/>
                </a:solidFill>
                <a:latin typeface="Arial"/>
              </a:rPr>
              <a:t>Rp 6,82 Miliar / Tahun</a:t>
            </a:r>
          </a:p>
          <a:p>
            <a:pPr>
              <a:spcBef>
                <a:spcPts val="200"/>
              </a:spcBef>
            </a:pPr>
            <a:r>
              <a:rPr sz="710" b="1">
                <a:solidFill>
                  <a:srgbClr val="2A2A3D"/>
                </a:solidFill>
                <a:latin typeface="Arial"/>
              </a:rPr>
              <a:t>3. Penghematan Nyata Semester 1 2026 (103,3 Juta Lembar):
</a:t>
            </a:r>
            <a:r>
              <a:rPr sz="700">
                <a:solidFill>
                  <a:srgbClr val="2A2A3D"/>
                </a:solidFill>
                <a:latin typeface="Arial"/>
              </a:rPr>
              <a:t>   ➔ Total hemat 743.234 lembar × Rp 3.000 = </a:t>
            </a:r>
            <a:r>
              <a:rPr sz="720" b="1">
                <a:solidFill>
                  <a:srgbClr val="2E7D32"/>
                </a:solidFill>
                <a:latin typeface="Arial"/>
              </a:rPr>
              <a:t>Rp 2,23 Miliar (Dalam 6 Bulan Pertama)</a:t>
            </a:r>
          </a:p>
        </p:txBody>
      </p:sp>
      <p:sp>
        <p:nvSpPr>
          <p:cNvPr id="24" name="Rounded Rectangle 23"/>
          <p:cNvSpPr/>
          <p:nvPr/>
        </p:nvSpPr>
        <p:spPr>
          <a:xfrm>
            <a:off x="548640" y="5961888"/>
            <a:ext cx="11091672" cy="402336"/>
          </a:xfrm>
          <a:prstGeom prst="roundRect">
            <a:avLst/>
          </a:prstGeom>
          <a:solidFill>
            <a:srgbClr val="FFF9E6"/>
          </a:solidFill>
          <a:ln w="12700">
            <a:solidFill>
              <a:srgbClr val="FFE08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r>
              <a:rPr sz="730" b="1">
                <a:solidFill>
                  <a:srgbClr val="E65100"/>
                </a:solidFill>
                <a:latin typeface="Arial"/>
              </a:rPr>
              <a:t>*Catatan Simulasi Finansial: </a:t>
            </a:r>
            <a:r>
              <a:rPr sz="710">
                <a:solidFill>
                  <a:srgbClr val="2A2A3D"/>
                </a:solidFill>
                <a:latin typeface="Arial"/>
              </a:rPr>
              <a:t>Angka Rp 3.000/lembar adalah estimasi biaya cetak internal untuk menghitung penghematan (cost avoidance), bukan harga jual resmi produk atau HPP rahasia perusahaan.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TotalTime>
  <Words>1047</Words>
  <Application>Microsoft Office PowerPoint</Application>
  <PresentationFormat>Widescreen</PresentationFormat>
  <Paragraphs>112</Paragraphs>
  <Slides>11</Slides>
  <Notes>11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HY1-NB-080</cp:lastModifiedBy>
  <cp:revision>6</cp:revision>
  <dcterms:created xsi:type="dcterms:W3CDTF">2026-07-28T04:35:05Z</dcterms:created>
  <dcterms:modified xsi:type="dcterms:W3CDTF">2026-07-28T07:03:02Z</dcterms:modified>
</cp:coreProperties>
</file>
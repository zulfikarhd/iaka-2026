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67" r:id="rId18"/>
    <p:sldId id="259" r:id="rId5"/>
    <p:sldId id="260" r:id="rId6"/>
    <p:sldId id="268" r:id="rId20"/>
    <p:sldId id="273" r:id="rId25"/>
    <p:sldId id="274" r:id="rId26"/>
    <p:sldId id="275" r:id="rId27"/>
    <p:sldId id="276" r:id="rId28"/>
    <p:sldId id="262" r:id="rId8"/>
    <p:sldId id="277" r:id="rId29"/>
    <p:sldId id="263" r:id="rId9"/>
    <p:sldId id="278" r:id="rId30"/>
    <p:sldId id="264" r:id="rId10"/>
    <p:sldId id="279" r:id="rId31"/>
    <p:sldId id="265" r:id="rId11"/>
    <p:sldId id="280" r:id="rId32"/>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4" d="100"/>
          <a:sy n="74" d="100"/>
        </p:scale>
        <p:origin x="356"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8.xml"/><Relationship Id="rId8" Type="http://schemas.openxmlformats.org/officeDocument/2006/relationships/slide" Target="slides/slide12.xml"/><Relationship Id="rId9" Type="http://schemas.openxmlformats.org/officeDocument/2006/relationships/slide" Target="slides/slide14.xml"/><Relationship Id="rId10" Type="http://schemas.openxmlformats.org/officeDocument/2006/relationships/slide" Target="slides/slide16.xml"/><Relationship Id="rId11" Type="http://schemas.openxmlformats.org/officeDocument/2006/relationships/slide" Target="slides/slide18.xml"/><Relationship Id="rId12" Type="http://schemas.openxmlformats.org/officeDocument/2006/relationships/slide" Target="slides/slide19.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4.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3.xml"/><Relationship Id="rId30" Type="http://schemas.openxmlformats.org/officeDocument/2006/relationships/slide" Target="slides/slide15.xml"/><Relationship Id="rId31" Type="http://schemas.openxmlformats.org/officeDocument/2006/relationships/slide" Target="slides/slide17.xml"/><Relationship Id="rId32"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Inschiet 2025 (%)</c:v>
                </c:pt>
              </c:strCache>
            </c:strRef>
          </c:tx>
          <c:spPr>
            <a:solidFill>
              <a:srgbClr val="6A2CC9"/>
            </a:solidFill>
          </c:spPr>
          <c:cat>
            <c:strRef>
              <c:f>Sheet1!$A$2:$A$5</c:f>
              <c:strCache>
                <c:ptCount val="4"/>
                <c:pt idx="0">
                  <c:v>Q1 (Jan-Mar)</c:v>
                </c:pt>
                <c:pt idx="1">
                  <c:v>Q2 (Apr-Jun)</c:v>
                </c:pt>
                <c:pt idx="2">
                  <c:v>Q3 (Jul-Sep)</c:v>
                </c:pt>
                <c:pt idx="3">
                  <c:v>Q4 (Okt-Des)</c:v>
                </c:pt>
              </c:strCache>
            </c:strRef>
          </c:cat>
          <c:val>
            <c:numRef>
              <c:f>Sheet1!$B$2:$B$5</c:f>
              <c:numCache>
                <c:formatCode>General</c:formatCode>
                <c:ptCount val="4"/>
                <c:pt idx="0">
                  <c:v>4.72</c:v>
                </c:pt>
                <c:pt idx="1">
                  <c:v>3.97</c:v>
                </c:pt>
                <c:pt idx="2">
                  <c:v>4.64</c:v>
                </c:pt>
                <c:pt idx="3">
                  <c:v>5.11</c:v>
                </c:pt>
              </c:numCache>
            </c:numRef>
          </c:val>
        </c:ser>
        <c:dLbls>
          <c:txPr>
            <a:bodyPr/>
            <a:lstStyle/>
            <a:p>
              <a:pPr>
                <a:defRPr sz="1000" b="1">
                  <a:solidFill>
                    <a:srgbClr val="20288F"/>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850">
                <a:latin typeface="Arial"/>
              </a:defRPr>
            </a:pPr>
          </a:p>
        </c:txPr>
        <c:crossAx val="-2113994440"/>
        <c:crosses val="autoZero"/>
        <c:auto val="1"/>
        <c:lblAlgn val="ctr"/>
        <c:lblOffset val="100"/>
        <c:noMultiLvlLbl val="0"/>
      </c:catAx>
      <c:valAx>
        <c:axId val="-2113994440"/>
        <c:scaling>
          <c:max val="6.0"/>
          <c:min val="0.0"/>
        </c:scaling>
        <c:delete val="0"/>
        <c:axPos val="l"/>
        <c:majorGridlines/>
        <c:majorTickMark val="out"/>
        <c:minorTickMark val="none"/>
        <c:tickLblPos val="nextTo"/>
        <c:txPr>
          <a:bodyPr/>
          <a:lstStyle/>
          <a:p>
            <a:pPr>
              <a:defRPr sz="850">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Inschiet (%)</c:v>
                </c:pt>
              </c:strCache>
            </c:strRef>
          </c:tx>
          <c:spPr>
            <a:solidFill>
              <a:srgbClr val="6A2CC9"/>
            </a:solidFill>
          </c:spPr>
          <c:cat>
            <c:strRef>
              <c:f>Sheet1!$A$2:$A$5</c:f>
              <c:strCache>
                <c:ptCount val="4"/>
                <c:pt idx="0">
                  <c:v>Q1 2025</c:v>
                </c:pt>
                <c:pt idx="1">
                  <c:v>Q2 2025</c:v>
                </c:pt>
                <c:pt idx="2">
                  <c:v>Q3 2025</c:v>
                </c:pt>
                <c:pt idx="3">
                  <c:v>Q4 2025</c:v>
                </c:pt>
              </c:strCache>
            </c:strRef>
          </c:cat>
          <c:val>
            <c:numRef>
              <c:f>Sheet1!$B$2:$B$5</c:f>
              <c:numCache>
                <c:formatCode>General</c:formatCode>
                <c:ptCount val="4"/>
                <c:pt idx="0">
                  <c:v>4.72</c:v>
                </c:pt>
                <c:pt idx="1">
                  <c:v>3.97</c:v>
                </c:pt>
                <c:pt idx="2">
                  <c:v>4.64</c:v>
                </c:pt>
                <c:pt idx="3">
                  <c:v>5.11</c:v>
                </c:pt>
              </c:numCache>
            </c:numRef>
          </c:val>
        </c:ser>
        <c:dLbls>
          <c:txPr>
            <a:bodyPr/>
            <a:lstStyle/>
            <a:p>
              <a:pPr>
                <a:defRPr sz="900" b="1">
                  <a:solidFill>
                    <a:srgbClr val="20288F"/>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850" b="1">
                <a:latin typeface="Arial"/>
              </a:defRPr>
            </a:pPr>
          </a:p>
        </c:txPr>
        <c:crossAx val="-2113994440"/>
        <c:crosses val="autoZero"/>
        <c:auto val="1"/>
        <c:lblAlgn val="ctr"/>
        <c:lblOffset val="100"/>
        <c:noMultiLvlLbl val="0"/>
      </c:catAx>
      <c:valAx>
        <c:axId val="-2113994440"/>
        <c:scaling>
          <c:max val="6.0"/>
          <c:min val="0.0"/>
        </c:scaling>
        <c:delete val="0"/>
        <c:axPos val="l"/>
        <c:majorGridlines/>
        <c:majorTickMark val="out"/>
        <c:minorTickMark val="none"/>
        <c:tickLblPos val="nextTo"/>
        <c:txPr>
          <a:bodyPr/>
          <a:lstStyle/>
          <a:p>
            <a:pPr>
              <a:defRPr sz="800">
                <a:latin typeface="Arial"/>
              </a:defRPr>
            </a:pPr>
          </a:p>
        </c:txPr>
        <c:crossAx val="-2068027336"/>
        <c:crosses val="autoZero"/>
        <c:majorUnit val="1.0"/>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Inschiet (%)</c:v>
                </c:pt>
              </c:strCache>
            </c:strRef>
          </c:tx>
          <c:spPr>
            <a:solidFill>
              <a:srgbClr val="6A2CC9"/>
            </a:solidFill>
          </c:spPr>
          <c:cat>
            <c:strRef>
              <c:f>Sheet1!$A$2:$A$5</c:f>
              <c:strCache>
                <c:ptCount val="4"/>
                <c:pt idx="0">
                  <c:v>Q1 2025</c:v>
                </c:pt>
                <c:pt idx="1">
                  <c:v>Q2 2025</c:v>
                </c:pt>
                <c:pt idx="2">
                  <c:v>Q3 2025</c:v>
                </c:pt>
                <c:pt idx="3">
                  <c:v>Q4 2025</c:v>
                </c:pt>
              </c:strCache>
            </c:strRef>
          </c:cat>
          <c:val>
            <c:numRef>
              <c:f>Sheet1!$B$2:$B$5</c:f>
              <c:numCache>
                <c:formatCode>General</c:formatCode>
                <c:ptCount val="4"/>
                <c:pt idx="0">
                  <c:v>4.72</c:v>
                </c:pt>
                <c:pt idx="1">
                  <c:v>3.97</c:v>
                </c:pt>
                <c:pt idx="2">
                  <c:v>4.64</c:v>
                </c:pt>
                <c:pt idx="3">
                  <c:v>5.11</c:v>
                </c:pt>
              </c:numCache>
            </c:numRef>
          </c:val>
        </c:ser>
        <c:dLbls>
          <c:txPr>
            <a:bodyPr/>
            <a:lstStyle/>
            <a:p>
              <a:pPr>
                <a:defRPr sz="850" b="1">
                  <a:solidFill>
                    <a:srgbClr val="20288F"/>
                  </a:solidFill>
                  <a:latin typeface="Aria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800" b="1">
                <a:latin typeface="Arial"/>
              </a:defRPr>
            </a:pPr>
          </a:p>
        </c:txPr>
        <c:crossAx val="-2113994440"/>
        <c:crosses val="autoZero"/>
        <c:auto val="1"/>
        <c:lblAlgn val="ctr"/>
        <c:lblOffset val="100"/>
        <c:noMultiLvlLbl val="0"/>
      </c:catAx>
      <c:valAx>
        <c:axId val="-2113994440"/>
        <c:scaling>
          <c:max val="6.0"/>
          <c:min val="0.0"/>
        </c:scaling>
        <c:delete val="0"/>
        <c:axPos val="l"/>
        <c:majorGridlines/>
        <c:majorTickMark val="out"/>
        <c:minorTickMark val="none"/>
        <c:tickLblPos val="nextTo"/>
        <c:txPr>
          <a:bodyPr/>
          <a:lstStyle/>
          <a:p>
            <a:pPr>
              <a:defRPr sz="750">
                <a:latin typeface="Arial"/>
              </a:defRPr>
            </a:pPr>
          </a:p>
        </c:txPr>
        <c:crossAx val="-2068027336"/>
        <c:crosses val="autoZero"/>
        <c:majorUnit val="1.0"/>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Inschiet (%)</c:v>
                </c:pt>
              </c:strCache>
            </c:strRef>
          </c:tx>
          <c:spPr>
            <a:solidFill>
              <a:srgbClr val="6A2CC9"/>
            </a:solidFill>
          </c:spPr>
          <c:cat>
            <c:strRef>
              <c:f>Sheet1!$A$2:$A$5</c:f>
              <c:strCache>
                <c:ptCount val="4"/>
                <c:pt idx="0">
                  <c:v>Baseline 2025</c:v>
                </c:pt>
                <c:pt idx="1">
                  <c:v>Target MVP</c:v>
                </c:pt>
                <c:pt idx="2">
                  <c:v>Realisasi Q1</c:v>
                </c:pt>
                <c:pt idx="3">
                  <c:v>Realisasi Q2</c:v>
                </c:pt>
              </c:strCache>
            </c:strRef>
          </c:cat>
          <c:val>
            <c:numRef>
              <c:f>Sheet1!$B$2:$B$5</c:f>
              <c:numCache>
                <c:formatCode>General</c:formatCode>
                <c:ptCount val="4"/>
                <c:pt idx="0">
                  <c:v>4.61</c:v>
                </c:pt>
                <c:pt idx="1">
                  <c:v>4.0</c:v>
                </c:pt>
                <c:pt idx="2">
                  <c:v>4.34</c:v>
                </c:pt>
                <c:pt idx="3">
                  <c:v>3.33</c:v>
                </c:pt>
              </c:numCache>
            </c:numRef>
          </c:val>
        </c:ser>
        <c:dLbls>
          <c:txPr>
            <a:bodyPr/>
            <a:lstStyle/>
            <a:p>
              <a:pPr>
                <a:defRPr sz="800" b="1">
                  <a:solidFill>
                    <a:srgbClr val="1A237E"/>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Inschiet (%)</c:v>
                </c:pt>
              </c:strCache>
            </c:strRef>
          </c:tx>
          <c:spPr>
            <a:solidFill>
              <a:srgbClr val="6A2CC9"/>
            </a:solidFill>
          </c:spPr>
          <c:cat>
            <c:strRef>
              <c:f>Sheet1!$A$2:$A$5</c:f>
              <c:strCache>
                <c:ptCount val="4"/>
                <c:pt idx="0">
                  <c:v>Baseline 2025</c:v>
                </c:pt>
                <c:pt idx="1">
                  <c:v>Target MVP</c:v>
                </c:pt>
                <c:pt idx="2">
                  <c:v>Realisasi Q1</c:v>
                </c:pt>
                <c:pt idx="3">
                  <c:v>Realisasi Q2</c:v>
                </c:pt>
              </c:strCache>
            </c:strRef>
          </c:cat>
          <c:val>
            <c:numRef>
              <c:f>Sheet1!$B$2:$B$5</c:f>
              <c:numCache>
                <c:formatCode>General</c:formatCode>
                <c:ptCount val="4"/>
                <c:pt idx="0">
                  <c:v>4.61</c:v>
                </c:pt>
                <c:pt idx="1">
                  <c:v>4.0</c:v>
                </c:pt>
                <c:pt idx="2">
                  <c:v>4.34</c:v>
                </c:pt>
                <c:pt idx="3">
                  <c:v>3.33</c:v>
                </c:pt>
              </c:numCache>
            </c:numRef>
          </c:val>
        </c:ser>
        <c:dLbls>
          <c:txPr>
            <a:bodyPr/>
            <a:lstStyle/>
            <a:p>
              <a:pPr>
                <a:defRPr sz="800" b="1">
                  <a:solidFill>
                    <a:srgbClr val="1A237E"/>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Nilai Finansial (Rp Miliar)</c:v>
                </c:pt>
              </c:strCache>
            </c:strRef>
          </c:tx>
          <c:spPr>
            <a:solidFill>
              <a:srgbClr val="6A2CC9"/>
            </a:solidFill>
          </c:spPr>
          <c:cat>
            <c:strRef>
              <c:f>Sheet1!$A$2:$A$5</c:f>
              <c:strCache>
                <c:ptCount val="4"/>
                <c:pt idx="0">
                  <c:v>Pemborosan 2025</c:v>
                </c:pt>
                <c:pt idx="1">
                  <c:v>Realisasi S1 2026</c:v>
                </c:pt>
                <c:pt idx="2">
                  <c:v>Proyeksi Hemat/Thn</c:v>
                </c:pt>
                <c:pt idx="3">
                  <c:v>Investasi CAPEX</c:v>
                </c:pt>
              </c:strCache>
            </c:strRef>
          </c:cat>
          <c:val>
            <c:numRef>
              <c:f>Sheet1!$B$2:$B$5</c:f>
              <c:numCache>
                <c:formatCode>General</c:formatCode>
                <c:ptCount val="4"/>
                <c:pt idx="0">
                  <c:v>24.56</c:v>
                </c:pt>
                <c:pt idx="1">
                  <c:v>2.23</c:v>
                </c:pt>
                <c:pt idx="2">
                  <c:v>6.82</c:v>
                </c:pt>
                <c:pt idx="3">
                  <c:v>0.0</c:v>
                </c:pt>
              </c:numCache>
            </c:numRef>
          </c:val>
        </c:ser>
        <c:dLbls>
          <c:txPr>
            <a:bodyPr/>
            <a:lstStyle/>
            <a:p>
              <a:pPr>
                <a:defRPr sz="800" b="1">
                  <a:solidFill>
                    <a:srgbClr val="1A237E"/>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Inschiet (%)</c:v>
                </c:pt>
              </c:strCache>
            </c:strRef>
          </c:tx>
          <c:spPr>
            <a:solidFill>
              <a:srgbClr val="6A2CC9"/>
            </a:solidFill>
          </c:spPr>
          <c:cat>
            <c:strRef>
              <c:f>Sheet1!$A$2:$A$5</c:f>
              <c:strCache>
                <c:ptCount val="4"/>
                <c:pt idx="0">
                  <c:v>Baseline 2025</c:v>
                </c:pt>
                <c:pt idx="1">
                  <c:v>Target MVP</c:v>
                </c:pt>
                <c:pt idx="2">
                  <c:v>Realisasi Q1</c:v>
                </c:pt>
                <c:pt idx="3">
                  <c:v>Realisasi Q2</c:v>
                </c:pt>
              </c:strCache>
            </c:strRef>
          </c:cat>
          <c:val>
            <c:numRef>
              <c:f>Sheet1!$B$2:$B$5</c:f>
              <c:numCache>
                <c:formatCode>General</c:formatCode>
                <c:ptCount val="4"/>
                <c:pt idx="0">
                  <c:v>4.61</c:v>
                </c:pt>
                <c:pt idx="1">
                  <c:v>4.0</c:v>
                </c:pt>
                <c:pt idx="2">
                  <c:v>4.34</c:v>
                </c:pt>
                <c:pt idx="3">
                  <c:v>3.33</c:v>
                </c:pt>
              </c:numCache>
            </c:numRef>
          </c:val>
        </c:ser>
        <c:dLbls>
          <c:txPr>
            <a:bodyPr/>
            <a:lstStyle/>
            <a:p>
              <a:pPr>
                <a:defRPr sz="800" b="1">
                  <a:solidFill>
                    <a:srgbClr val="1A237E"/>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Nilai Finansial (Rp Miliar)</c:v>
                </c:pt>
              </c:strCache>
            </c:strRef>
          </c:tx>
          <c:spPr>
            <a:solidFill>
              <a:srgbClr val="6A2CC9"/>
            </a:solidFill>
          </c:spPr>
          <c:cat>
            <c:strRef>
              <c:f>Sheet1!$A$2:$A$5</c:f>
              <c:strCache>
                <c:ptCount val="4"/>
                <c:pt idx="0">
                  <c:v>Pemborosan 2025</c:v>
                </c:pt>
                <c:pt idx="1">
                  <c:v>Realisasi S1 2026</c:v>
                </c:pt>
                <c:pt idx="2">
                  <c:v>Proyeksi Hemat/Thn</c:v>
                </c:pt>
                <c:pt idx="3">
                  <c:v>Investasi CAPEX</c:v>
                </c:pt>
              </c:strCache>
            </c:strRef>
          </c:cat>
          <c:val>
            <c:numRef>
              <c:f>Sheet1!$B$2:$B$5</c:f>
              <c:numCache>
                <c:formatCode>General</c:formatCode>
                <c:ptCount val="4"/>
                <c:pt idx="0">
                  <c:v>24.56</c:v>
                </c:pt>
                <c:pt idx="1">
                  <c:v>2.23</c:v>
                </c:pt>
                <c:pt idx="2">
                  <c:v>6.82</c:v>
                </c:pt>
                <c:pt idx="3">
                  <c:v>0.0</c:v>
                </c:pt>
              </c:numCache>
            </c:numRef>
          </c:val>
        </c:ser>
        <c:dLbls>
          <c:txPr>
            <a:bodyPr/>
            <a:lstStyle/>
            <a:p>
              <a:pPr>
                <a:defRPr sz="800" b="1">
                  <a:solidFill>
                    <a:srgbClr val="1A237E"/>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Nilai Finansial (Rp Miliar)</c:v>
                </c:pt>
              </c:strCache>
            </c:strRef>
          </c:tx>
          <c:spPr>
            <a:solidFill>
              <a:srgbClr val="6A2CC9"/>
            </a:solidFill>
          </c:spPr>
          <c:cat>
            <c:strRef>
              <c:f>Sheet1!$A$2:$A$5</c:f>
              <c:strCache>
                <c:ptCount val="4"/>
                <c:pt idx="0">
                  <c:v>Pemborosan 2025*</c:v>
                </c:pt>
                <c:pt idx="1">
                  <c:v>Realisasi S1 2026*</c:v>
                </c:pt>
                <c:pt idx="2">
                  <c:v>Proyeksi Hemat/Thn*</c:v>
                </c:pt>
                <c:pt idx="3">
                  <c:v>Investasi CAPEX</c:v>
                </c:pt>
              </c:strCache>
            </c:strRef>
          </c:cat>
          <c:val>
            <c:numRef>
              <c:f>Sheet1!$B$2:$B$5</c:f>
              <c:numCache>
                <c:formatCode>General</c:formatCode>
                <c:ptCount val="4"/>
                <c:pt idx="0">
                  <c:v>24.56</c:v>
                </c:pt>
                <c:pt idx="1">
                  <c:v>2.23</c:v>
                </c:pt>
                <c:pt idx="2">
                  <c:v>6.82</c:v>
                </c:pt>
                <c:pt idx="3">
                  <c:v>0.0</c:v>
                </c:pt>
              </c:numCache>
            </c:numRef>
          </c:val>
        </c:ser>
        <c:dLbls>
          <c:txPr>
            <a:bodyPr/>
            <a:lstStyle/>
            <a:p>
              <a:pPr>
                <a:defRPr sz="800" b="1">
                  <a:solidFill>
                    <a:srgbClr val="1A237E"/>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851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 presentasi untuk peserta IAKA 2026. Sesuaikan bagian yang dibawakan dengan fase yang sedang dipresentasikan (lihat slide Alur).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tidak selalu dibawakan sekaligus. Pitching Fase 1 fokus pada bagian 1–4; bagian berikutnya menyusul sesuai kemajuan proyek di tiap fase.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wajib (Panduan BAB 1): kondisi saat ini, alasan penting, data awal. Setiap angka harus punya satuan, periode, dan sumber — tanpa itu dianggap belum terverifikasi.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 harus spesifik dan terukur. Cantumkan baseline dengan satuan jelas dan sumbernya (log produksi, laporan QC, tiket helpdesk, catatan keuangan) beserta periode pengambilan data.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wajib (BAB 6–7): laporan uji coba (PIC, lokasi, waktu, sumber daya), kendala &amp; problem solving, tabel Before/After dengan n dan grafik tren, dibandingkan target Fase 1. Lampirkan data mentah yang dapat diolah dan bukti bertanggal.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wajib (BAB 8–9): perhitungan business impact dengan kertas kerja terbuka (rumus dapat diperiksa), plus People/Customer/ESG impact. Setiap klaim non-finansial harus berbukti, sama seperti klaim finansial.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wajib (BAB 10): mekanisme keberlanjutan — pengesahan &amp; registrasi dokumen, dokumen turunan diperbarui, bukti sosialisasi, penutupan resmi sistem lama, transfer knowledge, jadwal audit keberlanjutan, dan roadmap.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wajib (BAB 11–12): tantangan, mitigasi, pembelajaran, kesimpulan &amp; rekomendasi pengembangan.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pesan utama proyek dalam satu kalimat. Ingatkan penilaian IAKA 2026 berbasis bukti nyata di unit kerja.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chart" Target="../charts/chart1.xml"/><Relationship Id="rId5" Type="http://schemas.openxmlformats.org/officeDocument/2006/relationships/image" Target="../media/image2.png"/><Relationship Id="rId6"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chart" Target="../charts/chart2.xml"/><Relationship Id="rId8"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chart" Target="../charts/chart4.xml"/><Relationship Id="rId5" Type="http://schemas.openxmlformats.org/officeDocument/2006/relationships/chart" Target="../charts/chart5.xml"/><Relationship Id="rId6" Type="http://schemas.openxmlformats.org/officeDocument/2006/relationships/chart" Target="../charts/char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chart" Target="../charts/chart6.xml"/><Relationship Id="rId8" Type="http://schemas.openxmlformats.org/officeDocument/2006/relationships/chart" Target="../charts/chart8.xml"/><Relationship Id="rId9" Type="http://schemas.openxmlformats.org/officeDocument/2006/relationships/chart" Target="../charts/char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A1F9E"/>
        </a:solidFill>
        <a:effectLst/>
      </p:bgPr>
    </p:bg>
    <p:spTree>
      <p:nvGrpSpPr>
        <p:cNvPr id="1" name=""/>
        <p:cNvGrpSpPr/>
        <p:nvPr/>
      </p:nvGrpSpPr>
      <p:grpSpPr>
        <a:xfrm>
          <a:off x="0" y="0"/>
          <a:ext cx="0" cy="0"/>
          <a:chOff x="0" y="0"/>
          <a:chExt cx="0" cy="0"/>
        </a:xfrm>
      </p:grpSpPr>
      <p:sp>
        <p:nvSpPr>
          <p:cNvPr id="2" name="Shape 0"/>
          <p:cNvSpPr/>
          <p:nvPr/>
        </p:nvSpPr>
        <p:spPr>
          <a:xfrm>
            <a:off x="8778240" y="-1463040"/>
            <a:ext cx="4754880" cy="4754880"/>
          </a:xfrm>
          <a:prstGeom prst="ellipse">
            <a:avLst/>
          </a:prstGeom>
          <a:solidFill>
            <a:srgbClr val="FFFFFF">
              <a:alpha val="8000"/>
            </a:srgbClr>
          </a:solidFill>
          <a:ln/>
        </p:spPr>
      </p:sp>
      <p:sp>
        <p:nvSpPr>
          <p:cNvPr id="3" name="Shape 1"/>
          <p:cNvSpPr/>
          <p:nvPr/>
        </p:nvSpPr>
        <p:spPr>
          <a:xfrm>
            <a:off x="9875520" y="3840480"/>
            <a:ext cx="4206240" cy="4206240"/>
          </a:xfrm>
          <a:prstGeom prst="ellipse">
            <a:avLst/>
          </a:prstGeom>
          <a:solidFill>
            <a:srgbClr val="CB69FF">
              <a:alpha val="18000"/>
            </a:srgbClr>
          </a:solidFill>
          <a:ln/>
        </p:spPr>
      </p:sp>
      <p:sp>
        <p:nvSpPr>
          <p:cNvPr id="4" name="Text 2"/>
          <p:cNvSpPr/>
          <p:nvPr/>
        </p:nvSpPr>
        <p:spPr>
          <a:xfrm>
            <a:off x="548640" y="1371600"/>
            <a:ext cx="8229600" cy="365760"/>
          </a:xfrm>
          <a:prstGeom prst="rect">
            <a:avLst/>
          </a:prstGeom>
          <a:noFill/>
          <a:ln/>
        </p:spPr>
        <p:txBody>
          <a:bodyPr wrap="square" lIns="0" tIns="0" rIns="0" bIns="0" rtlCol="0" anchor="ctr"/>
          <a:lstStyle/>
          <a:p>
            <a:pPr marL="0" indent="0">
              <a:buNone/>
            </a:pPr>
            <a:r>
              <a:rPr lang="en-US" sz="1300" b="1" kern="0" spc="200" dirty="0">
                <a:solidFill>
                  <a:schemeClr val="bg2"/>
                </a:solidFill>
                <a:latin typeface="Arial" pitchFamily="34" charset="0"/>
                <a:ea typeface="Arial" pitchFamily="34" charset="-122"/>
                <a:cs typeface="Arial" pitchFamily="34" charset="-120"/>
              </a:rPr>
              <a:t>PERURI  ·  INNOVATION AWARD &amp; KAIZEN AWARD</a:t>
            </a:r>
            <a:endParaRPr lang="en-US" sz="1300" dirty="0">
              <a:solidFill>
                <a:schemeClr val="bg2"/>
              </a:solidFill>
            </a:endParaRPr>
          </a:p>
        </p:txBody>
      </p:sp>
      <p:sp>
        <p:nvSpPr>
          <p:cNvPr id="5" name="Text 3"/>
          <p:cNvSpPr/>
          <p:nvPr/>
        </p:nvSpPr>
        <p:spPr>
          <a:xfrm>
            <a:off x="548640" y="1874520"/>
            <a:ext cx="10058400" cy="82296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Kerangka Presentasi Peserta</a:t>
            </a:r>
            <a:endParaRPr lang="en-US" sz="4000" dirty="0"/>
          </a:p>
        </p:txBody>
      </p:sp>
      <p:sp>
        <p:nvSpPr>
          <p:cNvPr id="6" name="Text 4"/>
          <p:cNvSpPr/>
          <p:nvPr/>
        </p:nvSpPr>
        <p:spPr>
          <a:xfrm>
            <a:off x="548640" y="2697480"/>
            <a:ext cx="10058400" cy="822960"/>
          </a:xfrm>
          <a:prstGeom prst="rect">
            <a:avLst/>
          </a:prstGeom>
          <a:noFill/>
          <a:ln/>
        </p:spPr>
        <p:txBody>
          <a:bodyPr wrap="square" lIns="0" tIns="0" rIns="0" bIns="0" rtlCol="0" anchor="ctr"/>
          <a:lstStyle/>
          <a:p>
            <a:pPr marL="0" indent="0">
              <a:buNone/>
            </a:pPr>
            <a:r>
              <a:rPr lang="en-US" sz="4400" b="1" dirty="0">
                <a:solidFill>
                  <a:schemeClr val="bg1"/>
                </a:solidFill>
                <a:latin typeface="Arial" pitchFamily="34" charset="0"/>
                <a:ea typeface="Arial" pitchFamily="34" charset="-122"/>
                <a:cs typeface="Arial" pitchFamily="34" charset="-120"/>
              </a:rPr>
              <a:t>IAKA 2026</a:t>
            </a:r>
            <a:endParaRPr lang="en-US" sz="4400" dirty="0">
              <a:solidFill>
                <a:schemeClr val="bg1"/>
              </a:solidFill>
            </a:endParaRPr>
          </a:p>
        </p:txBody>
      </p:sp>
      <p:sp>
        <p:nvSpPr>
          <p:cNvPr id="9" name="Shape 7"/>
          <p:cNvSpPr/>
          <p:nvPr/>
        </p:nvSpPr>
        <p:spPr>
          <a:xfrm>
            <a:off x="548640" y="4892040"/>
            <a:ext cx="3200400" cy="502920"/>
          </a:xfrm>
          <a:prstGeom prst="roundRect">
            <a:avLst>
              <a:gd name="adj" fmla="val 49091"/>
            </a:avLst>
          </a:prstGeom>
          <a:solidFill>
            <a:srgbClr val="6A2CC9"/>
          </a:solidFill>
          <a:ln/>
        </p:spPr>
      </p:sp>
      <p:sp>
        <p:nvSpPr>
          <p:cNvPr id="10" name="Text 8"/>
          <p:cNvSpPr/>
          <p:nvPr/>
        </p:nvSpPr>
        <p:spPr>
          <a:xfrm>
            <a:off x="548640" y="4892040"/>
            <a:ext cx="320040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Divisi SDM · 2026</a:t>
            </a:r>
            <a:endParaRPr lang="en-US" sz="1300" dirty="0"/>
          </a:p>
        </p:txBody>
      </p:sp>
      <p:pic>
        <p:nvPicPr>
          <p:cNvPr id="12" name="Picture 11">
            <a:extLst>
              <a:ext uri="{FF2B5EF4-FFF2-40B4-BE49-F238E27FC236}">
                <a16:creationId xmlns:a16="http://schemas.microsoft.com/office/drawing/2014/main" id="{B2BD31F3-DBAE-CDA4-F47C-1AFBAA269268}"/>
              </a:ext>
            </a:extLst>
          </p:cNvPr>
          <p:cNvPicPr>
            <a:picLocks noChangeAspect="1"/>
          </p:cNvPicPr>
          <p:nvPr/>
        </p:nvPicPr>
        <p:blipFill>
          <a:blip r:embed="rId3"/>
          <a:stretch>
            <a:fillRect/>
          </a:stretch>
        </p:blipFill>
        <p:spPr>
          <a:xfrm>
            <a:off x="10670874" y="89912"/>
            <a:ext cx="1454649" cy="809702"/>
          </a:xfrm>
          <a:prstGeom prst="rect">
            <a:avLst/>
          </a:prstGeom>
        </p:spPr>
      </p:pic>
      <p:pic>
        <p:nvPicPr>
          <p:cNvPr id="14" name="Picture 13">
            <a:extLst>
              <a:ext uri="{FF2B5EF4-FFF2-40B4-BE49-F238E27FC236}">
                <a16:creationId xmlns:a16="http://schemas.microsoft.com/office/drawing/2014/main" id="{077B2836-D742-3AD4-8792-B1432173121B}"/>
              </a:ext>
            </a:extLst>
          </p:cNvPr>
          <p:cNvPicPr>
            <a:picLocks noChangeAspect="1"/>
          </p:cNvPicPr>
          <p:nvPr/>
        </p:nvPicPr>
        <p:blipFill>
          <a:blip r:embed="rId4"/>
          <a:stretch>
            <a:fillRect/>
          </a:stretch>
        </p:blipFill>
        <p:spPr>
          <a:xfrm>
            <a:off x="-217170" y="-139700"/>
            <a:ext cx="2339340" cy="15595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646300"/>
            <a:ext cx="640080" cy="640080"/>
          </a:xfrm>
          <a:prstGeom prst="ellipse">
            <a:avLst/>
          </a:prstGeom>
          <a:solidFill>
            <a:srgbClr val="6A2CC9"/>
          </a:solidFill>
          <a:ln/>
          <a:effectLst>
            <a:outerShdw blurRad="101600" dist="25400" dir="5400000" algn="bl" rotWithShape="0">
              <a:srgbClr val="6A2CC9">
                <a:alpha val="28000"/>
              </a:srgbClr>
            </a:outerShdw>
          </a:effectLst>
        </p:spPr>
      </p:sp>
      <p:sp>
        <p:nvSpPr>
          <p:cNvPr id="3" name="Text 1"/>
          <p:cNvSpPr/>
          <p:nvPr/>
        </p:nvSpPr>
        <p:spPr>
          <a:xfrm>
            <a:off x="548640" y="635093"/>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i</a:t>
            </a:r>
            <a:endParaRPr lang="en-US" sz="2200" dirty="0"/>
          </a:p>
        </p:txBody>
      </p:sp>
      <p:sp>
        <p:nvSpPr>
          <p:cNvPr id="4" name="Text 2"/>
          <p:cNvSpPr/>
          <p:nvPr/>
        </p:nvSpPr>
        <p:spPr>
          <a:xfrm>
            <a:off x="1340193" y="600580"/>
            <a:ext cx="8686800" cy="731520"/>
          </a:xfrm>
          <a:prstGeom prst="rect">
            <a:avLst/>
          </a:prstGeom>
          <a:noFill/>
          <a:ln/>
        </p:spPr>
        <p:txBody>
          <a:bodyPr wrap="square" lIns="0" tIns="0" rIns="0" bIns="0" rtlCol="0" anchor="ctr"/>
          <a:lstStyle/>
          <a:p>
            <a:pPr marL="0" indent="0">
              <a:buNone/>
            </a:pPr>
            <a:r>
              <a:rPr lang="en-US" sz="3200" b="1" dirty="0">
                <a:solidFill>
                  <a:srgbClr val="20288F"/>
                </a:solidFill>
                <a:latin typeface="Arial" pitchFamily="34" charset="0"/>
                <a:ea typeface="Arial" pitchFamily="34" charset="-122"/>
                <a:cs typeface="Arial" pitchFamily="34" charset="-120"/>
              </a:rPr>
              <a:t>Alur 8 bagian presentasi</a:t>
            </a:r>
            <a:endParaRPr lang="en-US" sz="3200" dirty="0"/>
          </a:p>
        </p:txBody>
      </p:sp>
      <p:sp>
        <p:nvSpPr>
          <p:cNvPr id="6" name="Shape 4"/>
          <p:cNvSpPr/>
          <p:nvPr/>
        </p:nvSpPr>
        <p:spPr>
          <a:xfrm>
            <a:off x="548640" y="187452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7" name="Shape 5"/>
          <p:cNvSpPr/>
          <p:nvPr/>
        </p:nvSpPr>
        <p:spPr>
          <a:xfrm>
            <a:off x="749808" y="2075688"/>
            <a:ext cx="502920" cy="502920"/>
          </a:xfrm>
          <a:prstGeom prst="ellipse">
            <a:avLst/>
          </a:prstGeom>
          <a:solidFill>
            <a:srgbClr val="6A2CC9"/>
          </a:solidFill>
          <a:ln/>
        </p:spPr>
      </p:sp>
      <p:sp>
        <p:nvSpPr>
          <p:cNvPr id="8" name="Text 6"/>
          <p:cNvSpPr/>
          <p:nvPr/>
        </p:nvSpPr>
        <p:spPr>
          <a:xfrm>
            <a:off x="749808" y="207568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01</a:t>
            </a:r>
            <a:endParaRPr lang="en-US" sz="1500" dirty="0"/>
          </a:p>
        </p:txBody>
      </p:sp>
      <p:sp>
        <p:nvSpPr>
          <p:cNvPr id="9" name="Text 7"/>
          <p:cNvSpPr/>
          <p:nvPr/>
        </p:nvSpPr>
        <p:spPr>
          <a:xfrm>
            <a:off x="731520" y="265176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Latar Belakang</a:t>
            </a:r>
            <a:endParaRPr lang="en-US" sz="1450" dirty="0"/>
          </a:p>
        </p:txBody>
      </p:sp>
      <p:sp>
        <p:nvSpPr>
          <p:cNvPr id="11" name="Shape 9"/>
          <p:cNvSpPr/>
          <p:nvPr/>
        </p:nvSpPr>
        <p:spPr>
          <a:xfrm>
            <a:off x="3386252" y="187452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12" name="Shape 10"/>
          <p:cNvSpPr/>
          <p:nvPr/>
        </p:nvSpPr>
        <p:spPr>
          <a:xfrm>
            <a:off x="3587420" y="2075688"/>
            <a:ext cx="502920" cy="502920"/>
          </a:xfrm>
          <a:prstGeom prst="ellipse">
            <a:avLst/>
          </a:prstGeom>
          <a:solidFill>
            <a:srgbClr val="6A2CC9"/>
          </a:solidFill>
          <a:ln/>
        </p:spPr>
      </p:sp>
      <p:sp>
        <p:nvSpPr>
          <p:cNvPr id="13" name="Text 11"/>
          <p:cNvSpPr/>
          <p:nvPr/>
        </p:nvSpPr>
        <p:spPr>
          <a:xfrm>
            <a:off x="3587420" y="207568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02</a:t>
            </a:r>
            <a:endParaRPr lang="en-US" sz="1500" dirty="0"/>
          </a:p>
        </p:txBody>
      </p:sp>
      <p:sp>
        <p:nvSpPr>
          <p:cNvPr id="14" name="Text 12"/>
          <p:cNvSpPr/>
          <p:nvPr/>
        </p:nvSpPr>
        <p:spPr>
          <a:xfrm>
            <a:off x="3569132" y="265176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Masalah</a:t>
            </a:r>
            <a:endParaRPr lang="en-US" sz="1450" dirty="0"/>
          </a:p>
        </p:txBody>
      </p:sp>
      <p:sp>
        <p:nvSpPr>
          <p:cNvPr id="16" name="Shape 14"/>
          <p:cNvSpPr/>
          <p:nvPr/>
        </p:nvSpPr>
        <p:spPr>
          <a:xfrm>
            <a:off x="6223864" y="187452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17" name="Shape 15"/>
          <p:cNvSpPr/>
          <p:nvPr/>
        </p:nvSpPr>
        <p:spPr>
          <a:xfrm>
            <a:off x="6425032" y="2075688"/>
            <a:ext cx="502920" cy="502920"/>
          </a:xfrm>
          <a:prstGeom prst="ellipse">
            <a:avLst/>
          </a:prstGeom>
          <a:solidFill>
            <a:srgbClr val="6A2CC9"/>
          </a:solidFill>
          <a:ln/>
        </p:spPr>
      </p:sp>
      <p:sp>
        <p:nvSpPr>
          <p:cNvPr id="18" name="Text 16"/>
          <p:cNvSpPr/>
          <p:nvPr/>
        </p:nvSpPr>
        <p:spPr>
          <a:xfrm>
            <a:off x="6425032" y="207568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03</a:t>
            </a:r>
            <a:endParaRPr lang="en-US" sz="1500" dirty="0"/>
          </a:p>
        </p:txBody>
      </p:sp>
      <p:sp>
        <p:nvSpPr>
          <p:cNvPr id="19" name="Text 17"/>
          <p:cNvSpPr/>
          <p:nvPr/>
        </p:nvSpPr>
        <p:spPr>
          <a:xfrm>
            <a:off x="6406744" y="265176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Analisis Penyebab</a:t>
            </a:r>
            <a:endParaRPr lang="en-US" sz="1450" dirty="0"/>
          </a:p>
        </p:txBody>
      </p:sp>
      <p:sp>
        <p:nvSpPr>
          <p:cNvPr id="21" name="Shape 19"/>
          <p:cNvSpPr/>
          <p:nvPr/>
        </p:nvSpPr>
        <p:spPr>
          <a:xfrm>
            <a:off x="9061475" y="187452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22" name="Shape 20"/>
          <p:cNvSpPr/>
          <p:nvPr/>
        </p:nvSpPr>
        <p:spPr>
          <a:xfrm>
            <a:off x="9262643" y="2075688"/>
            <a:ext cx="502920" cy="502920"/>
          </a:xfrm>
          <a:prstGeom prst="ellipse">
            <a:avLst/>
          </a:prstGeom>
          <a:solidFill>
            <a:srgbClr val="6A2CC9"/>
          </a:solidFill>
          <a:ln/>
        </p:spPr>
      </p:sp>
      <p:sp>
        <p:nvSpPr>
          <p:cNvPr id="23" name="Text 21"/>
          <p:cNvSpPr/>
          <p:nvPr/>
        </p:nvSpPr>
        <p:spPr>
          <a:xfrm>
            <a:off x="9262643" y="207568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04</a:t>
            </a:r>
            <a:endParaRPr lang="en-US" sz="1500" dirty="0"/>
          </a:p>
        </p:txBody>
      </p:sp>
      <p:sp>
        <p:nvSpPr>
          <p:cNvPr id="24" name="Text 22"/>
          <p:cNvSpPr/>
          <p:nvPr/>
        </p:nvSpPr>
        <p:spPr>
          <a:xfrm>
            <a:off x="9244355" y="265176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Solusi</a:t>
            </a:r>
            <a:endParaRPr lang="en-US" sz="1450" dirty="0"/>
          </a:p>
        </p:txBody>
      </p:sp>
      <p:sp>
        <p:nvSpPr>
          <p:cNvPr id="26" name="Shape 24"/>
          <p:cNvSpPr/>
          <p:nvPr/>
        </p:nvSpPr>
        <p:spPr>
          <a:xfrm>
            <a:off x="548640" y="356616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27" name="Shape 25"/>
          <p:cNvSpPr/>
          <p:nvPr/>
        </p:nvSpPr>
        <p:spPr>
          <a:xfrm>
            <a:off x="749808" y="3767328"/>
            <a:ext cx="502920" cy="502920"/>
          </a:xfrm>
          <a:prstGeom prst="ellipse">
            <a:avLst/>
          </a:prstGeom>
          <a:solidFill>
            <a:srgbClr val="6A2CC9"/>
          </a:solidFill>
          <a:ln/>
        </p:spPr>
      </p:sp>
      <p:sp>
        <p:nvSpPr>
          <p:cNvPr id="28" name="Text 26"/>
          <p:cNvSpPr/>
          <p:nvPr/>
        </p:nvSpPr>
        <p:spPr>
          <a:xfrm>
            <a:off x="749808" y="376732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05</a:t>
            </a:r>
            <a:endParaRPr lang="en-US" sz="1500" dirty="0"/>
          </a:p>
        </p:txBody>
      </p:sp>
      <p:sp>
        <p:nvSpPr>
          <p:cNvPr id="29" name="Text 27"/>
          <p:cNvSpPr/>
          <p:nvPr/>
        </p:nvSpPr>
        <p:spPr>
          <a:xfrm>
            <a:off x="731520" y="434340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Implementasi</a:t>
            </a:r>
            <a:endParaRPr lang="en-US" sz="1450" dirty="0"/>
          </a:p>
        </p:txBody>
      </p:sp>
      <p:sp>
        <p:nvSpPr>
          <p:cNvPr id="31" name="Shape 29"/>
          <p:cNvSpPr/>
          <p:nvPr/>
        </p:nvSpPr>
        <p:spPr>
          <a:xfrm>
            <a:off x="3386252" y="356616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32" name="Shape 30"/>
          <p:cNvSpPr/>
          <p:nvPr/>
        </p:nvSpPr>
        <p:spPr>
          <a:xfrm>
            <a:off x="3587420" y="3767328"/>
            <a:ext cx="502920" cy="502920"/>
          </a:xfrm>
          <a:prstGeom prst="ellipse">
            <a:avLst/>
          </a:prstGeom>
          <a:solidFill>
            <a:srgbClr val="6A2CC9"/>
          </a:solidFill>
          <a:ln/>
        </p:spPr>
      </p:sp>
      <p:sp>
        <p:nvSpPr>
          <p:cNvPr id="33" name="Text 31"/>
          <p:cNvSpPr/>
          <p:nvPr/>
        </p:nvSpPr>
        <p:spPr>
          <a:xfrm>
            <a:off x="3587420" y="376732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06</a:t>
            </a:r>
            <a:endParaRPr lang="en-US" sz="1500" dirty="0"/>
          </a:p>
        </p:txBody>
      </p:sp>
      <p:sp>
        <p:nvSpPr>
          <p:cNvPr id="34" name="Text 32"/>
          <p:cNvSpPr/>
          <p:nvPr/>
        </p:nvSpPr>
        <p:spPr>
          <a:xfrm>
            <a:off x="3569132" y="434340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Dampak</a:t>
            </a:r>
            <a:endParaRPr lang="en-US" sz="1450" dirty="0"/>
          </a:p>
        </p:txBody>
      </p:sp>
      <p:sp>
        <p:nvSpPr>
          <p:cNvPr id="36" name="Shape 34"/>
          <p:cNvSpPr/>
          <p:nvPr/>
        </p:nvSpPr>
        <p:spPr>
          <a:xfrm>
            <a:off x="6223864" y="356616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37" name="Shape 35"/>
          <p:cNvSpPr/>
          <p:nvPr/>
        </p:nvSpPr>
        <p:spPr>
          <a:xfrm>
            <a:off x="6425032" y="3767328"/>
            <a:ext cx="502920" cy="502920"/>
          </a:xfrm>
          <a:prstGeom prst="ellipse">
            <a:avLst/>
          </a:prstGeom>
          <a:solidFill>
            <a:srgbClr val="6A2CC9"/>
          </a:solidFill>
          <a:ln/>
        </p:spPr>
      </p:sp>
      <p:sp>
        <p:nvSpPr>
          <p:cNvPr id="38" name="Text 36"/>
          <p:cNvSpPr/>
          <p:nvPr/>
        </p:nvSpPr>
        <p:spPr>
          <a:xfrm>
            <a:off x="6425032" y="376732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07</a:t>
            </a:r>
            <a:endParaRPr lang="en-US" sz="1500" dirty="0"/>
          </a:p>
        </p:txBody>
      </p:sp>
      <p:sp>
        <p:nvSpPr>
          <p:cNvPr id="39" name="Text 37"/>
          <p:cNvSpPr/>
          <p:nvPr/>
        </p:nvSpPr>
        <p:spPr>
          <a:xfrm>
            <a:off x="6406744" y="434340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Sustainability</a:t>
            </a:r>
            <a:endParaRPr lang="en-US" sz="1450" dirty="0"/>
          </a:p>
        </p:txBody>
      </p:sp>
      <p:sp>
        <p:nvSpPr>
          <p:cNvPr id="41" name="Shape 39"/>
          <p:cNvSpPr/>
          <p:nvPr/>
        </p:nvSpPr>
        <p:spPr>
          <a:xfrm>
            <a:off x="9061475" y="3566160"/>
            <a:ext cx="2581580" cy="1417320"/>
          </a:xfrm>
          <a:prstGeom prst="roundRect">
            <a:avLst>
              <a:gd name="adj" fmla="val 6452"/>
            </a:avLst>
          </a:prstGeom>
          <a:solidFill>
            <a:srgbClr val="F5F1FF"/>
          </a:solidFill>
          <a:ln w="12700">
            <a:solidFill>
              <a:srgbClr val="EFE7FF"/>
            </a:solidFill>
            <a:prstDash val="solid"/>
          </a:ln>
          <a:effectLst>
            <a:outerShdw blurRad="76200" dist="25400" dir="5400000" algn="bl" rotWithShape="0">
              <a:srgbClr val="C9BEE8">
                <a:alpha val="35000"/>
              </a:srgbClr>
            </a:outerShdw>
          </a:effectLst>
        </p:spPr>
      </p:sp>
      <p:sp>
        <p:nvSpPr>
          <p:cNvPr id="42" name="Shape 40"/>
          <p:cNvSpPr/>
          <p:nvPr/>
        </p:nvSpPr>
        <p:spPr>
          <a:xfrm>
            <a:off x="9262643" y="3767328"/>
            <a:ext cx="502920" cy="502920"/>
          </a:xfrm>
          <a:prstGeom prst="ellipse">
            <a:avLst/>
          </a:prstGeom>
          <a:solidFill>
            <a:srgbClr val="6A2CC9"/>
          </a:solidFill>
          <a:ln/>
        </p:spPr>
      </p:sp>
      <p:sp>
        <p:nvSpPr>
          <p:cNvPr id="43" name="Text 41"/>
          <p:cNvSpPr/>
          <p:nvPr/>
        </p:nvSpPr>
        <p:spPr>
          <a:xfrm>
            <a:off x="9262643" y="3767328"/>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08</a:t>
            </a:r>
            <a:endParaRPr lang="en-US" sz="1500" dirty="0"/>
          </a:p>
        </p:txBody>
      </p:sp>
      <p:sp>
        <p:nvSpPr>
          <p:cNvPr id="44" name="Text 42"/>
          <p:cNvSpPr/>
          <p:nvPr/>
        </p:nvSpPr>
        <p:spPr>
          <a:xfrm>
            <a:off x="9244355" y="4343400"/>
            <a:ext cx="2215820" cy="411480"/>
          </a:xfrm>
          <a:prstGeom prst="rect">
            <a:avLst/>
          </a:prstGeom>
          <a:noFill/>
          <a:ln/>
        </p:spPr>
        <p:txBody>
          <a:bodyPr wrap="square" lIns="0" tIns="0" rIns="0" bIns="0" rtlCol="0" anchor="t"/>
          <a:lstStyle/>
          <a:p>
            <a:pPr marL="0" indent="0">
              <a:buNone/>
            </a:pPr>
            <a:r>
              <a:rPr lang="en-US" sz="1450" b="1" dirty="0">
                <a:solidFill>
                  <a:srgbClr val="20288F"/>
                </a:solidFill>
                <a:latin typeface="Arial" pitchFamily="34" charset="0"/>
                <a:ea typeface="Arial" pitchFamily="34" charset="-122"/>
                <a:cs typeface="Arial" pitchFamily="34" charset="-120"/>
              </a:rPr>
              <a:t>Lesson Learned</a:t>
            </a:r>
            <a:endParaRPr lang="en-US" sz="1450" dirty="0"/>
          </a:p>
        </p:txBody>
      </p:sp>
      <p:pic>
        <p:nvPicPr>
          <p:cNvPr id="49" name="Picture 48">
            <a:extLst>
              <a:ext uri="{FF2B5EF4-FFF2-40B4-BE49-F238E27FC236}">
                <a16:creationId xmlns:a16="http://schemas.microsoft.com/office/drawing/2014/main" id="{10B45A6D-F217-584F-7BD7-6C89F238B555}"/>
              </a:ext>
            </a:extLst>
          </p:cNvPr>
          <p:cNvPicPr>
            <a:picLocks noChangeAspect="1"/>
          </p:cNvPicPr>
          <p:nvPr/>
        </p:nvPicPr>
        <p:blipFill>
          <a:blip r:embed="rId3"/>
          <a:stretch>
            <a:fillRect/>
          </a:stretch>
        </p:blipFill>
        <p:spPr>
          <a:xfrm>
            <a:off x="11056239" y="11533"/>
            <a:ext cx="1140374" cy="634767"/>
          </a:xfrm>
          <a:prstGeom prst="rect">
            <a:avLst/>
          </a:prstGeom>
        </p:spPr>
      </p:pic>
      <p:pic>
        <p:nvPicPr>
          <p:cNvPr id="51" name="Picture 50">
            <a:extLst>
              <a:ext uri="{FF2B5EF4-FFF2-40B4-BE49-F238E27FC236}">
                <a16:creationId xmlns:a16="http://schemas.microsoft.com/office/drawing/2014/main" id="{27D9AC1A-9783-8729-85B1-5CDC0A33A16B}"/>
              </a:ext>
            </a:extLst>
          </p:cNvPr>
          <p:cNvPicPr>
            <a:picLocks noChangeAspect="1"/>
          </p:cNvPicPr>
          <p:nvPr/>
        </p:nvPicPr>
        <p:blipFill>
          <a:blip r:embed="rId4"/>
          <a:stretch>
            <a:fillRect/>
          </a:stretch>
        </p:blipFill>
        <p:spPr>
          <a:xfrm>
            <a:off x="-108068" y="-179554"/>
            <a:ext cx="1448261" cy="81464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6"/>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2000" b="1">
                <a:solidFill>
                  <a:srgbClr val="FFFFFF"/>
                </a:solidFill>
                <a:latin typeface="Arial"/>
              </a:rPr>
              <a:t>01</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pPr algn="l"/>
            <a:r>
              <a:rPr sz="2400" b="1">
                <a:solidFill>
                  <a:srgbClr val="20288F"/>
                </a:solidFill>
                <a:latin typeface="Arial"/>
              </a:rPr>
              <a:t>Latar Belakang: Urgensi Stabilitas Mutu &amp; Pencatatan Unit Cetak</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b="0">
                <a:solidFill>
                  <a:srgbClr val="2A2A3D"/>
                </a:solidFill>
                <a:latin typeface="Arial"/>
              </a:rPr>
              <a:t>Bangun konteks: mengapa perbaikan sistem pencatatan &amp; stabilitas mutu penting bagi operasional dan perusahaan.</a:t>
            </a:r>
          </a:p>
        </p:txBody>
      </p:sp>
      <p:sp>
        <p:nvSpPr>
          <p:cNvPr id="7" name="TextBox 6"/>
          <p:cNvSpPr txBox="1"/>
          <p:nvPr/>
        </p:nvSpPr>
        <p:spPr>
          <a:xfrm>
            <a:off x="548640" y="6419088"/>
            <a:ext cx="11091672" cy="256032"/>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3520440" cy="365760"/>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1. KONDISI SAAT INI DI UNIT CETAK</a:t>
            </a:r>
          </a:p>
        </p:txBody>
      </p:sp>
      <p:sp>
        <p:nvSpPr>
          <p:cNvPr id="9" name="Rounded Rectangle 8"/>
          <p:cNvSpPr/>
          <p:nvPr/>
        </p:nvSpPr>
        <p:spPr>
          <a:xfrm>
            <a:off x="548640" y="2121408"/>
            <a:ext cx="3520440" cy="4160520"/>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700"/>
              </a:spcAft>
            </a:pPr>
            <a:r>
              <a:rPr sz="950" b="1">
                <a:solidFill>
                  <a:srgbClr val="20288F"/>
                </a:solidFill>
                <a:latin typeface="Arial"/>
              </a:rPr>
              <a:t>• Operasional 24 Jam Non-stop: </a:t>
            </a:r>
            <a:r>
              <a:rPr sz="950">
                <a:solidFill>
                  <a:srgbClr val="2A2A3D"/>
                </a:solidFill>
                <a:latin typeface="Arial"/>
              </a:rPr>
              <a:t>Unit Cetak Pita Cukai beroperasi 3 shift per hari dengan 6 mesin cetak offset (4 Komori: KMR 1–4, 2 Ryobi: RYB 1–2) dan didukung ±42 operator.</a:t>
            </a:r>
          </a:p>
          <a:p>
            <a:pPr>
              <a:spcAft>
                <a:spcPts val="700"/>
              </a:spcAft>
            </a:pPr>
            <a:r>
              <a:rPr sz="950" b="1">
                <a:solidFill>
                  <a:srgbClr val="20288F"/>
                </a:solidFill>
                <a:latin typeface="Arial"/>
              </a:rPr>
              <a:t>• Pencatatan Fisik di Mesin: </a:t>
            </a:r>
            <a:r>
              <a:rPr sz="950">
                <a:solidFill>
                  <a:srgbClr val="2A2A3D"/>
                </a:solidFill>
                <a:latin typeface="Arial"/>
              </a:rPr>
              <a:t>Pencatatan hasil cetak tiap mesin dan operator masih dilakukan secara manual menggunakan buku folio di meja masing-masing mesin.</a:t>
            </a:r>
          </a:p>
          <a:p>
            <a:pPr>
              <a:spcAft>
                <a:spcPts val="700"/>
              </a:spcAft>
            </a:pPr>
            <a:r>
              <a:rPr sz="950" b="1">
                <a:solidFill>
                  <a:srgbClr val="20288F"/>
                </a:solidFill>
                <a:latin typeface="Arial"/>
              </a:rPr>
              <a:t>• Rekapitulasi Manual Terpisah: </a:t>
            </a:r>
            <a:r>
              <a:rPr sz="950">
                <a:solidFill>
                  <a:srgbClr val="2A2A3D"/>
                </a:solidFill>
                <a:latin typeface="Arial"/>
              </a:rPr>
              <a:t>Catatan buku folio baru direkap saat evaluasi berkala pegawai, sementara sistem SAP di kantor hanya menyajikan tabel angka mentah.</a:t>
            </a:r>
          </a:p>
          <a:p>
            <a:pPr>
              <a:spcAft>
                <a:spcPts val="700"/>
              </a:spcAft>
            </a:pPr>
            <a:r>
              <a:rPr sz="950" b="1">
                <a:solidFill>
                  <a:srgbClr val="20288F"/>
                </a:solidFill>
                <a:latin typeface="Arial"/>
              </a:rPr>
              <a:t>• Laporan Mutu Terpusat: </a:t>
            </a:r>
            <a:r>
              <a:rPr sz="950">
                <a:solidFill>
                  <a:srgbClr val="2A2A3D"/>
                </a:solidFill>
                <a:latin typeface="Arial"/>
              </a:rPr>
              <a:t>Laporan kerusakan dari modul Verifikasi QC hanya menampilkan total kerusakan general di level unit tanpa rincian mesin maupun shift.</a:t>
            </a:r>
          </a:p>
        </p:txBody>
      </p:sp>
      <p:sp>
        <p:nvSpPr>
          <p:cNvPr id="10" name="Rectangle 9"/>
          <p:cNvSpPr/>
          <p:nvPr/>
        </p:nvSpPr>
        <p:spPr>
          <a:xfrm>
            <a:off x="4325112" y="1755648"/>
            <a:ext cx="3520440" cy="365760"/>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2. MENGAPA INI PENTING BAGI PERUSAHAAN</a:t>
            </a:r>
          </a:p>
        </p:txBody>
      </p:sp>
      <p:sp>
        <p:nvSpPr>
          <p:cNvPr id="11" name="Rounded Rectangle 10"/>
          <p:cNvSpPr/>
          <p:nvPr/>
        </p:nvSpPr>
        <p:spPr>
          <a:xfrm>
            <a:off x="4325112" y="2121408"/>
            <a:ext cx="3520440" cy="4160520"/>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700"/>
              </a:spcAft>
            </a:pPr>
            <a:r>
              <a:rPr sz="950" b="1">
                <a:solidFill>
                  <a:srgbClr val="6A2CC9"/>
                </a:solidFill>
                <a:latin typeface="Arial"/>
              </a:rPr>
              <a:t>• Produk Strategis Negara: </a:t>
            </a:r>
            <a:r>
              <a:rPr sz="950">
                <a:solidFill>
                  <a:srgbClr val="2A2A3D"/>
                </a:solidFill>
                <a:latin typeface="Arial"/>
              </a:rPr>
              <a:t>Mencetak dokumen sekuriti Pita Cukai (PCHT &amp; MMEA) di bawah mandat DJBC Kemenkeu RI dengan fitur kertas sekuriti, tinta khusus, dan hologram.</a:t>
            </a:r>
          </a:p>
          <a:p>
            <a:pPr>
              <a:spcAft>
                <a:spcPts val="700"/>
              </a:spcAft>
            </a:pPr>
            <a:r>
              <a:rPr sz="950" b="1">
                <a:solidFill>
                  <a:srgbClr val="6A2CC9"/>
                </a:solidFill>
                <a:latin typeface="Arial"/>
              </a:rPr>
              <a:t>• Skala Order Masif: </a:t>
            </a:r>
            <a:r>
              <a:rPr sz="950">
                <a:solidFill>
                  <a:srgbClr val="2A2A3D"/>
                </a:solidFill>
                <a:latin typeface="Arial"/>
              </a:rPr>
              <a:t>Volume order sangat besar dengan rata-rata 160 Juta Lembar per tahun (Realisasi 2025: 177.636.930 Lembar Cetak — SAP ZPPRSIPPC0012).</a:t>
            </a:r>
          </a:p>
          <a:p>
            <a:pPr>
              <a:spcAft>
                <a:spcPts val="700"/>
              </a:spcAft>
            </a:pPr>
            <a:r>
              <a:rPr sz="950" b="1">
                <a:solidFill>
                  <a:srgbClr val="6A2CC9"/>
                </a:solidFill>
                <a:latin typeface="Arial"/>
              </a:rPr>
              <a:t>• Komitmen SLA &amp; Reputasi: </a:t>
            </a:r>
            <a:r>
              <a:rPr sz="950">
                <a:solidFill>
                  <a:srgbClr val="2A2A3D"/>
                </a:solidFill>
                <a:latin typeface="Arial"/>
              </a:rPr>
              <a:t>Ketepatan jadwal pengiriman dan kesempurnaan cetak adalah kunci menjaga kepercayaan Bea Cukai serta mengamankan penerimaan cukai negara.</a:t>
            </a:r>
          </a:p>
          <a:p>
            <a:pPr>
              <a:spcAft>
                <a:spcPts val="700"/>
              </a:spcAft>
            </a:pPr>
            <a:r>
              <a:rPr sz="950" b="1">
                <a:solidFill>
                  <a:srgbClr val="6A2CC9"/>
                </a:solidFill>
                <a:latin typeface="Arial"/>
              </a:rPr>
              <a:t>• Nilai Bahan Baku Tinggi: </a:t>
            </a:r>
            <a:r>
              <a:rPr sz="950">
                <a:solidFill>
                  <a:srgbClr val="2A2A3D"/>
                </a:solidFill>
                <a:latin typeface="Arial"/>
              </a:rPr>
              <a:t>Tingginya harga kertas sekuriti dan tinta khusus menuntut efisiensi maksimal agar tidak terjadi pemborosan biaya cetak ulang.</a:t>
            </a:r>
          </a:p>
        </p:txBody>
      </p:sp>
      <p:sp>
        <p:nvSpPr>
          <p:cNvPr id="12" name="Rectangle 11"/>
          <p:cNvSpPr/>
          <p:nvPr/>
        </p:nvSpPr>
        <p:spPr>
          <a:xfrm>
            <a:off x="8101584" y="1755648"/>
            <a:ext cx="3520440" cy="3657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3. DATA AWAL PEMICU INOVASI</a:t>
            </a:r>
          </a:p>
        </p:txBody>
      </p:sp>
      <p:sp>
        <p:nvSpPr>
          <p:cNvPr id="13" name="Rounded Rectangle 12"/>
          <p:cNvSpPr/>
          <p:nvPr/>
        </p:nvSpPr>
        <p:spPr>
          <a:xfrm>
            <a:off x="8101584" y="2121408"/>
            <a:ext cx="3520440" cy="4160520"/>
          </a:xfrm>
          <a:prstGeom prst="roundRect">
            <a:avLst/>
          </a:prstGeom>
          <a:solidFill>
            <a:srgbClr val="FFF9E6"/>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700"/>
              </a:spcAft>
            </a:pPr>
            <a:r>
              <a:rPr sz="950" b="1">
                <a:solidFill>
                  <a:srgbClr val="E65100"/>
                </a:solidFill>
                <a:latin typeface="Arial"/>
              </a:rPr>
              <a:t>• Pencapaian SIRINE 2024: </a:t>
            </a:r>
            <a:r>
              <a:rPr sz="950">
                <a:solidFill>
                  <a:srgbClr val="2A2A3D"/>
                </a:solidFill>
                <a:latin typeface="Arial"/>
              </a:rPr>
              <a:t>Berhasil menurunkan inschiet tahunan dari 5,61% ke 4,06% dengan menyajikan data jenis kerusakan umum.</a:t>
            </a:r>
          </a:p>
          <a:p>
            <a:pPr>
              <a:spcAft>
                <a:spcPts val="700"/>
              </a:spcAft>
            </a:pPr>
            <a:r>
              <a:rPr sz="950" b="1">
                <a:solidFill>
                  <a:srgbClr val="E65100"/>
                </a:solidFill>
                <a:latin typeface="Arial"/>
              </a:rPr>
              <a:t>• Titik Jenuh &amp; Fluktuasi 2025: </a:t>
            </a:r>
            <a:r>
              <a:rPr sz="950">
                <a:solidFill>
                  <a:srgbClr val="2A2A3D"/>
                </a:solidFill>
                <a:latin typeface="Arial"/>
              </a:rPr>
              <a:t>Sepanjang 2025 inschiet kembali berfluktuasi dengan rata-rata 4,61% dan puncaknya di Q4 mencapai 5,11% (Sumber: SAP ZPPRSIPPC0012).</a:t>
            </a:r>
          </a:p>
          <a:p>
            <a:pPr>
              <a:spcAft>
                <a:spcPts val="700"/>
              </a:spcAft>
            </a:pPr>
            <a:r>
              <a:rPr sz="950" b="1">
                <a:solidFill>
                  <a:srgbClr val="E65100"/>
                </a:solidFill>
                <a:latin typeface="Arial"/>
              </a:rPr>
              <a:t>• Tantangan Volume Baru: </a:t>
            </a:r>
            <a:r>
              <a:rPr sz="950">
                <a:solidFill>
                  <a:srgbClr val="2A2A3D"/>
                </a:solidFill>
                <a:latin typeface="Arial"/>
              </a:rPr>
              <a:t>Saat order melonjak di Q4, sistem SIRINE 2024 tidak mampu mendeteksi mesin mana yang menjadi pemicu utama kenaikan kerusakan.</a:t>
            </a:r>
          </a:p>
          <a:p>
            <a:pPr>
              <a:spcAft>
                <a:spcPts val="700"/>
              </a:spcAft>
            </a:pPr>
            <a:r>
              <a:rPr sz="950" b="1">
                <a:solidFill>
                  <a:srgbClr val="E65100"/>
                </a:solidFill>
                <a:latin typeface="Arial"/>
              </a:rPr>
              <a:t>• Pemicu Kebutuhan DSS: </a:t>
            </a:r>
            <a:r>
              <a:rPr sz="950">
                <a:solidFill>
                  <a:srgbClr val="2A2A3D"/>
                </a:solidFill>
                <a:latin typeface="Arial"/>
              </a:rPr>
              <a:t>Diperlukan sistem cerdas yang mampu menghubungkan data kerusakan QC dengan data mesin dan shift operasional secara real-time.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5"/>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6"/>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2000" b="1">
                <a:solidFill>
                  <a:srgbClr val="FFFFFF"/>
                </a:solidFill>
                <a:latin typeface="Arial"/>
              </a:rPr>
              <a:t>02.1</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pPr algn="l"/>
            <a:r>
              <a:rPr sz="2400" b="1">
                <a:solidFill>
                  <a:srgbClr val="20288F"/>
                </a:solidFill>
                <a:latin typeface="Arial"/>
              </a:rPr>
              <a:t>Masalah: Keterbatasan Data Granular &amp; Titik Buta Operasional</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b="0">
                <a:solidFill>
                  <a:srgbClr val="2A2A3D"/>
                </a:solidFill>
                <a:latin typeface="Arial"/>
              </a:rPr>
              <a:t>Nyatakan masalah operasional nyata dan terukur — apa yang terjadi, di unit mana, sejak kapan, dan siapa terdampak.</a:t>
            </a:r>
          </a:p>
        </p:txBody>
      </p:sp>
      <p:sp>
        <p:nvSpPr>
          <p:cNvPr id="7" name="TextBox 6"/>
          <p:cNvSpPr txBox="1"/>
          <p:nvPr/>
        </p:nvSpPr>
        <p:spPr>
          <a:xfrm>
            <a:off x="548640" y="6419088"/>
            <a:ext cx="11091672" cy="256032"/>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3520440" cy="365760"/>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1. TITIK BUTA PASCA-SIRINE 2024</a:t>
            </a:r>
          </a:p>
        </p:txBody>
      </p:sp>
      <p:sp>
        <p:nvSpPr>
          <p:cNvPr id="9" name="Rounded Rectangle 8"/>
          <p:cNvSpPr/>
          <p:nvPr/>
        </p:nvSpPr>
        <p:spPr>
          <a:xfrm>
            <a:off x="548640" y="2121408"/>
            <a:ext cx="3520440" cy="4160520"/>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700"/>
              </a:spcAft>
            </a:pPr>
            <a:r>
              <a:rPr sz="950" b="1">
                <a:solidFill>
                  <a:srgbClr val="20288F"/>
                </a:solidFill>
                <a:latin typeface="Arial"/>
              </a:rPr>
              <a:t>• Capaian SIRINE 3.5 (2024): </a:t>
            </a:r>
            <a:r>
              <a:rPr sz="950">
                <a:solidFill>
                  <a:srgbClr val="2A2A3D"/>
                </a:solidFill>
                <a:latin typeface="Arial"/>
              </a:rPr>
              <a:t>Berhasil menjawab 'jenis kerusakan apa' yang mendominasi dan menekan inschiet ke 4,06% di akhir 2024.</a:t>
            </a:r>
          </a:p>
          <a:p>
            <a:pPr>
              <a:spcAft>
                <a:spcPts val="700"/>
              </a:spcAft>
            </a:pPr>
            <a:r>
              <a:rPr sz="950" b="1">
                <a:solidFill>
                  <a:srgbClr val="20288F"/>
                </a:solidFill>
                <a:latin typeface="Arial"/>
              </a:rPr>
              <a:t>• Kesenjangan Baru di 2025: </a:t>
            </a:r>
            <a:r>
              <a:rPr sz="950">
                <a:solidFill>
                  <a:srgbClr val="2A2A3D"/>
                </a:solidFill>
                <a:latin typeface="Arial"/>
              </a:rPr>
              <a:t>Data jenis kerusakan sudah ada, tetapi dengan 6 mesin cetak, belum ada data untuk tahu mesin mana yang menjadi sumber masalah utama.</a:t>
            </a:r>
          </a:p>
          <a:p>
            <a:pPr>
              <a:spcAft>
                <a:spcPts val="700"/>
              </a:spcAft>
            </a:pPr>
            <a:r>
              <a:rPr sz="950" b="1">
                <a:solidFill>
                  <a:srgbClr val="20288F"/>
                </a:solidFill>
                <a:latin typeface="Arial"/>
              </a:rPr>
              <a:t>• Ketiadaan Data Kondisi Kerja: </a:t>
            </a:r>
            <a:r>
              <a:rPr sz="950">
                <a:solidFill>
                  <a:srgbClr val="2A2A3D"/>
                </a:solidFill>
                <a:latin typeface="Arial"/>
              </a:rPr>
              <a:t>Belum dapat diketahui apakah tingginya inschiet lebih dipengaruhi oleh faktor teknis mesin atau faktor kondisi kerja (shift, SOP, kelelahan).</a:t>
            </a:r>
          </a:p>
          <a:p>
            <a:pPr>
              <a:spcAft>
                <a:spcPts val="700"/>
              </a:spcAft>
            </a:pPr>
            <a:r>
              <a:rPr sz="950" b="1">
                <a:solidFill>
                  <a:srgbClr val="20288F"/>
                </a:solidFill>
                <a:latin typeface="Arial"/>
              </a:rPr>
              <a:t>• Lokasi &amp; Periode Masalah: </a:t>
            </a:r>
            <a:r>
              <a:rPr sz="950">
                <a:solidFill>
                  <a:srgbClr val="2A2A3D"/>
                </a:solidFill>
                <a:latin typeface="Arial"/>
              </a:rPr>
              <a:t>Berpusat pada proses cetak sheet-fed offset di Unit Cetak Pita Cukai sejak Januari 2025.</a:t>
            </a:r>
          </a:p>
        </p:txBody>
      </p:sp>
      <p:sp>
        <p:nvSpPr>
          <p:cNvPr id="10" name="Rectangle 9"/>
          <p:cNvSpPr/>
          <p:nvPr/>
        </p:nvSpPr>
        <p:spPr>
          <a:xfrm>
            <a:off x="4325112" y="1755648"/>
            <a:ext cx="3520440" cy="365760"/>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2. DUA KASUS NYATA DI LAPANGAN</a:t>
            </a:r>
          </a:p>
        </p:txBody>
      </p:sp>
      <p:sp>
        <p:nvSpPr>
          <p:cNvPr id="11" name="Rounded Rectangle 10"/>
          <p:cNvSpPr/>
          <p:nvPr/>
        </p:nvSpPr>
        <p:spPr>
          <a:xfrm>
            <a:off x="4325112" y="2121408"/>
            <a:ext cx="3520440" cy="4160520"/>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700"/>
              </a:spcAft>
            </a:pPr>
            <a:r>
              <a:rPr sz="950" b="1">
                <a:solidFill>
                  <a:srgbClr val="6A2CC9"/>
                </a:solidFill>
                <a:latin typeface="Arial"/>
              </a:rPr>
              <a:t>• Kasus 1 – Penelusuran Spekulatif: </a:t>
            </a:r>
            <a:r>
              <a:rPr sz="950">
                <a:solidFill>
                  <a:srgbClr val="2A2A3D"/>
                </a:solidFill>
                <a:latin typeface="Arial"/>
              </a:rPr>
              <a:t>Bulan Juni 2025 kerusakan blobor mendominasi. Tanpa data per-mesin, teknisi memeriksa 6 mesin bergilir (trial-and-error).</a:t>
            </a:r>
          </a:p>
          <a:p>
            <a:pPr>
              <a:spcAft>
                <a:spcPts val="700"/>
              </a:spcAft>
            </a:pPr>
            <a:r>
              <a:rPr sz="950" b="1">
                <a:solidFill>
                  <a:srgbClr val="6A2CC9"/>
                </a:solidFill>
                <a:latin typeface="Arial"/>
              </a:rPr>
              <a:t>• Dampak Downtime Kasus 1: </a:t>
            </a:r>
            <a:r>
              <a:rPr sz="950">
                <a:solidFill>
                  <a:srgbClr val="2A2A3D"/>
                </a:solidFill>
                <a:latin typeface="Arial"/>
              </a:rPr>
              <a:t>Sumber masalah ternyata di Komori 3 (KMR3). Diperiksa terakhir, timbul downtime &gt; 8 jam dan mesin terus mencetak lembar rusak.</a:t>
            </a:r>
          </a:p>
          <a:p>
            <a:pPr>
              <a:spcAft>
                <a:spcPts val="700"/>
              </a:spcAft>
            </a:pPr>
            <a:r>
              <a:rPr sz="950" b="1">
                <a:solidFill>
                  <a:srgbClr val="6A2CC9"/>
                </a:solidFill>
                <a:latin typeface="Arial"/>
              </a:rPr>
              <a:t>• Kasus 2 – Dilema Mesin vs Shift: </a:t>
            </a:r>
            <a:r>
              <a:rPr sz="950">
                <a:solidFill>
                  <a:srgbClr val="2A2A3D"/>
                </a:solidFill>
                <a:latin typeface="Arial"/>
              </a:rPr>
              <a:t>Mesin KMR3 pada shift malam mencatat inschiet 8,5%, sedangkan shift pagi di mesin yang sama hanya 2,5%.</a:t>
            </a:r>
          </a:p>
          <a:p>
            <a:pPr>
              <a:spcAft>
                <a:spcPts val="700"/>
              </a:spcAft>
            </a:pPr>
            <a:r>
              <a:rPr sz="950" b="1">
                <a:solidFill>
                  <a:srgbClr val="6A2CC9"/>
                </a:solidFill>
                <a:latin typeface="Arial"/>
              </a:rPr>
              <a:t>• Salah Diagnosa Kasus 2: </a:t>
            </a:r>
            <a:r>
              <a:rPr sz="950">
                <a:solidFill>
                  <a:srgbClr val="2A2A3D"/>
                </a:solidFill>
                <a:latin typeface="Arial"/>
              </a:rPr>
              <a:t>Tanpa data per-shift, perbaikan selalu fokus mengutak-atik mesin, padahal masalahnya ada pada variasi shift atau SOP penyetelan tinta.</a:t>
            </a:r>
          </a:p>
        </p:txBody>
      </p:sp>
      <p:sp>
        <p:nvSpPr>
          <p:cNvPr id="12" name="Rectangle 11"/>
          <p:cNvSpPr/>
          <p:nvPr/>
        </p:nvSpPr>
        <p:spPr>
          <a:xfrm>
            <a:off x="8101584" y="1755648"/>
            <a:ext cx="3520440" cy="36576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3. PIHAK TERDAMPAK LANGSUNG</a:t>
            </a:r>
          </a:p>
        </p:txBody>
      </p:sp>
      <p:sp>
        <p:nvSpPr>
          <p:cNvPr id="13" name="Rounded Rectangle 12"/>
          <p:cNvSpPr/>
          <p:nvPr/>
        </p:nvSpPr>
        <p:spPr>
          <a:xfrm>
            <a:off x="8101584" y="2121408"/>
            <a:ext cx="3520440" cy="4160520"/>
          </a:xfrm>
          <a:prstGeom prst="roundRect">
            <a:avLst/>
          </a:prstGeom>
          <a:solidFill>
            <a:srgbClr val="FFF5F5"/>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37160"/>
          <a:lstStyle/>
          <a:p>
            <a:pPr algn="ctr">
              <a:spcAft>
                <a:spcPts val="600"/>
              </a:spcAft>
            </a:pPr>
            <a:r>
              <a:rPr sz="950" b="1">
                <a:solidFill>
                  <a:srgbClr val="C62828"/>
                </a:solidFill>
                <a:latin typeface="Arial"/>
              </a:rPr>
              <a:t>• Operator Cetak (±42 Orang): </a:t>
            </a:r>
            <a:r>
              <a:rPr sz="950">
                <a:solidFill>
                  <a:srgbClr val="2A2A3D"/>
                </a:solidFill>
                <a:latin typeface="Arial"/>
              </a:rPr>
              <a:t>Sulit memantau hasil mutu hariannya secara mandiri dan kehilangan kesempatan memperoleh pembinaan (coaching) objektif.</a:t>
            </a:r>
          </a:p>
          <a:p>
            <a:pPr>
              <a:spcAft>
                <a:spcPts val="600"/>
              </a:spcAft>
            </a:pPr>
            <a:r>
              <a:rPr sz="950" b="1">
                <a:solidFill>
                  <a:srgbClr val="C62828"/>
                </a:solidFill>
                <a:latin typeface="Arial"/>
              </a:rPr>
              <a:t>• Kepala Kelompok &amp; Kepala Unit: </a:t>
            </a:r>
            <a:r>
              <a:rPr sz="950">
                <a:solidFill>
                  <a:srgbClr val="2A2A3D"/>
                </a:solidFill>
                <a:latin typeface="Arial"/>
              </a:rPr>
              <a:t>Menanggung beban rekap manual buku folio dan kesulitan memberi feedback terarah kepada tim kerja.</a:t>
            </a:r>
          </a:p>
          <a:p>
            <a:pPr>
              <a:spcAft>
                <a:spcPts val="600"/>
              </a:spcAft>
            </a:pPr>
            <a:r>
              <a:rPr sz="950" b="1">
                <a:solidFill>
                  <a:srgbClr val="C62828"/>
                </a:solidFill>
                <a:latin typeface="Arial"/>
              </a:rPr>
              <a:t>• Teknisi Pemeliharaan (Maintenance): </a:t>
            </a:r>
            <a:r>
              <a:rPr sz="950">
                <a:solidFill>
                  <a:srgbClr val="2A2A3D"/>
                </a:solidFill>
                <a:latin typeface="Arial"/>
              </a:rPr>
              <a:t>Kehilangan jam produktif (&gt; 8 jam per mesin) akibat mencari sumber masalah secara acak.</a:t>
            </a:r>
          </a:p>
          <a:p>
            <a:pPr>
              <a:spcAft>
                <a:spcPts val="600"/>
              </a:spcAft>
            </a:pPr>
            <a:r>
              <a:rPr sz="950" b="1">
                <a:solidFill>
                  <a:srgbClr val="C62828"/>
                </a:solidFill>
                <a:latin typeface="Arial"/>
              </a:rPr>
              <a:t>• PPIC &amp; Manajemen: </a:t>
            </a:r>
            <a:r>
              <a:rPr sz="950">
                <a:solidFill>
                  <a:srgbClr val="2A2A3D"/>
                </a:solidFill>
                <a:latin typeface="Arial"/>
              </a:rPr>
              <a:t>Sulit merencanakan alokasi mesin dan jadwal cetak presisi karena profil performa riil mesin tidak tersedia.</a:t>
            </a:r>
          </a:p>
          <a:p>
            <a:pPr>
              <a:spcAft>
                <a:spcPts val="600"/>
              </a:spcAft>
            </a:pPr>
            <a:r>
              <a:rPr sz="950" b="1">
                <a:solidFill>
                  <a:srgbClr val="C62828"/>
                </a:solidFill>
                <a:latin typeface="Arial"/>
              </a:rPr>
              <a:t>• Pelanggan Utama (DJBC Kemenkeu): </a:t>
            </a:r>
            <a:r>
              <a:rPr sz="950">
                <a:solidFill>
                  <a:srgbClr val="2A2A3D"/>
                </a:solidFill>
                <a:latin typeface="Arial"/>
              </a:rPr>
              <a:t>Menghadapi risiko keterlambatan pengiriman pita cukai akibat siklus cetak ulang lembar rusak.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6"/>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2000" b="1">
                <a:solidFill>
                  <a:srgbClr val="FFFFFF"/>
                </a:solidFill>
                <a:latin typeface="Arial"/>
              </a:rPr>
              <a:t>02.2</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pPr algn="l"/>
            <a:r>
              <a:rPr sz="2400" b="1">
                <a:solidFill>
                  <a:srgbClr val="20288F"/>
                </a:solidFill>
                <a:latin typeface="Arial"/>
              </a:rPr>
              <a:t>Masalah: Baseline Permasalahan &amp; Risiko Bila Dibiarkan</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b="0">
                <a:solidFill>
                  <a:srgbClr val="2A2A3D"/>
                </a:solidFill>
                <a:latin typeface="Arial"/>
              </a:rPr>
              <a:t>Tunjukkan baseline permasalahan operasional terukur dan dampak multidimensi jika kondisi dibiarkan tanpa intervensi.</a:t>
            </a:r>
          </a:p>
        </p:txBody>
      </p:sp>
      <p:sp>
        <p:nvSpPr>
          <p:cNvPr id="7" name="Rounded Rectangle 6"/>
          <p:cNvSpPr/>
          <p:nvPr/>
        </p:nvSpPr>
        <p:spPr>
          <a:xfrm>
            <a:off x="548640" y="1737360"/>
            <a:ext cx="2615184" cy="987552"/>
          </a:xfrm>
          <a:prstGeom prst="roundRect">
            <a:avLst/>
          </a:prstGeom>
          <a:solidFill>
            <a:srgbClr val="FFF9E6"/>
          </a:solidFill>
          <a:ln w="1905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r>
              <a:rPr sz="850" b="1">
                <a:solidFill>
                  <a:srgbClr val="E65100"/>
                </a:solidFill>
                <a:latin typeface="Arial"/>
              </a:rPr>
              <a:t>BASELINE INSCHIET 2025</a:t>
            </a:r>
          </a:p>
          <a:p>
            <a:pPr algn="ctr"/>
            <a:r>
              <a:rPr sz="1550" b="1">
                <a:solidFill>
                  <a:srgbClr val="E65100"/>
                </a:solidFill>
                <a:latin typeface="Arial"/>
              </a:rPr>
              <a:t>4,61%</a:t>
            </a:r>
          </a:p>
          <a:p>
            <a:pPr algn="ctr"/>
            <a:r>
              <a:rPr sz="750">
                <a:solidFill>
                  <a:srgbClr val="2A2A3D"/>
                </a:solidFill>
                <a:latin typeface="Arial"/>
              </a:rPr>
              <a:t>Puncak Q4: 5,11% (SAP ZPPRSIPPC0012)</a:t>
            </a:r>
          </a:p>
        </p:txBody>
      </p:sp>
      <p:sp>
        <p:nvSpPr>
          <p:cNvPr id="8" name="Rectangle 7"/>
          <p:cNvSpPr/>
          <p:nvPr/>
        </p:nvSpPr>
        <p:spPr>
          <a:xfrm>
            <a:off x="548640" y="1737360"/>
            <a:ext cx="2615184"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374136" y="1737360"/>
            <a:ext cx="2615184" cy="987552"/>
          </a:xfrm>
          <a:prstGeom prst="roundRect">
            <a:avLst/>
          </a:prstGeom>
          <a:solidFill>
            <a:srgbClr val="FFF5F5"/>
          </a:solidFill>
          <a:ln w="1905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r>
              <a:rPr sz="850" b="1">
                <a:solidFill>
                  <a:srgbClr val="C62828"/>
                </a:solidFill>
                <a:latin typeface="Arial"/>
              </a:rPr>
              <a:t>JUMLAH LEMBAR RUSAK</a:t>
            </a:r>
          </a:p>
          <a:p>
            <a:pPr algn="ctr"/>
            <a:r>
              <a:rPr sz="1550" b="1">
                <a:solidFill>
                  <a:srgbClr val="C62828"/>
                </a:solidFill>
                <a:latin typeface="Arial"/>
              </a:rPr>
              <a:t>8.189.062 LK</a:t>
            </a:r>
          </a:p>
          <a:p>
            <a:pPr algn="ctr"/>
            <a:r>
              <a:rPr sz="750">
                <a:solidFill>
                  <a:srgbClr val="2A2A3D"/>
                </a:solidFill>
                <a:latin typeface="Arial"/>
              </a:rPr>
              <a:t>Total order: 177.636.930 Lembar Cetak</a:t>
            </a:r>
          </a:p>
        </p:txBody>
      </p:sp>
      <p:sp>
        <p:nvSpPr>
          <p:cNvPr id="10" name="Rectangle 9"/>
          <p:cNvSpPr/>
          <p:nvPr/>
        </p:nvSpPr>
        <p:spPr>
          <a:xfrm>
            <a:off x="3374136" y="1737360"/>
            <a:ext cx="2615184" cy="54864"/>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99632"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r>
              <a:rPr sz="850" b="1">
                <a:solidFill>
                  <a:srgbClr val="6A2CC9"/>
                </a:solidFill>
                <a:latin typeface="Arial"/>
              </a:rPr>
              <a:t>POTENSI BIAYA TERBUANG*</a:t>
            </a:r>
          </a:p>
          <a:p>
            <a:pPr algn="ctr"/>
            <a:r>
              <a:rPr sz="1550" b="1">
                <a:solidFill>
                  <a:srgbClr val="6A2CC9"/>
                </a:solidFill>
                <a:latin typeface="Arial"/>
              </a:rPr>
              <a:t>Rp 24,56 Miliar*</a:t>
            </a:r>
          </a:p>
          <a:p>
            <a:pPr algn="ctr"/>
            <a:r>
              <a:rPr sz="750">
                <a:solidFill>
                  <a:srgbClr val="2A2A3D"/>
                </a:solidFill>
                <a:latin typeface="Arial"/>
              </a:rPr>
              <a:t>*Simulasi estimasi @ Rp 3.000 / LK</a:t>
            </a:r>
          </a:p>
        </p:txBody>
      </p:sp>
      <p:sp>
        <p:nvSpPr>
          <p:cNvPr id="12" name="Rectangle 11"/>
          <p:cNvSpPr/>
          <p:nvPr/>
        </p:nvSpPr>
        <p:spPr>
          <a:xfrm>
            <a:off x="6199632"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25128"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r>
              <a:rPr sz="850" b="1">
                <a:solidFill>
                  <a:srgbClr val="20288F"/>
                </a:solidFill>
                <a:latin typeface="Arial"/>
              </a:rPr>
              <a:t>DOWNTIME PERBAIKAN</a:t>
            </a:r>
          </a:p>
          <a:p>
            <a:pPr algn="ctr"/>
            <a:r>
              <a:rPr sz="1550" b="1">
                <a:solidFill>
                  <a:srgbClr val="20288F"/>
                </a:solidFill>
                <a:latin typeface="Arial"/>
              </a:rPr>
              <a:t>&gt; 8 Jam / Mesin</a:t>
            </a:r>
          </a:p>
          <a:p>
            <a:pPr algn="ctr"/>
            <a:r>
              <a:rPr sz="750">
                <a:solidFill>
                  <a:srgbClr val="2A2A3D"/>
                </a:solidFill>
                <a:latin typeface="Arial"/>
              </a:rPr>
              <a:t>Pemeriksaan spekulatif bergilir (&gt; 1 shift)</a:t>
            </a:r>
          </a:p>
        </p:txBody>
      </p:sp>
      <p:sp>
        <p:nvSpPr>
          <p:cNvPr id="14" name="Rectangle 13"/>
          <p:cNvSpPr/>
          <p:nvPr/>
        </p:nvSpPr>
        <p:spPr>
          <a:xfrm>
            <a:off x="9025128"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816352"/>
            <a:ext cx="5440680" cy="32918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TREN INSCHIET BASELINE PER KUARTAL 2025</a:t>
            </a:r>
          </a:p>
        </p:txBody>
      </p:sp>
      <p:sp>
        <p:nvSpPr>
          <p:cNvPr id="16" name="Rounded Rectangle 15"/>
          <p:cNvSpPr/>
          <p:nvPr/>
        </p:nvSpPr>
        <p:spPr>
          <a:xfrm>
            <a:off x="548640" y="3145536"/>
            <a:ext cx="544068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7" name="Chart 16"/>
          <p:cNvGraphicFramePr>
            <a:graphicFrameLocks noGrp="1"/>
          </p:cNvGraphicFramePr>
          <p:nvPr/>
        </p:nvGraphicFramePr>
        <p:xfrm>
          <a:off x="685800" y="3200400"/>
          <a:ext cx="5166360" cy="1691640"/>
        </p:xfrm>
        <a:graphic>
          <a:graphicData uri="http://schemas.openxmlformats.org/drawingml/2006/chart">
            <c:chart xmlns:c="http://schemas.openxmlformats.org/drawingml/2006/chart" r:id="rId8"/>
          </a:graphicData>
        </a:graphic>
      </p:graphicFrame>
      <p:sp>
        <p:nvSpPr>
          <p:cNvPr id="18" name="TextBox 17"/>
          <p:cNvSpPr txBox="1"/>
          <p:nvPr/>
        </p:nvSpPr>
        <p:spPr>
          <a:xfrm>
            <a:off x="713232" y="4965192"/>
            <a:ext cx="5111496" cy="914400"/>
          </a:xfrm>
          <a:prstGeom prst="rect">
            <a:avLst/>
          </a:prstGeom>
          <a:noFill/>
        </p:spPr>
        <p:txBody>
          <a:bodyPr wrap="square" lIns="0" rIns="0" tIns="0" bIns="0">
            <a:spAutoFit/>
          </a:bodyPr>
          <a:lstStyle/>
          <a:p>
            <a:r>
              <a:rPr sz="800" b="1">
                <a:solidFill>
                  <a:srgbClr val="20288F"/>
                </a:solidFill>
                <a:latin typeface="Arial"/>
              </a:rPr>
              <a:t>Rata-rata Tahunan: 4,61%  |  Sumber: SAP ZPPRSIPPC0012 &amp; QC Verifikasi</a:t>
            </a:r>
          </a:p>
          <a:p>
            <a:pPr>
              <a:spcBef>
                <a:spcPts val="200"/>
              </a:spcBef>
            </a:pPr>
            <a:r>
              <a:rPr sz="750">
                <a:solidFill>
                  <a:srgbClr val="2A2A3D"/>
                </a:solidFill>
                <a:latin typeface="Arial"/>
              </a:rPr>
              <a:t>• Q2 (3,97%): Bukti lini cetak mampu mencapai target &lt; 4,00%.
• Q4 (5,11%): Lonjakan saat order desain baru masuk. Ketiadaan data mesin &amp; shift membuat lonjakan order selalu diiringi naiknya lembar rusak.</a:t>
            </a:r>
          </a:p>
        </p:txBody>
      </p:sp>
      <p:sp>
        <p:nvSpPr>
          <p:cNvPr id="19" name="Rectangle 18"/>
          <p:cNvSpPr/>
          <p:nvPr/>
        </p:nvSpPr>
        <p:spPr>
          <a:xfrm>
            <a:off x="6199632" y="2816352"/>
            <a:ext cx="5440680" cy="329184"/>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DAMPAK RISIKO BILA DIBIARKAN (5 PILAR)</a:t>
            </a:r>
          </a:p>
        </p:txBody>
      </p:sp>
      <p:sp>
        <p:nvSpPr>
          <p:cNvPr id="20" name="Rounded Rectangle 19"/>
          <p:cNvSpPr/>
          <p:nvPr/>
        </p:nvSpPr>
        <p:spPr>
          <a:xfrm>
            <a:off x="6199632" y="3145536"/>
            <a:ext cx="5440680" cy="2761488"/>
          </a:xfrm>
          <a:prstGeom prst="roundRect">
            <a:avLst/>
          </a:prstGeom>
          <a:solidFill>
            <a:srgbClr val="FFF5F5"/>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73152"/>
          <a:lstStyle/>
          <a:p>
            <a:pPr algn="ctr">
              <a:spcAft>
                <a:spcPts val="350"/>
              </a:spcAft>
            </a:pPr>
            <a:r>
              <a:rPr sz="850" b="1">
                <a:solidFill>
                  <a:srgbClr val="C62828"/>
                </a:solidFill>
                <a:latin typeface="Arial"/>
              </a:rPr>
              <a:t>• 1. Biaya (Cost): </a:t>
            </a:r>
            <a:r>
              <a:rPr sz="800">
                <a:solidFill>
                  <a:srgbClr val="2A2A3D"/>
                </a:solidFill>
                <a:latin typeface="Arial"/>
              </a:rPr>
              <a:t>Akumulasi pemborosan biaya cetak mencapai Rp 24,56 Miliar/tahun (8.189.062 LK × asumsi Rp 3.000*) dan potensi saving Rp 5,33 Miliar per tiap 1% penurunan inschiet.</a:t>
            </a:r>
          </a:p>
          <a:p>
            <a:pPr>
              <a:spcAft>
                <a:spcPts val="350"/>
              </a:spcAft>
            </a:pPr>
            <a:r>
              <a:rPr sz="850" b="1">
                <a:solidFill>
                  <a:srgbClr val="C62828"/>
                </a:solidFill>
                <a:latin typeface="Arial"/>
              </a:rPr>
              <a:t>• 2. Mutu (Quality): </a:t>
            </a:r>
            <a:r>
              <a:rPr sz="800">
                <a:solidFill>
                  <a:srgbClr val="2A2A3D"/>
                </a:solidFill>
                <a:latin typeface="Arial"/>
              </a:rPr>
              <a:t>Inschiet berfluktuasi tanpa kendali (puncak 5,11%). Penanganan mesin bersifat sementara karena tidak menyentuh akar masalah per-mesin.</a:t>
            </a:r>
          </a:p>
          <a:p>
            <a:pPr>
              <a:spcAft>
                <a:spcPts val="350"/>
              </a:spcAft>
            </a:pPr>
            <a:r>
              <a:rPr sz="850" b="1">
                <a:solidFill>
                  <a:srgbClr val="C62828"/>
                </a:solidFill>
                <a:latin typeface="Arial"/>
              </a:rPr>
              <a:t>• 3. Kepatuhan (Compliance): </a:t>
            </a:r>
            <a:r>
              <a:rPr sz="800">
                <a:solidFill>
                  <a:srgbClr val="2A2A3D"/>
                </a:solidFill>
                <a:latin typeface="Arial"/>
              </a:rPr>
              <a:t>Akuntabilitas pelacakan (traceability) dokumen negara terhambat karena pencatatan manual di buku folio tidak dapat diaudit digital (ISO 9001).</a:t>
            </a:r>
          </a:p>
          <a:p>
            <a:pPr>
              <a:spcAft>
                <a:spcPts val="350"/>
              </a:spcAft>
            </a:pPr>
            <a:r>
              <a:rPr sz="850" b="1">
                <a:solidFill>
                  <a:srgbClr val="C62828"/>
                </a:solidFill>
                <a:latin typeface="Arial"/>
              </a:rPr>
              <a:t>• 4. K3L &amp; Lingkungan (ESG): </a:t>
            </a:r>
            <a:r>
              <a:rPr sz="800">
                <a:solidFill>
                  <a:srgbClr val="2A2A3D"/>
                </a:solidFill>
                <a:latin typeface="Arial"/>
              </a:rPr>
              <a:t>Timbulan limbah padat kertas sekuriti mencapai 8,18 Juta LK/tahun (±60–65 ton kertas terbuang) dan peningkatan kelelahan operator di shift malam.</a:t>
            </a:r>
          </a:p>
          <a:p>
            <a:pPr>
              <a:spcAft>
                <a:spcPts val="350"/>
              </a:spcAft>
            </a:pPr>
            <a:r>
              <a:rPr sz="850" b="1">
                <a:solidFill>
                  <a:srgbClr val="C62828"/>
                </a:solidFill>
                <a:latin typeface="Arial"/>
              </a:rPr>
              <a:t>• 5. Layanan (Service SLA): </a:t>
            </a:r>
            <a:r>
              <a:rPr sz="800">
                <a:solidFill>
                  <a:srgbClr val="2A2A3D"/>
                </a:solidFill>
                <a:latin typeface="Arial"/>
              </a:rPr>
              <a:t>Risiko keterlambatan serah terima pesanan ke DJBC akibat antrean cetak ulang lembar rusak yang mengancam reputasi SLA perusahaan.</a:t>
            </a:r>
          </a:p>
        </p:txBody>
      </p:sp>
      <p:sp>
        <p:nvSpPr>
          <p:cNvPr id="21" name="Rounded Rectangle 20"/>
          <p:cNvSpPr/>
          <p:nvPr/>
        </p:nvSpPr>
        <p:spPr>
          <a:xfrm>
            <a:off x="548640" y="5961888"/>
            <a:ext cx="11091672" cy="402336"/>
          </a:xfrm>
          <a:prstGeom prst="roundRect">
            <a:avLst/>
          </a:prstGeom>
          <a:solidFill>
            <a:srgbClr val="FFF9E6"/>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750" b="1">
                <a:solidFill>
                  <a:srgbClr val="E65100"/>
                </a:solidFill>
                <a:latin typeface="Arial"/>
              </a:rPr>
              <a:t>*Catatan Asumsi Finansial (Confidentiality Protection): </a:t>
            </a:r>
            <a:r>
              <a:rPr sz="750" i="1">
                <a:solidFill>
                  <a:srgbClr val="2A2A3D"/>
                </a:solidFill>
                <a:latin typeface="Arial"/>
              </a:rPr>
              <a:t>Nilai Rp 3.000/lembar adalah estimasi internal (kertas sekuriti, tinta khusus, depresiasi &amp; operasional mesin, tenaga kerja) semata-mata untuk simulasi dampak inovasi (cost avoidance), BUKAN harga jual resmi atau rincian biaya pokok produksi resmi dari Perum Peruri yang bersifat rahasia perusahaan.</a:t>
            </a:r>
          </a:p>
        </p:txBody>
      </p:sp>
      <p:sp>
        <p:nvSpPr>
          <p:cNvPr id="22" name="TextBox 21"/>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2000" b="1">
                <a:solidFill>
                  <a:srgbClr val="FFFFFF"/>
                </a:solidFill>
                <a:latin typeface="Arial"/>
              </a:rPr>
              <a:t>03.1</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pPr algn="l"/>
            <a:r>
              <a:rPr sz="2400" b="1">
                <a:solidFill>
                  <a:srgbClr val="20288F"/>
                </a:solidFill>
                <a:latin typeface="Arial"/>
              </a:rPr>
              <a:t>Analisis Penyebab: Diagram Fishbone 4M &amp; Bukti Data Silo</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b="0">
                <a:solidFill>
                  <a:srgbClr val="2A2A3D"/>
                </a:solidFill>
                <a:latin typeface="Arial"/>
              </a:rPr>
              <a:t>Tunjukkan dekonstruksi variabel penyebab lintas 4M dan buktikan temuan empiris keterpisahan data (data silo) di lapangan.</a:t>
            </a:r>
          </a:p>
        </p:txBody>
      </p:sp>
      <p:sp>
        <p:nvSpPr>
          <p:cNvPr id="7" name="TextBox 6"/>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5394960" cy="32918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050" b="1">
                <a:solidFill>
                  <a:srgbClr val="FFFFFF"/>
                </a:solidFill>
                <a:latin typeface="Arial"/>
              </a:rPr>
              <a:t>1. METODE ANALISIS: DIAGRAM TULANG IKAN (FISHBONE 4M)</a:t>
            </a:r>
          </a:p>
        </p:txBody>
      </p:sp>
      <p:sp>
        <p:nvSpPr>
          <p:cNvPr id="9" name="Rounded Rectangle 8"/>
          <p:cNvSpPr/>
          <p:nvPr/>
        </p:nvSpPr>
        <p:spPr>
          <a:xfrm>
            <a:off x="548640" y="2084831"/>
            <a:ext cx="5394960" cy="3730752"/>
          </a:xfrm>
          <a:prstGeom prst="roundRect">
            <a:avLst/>
          </a:prstGeom>
          <a:solidFill>
            <a:srgbClr val="F4F7FE"/>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157984"/>
            <a:ext cx="5175504" cy="1874519"/>
          </a:xfrm>
          <a:prstGeom prst="roundRect">
            <a:avLst/>
          </a:prstGeom>
          <a:solidFill>
            <a:srgbClr val="FFFFFF"/>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4"/>
          <a:stretch>
            <a:fillRect/>
          </a:stretch>
        </p:blipFill>
        <p:spPr>
          <a:xfrm>
            <a:off x="731520" y="2212848"/>
            <a:ext cx="5029200" cy="1755648"/>
          </a:xfrm>
          <a:prstGeom prst="rect">
            <a:avLst/>
          </a:prstGeom>
        </p:spPr>
      </p:pic>
      <p:sp>
        <p:nvSpPr>
          <p:cNvPr id="12" name="Rounded Rectangle 11"/>
          <p:cNvSpPr/>
          <p:nvPr/>
        </p:nvSpPr>
        <p:spPr>
          <a:xfrm>
            <a:off x="658368" y="4096512"/>
            <a:ext cx="5175504" cy="1627632"/>
          </a:xfrm>
          <a:prstGeom prst="roundRect">
            <a:avLst/>
          </a:prstGeom>
          <a:solidFill>
            <a:srgbClr val="FFFFFF"/>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850" b="1">
                <a:solidFill>
                  <a:srgbClr val="20288F"/>
                </a:solidFill>
                <a:latin typeface="Arial"/>
              </a:rPr>
              <a:t>RINGKASAN DEKONSTRUKSI 4 PILAR FISHBONE DI LAPANGAN:</a:t>
            </a:r>
          </a:p>
          <a:p>
            <a:pPr>
              <a:spcAft>
                <a:spcPts val="150"/>
              </a:spcAft>
            </a:pPr>
            <a:r>
              <a:rPr sz="780" b="1">
                <a:solidFill>
                  <a:srgbClr val="6A2CC9"/>
                </a:solidFill>
                <a:latin typeface="Arial"/>
              </a:rPr>
              <a:t>• MAN &amp; METHOD: </a:t>
            </a:r>
            <a:r>
              <a:rPr sz="780" b="0">
                <a:solidFill>
                  <a:srgbClr val="2A2A3D"/>
                </a:solidFill>
                <a:latin typeface="Arial"/>
              </a:rPr>
              <a:t>Kelelahan visual shift malam (23–07) &amp; belum ada standar digital setting awal (make-ready) -&gt; afval awal tinggi per PO.</a:t>
            </a:r>
          </a:p>
          <a:p>
            <a:pPr>
              <a:spcAft>
                <a:spcPts val="150"/>
              </a:spcAft>
            </a:pPr>
            <a:r>
              <a:rPr sz="780" b="1">
                <a:solidFill>
                  <a:srgbClr val="C62828"/>
                </a:solidFill>
                <a:latin typeface="Arial"/>
              </a:rPr>
              <a:t>• MACHINE &amp; MATERIAL: </a:t>
            </a:r>
            <a:r>
              <a:rPr sz="780" b="0">
                <a:solidFill>
                  <a:srgbClr val="2A2A3D"/>
                </a:solidFill>
                <a:latin typeface="Arial"/>
              </a:rPr>
              <a:t>Penurunan performa rol karet mengeras/licin, blanket fatigue, penjepit silinder melemah, &amp; kertas higroskopis rentan gelombang (plooi).</a:t>
            </a:r>
          </a:p>
          <a:p>
            <a:pPr>
              <a:spcAft>
                <a:spcPts val="150"/>
              </a:spcAft>
            </a:pPr>
            <a:r>
              <a:rPr sz="780" b="1">
                <a:solidFill>
                  <a:srgbClr val="20288F"/>
                </a:solidFill>
                <a:latin typeface="Arial"/>
              </a:rPr>
              <a:t>• AKIBAT OPERASIONAL: </a:t>
            </a:r>
            <a:r>
              <a:rPr sz="780" b="1">
                <a:solidFill>
                  <a:srgbClr val="C62828"/>
                </a:solidFill>
                <a:latin typeface="Arial"/>
              </a:rPr>
              <a:t>Inschiet rata-rata 4,61% (Puncak Q4: 5,11% | Kerugian Rp 24,56 Miliar/Tahun | Downtime &gt; 8 jam akibat inspeksi acak bergilir).</a:t>
            </a:r>
          </a:p>
        </p:txBody>
      </p:sp>
      <p:sp>
        <p:nvSpPr>
          <p:cNvPr id="13" name="Rectangle 12"/>
          <p:cNvSpPr/>
          <p:nvPr/>
        </p:nvSpPr>
        <p:spPr>
          <a:xfrm>
            <a:off x="6199632" y="1755648"/>
            <a:ext cx="5440680" cy="32918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050" b="1">
                <a:solidFill>
                  <a:srgbClr val="FFFFFF"/>
                </a:solidFill>
                <a:latin typeface="Arial"/>
              </a:rPr>
              <a:t>2. TEMUAN FAKTA &amp; BUKTI EMPIRIS LAPANGAN (DATA SILO)</a:t>
            </a:r>
          </a:p>
        </p:txBody>
      </p:sp>
      <p:sp>
        <p:nvSpPr>
          <p:cNvPr id="14" name="Rounded Rectangle 13"/>
          <p:cNvSpPr/>
          <p:nvPr/>
        </p:nvSpPr>
        <p:spPr>
          <a:xfrm>
            <a:off x="6199632" y="2084831"/>
            <a:ext cx="5440680" cy="3730752"/>
          </a:xfrm>
          <a:prstGeom prst="roundRect">
            <a:avLst/>
          </a:prstGeom>
          <a:solidFill>
            <a:srgbClr val="F8F6FE"/>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27648" y="2157984"/>
            <a:ext cx="5184648" cy="1078992"/>
          </a:xfrm>
          <a:prstGeom prst="roundRect">
            <a:avLst/>
          </a:prstGeom>
          <a:solidFill>
            <a:srgbClr val="FFFFFF"/>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900" b="1">
                <a:solidFill>
                  <a:srgbClr val="20288F"/>
                </a:solidFill>
                <a:latin typeface="Arial"/>
              </a:rPr>
              <a:t>BUKTI 1: Data Transaksi SAP Terkunci Mentah (Dormant Data)</a:t>
            </a:r>
          </a:p>
          <a:p>
            <a:pPr>
              <a:spcAft>
                <a:spcPts val="200"/>
              </a:spcAft>
            </a:pPr>
            <a:r>
              <a:rPr sz="800" b="1">
                <a:solidFill>
                  <a:srgbClr val="20288F"/>
                </a:solidFill>
                <a:latin typeface="Arial"/>
              </a:rPr>
              <a:t>• Kondisi Sistem: </a:t>
            </a:r>
            <a:r>
              <a:rPr sz="800">
                <a:solidFill>
                  <a:srgbClr val="2A2A3D"/>
                </a:solidFill>
                <a:latin typeface="Arial"/>
              </a:rPr>
              <a:t>Modul SAP ZPPRSIPPC0012 memuat data PO &amp; hasil cetak, tetapi tersaji dalam tabel CSV mentah puluhan kolom di PC kantor.</a:t>
            </a:r>
          </a:p>
          <a:p>
            <a:r>
              <a:rPr sz="800" b="1">
                <a:solidFill>
                  <a:srgbClr val="20288F"/>
                </a:solidFill>
                <a:latin typeface="Arial"/>
              </a:rPr>
              <a:t>• Fakta Lapangan: </a:t>
            </a:r>
            <a:r>
              <a:rPr sz="800">
                <a:solidFill>
                  <a:srgbClr val="2A2A3D"/>
                </a:solidFill>
                <a:latin typeface="Arial"/>
              </a:rPr>
              <a:t>Data pasif dan tidak bisa diolah langsung di meja mesin; pengawas tidak memiliki visualisasi tren performa harian per mesin.</a:t>
            </a:r>
          </a:p>
        </p:txBody>
      </p:sp>
      <p:sp>
        <p:nvSpPr>
          <p:cNvPr id="16" name="Rounded Rectangle 15"/>
          <p:cNvSpPr/>
          <p:nvPr/>
        </p:nvSpPr>
        <p:spPr>
          <a:xfrm>
            <a:off x="6327648" y="3291840"/>
            <a:ext cx="5184648" cy="1078992"/>
          </a:xfrm>
          <a:prstGeom prst="roundRect">
            <a:avLst/>
          </a:prstGeom>
          <a:solidFill>
            <a:srgbClr val="FFFFFF"/>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900" b="1">
                <a:solidFill>
                  <a:srgbClr val="6A2CC9"/>
                </a:solidFill>
                <a:latin typeface="Arial"/>
              </a:rPr>
              <a:t>BUKTI 2: Data Mutu QC Hanya Ringkasan Global (Attribution Blindness)</a:t>
            </a:r>
          </a:p>
          <a:p>
            <a:pPr>
              <a:spcAft>
                <a:spcPts val="200"/>
              </a:spcAft>
            </a:pPr>
            <a:r>
              <a:rPr sz="800" b="1">
                <a:solidFill>
                  <a:srgbClr val="6A2CC9"/>
                </a:solidFill>
                <a:latin typeface="Arial"/>
              </a:rPr>
              <a:t>• Kondisi Sistem: </a:t>
            </a:r>
            <a:r>
              <a:rPr sz="800">
                <a:solidFill>
                  <a:srgbClr val="2A2A3D"/>
                </a:solidFill>
                <a:latin typeface="Arial"/>
              </a:rPr>
              <a:t>Laporan QC Verifikasi mencatat lembar cacat per jenis (blobor, noda, dll), namun hanya sebagai total akumulasi unit global.</a:t>
            </a:r>
          </a:p>
          <a:p>
            <a:r>
              <a:rPr sz="800" b="1">
                <a:solidFill>
                  <a:srgbClr val="6A2CC9"/>
                </a:solidFill>
                <a:latin typeface="Arial"/>
              </a:rPr>
              <a:t>• Fakta Lapangan: </a:t>
            </a:r>
            <a:r>
              <a:rPr sz="800">
                <a:solidFill>
                  <a:srgbClr val="2A2A3D"/>
                </a:solidFill>
                <a:latin typeface="Arial"/>
              </a:rPr>
              <a:t>Ketiadaan nomor mesin, PO, &amp; shift -&gt; Kebutaan atribusi: teknisi tidak tahu mesin target dan pembinaan operator bias.</a:t>
            </a:r>
          </a:p>
        </p:txBody>
      </p:sp>
      <p:sp>
        <p:nvSpPr>
          <p:cNvPr id="17" name="Rounded Rectangle 16"/>
          <p:cNvSpPr/>
          <p:nvPr/>
        </p:nvSpPr>
        <p:spPr>
          <a:xfrm>
            <a:off x="6327648" y="4425696"/>
            <a:ext cx="5184648" cy="1298448"/>
          </a:xfrm>
          <a:prstGeom prst="roundRect">
            <a:avLst/>
          </a:prstGeom>
          <a:solidFill>
            <a:srgbClr val="FFFFFF"/>
          </a:solidFill>
          <a:ln>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900" b="1">
                <a:solidFill>
                  <a:srgbClr val="C62828"/>
                </a:solidFill>
                <a:latin typeface="Arial"/>
              </a:rPr>
              <a:t>BUKTI 3: Data Penugasan Terperangkap di Kertas (The Paper Trap)</a:t>
            </a:r>
          </a:p>
          <a:p>
            <a:pPr>
              <a:spcAft>
                <a:spcPts val="200"/>
              </a:spcAft>
            </a:pPr>
            <a:r>
              <a:rPr sz="800" b="1">
                <a:solidFill>
                  <a:srgbClr val="C62828"/>
                </a:solidFill>
                <a:latin typeface="Arial"/>
              </a:rPr>
              <a:t>• Kondisi Sistem: </a:t>
            </a:r>
            <a:r>
              <a:rPr sz="800">
                <a:solidFill>
                  <a:srgbClr val="2A2A3D"/>
                </a:solidFill>
                <a:latin typeface="Arial"/>
              </a:rPr>
              <a:t>Nomor mesin, PO, shift, nama operator, &amp; hasil cetak (LK) ditulis manual dengan pulpen pada buku folio fisik di meja mesin.</a:t>
            </a:r>
          </a:p>
          <a:p>
            <a:r>
              <a:rPr sz="800" b="1">
                <a:solidFill>
                  <a:srgbClr val="C62828"/>
                </a:solidFill>
                <a:latin typeface="Arial"/>
              </a:rPr>
              <a:t>• Fakta Lapangan: </a:t>
            </a:r>
            <a:r>
              <a:rPr sz="800">
                <a:solidFill>
                  <a:srgbClr val="2A2A3D"/>
                </a:solidFill>
                <a:latin typeface="Arial"/>
              </a:rPr>
              <a:t>Buku fisik terisolasi &amp; baru direkap kuartalan saat penilaian pegawai; data rawan hilang/rusak terkena tinta/air, dan feedback kinerja tertunda berbulan-bulan.</a:t>
            </a:r>
          </a:p>
        </p:txBody>
      </p:sp>
      <p:sp>
        <p:nvSpPr>
          <p:cNvPr id="18" name="Rounded Rectangle 17"/>
          <p:cNvSpPr/>
          <p:nvPr/>
        </p:nvSpPr>
        <p:spPr>
          <a:xfrm>
            <a:off x="548640" y="5888736"/>
            <a:ext cx="11091672" cy="457200"/>
          </a:xfrm>
          <a:prstGeom prst="roundRect">
            <a:avLst/>
          </a:prstGeom>
          <a:solidFill>
            <a:srgbClr val="F4F7FE"/>
          </a:solidFill>
          <a:ln>
            <a:solidFill>
              <a:srgbClr val="20288F"/>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r>
              <a:rPr sz="880" b="1">
                <a:solidFill>
                  <a:srgbClr val="20288F"/>
                </a:solidFill>
                <a:latin typeface="Arial"/>
              </a:rPr>
              <a:t>• Business Insight:  </a:t>
            </a:r>
            <a:r>
              <a:rPr sz="880">
                <a:solidFill>
                  <a:srgbClr val="2A2A3D"/>
                </a:solidFill>
                <a:latin typeface="Arial"/>
              </a:rPr>
              <a:t>Penyebab utama tingginya inschiet bukan ketiadaan SOP, melainkan terputusnya aliran data (Data Silo) antara SAP di kantor, modul QC Verifikasi, dan buku folio di meja mesin. Tanpa integrasi data, perbaikan mesin tetap spekulatif (&gt; 8 jam) dan pembinaan operator terhambat.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2000" b="1">
                <a:solidFill>
                  <a:srgbClr val="FFFFFF"/>
                </a:solidFill>
                <a:latin typeface="Arial"/>
              </a:rPr>
              <a:t>03.2</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pPr algn="l"/>
            <a:r>
              <a:rPr sz="2400" b="1">
                <a:solidFill>
                  <a:srgbClr val="20288F"/>
                </a:solidFill>
                <a:latin typeface="Arial"/>
              </a:rPr>
              <a:t>Analisis Penyebab: Rantai Kausalitas 5-Why &amp; Akar Masalah</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b="0">
                <a:solidFill>
                  <a:srgbClr val="2A2A3D"/>
                </a:solidFill>
                <a:latin typeface="Arial"/>
              </a:rPr>
              <a:t>Buktikan penelusuran kausalitas berjenjang (5-Why) dan rumuskan akar masalah utama yang akan diserang oleh solusi.</a:t>
            </a:r>
          </a:p>
        </p:txBody>
      </p:sp>
      <p:sp>
        <p:nvSpPr>
          <p:cNvPr id="7" name="TextBox 6"/>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5577840" cy="32918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050" b="1">
                <a:solidFill>
                  <a:srgbClr val="FFFFFF"/>
                </a:solidFill>
                <a:latin typeface="Arial"/>
              </a:rPr>
              <a:t>1. METODE ANALISIS: PENELUSURAN KAUSALITAS 5-WHY</a:t>
            </a:r>
          </a:p>
        </p:txBody>
      </p:sp>
      <p:sp>
        <p:nvSpPr>
          <p:cNvPr id="9" name="Rounded Rectangle 8"/>
          <p:cNvSpPr/>
          <p:nvPr/>
        </p:nvSpPr>
        <p:spPr>
          <a:xfrm>
            <a:off x="548640" y="2084831"/>
            <a:ext cx="5577840" cy="3730752"/>
          </a:xfrm>
          <a:prstGeom prst="roundRect">
            <a:avLst/>
          </a:prstGeom>
          <a:solidFill>
            <a:srgbClr val="F4F7FE"/>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157984"/>
            <a:ext cx="5358384" cy="658368"/>
          </a:xfrm>
          <a:prstGeom prst="roundRect">
            <a:avLst/>
          </a:prstGeom>
          <a:solidFill>
            <a:srgbClr val="FFFFFF"/>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50"/>
              </a:spcAft>
            </a:pPr>
            <a:r>
              <a:rPr sz="780" b="1">
                <a:solidFill>
                  <a:srgbClr val="20288F"/>
                </a:solidFill>
                <a:latin typeface="Arial"/>
              </a:rPr>
              <a:t>[WHY 1] </a:t>
            </a:r>
            <a:r>
              <a:rPr sz="780" b="1">
                <a:solidFill>
                  <a:srgbClr val="2A2A3D"/>
                </a:solidFill>
                <a:latin typeface="Arial"/>
              </a:rPr>
              <a:t>Mengapa inschiet berfluktuasi tinggi pada rata-rata 4,61% (puncak 5,11%)?</a:t>
            </a:r>
          </a:p>
          <a:p>
            <a:pPr>
              <a:spcAft>
                <a:spcPts val="150"/>
              </a:spcAft>
            </a:pPr>
            <a:r>
              <a:rPr sz="780" b="1">
                <a:solidFill>
                  <a:srgbClr val="20288F"/>
                </a:solidFill>
                <a:latin typeface="Arial"/>
              </a:rPr>
              <a:t>➔ </a:t>
            </a:r>
            <a:r>
              <a:rPr sz="780" b="0">
                <a:solidFill>
                  <a:srgbClr val="2A2A3D"/>
                </a:solidFill>
                <a:latin typeface="Arial"/>
              </a:rPr>
              <a:t>Tindakan servis mesin &amp; coaching operator sering terlambat dan tidak tepat sasaran.</a:t>
            </a:r>
          </a:p>
          <a:p>
            <a:r>
              <a:rPr sz="700" i="1">
                <a:solidFill>
                  <a:srgbClr val="6E6E82"/>
                </a:solidFill>
                <a:latin typeface="Arial"/>
              </a:rPr>
              <a:t>   [Bukti: Fluktuasi kuartalan Q1 (4,72%) s.d. Q4 (5,11%) — Sumber: SAP ZPPRSIPPC0012]</a:t>
            </a:r>
          </a:p>
        </p:txBody>
      </p:sp>
      <p:sp>
        <p:nvSpPr>
          <p:cNvPr id="11" name="Rounded Rectangle 10"/>
          <p:cNvSpPr/>
          <p:nvPr/>
        </p:nvSpPr>
        <p:spPr>
          <a:xfrm>
            <a:off x="658368" y="2843784"/>
            <a:ext cx="5358384" cy="658368"/>
          </a:xfrm>
          <a:prstGeom prst="roundRect">
            <a:avLst/>
          </a:prstGeom>
          <a:solidFill>
            <a:srgbClr val="FFFFFF"/>
          </a:solidFill>
          <a:ln>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50"/>
              </a:spcAft>
            </a:pPr>
            <a:r>
              <a:rPr sz="780" b="1">
                <a:solidFill>
                  <a:srgbClr val="20288F"/>
                </a:solidFill>
                <a:latin typeface="Arial"/>
              </a:rPr>
              <a:t>[WHY 2] </a:t>
            </a:r>
            <a:r>
              <a:rPr sz="780" b="1">
                <a:solidFill>
                  <a:srgbClr val="2A2A3D"/>
                </a:solidFill>
                <a:latin typeface="Arial"/>
              </a:rPr>
              <a:t>Mengapa perbaikan mesin &amp; pembinaan operator tidak tepat sasaran?</a:t>
            </a:r>
          </a:p>
          <a:p>
            <a:pPr>
              <a:spcAft>
                <a:spcPts val="150"/>
              </a:spcAft>
            </a:pPr>
            <a:r>
              <a:rPr sz="780" b="1">
                <a:solidFill>
                  <a:srgbClr val="20288F"/>
                </a:solidFill>
                <a:latin typeface="Arial"/>
              </a:rPr>
              <a:t>➔ </a:t>
            </a:r>
            <a:r>
              <a:rPr sz="780" b="0">
                <a:solidFill>
                  <a:srgbClr val="2A2A3D"/>
                </a:solidFill>
                <a:latin typeface="Arial"/>
              </a:rPr>
              <a:t>Teknisi &amp; pengawas tidak tahu pasti mesin mana sumber masalah &amp; apakah faktor mesin/shift.</a:t>
            </a:r>
          </a:p>
          <a:p>
            <a:r>
              <a:rPr sz="700" i="1">
                <a:solidFill>
                  <a:srgbClr val="6E6E82"/>
                </a:solidFill>
                <a:latin typeface="Arial"/>
              </a:rPr>
              <a:t>   [Bukti: Kasus penelusuran blobor acak ke 6 mesin pada Juni 2025 dengan downtime &gt; 8 jam]</a:t>
            </a:r>
          </a:p>
        </p:txBody>
      </p:sp>
      <p:sp>
        <p:nvSpPr>
          <p:cNvPr id="12" name="Rounded Rectangle 11"/>
          <p:cNvSpPr/>
          <p:nvPr/>
        </p:nvSpPr>
        <p:spPr>
          <a:xfrm>
            <a:off x="658368" y="3529584"/>
            <a:ext cx="5358384" cy="658368"/>
          </a:xfrm>
          <a:prstGeom prst="roundRect">
            <a:avLst/>
          </a:prstGeom>
          <a:solidFill>
            <a:srgbClr val="FFFFFF"/>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50"/>
              </a:spcAft>
            </a:pPr>
            <a:r>
              <a:rPr sz="780" b="1">
                <a:solidFill>
                  <a:srgbClr val="6A2CC9"/>
                </a:solidFill>
                <a:latin typeface="Arial"/>
              </a:rPr>
              <a:t>[WHY 3] </a:t>
            </a:r>
            <a:r>
              <a:rPr sz="780" b="1">
                <a:solidFill>
                  <a:srgbClr val="2A2A3D"/>
                </a:solidFill>
                <a:latin typeface="Arial"/>
              </a:rPr>
              <a:t>Mengapa tidak diketahui mesin mana dan shift mana yang bermasalah?</a:t>
            </a:r>
          </a:p>
          <a:p>
            <a:pPr>
              <a:spcAft>
                <a:spcPts val="150"/>
              </a:spcAft>
            </a:pPr>
            <a:r>
              <a:rPr sz="780" b="1">
                <a:solidFill>
                  <a:srgbClr val="6A2CC9"/>
                </a:solidFill>
                <a:latin typeface="Arial"/>
              </a:rPr>
              <a:t>➔ </a:t>
            </a:r>
            <a:r>
              <a:rPr sz="780" b="0">
                <a:solidFill>
                  <a:srgbClr val="2A2A3D"/>
                </a:solidFill>
                <a:latin typeface="Arial"/>
              </a:rPr>
              <a:t>Data jenis kerusakan QC tidak terhubung dengan data penugasan operasional (mesin, shift, PO).</a:t>
            </a:r>
          </a:p>
          <a:p>
            <a:r>
              <a:rPr sz="700" i="1">
                <a:solidFill>
                  <a:srgbClr val="6E6E82"/>
                </a:solidFill>
                <a:latin typeface="Arial"/>
              </a:rPr>
              <a:t>   [Bukti: Laporan QC Verifikasi hanya menyajikan total kerusakan general di level unit]</a:t>
            </a:r>
          </a:p>
        </p:txBody>
      </p:sp>
      <p:sp>
        <p:nvSpPr>
          <p:cNvPr id="13" name="Rounded Rectangle 12"/>
          <p:cNvSpPr/>
          <p:nvPr/>
        </p:nvSpPr>
        <p:spPr>
          <a:xfrm>
            <a:off x="658368" y="4215384"/>
            <a:ext cx="5358384" cy="658368"/>
          </a:xfrm>
          <a:prstGeom prst="roundRect">
            <a:avLst/>
          </a:prstGeom>
          <a:solidFill>
            <a:srgbClr val="FFFFFF"/>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50"/>
              </a:spcAft>
            </a:pPr>
            <a:r>
              <a:rPr sz="780" b="1">
                <a:solidFill>
                  <a:srgbClr val="6A2CC9"/>
                </a:solidFill>
                <a:latin typeface="Arial"/>
              </a:rPr>
              <a:t>[WHY 4] </a:t>
            </a:r>
            <a:r>
              <a:rPr sz="780" b="1">
                <a:solidFill>
                  <a:srgbClr val="2A2A3D"/>
                </a:solidFill>
                <a:latin typeface="Arial"/>
              </a:rPr>
              <a:t>Mengapa data kerusakan dan penugasan operasional tidak terhubung?</a:t>
            </a:r>
          </a:p>
          <a:p>
            <a:pPr>
              <a:spcAft>
                <a:spcPts val="150"/>
              </a:spcAft>
            </a:pPr>
            <a:r>
              <a:rPr sz="780" b="1">
                <a:solidFill>
                  <a:srgbClr val="6A2CC9"/>
                </a:solidFill>
                <a:latin typeface="Arial"/>
              </a:rPr>
              <a:t>➔ </a:t>
            </a:r>
            <a:r>
              <a:rPr sz="780" b="0">
                <a:solidFill>
                  <a:srgbClr val="2A2A3D"/>
                </a:solidFill>
                <a:latin typeface="Arial"/>
              </a:rPr>
              <a:t>Terjadi Data Silo: data mutu di SAP/QC, penugasan dicatat manual di buku folio meja mesin.</a:t>
            </a:r>
          </a:p>
          <a:p>
            <a:r>
              <a:rPr sz="700" i="1">
                <a:solidFill>
                  <a:srgbClr val="6E6E82"/>
                </a:solidFill>
                <a:latin typeface="Arial"/>
              </a:rPr>
              <a:t>   [Bukti: Tabel CSV mentah SAP ZPPRSIPPC0012 vs Buku Folio Fisik Meja Mesin]</a:t>
            </a:r>
          </a:p>
        </p:txBody>
      </p:sp>
      <p:sp>
        <p:nvSpPr>
          <p:cNvPr id="14" name="Rounded Rectangle 13"/>
          <p:cNvSpPr/>
          <p:nvPr/>
        </p:nvSpPr>
        <p:spPr>
          <a:xfrm>
            <a:off x="658368" y="4901184"/>
            <a:ext cx="5358384" cy="841248"/>
          </a:xfrm>
          <a:prstGeom prst="roundRect">
            <a:avLst/>
          </a:prstGeom>
          <a:solidFill>
            <a:srgbClr val="FFFFFF"/>
          </a:solidFill>
          <a:ln>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50"/>
              </a:spcAft>
            </a:pPr>
            <a:r>
              <a:rPr sz="780" b="1">
                <a:solidFill>
                  <a:srgbClr val="C62828"/>
                </a:solidFill>
                <a:latin typeface="Arial"/>
              </a:rPr>
              <a:t>[WHY 5 (ROOT CAUSE)] </a:t>
            </a:r>
            <a:r>
              <a:rPr sz="780" b="1">
                <a:solidFill>
                  <a:srgbClr val="2A2A3D"/>
                </a:solidFill>
                <a:latin typeface="Arial"/>
              </a:rPr>
              <a:t>Mengapa data terpisah dan dicatat secara manual di buku folio?</a:t>
            </a:r>
          </a:p>
          <a:p>
            <a:pPr>
              <a:spcAft>
                <a:spcPts val="150"/>
              </a:spcAft>
            </a:pPr>
            <a:r>
              <a:rPr sz="780" b="1">
                <a:solidFill>
                  <a:srgbClr val="C62828"/>
                </a:solidFill>
                <a:latin typeface="Arial"/>
              </a:rPr>
              <a:t>➔ </a:t>
            </a:r>
            <a:r>
              <a:rPr sz="780" b="1">
                <a:solidFill>
                  <a:srgbClr val="C62828"/>
                </a:solidFill>
                <a:latin typeface="Arial"/>
              </a:rPr>
              <a:t>Ketiadaan Decision Support System (DSS) terpadu yang mendigitalisasi input PO di lapangan &amp; menghubungkannya real-time ke data mutu per mesin &amp; shift.</a:t>
            </a:r>
          </a:p>
          <a:p>
            <a:r>
              <a:rPr sz="700" i="1">
                <a:solidFill>
                  <a:srgbClr val="C62828"/>
                </a:solidFill>
                <a:latin typeface="Arial"/>
              </a:rPr>
              <a:t>   [Status: Akar Masalah Fundamental yang Belum Pernah Diselesaikan di Unit Cetak]</a:t>
            </a:r>
          </a:p>
        </p:txBody>
      </p:sp>
      <p:sp>
        <p:nvSpPr>
          <p:cNvPr id="15" name="Rectangle 14"/>
          <p:cNvSpPr/>
          <p:nvPr/>
        </p:nvSpPr>
        <p:spPr>
          <a:xfrm>
            <a:off x="6382512" y="1755648"/>
            <a:ext cx="5257800" cy="32918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36576" bIns="36576"/>
          <a:lstStyle/>
          <a:p>
            <a:pPr algn="ctr"/>
            <a:r>
              <a:rPr sz="1050" b="1">
                <a:solidFill>
                  <a:srgbClr val="FFFFFF"/>
                </a:solidFill>
                <a:latin typeface="Arial"/>
              </a:rPr>
              <a:t>2. AKAR MASALAH UTAMA &amp; JEMBATAN MENUJU SOLUSI</a:t>
            </a:r>
          </a:p>
        </p:txBody>
      </p:sp>
      <p:sp>
        <p:nvSpPr>
          <p:cNvPr id="16" name="Rounded Rectangle 15"/>
          <p:cNvSpPr/>
          <p:nvPr/>
        </p:nvSpPr>
        <p:spPr>
          <a:xfrm>
            <a:off x="6382512" y="2084831"/>
            <a:ext cx="5257800" cy="3730752"/>
          </a:xfrm>
          <a:prstGeom prst="roundRect">
            <a:avLst/>
          </a:prstGeom>
          <a:solidFill>
            <a:srgbClr val="F8F6FE"/>
          </a:solidFill>
          <a:ln>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92240" y="2157984"/>
            <a:ext cx="5038344" cy="1536192"/>
          </a:xfrm>
          <a:prstGeom prst="roundRect">
            <a:avLst/>
          </a:prstGeom>
          <a:solidFill>
            <a:srgbClr val="FFF5F5"/>
          </a:solidFill>
          <a:ln>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950" b="1">
                <a:solidFill>
                  <a:srgbClr val="C62828"/>
                </a:solidFill>
                <a:latin typeface="Arial"/>
              </a:rPr>
              <a:t>RUMUSAN AKAR MASALAH UTAMA (CORE ROOT CAUSE):</a:t>
            </a:r>
          </a:p>
          <a:p>
            <a:pPr>
              <a:spcAft>
                <a:spcPts val="300"/>
              </a:spcAft>
            </a:pPr>
            <a:r>
              <a:rPr sz="860" b="1" i="1">
                <a:solidFill>
                  <a:srgbClr val="2A2A3D"/>
                </a:solidFill>
                <a:latin typeface="Arial"/>
              </a:rPr>
              <a:t>“Ketiadaan sistem pendukung keputusan (Decision Support System) yang terintegrasi secara real-time untuk mendigitalisasi rekam jejak produksi per PO di lapangan, serta menghubungkan data kuantitas dan jenis kerusakan secara spesifik ke tingkat mesin dan kondisi operasional (shift/tim kerja).”</a:t>
            </a:r>
          </a:p>
          <a:p>
            <a:r>
              <a:rPr sz="780" b="1">
                <a:solidFill>
                  <a:srgbClr val="2E7D32"/>
                </a:solidFill>
                <a:latin typeface="Arial"/>
              </a:rPr>
              <a:t>✓ Status: Tervalidasi 100% via Audit Alur Kerja Unit Cetak 2025</a:t>
            </a:r>
          </a:p>
        </p:txBody>
      </p:sp>
      <p:sp>
        <p:nvSpPr>
          <p:cNvPr id="18" name="Rounded Rectangle 17"/>
          <p:cNvSpPr/>
          <p:nvPr/>
        </p:nvSpPr>
        <p:spPr>
          <a:xfrm>
            <a:off x="6492240" y="3767328"/>
            <a:ext cx="5038344" cy="1956816"/>
          </a:xfrm>
          <a:prstGeom prst="roundRect">
            <a:avLst/>
          </a:prstGeom>
          <a:solidFill>
            <a:srgbClr val="FFFFFF"/>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919" b="1">
                <a:solidFill>
                  <a:srgbClr val="6A2CC9"/>
                </a:solidFill>
                <a:latin typeface="Arial"/>
              </a:rPr>
              <a:t>JEMBATAN LOGIKA SEBAB-AKIBAT MENUJU SOLUSI (POINT 04):</a:t>
            </a:r>
          </a:p>
          <a:p>
            <a:pPr>
              <a:spcAft>
                <a:spcPts val="200"/>
              </a:spcAft>
            </a:pPr>
            <a:r>
              <a:rPr sz="780" b="1">
                <a:solidFill>
                  <a:srgbClr val="6A2CC9"/>
                </a:solidFill>
                <a:latin typeface="Arial"/>
              </a:rPr>
              <a:t>• 1. Akar Masalah: </a:t>
            </a:r>
            <a:r>
              <a:rPr sz="780" b="0">
                <a:solidFill>
                  <a:srgbClr val="2A2A3D"/>
                </a:solidFill>
                <a:latin typeface="Arial"/>
              </a:rPr>
              <a:t>Ketiadaan DSS terpadu per PO, Mesin, &amp; Shift kerja.</a:t>
            </a:r>
          </a:p>
          <a:p>
            <a:pPr>
              <a:spcAft>
                <a:spcPts val="200"/>
              </a:spcAft>
            </a:pPr>
            <a:r>
              <a:rPr sz="780" b="1">
                <a:solidFill>
                  <a:srgbClr val="20288F"/>
                </a:solidFill>
                <a:latin typeface="Arial"/>
              </a:rPr>
              <a:t>• 2. Gejala Lapangan: </a:t>
            </a:r>
            <a:r>
              <a:rPr sz="780" b="0">
                <a:solidFill>
                  <a:srgbClr val="2A2A3D"/>
                </a:solidFill>
                <a:latin typeface="Arial"/>
              </a:rPr>
              <a:t>Data Silo -&gt; Maintenance spekulatif (&gt; 8 jam) &amp; evaluasi tertunda.</a:t>
            </a:r>
          </a:p>
          <a:p>
            <a:pPr>
              <a:spcAft>
                <a:spcPts val="200"/>
              </a:spcAft>
            </a:pPr>
            <a:r>
              <a:rPr sz="780" b="1">
                <a:solidFill>
                  <a:srgbClr val="C62828"/>
                </a:solidFill>
                <a:latin typeface="Arial"/>
              </a:rPr>
              <a:t>• 3. Dampak Terukur: </a:t>
            </a:r>
            <a:r>
              <a:rPr sz="780" b="0">
                <a:solidFill>
                  <a:srgbClr val="2A2A3D"/>
                </a:solidFill>
                <a:latin typeface="Arial"/>
              </a:rPr>
              <a:t>Inschiet 4,61% (Potensi pemborosan biaya Rp 24,56 Miliar/Tahun).</a:t>
            </a:r>
          </a:p>
          <a:p>
            <a:pPr>
              <a:spcAft>
                <a:spcPts val="200"/>
              </a:spcAft>
            </a:pPr>
            <a:r>
              <a:rPr sz="780" b="1">
                <a:solidFill>
                  <a:srgbClr val="2E7D32"/>
                </a:solidFill>
                <a:latin typeface="Arial"/>
              </a:rPr>
              <a:t>• 4. Sasaran Solusi DSS SIRINE 4.0: </a:t>
            </a:r>
            <a:r>
              <a:rPr sz="780" b="1">
                <a:solidFill>
                  <a:srgbClr val="2E7D32"/>
                </a:solidFill>
                <a:latin typeface="Arial"/>
              </a:rPr>
              <a:t>Menghadirkan Arsitektur Dua Lapisan (Form Input Digital &lt; 30 detik + 6 Modul Preskriptif) untuk menyerang langsung akar masalah Why 5.</a:t>
            </a:r>
          </a:p>
        </p:txBody>
      </p:sp>
      <p:sp>
        <p:nvSpPr>
          <p:cNvPr id="19" name="Rounded Rectangle 18"/>
          <p:cNvSpPr/>
          <p:nvPr/>
        </p:nvSpPr>
        <p:spPr>
          <a:xfrm>
            <a:off x="548640" y="5888736"/>
            <a:ext cx="11091672" cy="457200"/>
          </a:xfrm>
          <a:prstGeom prst="roundRect">
            <a:avLst/>
          </a:prstGeom>
          <a:solidFill>
            <a:srgbClr val="F8F6FE"/>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r>
              <a:rPr sz="880" b="1">
                <a:solidFill>
                  <a:srgbClr val="6A2CC9"/>
                </a:solidFill>
                <a:latin typeface="Arial"/>
              </a:rPr>
              <a:t>• Keterkaitan dengan Solusi:  </a:t>
            </a:r>
            <a:r>
              <a:rPr sz="880">
                <a:solidFill>
                  <a:srgbClr val="2A2A3D"/>
                </a:solidFill>
                <a:latin typeface="Arial"/>
              </a:rPr>
              <a:t>Inovasi DSS SIRINE 4.0 pada Point 04 secara presisi menyerang akar masalah Why 5: meruntuhkan Data Silo melalui integrasi otomatis Lapisan 1 (Input Digital Lapangan) dan Lapisan 2 (Dasbor Preskriptif Per Mesin &amp; Per Shift) guna mengeliminasi spekulasi teknis.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000" b="1">
                <a:solidFill>
                  <a:srgbClr val="FFFFFF"/>
                </a:solidFill>
                <a:latin typeface="Arial"/>
              </a:rPr>
              <a:t>04.1</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r>
              <a:rPr sz="2400" b="1">
                <a:solidFill>
                  <a:srgbClr val="20288F"/>
                </a:solidFill>
                <a:latin typeface="Arial"/>
              </a:rPr>
              <a:t>Solusi: Cara Kerja DSS SIRINE 4.0 &amp; 6 Fitur Lapangan</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a:solidFill>
                  <a:srgbClr val="2A2A3D"/>
                </a:solidFill>
                <a:latin typeface="Arial"/>
              </a:rPr>
              <a:t>Jelaskan alur kerja sistem dari meja mesin sampai dasbor aksi untuk mengatasi data yang selama ini terpisah-pisah.</a:t>
            </a:r>
          </a:p>
        </p:txBody>
      </p:sp>
      <p:sp>
        <p:nvSpPr>
          <p:cNvPr id="7" name="TextBox 6"/>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5394960" cy="32918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1050" b="1">
                <a:solidFill>
                  <a:srgbClr val="FFFFFF"/>
                </a:solidFill>
                <a:latin typeface="Arial"/>
              </a:rPr>
              <a:t>1. CARA KERJA SISTEM: 2 LANGKAH SEDERHANA</a:t>
            </a:r>
          </a:p>
        </p:txBody>
      </p:sp>
      <p:sp>
        <p:nvSpPr>
          <p:cNvPr id="9" name="Rounded Rectangle 8"/>
          <p:cNvSpPr/>
          <p:nvPr/>
        </p:nvSpPr>
        <p:spPr>
          <a:xfrm>
            <a:off x="548640" y="2084831"/>
            <a:ext cx="5394960" cy="3730752"/>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157984"/>
            <a:ext cx="5175504" cy="1417320"/>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54864"/>
          <a:lstStyle/>
          <a:p>
            <a:pPr algn="ctr"/>
            <a:r>
              <a:rPr sz="880" b="1">
                <a:solidFill>
                  <a:srgbClr val="20288F"/>
                </a:solidFill>
                <a:latin typeface="Arial"/>
              </a:rPr>
              <a:t>LANGKAH 1: OPERATOR INPUT CEPAT DI MEJA MESIN (&lt; 30 DETIK)</a:t>
            </a:r>
          </a:p>
          <a:p>
            <a:pPr>
              <a:spcBef>
                <a:spcPts val="300"/>
              </a:spcBef>
            </a:pPr>
            <a:r>
              <a:rPr sz="780" b="1">
                <a:solidFill>
                  <a:srgbClr val="20288F"/>
                </a:solidFill>
                <a:latin typeface="Arial"/>
              </a:rPr>
              <a:t>• Gantikan Buku Folio Fisik: </a:t>
            </a:r>
            <a:r>
              <a:rPr sz="780">
                <a:solidFill>
                  <a:srgbClr val="2A2A3D"/>
                </a:solidFill>
                <a:latin typeface="Arial"/>
              </a:rPr>
              <a:t>Operator langsung mencatat nomor order (PO) di komputer meja mesin (Komori 1–4, Ryobi 1–2) begitu proses cetak selesai.</a:t>
            </a:r>
          </a:p>
          <a:p>
            <a:pPr>
              <a:spcBef>
                <a:spcPts val="200"/>
              </a:spcBef>
            </a:pPr>
            <a:r>
              <a:rPr sz="780" b="1">
                <a:solidFill>
                  <a:srgbClr val="20288F"/>
                </a:solidFill>
                <a:latin typeface="Arial"/>
              </a:rPr>
              <a:t>• Otomatis Terisi (Autofill SAP &amp; Jadwal): </a:t>
            </a:r>
            <a:r>
              <a:rPr sz="780">
                <a:solidFill>
                  <a:srgbClr val="2A2A3D"/>
                </a:solidFill>
                <a:latin typeface="Arial"/>
              </a:rPr>
              <a:t>Data pesanan dari SAP (kode OBC, target cetak, plat) dan nama tim dari jadwal mingguan langsung muncul otomatis. Operator cukup tekan Ctrl+S, nol buang waktu.</a:t>
            </a:r>
          </a:p>
        </p:txBody>
      </p:sp>
      <p:sp>
        <p:nvSpPr>
          <p:cNvPr id="11" name="Rounded Rectangle 10"/>
          <p:cNvSpPr/>
          <p:nvPr/>
        </p:nvSpPr>
        <p:spPr>
          <a:xfrm>
            <a:off x="658368" y="3639312"/>
            <a:ext cx="5175504" cy="148132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54864"/>
          <a:lstStyle/>
          <a:p>
            <a:pPr algn="ctr"/>
            <a:r>
              <a:rPr sz="880" b="1">
                <a:solidFill>
                  <a:srgbClr val="6A2CC9"/>
                </a:solidFill>
                <a:latin typeface="Arial"/>
              </a:rPr>
              <a:t>LANGKAH 2: SISTEM MENGOLAH DATA JADI PETUNJUK AKSI</a:t>
            </a:r>
          </a:p>
          <a:p>
            <a:pPr>
              <a:spcBef>
                <a:spcPts val="300"/>
              </a:spcBef>
            </a:pPr>
            <a:r>
              <a:rPr sz="780" b="1">
                <a:solidFill>
                  <a:srgbClr val="6A2CC9"/>
                </a:solidFill>
                <a:latin typeface="Arial"/>
              </a:rPr>
              <a:t>• Sambungkan 3 Sumber Data: </a:t>
            </a:r>
            <a:r>
              <a:rPr sz="780">
                <a:solidFill>
                  <a:srgbClr val="2A2A3D"/>
                </a:solidFill>
                <a:latin typeface="Arial"/>
              </a:rPr>
              <a:t>Data order SAP + catatan meja mesin + data lembar rusak dari Verifikasi disatukan otomatis oleh sistem tanpa perlu ekspor-impor Excel manual.</a:t>
            </a:r>
          </a:p>
          <a:p>
            <a:pPr>
              <a:spcBef>
                <a:spcPts val="200"/>
              </a:spcBef>
            </a:pPr>
            <a:r>
              <a:rPr sz="780" b="1">
                <a:solidFill>
                  <a:srgbClr val="6A2CC9"/>
                </a:solidFill>
                <a:latin typeface="Arial"/>
              </a:rPr>
              <a:t>• Langsung Jadi Petunjuk Lapangan: </a:t>
            </a:r>
            <a:r>
              <a:rPr sz="780">
                <a:solidFill>
                  <a:srgbClr val="2A2A3D"/>
                </a:solidFill>
                <a:latin typeface="Arial"/>
              </a:rPr>
              <a:t>Tersaji dalam 4 layar dasbor visual yang langsung memberi tahu mesin mana yang bermasalah, di shift mana, dan komponen apa yang harus diganti.</a:t>
            </a:r>
          </a:p>
        </p:txBody>
      </p:sp>
      <p:sp>
        <p:nvSpPr>
          <p:cNvPr id="12" name="Rounded Rectangle 11"/>
          <p:cNvSpPr/>
          <p:nvPr/>
        </p:nvSpPr>
        <p:spPr>
          <a:xfrm>
            <a:off x="658368" y="5193792"/>
            <a:ext cx="5175504" cy="548640"/>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780" b="1">
                <a:solidFill>
                  <a:srgbClr val="6A2CC9"/>
                </a:solidFill>
                <a:latin typeface="Arial"/>
              </a:rPr>
              <a:t>PELACAKAN TUNTAS SAMPAI KE AKAR (5 DIMENSI): </a:t>
            </a:r>
          </a:p>
          <a:p>
            <a:pPr>
              <a:spcBef>
                <a:spcPts val="100"/>
              </a:spcBef>
            </a:pPr>
            <a:r>
              <a:rPr sz="750" b="1">
                <a:solidFill>
                  <a:srgbClr val="2A2A3D"/>
                </a:solidFill>
                <a:latin typeface="Arial"/>
              </a:rPr>
              <a:t>Nomor Order (PO) ➔ Mesin Cetak ➔ Gilir Kerja (Shift) ➔ Tim Operator ➔ Jenis Cacat</a:t>
            </a:r>
          </a:p>
        </p:txBody>
      </p:sp>
      <p:sp>
        <p:nvSpPr>
          <p:cNvPr id="13" name="Rectangle 12"/>
          <p:cNvSpPr/>
          <p:nvPr/>
        </p:nvSpPr>
        <p:spPr>
          <a:xfrm>
            <a:off x="6199632" y="1755648"/>
            <a:ext cx="5440680" cy="32918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1050" b="1">
                <a:solidFill>
                  <a:srgbClr val="FFFFFF"/>
                </a:solidFill>
                <a:latin typeface="Arial"/>
              </a:rPr>
              <a:t>2. 6 FITUR UTAMA UNTUK OPERATOR, PENGAWAS &amp; TEKNISI</a:t>
            </a:r>
          </a:p>
        </p:txBody>
      </p:sp>
      <p:sp>
        <p:nvSpPr>
          <p:cNvPr id="14" name="Rounded Rectangle 13"/>
          <p:cNvSpPr/>
          <p:nvPr/>
        </p:nvSpPr>
        <p:spPr>
          <a:xfrm>
            <a:off x="6199632" y="2084831"/>
            <a:ext cx="5440680" cy="3730752"/>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9360" y="2157984"/>
            <a:ext cx="2542032" cy="111556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20288F"/>
                </a:solidFill>
                <a:latin typeface="Arial"/>
              </a:rPr>
              <a:t>1. FORM INPUT PO DIGITAL</a:t>
            </a:r>
          </a:p>
          <a:p>
            <a:pPr>
              <a:spcBef>
                <a:spcPts val="200"/>
              </a:spcBef>
            </a:pPr>
            <a:r>
              <a:rPr sz="720">
                <a:solidFill>
                  <a:srgbClr val="2A2A3D"/>
                </a:solidFill>
                <a:latin typeface="Arial"/>
              </a:rPr>
              <a:t>Input nomor PO &lt; 30 detik di meja mesin. Data spesifikasi &amp; tim langsung terisi otomatis dari SAP (hemat waktu 85%).</a:t>
            </a:r>
          </a:p>
        </p:txBody>
      </p:sp>
      <p:sp>
        <p:nvSpPr>
          <p:cNvPr id="16" name="Rounded Rectangle 15"/>
          <p:cNvSpPr/>
          <p:nvPr/>
        </p:nvSpPr>
        <p:spPr>
          <a:xfrm>
            <a:off x="8988552" y="2157984"/>
            <a:ext cx="2542032" cy="1115568"/>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6A2CC9"/>
                </a:solidFill>
                <a:latin typeface="Arial"/>
              </a:rPr>
              <a:t>2. JADWAL &amp; TEMPLATE REGU</a:t>
            </a:r>
          </a:p>
          <a:p>
            <a:pPr>
              <a:spcBef>
                <a:spcPts val="200"/>
              </a:spcBef>
            </a:pPr>
            <a:r>
              <a:rPr sz="720">
                <a:solidFill>
                  <a:srgbClr val="2A2A3D"/>
                </a:solidFill>
                <a:latin typeface="Arial"/>
              </a:rPr>
              <a:t>Atur jadwal mingguan 6 mesin × 3 shift. Otomatis rotasi gilir (Pagi ➔ Malam ➔ Sore) dan menyuplai nama ke Form PO.</a:t>
            </a:r>
          </a:p>
        </p:txBody>
      </p:sp>
      <p:sp>
        <p:nvSpPr>
          <p:cNvPr id="17" name="Rounded Rectangle 16"/>
          <p:cNvSpPr/>
          <p:nvPr/>
        </p:nvSpPr>
        <p:spPr>
          <a:xfrm>
            <a:off x="6309360" y="3346704"/>
            <a:ext cx="2542032" cy="111556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20288F"/>
                </a:solidFill>
                <a:latin typeface="Arial"/>
              </a:rPr>
              <a:t>3. DASBOR TIAP MESIN</a:t>
            </a:r>
          </a:p>
          <a:p>
            <a:pPr>
              <a:spcBef>
                <a:spcPts val="200"/>
              </a:spcBef>
            </a:pPr>
            <a:r>
              <a:rPr sz="720">
                <a:solidFill>
                  <a:srgbClr val="2A2A3D"/>
                </a:solidFill>
                <a:latin typeface="Arial"/>
              </a:rPr>
              <a:t>Peringkat inschiet 6 mesin cetak dengan warna: Hijau (aman), Kuning (waspada), Merah (rusak tinggi), plus klik detail PO.</a:t>
            </a:r>
          </a:p>
        </p:txBody>
      </p:sp>
      <p:sp>
        <p:nvSpPr>
          <p:cNvPr id="18" name="Rounded Rectangle 17"/>
          <p:cNvSpPr/>
          <p:nvPr/>
        </p:nvSpPr>
        <p:spPr>
          <a:xfrm>
            <a:off x="8988552" y="3346704"/>
            <a:ext cx="2542032" cy="1115568"/>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6A2CC9"/>
                </a:solidFill>
                <a:latin typeface="Arial"/>
              </a:rPr>
              <a:t>4. DASBOR REGU &amp; SHIFT</a:t>
            </a:r>
          </a:p>
          <a:p>
            <a:pPr>
              <a:spcBef>
                <a:spcPts val="200"/>
              </a:spcBef>
            </a:pPr>
            <a:r>
              <a:rPr sz="720">
                <a:solidFill>
                  <a:srgbClr val="2A2A3D"/>
                </a:solidFill>
                <a:latin typeface="Arial"/>
              </a:rPr>
              <a:t>Cek performa tiap regu kerja. Memastikan apakah masalah ada di mesin atau variasi penyetelan operator di shift malam.</a:t>
            </a:r>
          </a:p>
        </p:txBody>
      </p:sp>
      <p:sp>
        <p:nvSpPr>
          <p:cNvPr id="19" name="Rounded Rectangle 18"/>
          <p:cNvSpPr/>
          <p:nvPr/>
        </p:nvSpPr>
        <p:spPr>
          <a:xfrm>
            <a:off x="6309360" y="4535424"/>
            <a:ext cx="2542032" cy="1188720"/>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20288F"/>
                </a:solidFill>
                <a:latin typeface="Arial"/>
              </a:rPr>
              <a:t>5. AUDIT KERUSAKAN MESIN</a:t>
            </a:r>
          </a:p>
          <a:p>
            <a:pPr>
              <a:spcBef>
                <a:spcPts val="200"/>
              </a:spcBef>
            </a:pPr>
            <a:r>
              <a:rPr sz="720">
                <a:solidFill>
                  <a:srgbClr val="2A2A3D"/>
                </a:solidFill>
                <a:latin typeface="Arial"/>
              </a:rPr>
              <a:t>Tampilkan jenis cacat terbanyak di tiap mesin. Teknisi langsung tahu suku cadang rol/blanket yang harus dibawa sebelum servis.</a:t>
            </a:r>
          </a:p>
        </p:txBody>
      </p:sp>
      <p:sp>
        <p:nvSpPr>
          <p:cNvPr id="20" name="Rounded Rectangle 19"/>
          <p:cNvSpPr/>
          <p:nvPr/>
        </p:nvSpPr>
        <p:spPr>
          <a:xfrm>
            <a:off x="8988552" y="4535424"/>
            <a:ext cx="2542032" cy="1188720"/>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36576"/>
          <a:lstStyle/>
          <a:p>
            <a:pPr algn="ctr"/>
            <a:r>
              <a:rPr sz="800" b="1">
                <a:solidFill>
                  <a:srgbClr val="6A2CC9"/>
                </a:solidFill>
                <a:latin typeface="Arial"/>
              </a:rPr>
              <a:t>6. LAYAR ANDON LAPANGAN</a:t>
            </a:r>
          </a:p>
          <a:p>
            <a:pPr>
              <a:spcBef>
                <a:spcPts val="200"/>
              </a:spcBef>
            </a:pPr>
            <a:r>
              <a:rPr sz="720">
                <a:solidFill>
                  <a:srgbClr val="2A2A3D"/>
                </a:solidFill>
                <a:latin typeface="Arial"/>
              </a:rPr>
              <a:t>Layar TV di aula cetak (update tiap 60 detik). Tampilkan live mutu mesin &amp; alarm pesanan yang mepet batas waktu kirim.</a:t>
            </a:r>
          </a:p>
        </p:txBody>
      </p:sp>
      <p:sp>
        <p:nvSpPr>
          <p:cNvPr id="21" name="Rounded Rectangle 20"/>
          <p:cNvSpPr/>
          <p:nvPr/>
        </p:nvSpPr>
        <p:spPr>
          <a:xfrm>
            <a:off x="548640" y="5888736"/>
            <a:ext cx="11091672" cy="457200"/>
          </a:xfrm>
          <a:prstGeom prst="roundRect">
            <a:avLst/>
          </a:prstGeom>
          <a:solidFill>
            <a:srgbClr val="F4F7FE"/>
          </a:solidFill>
          <a:ln w="12700">
            <a:solidFill>
              <a:srgbClr val="20288F"/>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54864"/>
          <a:lstStyle/>
          <a:p>
            <a:pPr algn="ctr"/>
            <a:r>
              <a:rPr sz="850" b="1">
                <a:solidFill>
                  <a:srgbClr val="20288F"/>
                </a:solidFill>
                <a:latin typeface="Arial"/>
              </a:rPr>
              <a:t>• Inti Solusi Lapangan: </a:t>
            </a:r>
            <a:r>
              <a:rPr sz="819">
                <a:solidFill>
                  <a:srgbClr val="2A2A3D"/>
                </a:solidFill>
                <a:latin typeface="Arial"/>
              </a:rPr>
              <a:t>Tidak ada lagi data yang terkunci di komputer kantor atau buku folio. Semua orang di unit cetak melihat data yang sama secara langsung, sehingga perbaikan mesin dan pembinaan operator langsung tepat sasaran.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000" b="1">
                <a:solidFill>
                  <a:srgbClr val="FFFFFF"/>
                </a:solidFill>
                <a:latin typeface="Arial"/>
              </a:rPr>
              <a:t>04.2</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r>
              <a:rPr sz="2400" b="1">
                <a:solidFill>
                  <a:srgbClr val="20288F"/>
                </a:solidFill>
                <a:latin typeface="Arial"/>
              </a:rPr>
              <a:t>Solusi: Keunggulan Sistem &amp; Perbandingan Kemampuan</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a:solidFill>
                  <a:srgbClr val="2A2A3D"/>
                </a:solidFill>
                <a:latin typeface="Arial"/>
              </a:rPr>
              <a:t>Tunjukkan kebaruan sistem dan buktikan perbedaannya dibanding cara lama serta cara kerja di unit lain.</a:t>
            </a:r>
          </a:p>
        </p:txBody>
      </p:sp>
      <p:sp>
        <p:nvSpPr>
          <p:cNvPr id="7" name="TextBox 6"/>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54864"/>
          <a:lstStyle/>
          <a:p>
            <a:pPr algn="ctr"/>
            <a:r>
              <a:rPr sz="850" b="1">
                <a:solidFill>
                  <a:srgbClr val="6A2CC9"/>
                </a:solidFill>
                <a:latin typeface="Arial"/>
              </a:rPr>
              <a:t>PELACAKAN LENGKAP</a:t>
            </a:r>
          </a:p>
          <a:p>
            <a:pPr>
              <a:spcBef>
                <a:spcPts val="200"/>
              </a:spcBef>
            </a:pPr>
            <a:r>
              <a:rPr sz="1550" b="1">
                <a:solidFill>
                  <a:srgbClr val="6A2CC9"/>
                </a:solidFill>
                <a:latin typeface="Arial"/>
              </a:rPr>
              <a:t>5 Dimensi</a:t>
            </a:r>
          </a:p>
          <a:p>
            <a:pPr>
              <a:spcBef>
                <a:spcPts val="100"/>
              </a:spcBef>
            </a:pPr>
            <a:r>
              <a:rPr sz="750">
                <a:solidFill>
                  <a:srgbClr val="2A2A3D"/>
                </a:solidFill>
                <a:latin typeface="Arial"/>
              </a:rPr>
              <a:t>PO ➔ Mesin ➔ Shift ➔ Tim ➔ Cacat</a:t>
            </a:r>
          </a:p>
        </p:txBody>
      </p:sp>
      <p:sp>
        <p:nvSpPr>
          <p:cNvPr id="9" name="Rectangle 8"/>
          <p:cNvSpPr/>
          <p:nvPr/>
        </p:nvSpPr>
        <p:spPr>
          <a:xfrm>
            <a:off x="548640"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54864"/>
          <a:lstStyle/>
          <a:p>
            <a:pPr algn="ctr"/>
            <a:r>
              <a:rPr sz="850" b="1">
                <a:solidFill>
                  <a:srgbClr val="20288F"/>
                </a:solidFill>
                <a:latin typeface="Arial"/>
              </a:rPr>
              <a:t>ALIRAN DATA OTOMATIS</a:t>
            </a:r>
          </a:p>
          <a:p>
            <a:pPr>
              <a:spcBef>
                <a:spcPts val="200"/>
              </a:spcBef>
            </a:pPr>
            <a:r>
              <a:rPr sz="1550" b="1">
                <a:solidFill>
                  <a:srgbClr val="20288F"/>
                </a:solidFill>
                <a:latin typeface="Arial"/>
              </a:rPr>
              <a:t>100% Terhubung</a:t>
            </a:r>
          </a:p>
          <a:p>
            <a:pPr>
              <a:spcBef>
                <a:spcPts val="100"/>
              </a:spcBef>
            </a:pPr>
            <a:r>
              <a:rPr sz="750">
                <a:solidFill>
                  <a:srgbClr val="2A2A3D"/>
                </a:solidFill>
                <a:latin typeface="Arial"/>
              </a:rPr>
              <a:t>SAP + Meja Mesin + QC Verifikasi</a:t>
            </a:r>
          </a:p>
        </p:txBody>
      </p:sp>
      <p:sp>
        <p:nvSpPr>
          <p:cNvPr id="11" name="Rectangle 10"/>
          <p:cNvSpPr/>
          <p:nvPr/>
        </p:nvSpPr>
        <p:spPr>
          <a:xfrm>
            <a:off x="3374136"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54864"/>
          <a:lstStyle/>
          <a:p>
            <a:pPr algn="ctr"/>
            <a:r>
              <a:rPr sz="850" b="1">
                <a:solidFill>
                  <a:srgbClr val="2E7D32"/>
                </a:solidFill>
                <a:latin typeface="Arial"/>
              </a:rPr>
              <a:t>WAKTU INPUT OPERATOR</a:t>
            </a:r>
          </a:p>
          <a:p>
            <a:pPr>
              <a:spcBef>
                <a:spcPts val="200"/>
              </a:spcBef>
            </a:pPr>
            <a:r>
              <a:rPr sz="1550" b="1">
                <a:solidFill>
                  <a:srgbClr val="2E7D32"/>
                </a:solidFill>
                <a:latin typeface="Arial"/>
              </a:rPr>
              <a:t>&lt; 30 Detik</a:t>
            </a:r>
          </a:p>
          <a:p>
            <a:pPr>
              <a:spcBef>
                <a:spcPts val="100"/>
              </a:spcBef>
            </a:pPr>
            <a:r>
              <a:rPr sz="750">
                <a:solidFill>
                  <a:srgbClr val="2A2A3D"/>
                </a:solidFill>
                <a:latin typeface="Arial"/>
              </a:rPr>
              <a:t>Autofill SAP, hemat waktu ≥ 85%</a:t>
            </a:r>
          </a:p>
        </p:txBody>
      </p:sp>
      <p:sp>
        <p:nvSpPr>
          <p:cNvPr id="13" name="Rectangle 12"/>
          <p:cNvSpPr/>
          <p:nvPr/>
        </p:nvSpPr>
        <p:spPr>
          <a:xfrm>
            <a:off x="6199632"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54864"/>
          <a:lstStyle/>
          <a:p>
            <a:pPr algn="ctr"/>
            <a:r>
              <a:rPr sz="850" b="1">
                <a:solidFill>
                  <a:srgbClr val="20288F"/>
                </a:solidFill>
                <a:latin typeface="Arial"/>
              </a:rPr>
              <a:t>BIAYA LISENSI SOFTWARE</a:t>
            </a:r>
          </a:p>
          <a:p>
            <a:pPr>
              <a:spcBef>
                <a:spcPts val="200"/>
              </a:spcBef>
            </a:pPr>
            <a:r>
              <a:rPr sz="1550" b="1">
                <a:solidFill>
                  <a:srgbClr val="20288F"/>
                </a:solidFill>
                <a:latin typeface="Arial"/>
              </a:rPr>
              <a:t>Rp 0 (Buatan Sendiri)</a:t>
            </a:r>
          </a:p>
          <a:p>
            <a:pPr>
              <a:spcBef>
                <a:spcPts val="100"/>
              </a:spcBef>
            </a:pPr>
            <a:r>
              <a:rPr sz="750">
                <a:solidFill>
                  <a:srgbClr val="2A2A3D"/>
                </a:solidFill>
                <a:latin typeface="Arial"/>
              </a:rPr>
              <a:t>100% Tim Peruri, Tanpa Beli Vendor</a:t>
            </a:r>
          </a:p>
        </p:txBody>
      </p:sp>
      <p:sp>
        <p:nvSpPr>
          <p:cNvPr id="15" name="Rectangle 14"/>
          <p:cNvSpPr/>
          <p:nvPr/>
        </p:nvSpPr>
        <p:spPr>
          <a:xfrm>
            <a:off x="9025128"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630936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1000" b="1">
                <a:solidFill>
                  <a:srgbClr val="FFFFFF"/>
                </a:solidFill>
                <a:latin typeface="Arial"/>
              </a:rPr>
              <a:t>1. PERBANDINGAN: CARA LAMA VS SIRINE 3.5 VS DSS SIRINE 4.0</a:t>
            </a:r>
          </a:p>
        </p:txBody>
      </p:sp>
      <p:sp>
        <p:nvSpPr>
          <p:cNvPr id="17" name="Rounded Rectangle 16"/>
          <p:cNvSpPr/>
          <p:nvPr/>
        </p:nvSpPr>
        <p:spPr>
          <a:xfrm>
            <a:off x="548640" y="3127248"/>
            <a:ext cx="630936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8" name="Table 17"/>
          <p:cNvGraphicFramePr>
            <a:graphicFrameLocks noGrp="1"/>
          </p:cNvGraphicFramePr>
          <p:nvPr/>
        </p:nvGraphicFramePr>
        <p:xfrm>
          <a:off x="621792" y="3182112"/>
          <a:ext cx="6163056" cy="2651760"/>
        </p:xfrm>
        <a:graphic>
          <a:graphicData uri="http://schemas.openxmlformats.org/drawingml/2006/table">
            <a:tbl>
              <a:tblPr firstRow="1" bandRow="1">
                <a:tableStyleId>{5C22544A-7EE6-4342-B048-85BDC9FD1C3A}</a:tableStyleId>
              </a:tblPr>
              <a:tblGrid>
                <a:gridCol w="2148840"/>
                <a:gridCol w="1188720"/>
                <a:gridCol w="1234440"/>
                <a:gridCol w="1591056"/>
              </a:tblGrid>
              <a:tr h="331470">
                <a:tc>
                  <a:txBody>
                    <a:bodyPr/>
                    <a:lstStyle/>
                    <a:p>
                      <a:r>
                        <a:rPr sz="750" b="1">
                          <a:solidFill>
                            <a:srgbClr val="FFFFFF"/>
                          </a:solidFill>
                          <a:latin typeface="Arial"/>
                        </a:rPr>
                        <a:t>Kemampuan Sistem</a:t>
                      </a:r>
                    </a:p>
                  </a:txBody>
                  <a:tcPr marL="27432" marR="27432" marT="27432" marB="27432">
                    <a:solidFill>
                      <a:srgbClr val="20288F"/>
                    </a:solidFill>
                  </a:tcPr>
                </a:tc>
                <a:tc>
                  <a:txBody>
                    <a:bodyPr/>
                    <a:lstStyle/>
                    <a:p>
                      <a:r>
                        <a:rPr sz="750" b="1">
                          <a:solidFill>
                            <a:srgbClr val="FFFFFF"/>
                          </a:solidFill>
                          <a:latin typeface="Arial"/>
                        </a:rPr>
                        <a:t>Sebelum 2024 (Cara Lama)</a:t>
                      </a:r>
                    </a:p>
                  </a:txBody>
                  <a:tcPr marL="27432" marR="27432" marT="27432" marB="27432">
                    <a:solidFill>
                      <a:srgbClr val="20288F"/>
                    </a:solidFill>
                  </a:tcPr>
                </a:tc>
                <a:tc>
                  <a:txBody>
                    <a:bodyPr/>
                    <a:lstStyle/>
                    <a:p>
                      <a:r>
                        <a:rPr sz="750" b="1">
                          <a:solidFill>
                            <a:srgbClr val="FFFFFF"/>
                          </a:solidFill>
                          <a:latin typeface="Arial"/>
                        </a:rPr>
                        <a:t>SIRINE 3.5 (2024)</a:t>
                      </a:r>
                    </a:p>
                  </a:txBody>
                  <a:tcPr marL="27432" marR="27432" marT="27432" marB="27432">
                    <a:solidFill>
                      <a:srgbClr val="20288F"/>
                    </a:solidFill>
                  </a:tcPr>
                </a:tc>
                <a:tc>
                  <a:txBody>
                    <a:bodyPr/>
                    <a:lstStyle/>
                    <a:p>
                      <a:r>
                        <a:rPr sz="750" b="1">
                          <a:solidFill>
                            <a:srgbClr val="FFFFFF"/>
                          </a:solidFill>
                          <a:latin typeface="Arial"/>
                        </a:rPr>
                        <a:t>DSS SIRINE 4.0 (2026)</a:t>
                      </a:r>
                    </a:p>
                  </a:txBody>
                  <a:tcPr marL="27432" marR="27432" marT="27432" marB="27432">
                    <a:solidFill>
                      <a:srgbClr val="6A2CC9"/>
                    </a:solidFill>
                  </a:tcPr>
                </a:tc>
              </a:tr>
              <a:tr h="331470">
                <a:tc>
                  <a:txBody>
                    <a:bodyPr/>
                    <a:lstStyle/>
                    <a:p>
                      <a:r>
                        <a:rPr sz="700" b="1">
                          <a:solidFill>
                            <a:srgbClr val="2A2A3D"/>
                          </a:solidFill>
                          <a:latin typeface="Arial"/>
                        </a:rPr>
                        <a:t>1. Tahu jenis cacat dominan</a:t>
                      </a:r>
                    </a:p>
                  </a:txBody>
                  <a:tcPr marL="18288" marR="18288" marT="18288" marB="18288">
                    <a:solidFill>
                      <a:srgbClr val="FFFFFF"/>
                    </a:solidFill>
                  </a:tcPr>
                </a:tc>
                <a:tc>
                  <a:txBody>
                    <a:bodyPr/>
                    <a:lstStyle/>
                    <a:p>
                      <a:r>
                        <a:rPr sz="700">
                          <a:solidFill>
                            <a:srgbClr val="2A2A3D"/>
                          </a:solidFill>
                          <a:latin typeface="Arial"/>
                        </a:rPr>
                        <a:t>Manual / Perkiraan</a:t>
                      </a:r>
                    </a:p>
                  </a:txBody>
                  <a:tcPr marL="18288" marR="18288" marT="18288" marB="18288">
                    <a:solidFill>
                      <a:srgbClr val="FFFFFF"/>
                    </a:solidFill>
                  </a:tcPr>
                </a:tc>
                <a:tc>
                  <a:txBody>
                    <a:bodyPr/>
                    <a:lstStyle/>
                    <a:p>
                      <a:r>
                        <a:rPr sz="700">
                          <a:solidFill>
                            <a:srgbClr val="2A2A3D"/>
                          </a:solidFill>
                          <a:latin typeface="Arial"/>
                        </a:rPr>
                        <a:t>✅ Total cacat se-unit</a:t>
                      </a:r>
                    </a:p>
                  </a:txBody>
                  <a:tcPr marL="18288" marR="18288" marT="18288" marB="18288">
                    <a:solidFill>
                      <a:srgbClr val="FFFFFF"/>
                    </a:solidFill>
                  </a:tcPr>
                </a:tc>
                <a:tc>
                  <a:txBody>
                    <a:bodyPr/>
                    <a:lstStyle/>
                    <a:p>
                      <a:r>
                        <a:rPr sz="700" b="1">
                          <a:solidFill>
                            <a:srgbClr val="2E7D32"/>
                          </a:solidFill>
                          <a:latin typeface="Arial"/>
                        </a:rPr>
                        <a:t>✅ Rinci per mesin &amp; per PO</a:t>
                      </a:r>
                    </a:p>
                  </a:txBody>
                  <a:tcPr marL="18288" marR="18288" marT="18288" marB="18288">
                    <a:solidFill>
                      <a:srgbClr val="FFFFFF"/>
                    </a:solidFill>
                  </a:tcPr>
                </a:tc>
              </a:tr>
              <a:tr h="331470">
                <a:tc>
                  <a:txBody>
                    <a:bodyPr/>
                    <a:lstStyle/>
                    <a:p>
                      <a:r>
                        <a:rPr sz="700" b="1">
                          <a:solidFill>
                            <a:srgbClr val="2A2A3D"/>
                          </a:solidFill>
                          <a:latin typeface="Arial"/>
                        </a:rPr>
                        <a:t>2. Tahu mesin paling banyak rusak</a:t>
                      </a:r>
                    </a:p>
                  </a:txBody>
                  <a:tcPr marL="18288" marR="18288" marT="18288" marB="18288">
                    <a:solidFill>
                      <a:srgbClr val="F8F6FE"/>
                    </a:solidFill>
                  </a:tcPr>
                </a:tc>
                <a:tc>
                  <a:txBody>
                    <a:bodyPr/>
                    <a:lstStyle/>
                    <a:p>
                      <a:r>
                        <a:rPr sz="700">
                          <a:solidFill>
                            <a:srgbClr val="C62828"/>
                          </a:solidFill>
                          <a:latin typeface="Arial"/>
                        </a:rPr>
                        <a:t>❌ Tidak tahu</a:t>
                      </a:r>
                    </a:p>
                  </a:txBody>
                  <a:tcPr marL="18288" marR="18288" marT="18288" marB="18288">
                    <a:solidFill>
                      <a:srgbClr val="F8F6FE"/>
                    </a:solidFill>
                  </a:tcPr>
                </a:tc>
                <a:tc>
                  <a:txBody>
                    <a:bodyPr/>
                    <a:lstStyle/>
                    <a:p>
                      <a:r>
                        <a:rPr sz="700">
                          <a:solidFill>
                            <a:srgbClr val="C62828"/>
                          </a:solidFill>
                          <a:latin typeface="Arial"/>
                        </a:rPr>
                        <a:t>❌ Tidak tersedia</a:t>
                      </a:r>
                    </a:p>
                  </a:txBody>
                  <a:tcPr marL="18288" marR="18288" marT="18288" marB="18288">
                    <a:solidFill>
                      <a:srgbClr val="F8F6FE"/>
                    </a:solidFill>
                  </a:tcPr>
                </a:tc>
                <a:tc>
                  <a:txBody>
                    <a:bodyPr/>
                    <a:lstStyle/>
                    <a:p>
                      <a:r>
                        <a:rPr sz="700" b="1">
                          <a:solidFill>
                            <a:srgbClr val="2E7D32"/>
                          </a:solidFill>
                          <a:latin typeface="Arial"/>
                        </a:rPr>
                        <a:t>✅ Langsung terpantau di dasbor</a:t>
                      </a:r>
                    </a:p>
                  </a:txBody>
                  <a:tcPr marL="18288" marR="18288" marT="18288" marB="18288">
                    <a:solidFill>
                      <a:srgbClr val="F8F6FE"/>
                    </a:solidFill>
                  </a:tcPr>
                </a:tc>
              </a:tr>
              <a:tr h="331470">
                <a:tc>
                  <a:txBody>
                    <a:bodyPr/>
                    <a:lstStyle/>
                    <a:p>
                      <a:r>
                        <a:rPr sz="700" b="1">
                          <a:solidFill>
                            <a:srgbClr val="2A2A3D"/>
                          </a:solidFill>
                          <a:latin typeface="Arial"/>
                        </a:rPr>
                        <a:t>3. Tahu bagian mesin yang rusak</a:t>
                      </a:r>
                    </a:p>
                  </a:txBody>
                  <a:tcPr marL="18288" marR="18288" marT="18288" marB="18288">
                    <a:solidFill>
                      <a:srgbClr val="FFFFFF"/>
                    </a:solidFill>
                  </a:tcPr>
                </a:tc>
                <a:tc>
                  <a:txBody>
                    <a:bodyPr/>
                    <a:lstStyle/>
                    <a:p>
                      <a:r>
                        <a:rPr sz="700">
                          <a:solidFill>
                            <a:srgbClr val="C62828"/>
                          </a:solidFill>
                          <a:latin typeface="Arial"/>
                        </a:rPr>
                        <a:t>❌ Meraba-raba</a:t>
                      </a:r>
                    </a:p>
                  </a:txBody>
                  <a:tcPr marL="18288" marR="18288" marT="18288" marB="18288">
                    <a:solidFill>
                      <a:srgbClr val="FFFFFF"/>
                    </a:solidFill>
                  </a:tcPr>
                </a:tc>
                <a:tc>
                  <a:txBody>
                    <a:bodyPr/>
                    <a:lstStyle/>
                    <a:p>
                      <a:r>
                        <a:rPr sz="700">
                          <a:solidFill>
                            <a:srgbClr val="C62828"/>
                          </a:solidFill>
                          <a:latin typeface="Arial"/>
                        </a:rPr>
                        <a:t>❌ Tidak tersedia</a:t>
                      </a:r>
                    </a:p>
                  </a:txBody>
                  <a:tcPr marL="18288" marR="18288" marT="18288" marB="18288">
                    <a:solidFill>
                      <a:srgbClr val="FFFFFF"/>
                    </a:solidFill>
                  </a:tcPr>
                </a:tc>
                <a:tc>
                  <a:txBody>
                    <a:bodyPr/>
                    <a:lstStyle/>
                    <a:p>
                      <a:r>
                        <a:rPr sz="700" b="1">
                          <a:solidFill>
                            <a:srgbClr val="2E7D32"/>
                          </a:solidFill>
                          <a:latin typeface="Arial"/>
                        </a:rPr>
                        <a:t>✅ Daftar cacat per komponen</a:t>
                      </a:r>
                    </a:p>
                  </a:txBody>
                  <a:tcPr marL="18288" marR="18288" marT="18288" marB="18288">
                    <a:solidFill>
                      <a:srgbClr val="FFFFFF"/>
                    </a:solidFill>
                  </a:tcPr>
                </a:tc>
              </a:tr>
              <a:tr h="331470">
                <a:tc>
                  <a:txBody>
                    <a:bodyPr/>
                    <a:lstStyle/>
                    <a:p>
                      <a:r>
                        <a:rPr sz="700" b="1">
                          <a:solidFill>
                            <a:srgbClr val="2A2A3D"/>
                          </a:solidFill>
                          <a:latin typeface="Arial"/>
                        </a:rPr>
                        <a:t>4. Bedakan masalah mesin vs shift</a:t>
                      </a:r>
                    </a:p>
                  </a:txBody>
                  <a:tcPr marL="18288" marR="18288" marT="18288" marB="18288">
                    <a:solidFill>
                      <a:srgbClr val="F8F6FE"/>
                    </a:solidFill>
                  </a:tcPr>
                </a:tc>
                <a:tc>
                  <a:txBody>
                    <a:bodyPr/>
                    <a:lstStyle/>
                    <a:p>
                      <a:r>
                        <a:rPr sz="700">
                          <a:solidFill>
                            <a:srgbClr val="C62828"/>
                          </a:solidFill>
                          <a:latin typeface="Arial"/>
                        </a:rPr>
                        <a:t>❌ Saling menduga</a:t>
                      </a:r>
                    </a:p>
                  </a:txBody>
                  <a:tcPr marL="18288" marR="18288" marT="18288" marB="18288">
                    <a:solidFill>
                      <a:srgbClr val="F8F6FE"/>
                    </a:solidFill>
                  </a:tcPr>
                </a:tc>
                <a:tc>
                  <a:txBody>
                    <a:bodyPr/>
                    <a:lstStyle/>
                    <a:p>
                      <a:r>
                        <a:rPr sz="700">
                          <a:solidFill>
                            <a:srgbClr val="C62828"/>
                          </a:solidFill>
                          <a:latin typeface="Arial"/>
                        </a:rPr>
                        <a:t>❌ Tidak tersedia</a:t>
                      </a:r>
                    </a:p>
                  </a:txBody>
                  <a:tcPr marL="18288" marR="18288" marT="18288" marB="18288">
                    <a:solidFill>
                      <a:srgbClr val="F8F6FE"/>
                    </a:solidFill>
                  </a:tcPr>
                </a:tc>
                <a:tc>
                  <a:txBody>
                    <a:bodyPr/>
                    <a:lstStyle/>
                    <a:p>
                      <a:r>
                        <a:rPr sz="700" b="1">
                          <a:solidFill>
                            <a:srgbClr val="2E7D32"/>
                          </a:solidFill>
                          <a:latin typeface="Arial"/>
                        </a:rPr>
                        <a:t>✅ Terpisah jelas berbasis data</a:t>
                      </a:r>
                    </a:p>
                  </a:txBody>
                  <a:tcPr marL="18288" marR="18288" marT="18288" marB="18288">
                    <a:solidFill>
                      <a:srgbClr val="F8F6FE"/>
                    </a:solidFill>
                  </a:tcPr>
                </a:tc>
              </a:tr>
              <a:tr h="331470">
                <a:tc>
                  <a:txBody>
                    <a:bodyPr/>
                    <a:lstStyle/>
                    <a:p>
                      <a:r>
                        <a:rPr sz="700" b="1">
                          <a:solidFill>
                            <a:srgbClr val="2A2A3D"/>
                          </a:solidFill>
                          <a:latin typeface="Arial"/>
                        </a:rPr>
                        <a:t>5. Waktu catat order di mesin</a:t>
                      </a:r>
                    </a:p>
                  </a:txBody>
                  <a:tcPr marL="18288" marR="18288" marT="18288" marB="18288">
                    <a:solidFill>
                      <a:srgbClr val="FFFFFF"/>
                    </a:solidFill>
                  </a:tcPr>
                </a:tc>
                <a:tc>
                  <a:txBody>
                    <a:bodyPr/>
                    <a:lstStyle/>
                    <a:p>
                      <a:r>
                        <a:rPr sz="700">
                          <a:solidFill>
                            <a:srgbClr val="2A2A3D"/>
                          </a:solidFill>
                          <a:latin typeface="Arial"/>
                        </a:rPr>
                        <a:t>3–5 menit (tulis tangan)</a:t>
                      </a:r>
                    </a:p>
                  </a:txBody>
                  <a:tcPr marL="18288" marR="18288" marT="18288" marB="18288">
                    <a:solidFill>
                      <a:srgbClr val="FFFFFF"/>
                    </a:solidFill>
                  </a:tcPr>
                </a:tc>
                <a:tc>
                  <a:txBody>
                    <a:bodyPr/>
                    <a:lstStyle/>
                    <a:p>
                      <a:r>
                        <a:rPr sz="700">
                          <a:solidFill>
                            <a:srgbClr val="2A2A3D"/>
                          </a:solidFill>
                          <a:latin typeface="Arial"/>
                        </a:rPr>
                        <a:t>3–5 menit</a:t>
                      </a:r>
                    </a:p>
                  </a:txBody>
                  <a:tcPr marL="18288" marR="18288" marT="18288" marB="18288">
                    <a:solidFill>
                      <a:srgbClr val="FFFFFF"/>
                    </a:solidFill>
                  </a:tcPr>
                </a:tc>
                <a:tc>
                  <a:txBody>
                    <a:bodyPr/>
                    <a:lstStyle/>
                    <a:p>
                      <a:r>
                        <a:rPr sz="700" b="1">
                          <a:solidFill>
                            <a:srgbClr val="2E7D32"/>
                          </a:solidFill>
                          <a:latin typeface="Arial"/>
                        </a:rPr>
                        <a:t>✅ &lt; 30 detik (otomatis dari SAP)</a:t>
                      </a:r>
                    </a:p>
                  </a:txBody>
                  <a:tcPr marL="18288" marR="18288" marT="18288" marB="18288">
                    <a:solidFill>
                      <a:srgbClr val="FFFFFF"/>
                    </a:solidFill>
                  </a:tcPr>
                </a:tc>
              </a:tr>
              <a:tr h="331470">
                <a:tc>
                  <a:txBody>
                    <a:bodyPr/>
                    <a:lstStyle/>
                    <a:p>
                      <a:r>
                        <a:rPr sz="700" b="1">
                          <a:solidFill>
                            <a:srgbClr val="2A2A3D"/>
                          </a:solidFill>
                          <a:latin typeface="Arial"/>
                        </a:rPr>
                        <a:t>6. Waktu rekap untuk evaluasi</a:t>
                      </a:r>
                    </a:p>
                  </a:txBody>
                  <a:tcPr marL="18288" marR="18288" marT="18288" marB="18288">
                    <a:solidFill>
                      <a:srgbClr val="F8F6FE"/>
                    </a:solidFill>
                  </a:tcPr>
                </a:tc>
                <a:tc>
                  <a:txBody>
                    <a:bodyPr/>
                    <a:lstStyle/>
                    <a:p>
                      <a:r>
                        <a:rPr sz="700">
                          <a:solidFill>
                            <a:srgbClr val="2A2A3D"/>
                          </a:solidFill>
                          <a:latin typeface="Arial"/>
                        </a:rPr>
                        <a:t>± 45 menit / hari</a:t>
                      </a:r>
                    </a:p>
                  </a:txBody>
                  <a:tcPr marL="18288" marR="18288" marT="18288" marB="18288">
                    <a:solidFill>
                      <a:srgbClr val="F8F6FE"/>
                    </a:solidFill>
                  </a:tcPr>
                </a:tc>
                <a:tc>
                  <a:txBody>
                    <a:bodyPr/>
                    <a:lstStyle/>
                    <a:p>
                      <a:r>
                        <a:rPr sz="700">
                          <a:solidFill>
                            <a:srgbClr val="2A2A3D"/>
                          </a:solidFill>
                          <a:latin typeface="Arial"/>
                        </a:rPr>
                        <a:t>± 45 menit / hari</a:t>
                      </a:r>
                    </a:p>
                  </a:txBody>
                  <a:tcPr marL="18288" marR="18288" marT="18288" marB="18288">
                    <a:solidFill>
                      <a:srgbClr val="F8F6FE"/>
                    </a:solidFill>
                  </a:tcPr>
                </a:tc>
                <a:tc>
                  <a:txBody>
                    <a:bodyPr/>
                    <a:lstStyle/>
                    <a:p>
                      <a:r>
                        <a:rPr sz="700" b="1">
                          <a:solidFill>
                            <a:srgbClr val="2E7D32"/>
                          </a:solidFill>
                          <a:latin typeface="Arial"/>
                        </a:rPr>
                        <a:t>✅ 0 menit (otomatis seketika)</a:t>
                      </a:r>
                    </a:p>
                  </a:txBody>
                  <a:tcPr marL="18288" marR="18288" marT="18288" marB="18288">
                    <a:solidFill>
                      <a:srgbClr val="F8F6FE"/>
                    </a:solidFill>
                  </a:tcPr>
                </a:tc>
              </a:tr>
              <a:tr h="331470">
                <a:tc>
                  <a:txBody>
                    <a:bodyPr/>
                    <a:lstStyle/>
                    <a:p>
                      <a:r>
                        <a:rPr sz="700" b="1">
                          <a:solidFill>
                            <a:srgbClr val="2A2A3D"/>
                          </a:solidFill>
                          <a:latin typeface="Arial"/>
                        </a:rPr>
                        <a:t>7. Waktu henti mesin untuk servis</a:t>
                      </a:r>
                    </a:p>
                  </a:txBody>
                  <a:tcPr marL="18288" marR="18288" marT="18288" marB="18288">
                    <a:solidFill>
                      <a:srgbClr val="FFFFFF"/>
                    </a:solidFill>
                  </a:tcPr>
                </a:tc>
                <a:tc>
                  <a:txBody>
                    <a:bodyPr/>
                    <a:lstStyle/>
                    <a:p>
                      <a:r>
                        <a:rPr sz="700">
                          <a:solidFill>
                            <a:srgbClr val="2A2A3D"/>
                          </a:solidFill>
                          <a:latin typeface="Arial"/>
                        </a:rPr>
                        <a:t>&gt; 8 jam (cek bergilir)</a:t>
                      </a:r>
                    </a:p>
                  </a:txBody>
                  <a:tcPr marL="18288" marR="18288" marT="18288" marB="18288">
                    <a:solidFill>
                      <a:srgbClr val="FFFFFF"/>
                    </a:solidFill>
                  </a:tcPr>
                </a:tc>
                <a:tc>
                  <a:txBody>
                    <a:bodyPr/>
                    <a:lstStyle/>
                    <a:p>
                      <a:r>
                        <a:rPr sz="700">
                          <a:solidFill>
                            <a:srgbClr val="2A2A3D"/>
                          </a:solidFill>
                          <a:latin typeface="Arial"/>
                        </a:rPr>
                        <a:t>&gt; 8 jam (cek bergilir)</a:t>
                      </a:r>
                    </a:p>
                  </a:txBody>
                  <a:tcPr marL="18288" marR="18288" marT="18288" marB="18288">
                    <a:solidFill>
                      <a:srgbClr val="FFFFFF"/>
                    </a:solidFill>
                  </a:tcPr>
                </a:tc>
                <a:tc>
                  <a:txBody>
                    <a:bodyPr/>
                    <a:lstStyle/>
                    <a:p>
                      <a:r>
                        <a:rPr sz="700" b="1">
                          <a:solidFill>
                            <a:srgbClr val="2E7D32"/>
                          </a:solidFill>
                          <a:latin typeface="Arial"/>
                        </a:rPr>
                        <a:t>✅ &lt; 2–4 jam (langsung sasaran)</a:t>
                      </a:r>
                    </a:p>
                  </a:txBody>
                  <a:tcPr marL="18288" marR="18288" marT="18288" marB="18288">
                    <a:solidFill>
                      <a:srgbClr val="FFFFFF"/>
                    </a:solidFill>
                  </a:tcPr>
                </a:tc>
              </a:tr>
            </a:tbl>
          </a:graphicData>
        </a:graphic>
      </p:graphicFrame>
      <p:sp>
        <p:nvSpPr>
          <p:cNvPr id="19" name="Rectangle 18"/>
          <p:cNvSpPr/>
          <p:nvPr/>
        </p:nvSpPr>
        <p:spPr>
          <a:xfrm>
            <a:off x="6995160" y="2816352"/>
            <a:ext cx="4645152"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1000" b="1">
                <a:solidFill>
                  <a:srgbClr val="FFFFFF"/>
                </a:solidFill>
                <a:latin typeface="Arial"/>
              </a:rPr>
              <a:t>2. DIBANDING CARA UNIT LAIN &amp; SOFTWARE LUAR</a:t>
            </a:r>
          </a:p>
        </p:txBody>
      </p:sp>
      <p:sp>
        <p:nvSpPr>
          <p:cNvPr id="20" name="Rounded Rectangle 19"/>
          <p:cNvSpPr/>
          <p:nvPr/>
        </p:nvSpPr>
        <p:spPr>
          <a:xfrm>
            <a:off x="6995160" y="3127248"/>
            <a:ext cx="4645152"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104888" y="3200400"/>
            <a:ext cx="4425696" cy="1261872"/>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54864" bIns="36576"/>
          <a:lstStyle/>
          <a:p>
            <a:pPr algn="ctr"/>
            <a:r>
              <a:rPr sz="800" b="1">
                <a:solidFill>
                  <a:srgbClr val="6A2CC9"/>
                </a:solidFill>
                <a:latin typeface="Arial"/>
              </a:rPr>
              <a:t>DIBANDING UNIT LAIN (TARIK EXCEL MINGGUAN)</a:t>
            </a:r>
          </a:p>
          <a:p>
            <a:pPr>
              <a:spcBef>
                <a:spcPts val="200"/>
              </a:spcBef>
            </a:pPr>
            <a:r>
              <a:rPr sz="730" b="1">
                <a:solidFill>
                  <a:srgbClr val="6A2CC9"/>
                </a:solidFill>
                <a:latin typeface="Arial"/>
              </a:rPr>
              <a:t>• Cara Unit Lain: </a:t>
            </a:r>
            <a:r>
              <a:rPr sz="730">
                <a:solidFill>
                  <a:srgbClr val="2A2A3D"/>
                </a:solidFill>
                <a:latin typeface="Arial"/>
              </a:rPr>
              <a:t>Ambil file CSV dari SAP tiap akhir pekan lalu diolah di Excel kantor. Evaluasi baru keluar setelah ribuan lembar terlanjur selesai dicetak.</a:t>
            </a:r>
          </a:p>
          <a:p>
            <a:pPr>
              <a:spcBef>
                <a:spcPts val="200"/>
              </a:spcBef>
            </a:pPr>
            <a:r>
              <a:rPr sz="730" b="1">
                <a:solidFill>
                  <a:srgbClr val="2E7D32"/>
                </a:solidFill>
                <a:latin typeface="Arial"/>
              </a:rPr>
              <a:t>• DSS SIRINE 4.0: </a:t>
            </a:r>
            <a:r>
              <a:rPr sz="730">
                <a:solidFill>
                  <a:srgbClr val="2A2A3D"/>
                </a:solidFill>
                <a:latin typeface="Arial"/>
              </a:rPr>
              <a:t>Data langsung terbaca di area mesin saat cetak sedang berjalan. Begitu ada cacat naik, operator &amp; pengawas bisa langsung bertindak.</a:t>
            </a:r>
          </a:p>
        </p:txBody>
      </p:sp>
      <p:sp>
        <p:nvSpPr>
          <p:cNvPr id="22" name="Rounded Rectangle 21"/>
          <p:cNvSpPr/>
          <p:nvPr/>
        </p:nvSpPr>
        <p:spPr>
          <a:xfrm>
            <a:off x="7104888" y="4535424"/>
            <a:ext cx="4425696" cy="1280160"/>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54864" bIns="36576"/>
          <a:lstStyle/>
          <a:p>
            <a:pPr algn="ctr"/>
            <a:r>
              <a:rPr sz="800" b="1">
                <a:solidFill>
                  <a:srgbClr val="20288F"/>
                </a:solidFill>
                <a:latin typeface="Arial"/>
              </a:rPr>
              <a:t>DIBANDING BELI SOFTWARE PABRIK (MES VENDOR)</a:t>
            </a:r>
          </a:p>
          <a:p>
            <a:pPr>
              <a:spcBef>
                <a:spcPts val="200"/>
              </a:spcBef>
            </a:pPr>
            <a:r>
              <a:rPr sz="730" b="1">
                <a:solidFill>
                  <a:srgbClr val="C62828"/>
                </a:solidFill>
                <a:latin typeface="Arial"/>
              </a:rPr>
              <a:t>• Beli Software Luar: </a:t>
            </a:r>
            <a:r>
              <a:rPr sz="730">
                <a:solidFill>
                  <a:srgbClr val="2A2A3D"/>
                </a:solidFill>
                <a:latin typeface="Arial"/>
              </a:rPr>
              <a:t>Butuh biaya awal miliaran rupiah, bayar lisensi tahunan mahal, dan sulit diubah saat spesifikasi pita cukai Bea Cukai berganti.</a:t>
            </a:r>
          </a:p>
          <a:p>
            <a:pPr>
              <a:spcBef>
                <a:spcPts val="200"/>
              </a:spcBef>
            </a:pPr>
            <a:r>
              <a:rPr sz="730" b="1">
                <a:solidFill>
                  <a:srgbClr val="2E7D32"/>
                </a:solidFill>
                <a:latin typeface="Arial"/>
              </a:rPr>
              <a:t>• Buatan Sendiri (In-House): </a:t>
            </a:r>
            <a:r>
              <a:rPr sz="730">
                <a:solidFill>
                  <a:srgbClr val="2A2A3D"/>
                </a:solidFill>
                <a:latin typeface="Arial"/>
              </a:rPr>
              <a:t>Biaya lisensi Rp 0, bebas disesuaikan kapan saja dengan kebutuhan lapangan, dan keamanan data negara 100% terjaga di internal Peruri.</a:t>
            </a:r>
          </a:p>
        </p:txBody>
      </p:sp>
      <p:sp>
        <p:nvSpPr>
          <p:cNvPr id="23" name="Rounded Rectangle 22"/>
          <p:cNvSpPr/>
          <p:nvPr/>
        </p:nvSpPr>
        <p:spPr>
          <a:xfrm>
            <a:off x="548640" y="5961888"/>
            <a:ext cx="11091672" cy="402336"/>
          </a:xfrm>
          <a:prstGeom prst="roundRect">
            <a:avLst/>
          </a:prstGeom>
          <a:solidFill>
            <a:srgbClr val="E8F5E9"/>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36576"/>
          <a:lstStyle/>
          <a:p>
            <a:pPr algn="ctr"/>
            <a:r>
              <a:rPr sz="780" b="1">
                <a:solidFill>
                  <a:srgbClr val="2E7D32"/>
                </a:solidFill>
                <a:latin typeface="Arial"/>
              </a:rPr>
              <a:t>• Nilai Tambah Utama: </a:t>
            </a:r>
            <a:r>
              <a:rPr sz="760">
                <a:solidFill>
                  <a:srgbClr val="2A2A3D"/>
                </a:solidFill>
                <a:latin typeface="Arial"/>
              </a:rPr>
              <a:t>Menghilangkan seluruh pekerjaan rekap manual yang menyita waktu (rekap 0 menit), sekaligus mempercepat perbaikan mesin dari seharian (&gt; 8 jam) menjadi hanya 2–4 jam.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000" b="1">
                <a:solidFill>
                  <a:srgbClr val="FFFFFF"/>
                </a:solidFill>
                <a:latin typeface="Arial"/>
              </a:rPr>
              <a:t>04.3</a:t>
            </a:r>
          </a:p>
        </p:txBody>
      </p:sp>
      <p:sp>
        <p:nvSpPr>
          <p:cNvPr id="5" name="TextBox 4"/>
          <p:cNvSpPr txBox="1"/>
          <p:nvPr/>
        </p:nvSpPr>
        <p:spPr>
          <a:xfrm>
            <a:off x="1417320" y="548640"/>
            <a:ext cx="9326880" cy="731520"/>
          </a:xfrm>
          <a:prstGeom prst="rect">
            <a:avLst/>
          </a:prstGeom>
          <a:noFill/>
        </p:spPr>
        <p:txBody>
          <a:bodyPr wrap="square" lIns="0" tIns="0" rIns="0" bIns="0">
            <a:spAutoFit/>
          </a:bodyPr>
          <a:lstStyle/>
          <a:p>
            <a:r>
              <a:rPr sz="2400" b="1">
                <a:solidFill>
                  <a:srgbClr val="20288F"/>
                </a:solidFill>
                <a:latin typeface="Arial"/>
              </a:rPr>
              <a:t>Solusi: Alur Kerja Sebelum vs Sesudah Inovasi</a:t>
            </a:r>
          </a:p>
        </p:txBody>
      </p:sp>
      <p:sp>
        <p:nvSpPr>
          <p:cNvPr id="6" name="TextBox 5"/>
          <p:cNvSpPr txBox="1"/>
          <p:nvPr/>
        </p:nvSpPr>
        <p:spPr>
          <a:xfrm>
            <a:off x="548640" y="1353312"/>
            <a:ext cx="10789920" cy="347472"/>
          </a:xfrm>
          <a:prstGeom prst="rect">
            <a:avLst/>
          </a:prstGeom>
          <a:noFill/>
        </p:spPr>
        <p:txBody>
          <a:bodyPr wrap="square" lIns="0" tIns="0" rIns="0" bIns="0">
            <a:spAutoFit/>
          </a:bodyPr>
          <a:lstStyle/>
          <a:p>
            <a:r>
              <a:rPr sz="1150" b="1">
                <a:solidFill>
                  <a:srgbClr val="6A2CC9"/>
                </a:solidFill>
                <a:latin typeface="Arial"/>
              </a:rPr>
              <a:t>Tujuan bagian ini:  </a:t>
            </a:r>
            <a:r>
              <a:rPr sz="1150">
                <a:solidFill>
                  <a:srgbClr val="2A2A3D"/>
                </a:solidFill>
                <a:latin typeface="Arial"/>
              </a:rPr>
              <a:t>Tunjukkan perubahan alur kerja dari sebelumnya meraba-raba menjadi penanganan terarah berbasis data.</a:t>
            </a:r>
          </a:p>
        </p:txBody>
      </p:sp>
      <p:sp>
        <p:nvSpPr>
          <p:cNvPr id="7" name="TextBox 6"/>
          <p:cNvSpPr txBox="1"/>
          <p:nvPr/>
        </p:nvSpPr>
        <p:spPr>
          <a:xfrm>
            <a:off x="548640" y="6419088"/>
            <a:ext cx="11091672" cy="219456"/>
          </a:xfrm>
          <a:prstGeom prst="rect">
            <a:avLst/>
          </a:prstGeom>
          <a:noFill/>
        </p:spPr>
        <p:txBody>
          <a:bodyPr wrap="square" lIns="0" tIns="0" rIns="0" bIns="0">
            <a:spAutoFit/>
          </a:bodyPr>
          <a:lstStyle/>
          <a:p>
            <a:r>
              <a:rPr sz="850">
                <a:solidFill>
                  <a:srgbClr val="6E6E82"/>
                </a:solidFill>
                <a:latin typeface="Arial"/>
              </a:rPr>
              <a:t>IAKA 2026 — Kerangka Presentasi Peserta  ·  DSS SIRINE 4.0 Unit Cetak Pita Cukai</a:t>
            </a:r>
          </a:p>
        </p:txBody>
      </p:sp>
      <p:sp>
        <p:nvSpPr>
          <p:cNvPr id="8" name="Rectangle 7"/>
          <p:cNvSpPr/>
          <p:nvPr/>
        </p:nvSpPr>
        <p:spPr>
          <a:xfrm>
            <a:off x="548640" y="1755648"/>
            <a:ext cx="5394960" cy="329184"/>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980" b="1">
                <a:solidFill>
                  <a:srgbClr val="FFFFFF"/>
                </a:solidFill>
                <a:latin typeface="Arial"/>
              </a:rPr>
              <a:t>1. ALUR KERJA SEBELUMNYA (MERABA-RABA &amp; BONGKAR BERGILIR)</a:t>
            </a:r>
          </a:p>
        </p:txBody>
      </p:sp>
      <p:sp>
        <p:nvSpPr>
          <p:cNvPr id="9" name="Rounded Rectangle 8"/>
          <p:cNvSpPr/>
          <p:nvPr/>
        </p:nvSpPr>
        <p:spPr>
          <a:xfrm>
            <a:off x="548640" y="2084831"/>
            <a:ext cx="5394960" cy="2816352"/>
          </a:xfrm>
          <a:prstGeom prst="roundRect">
            <a:avLst/>
          </a:prstGeom>
          <a:solidFill>
            <a:srgbClr val="FFF5F5"/>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157984"/>
            <a:ext cx="5175504" cy="530352"/>
          </a:xfrm>
          <a:prstGeom prst="roundRect">
            <a:avLst/>
          </a:prstGeom>
          <a:solidFill>
            <a:srgbClr val="FFFFFF"/>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C62828"/>
                </a:solidFill>
                <a:latin typeface="Arial"/>
              </a:rPr>
              <a:t>1. Order Selesai di Mesin ➔ </a:t>
            </a:r>
            <a:r>
              <a:rPr sz="720">
                <a:solidFill>
                  <a:srgbClr val="2A2A3D"/>
                </a:solidFill>
                <a:latin typeface="Arial"/>
              </a:rPr>
              <a:t>Operator catat pakai pulpen di buku folio. Catatan tersimpan di laci meja mesin, rawan kotor atau hilang.</a:t>
            </a:r>
          </a:p>
        </p:txBody>
      </p:sp>
      <p:sp>
        <p:nvSpPr>
          <p:cNvPr id="11" name="Rounded Rectangle 10"/>
          <p:cNvSpPr/>
          <p:nvPr/>
        </p:nvSpPr>
        <p:spPr>
          <a:xfrm>
            <a:off x="658368" y="2743200"/>
            <a:ext cx="5175504" cy="530352"/>
          </a:xfrm>
          <a:prstGeom prst="roundRect">
            <a:avLst/>
          </a:prstGeom>
          <a:solidFill>
            <a:srgbClr val="FFFFFF"/>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C62828"/>
                </a:solidFill>
                <a:latin typeface="Arial"/>
              </a:rPr>
              <a:t>2. Lembar Dikirim ke Verifikasi ➔ </a:t>
            </a:r>
            <a:r>
              <a:rPr sz="720">
                <a:solidFill>
                  <a:srgbClr val="2A2A3D"/>
                </a:solidFill>
                <a:latin typeface="Arial"/>
              </a:rPr>
              <a:t>Petugas sortir lembar rusak dan rekap ke SAP sebagai total kerusakan unit (tanpa nomor mesin &amp; shift).</a:t>
            </a:r>
          </a:p>
        </p:txBody>
      </p:sp>
      <p:sp>
        <p:nvSpPr>
          <p:cNvPr id="12" name="Rounded Rectangle 11"/>
          <p:cNvSpPr/>
          <p:nvPr/>
        </p:nvSpPr>
        <p:spPr>
          <a:xfrm>
            <a:off x="658368" y="3328415"/>
            <a:ext cx="5175504" cy="530352"/>
          </a:xfrm>
          <a:prstGeom prst="roundRect">
            <a:avLst/>
          </a:prstGeom>
          <a:solidFill>
            <a:srgbClr val="FFFFFF"/>
          </a:solidFill>
          <a:ln w="12700">
            <a:solidFill>
              <a:srgbClr val="F5C2C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C62828"/>
                </a:solidFill>
                <a:latin typeface="Arial"/>
              </a:rPr>
              <a:t>3. Laporan Keluar Bulanan ➔ </a:t>
            </a:r>
            <a:r>
              <a:rPr sz="720">
                <a:solidFill>
                  <a:srgbClr val="2A2A3D"/>
                </a:solidFill>
                <a:latin typeface="Arial"/>
              </a:rPr>
              <a:t>Laporan sebut cacat blobor naik ➔ Teknisi terpaksa cek dan setel ulang 6 mesin satu per satu secara bergilir.</a:t>
            </a:r>
          </a:p>
        </p:txBody>
      </p:sp>
      <p:sp>
        <p:nvSpPr>
          <p:cNvPr id="13" name="Rounded Rectangle 12"/>
          <p:cNvSpPr/>
          <p:nvPr/>
        </p:nvSpPr>
        <p:spPr>
          <a:xfrm>
            <a:off x="658368" y="3931920"/>
            <a:ext cx="5175504" cy="877824"/>
          </a:xfrm>
          <a:prstGeom prst="roundRect">
            <a:avLst/>
          </a:prstGeom>
          <a:solidFill>
            <a:srgbClr val="FFF5F5"/>
          </a:solidFill>
          <a:ln w="12700">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wrap="square" tIns="54864" bIns="36576"/>
          <a:lstStyle/>
          <a:p>
            <a:pPr algn="ctr"/>
            <a:r>
              <a:rPr sz="780" b="1">
                <a:solidFill>
                  <a:srgbClr val="C62828"/>
                </a:solidFill>
                <a:latin typeface="Arial"/>
              </a:rPr>
              <a:t>AKIBAT DI LAPANGAN:
</a:t>
            </a:r>
            <a:r>
              <a:rPr sz="720">
                <a:solidFill>
                  <a:srgbClr val="2A2A3D"/>
                </a:solidFill>
                <a:latin typeface="Arial"/>
              </a:rPr>
              <a:t>• Mesin mati &gt; 8 jam/mesin hanya untuk mencari-cari penyebab, kepala kelompok habis 45 menit/hari merekap buku folio.
• Inschiet tertahan di baseline 4,61% (potensi kerugian biaya cetak Rp 24,56 Miliar/tahun).</a:t>
            </a:r>
          </a:p>
        </p:txBody>
      </p:sp>
      <p:sp>
        <p:nvSpPr>
          <p:cNvPr id="14" name="Rectangle 13"/>
          <p:cNvSpPr/>
          <p:nvPr/>
        </p:nvSpPr>
        <p:spPr>
          <a:xfrm>
            <a:off x="6199632" y="1755648"/>
            <a:ext cx="5440680" cy="32918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980" b="1">
                <a:solidFill>
                  <a:srgbClr val="FFFFFF"/>
                </a:solidFill>
                <a:latin typeface="Arial"/>
              </a:rPr>
              <a:t>2. ALUR KERJA SESUDAHNYA (LANGSUNG TEPAT SASARAN)</a:t>
            </a:r>
          </a:p>
        </p:txBody>
      </p:sp>
      <p:sp>
        <p:nvSpPr>
          <p:cNvPr id="15" name="Rounded Rectangle 14"/>
          <p:cNvSpPr/>
          <p:nvPr/>
        </p:nvSpPr>
        <p:spPr>
          <a:xfrm>
            <a:off x="6199632" y="2084831"/>
            <a:ext cx="5440680" cy="2816352"/>
          </a:xfrm>
          <a:prstGeom prst="roundRect">
            <a:avLst/>
          </a:prstGeom>
          <a:solidFill>
            <a:srgbClr val="E8F5E9"/>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09360" y="2157984"/>
            <a:ext cx="5221224" cy="530352"/>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2E7D32"/>
                </a:solidFill>
                <a:latin typeface="Arial"/>
              </a:rPr>
              <a:t>1. Order Selesai di Mesin ➔ </a:t>
            </a:r>
            <a:r>
              <a:rPr sz="720">
                <a:solidFill>
                  <a:srgbClr val="2A2A3D"/>
                </a:solidFill>
                <a:latin typeface="Arial"/>
              </a:rPr>
              <a:t>Operator input form digital &lt; 30 detik. Data pesanan SAP dan jadwal regu langsung terisi otomatis.</a:t>
            </a:r>
          </a:p>
        </p:txBody>
      </p:sp>
      <p:sp>
        <p:nvSpPr>
          <p:cNvPr id="17" name="Rounded Rectangle 16"/>
          <p:cNvSpPr/>
          <p:nvPr/>
        </p:nvSpPr>
        <p:spPr>
          <a:xfrm>
            <a:off x="6309360" y="2743200"/>
            <a:ext cx="5221224" cy="530352"/>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2E7D32"/>
                </a:solidFill>
                <a:latin typeface="Arial"/>
              </a:rPr>
              <a:t>2. Dasbor Deteksi Otomatis ➔ </a:t>
            </a:r>
            <a:r>
              <a:rPr sz="720">
                <a:solidFill>
                  <a:srgbClr val="2A2A3D"/>
                </a:solidFill>
                <a:latin typeface="Arial"/>
              </a:rPr>
              <a:t>Dasbor Mesin langsung membaca anomali (contoh: Mesin Komori 4 inschiet 6,2% - status Merah).</a:t>
            </a:r>
          </a:p>
        </p:txBody>
      </p:sp>
      <p:sp>
        <p:nvSpPr>
          <p:cNvPr id="18" name="Rounded Rectangle 17"/>
          <p:cNvSpPr/>
          <p:nvPr/>
        </p:nvSpPr>
        <p:spPr>
          <a:xfrm>
            <a:off x="6309360" y="3328415"/>
            <a:ext cx="5221224" cy="530352"/>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50" b="1">
                <a:solidFill>
                  <a:srgbClr val="2E7D32"/>
                </a:solidFill>
                <a:latin typeface="Arial"/>
              </a:rPr>
              <a:t>3. Petunjuk Kerusakan Komponen ➔ </a:t>
            </a:r>
            <a:r>
              <a:rPr sz="720">
                <a:solidFill>
                  <a:srgbClr val="2A2A3D"/>
                </a:solidFill>
                <a:latin typeface="Arial"/>
              </a:rPr>
              <a:t>Modul cacat beri tahu 70% blobor ➔ Teknisi langsung bawa rol karet pengganti ke Komori 4.</a:t>
            </a:r>
          </a:p>
        </p:txBody>
      </p:sp>
      <p:sp>
        <p:nvSpPr>
          <p:cNvPr id="19" name="Rounded Rectangle 18"/>
          <p:cNvSpPr/>
          <p:nvPr/>
        </p:nvSpPr>
        <p:spPr>
          <a:xfrm>
            <a:off x="6309360" y="3931920"/>
            <a:ext cx="5221224" cy="877824"/>
          </a:xfrm>
          <a:prstGeom prst="round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tIns="54864" bIns="36576"/>
          <a:lstStyle/>
          <a:p>
            <a:pPr algn="ctr"/>
            <a:r>
              <a:rPr sz="780" b="1">
                <a:solidFill>
                  <a:srgbClr val="2E7D32"/>
                </a:solidFill>
                <a:latin typeface="Arial"/>
              </a:rPr>
              <a:t>HASIL DI LAPANGAN:
</a:t>
            </a:r>
            <a:r>
              <a:rPr sz="720">
                <a:solidFill>
                  <a:srgbClr val="2A2A3D"/>
                </a:solidFill>
                <a:latin typeface="Arial"/>
              </a:rPr>
              <a:t>• Waktu perbaikan mesin terpangkas jadi &lt; 2–4 jam (hemat 50–75%), rekap manual hilang 100%.
• Inschiet turun stabil ke 3,33% di Q2 2026 (potensi penghematan Rp 6,82 Miliar/tahun).</a:t>
            </a:r>
          </a:p>
        </p:txBody>
      </p:sp>
      <p:sp>
        <p:nvSpPr>
          <p:cNvPr id="20" name="Rectangle 19"/>
          <p:cNvSpPr/>
          <p:nvPr/>
        </p:nvSpPr>
        <p:spPr>
          <a:xfrm>
            <a:off x="548640" y="4974336"/>
            <a:ext cx="11091672" cy="292608"/>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0" bIns="0" rIns="0"/>
          <a:lstStyle/>
          <a:p>
            <a:pPr algn="ctr"/>
            <a:r>
              <a:rPr sz="980" b="1">
                <a:solidFill>
                  <a:srgbClr val="FFFFFF"/>
                </a:solidFill>
                <a:latin typeface="Arial"/>
              </a:rPr>
              <a:t>3. BUKTI WAKTU KERJA YANG DIHEMAT DI LAPANGAN</a:t>
            </a:r>
          </a:p>
        </p:txBody>
      </p:sp>
      <p:sp>
        <p:nvSpPr>
          <p:cNvPr id="21" name="Rounded Rectangle 20"/>
          <p:cNvSpPr/>
          <p:nvPr/>
        </p:nvSpPr>
        <p:spPr>
          <a:xfrm>
            <a:off x="548640" y="5266944"/>
            <a:ext cx="11091672" cy="1078992"/>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8368" y="5340096"/>
            <a:ext cx="2560320" cy="93268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80" b="1">
                <a:solidFill>
                  <a:srgbClr val="20288F"/>
                </a:solidFill>
                <a:latin typeface="Arial"/>
              </a:rPr>
              <a:t>Input Data per Order (PO)</a:t>
            </a:r>
          </a:p>
          <a:p>
            <a:pPr>
              <a:spcBef>
                <a:spcPts val="100"/>
              </a:spcBef>
            </a:pPr>
            <a:r>
              <a:rPr sz="700">
                <a:solidFill>
                  <a:srgbClr val="2A2A3D"/>
                </a:solidFill>
                <a:latin typeface="Arial"/>
              </a:rPr>
              <a:t>Sebelum: 3–5 menit (tulis tangan)
Sesudah: &lt; 30 detik</a:t>
            </a:r>
          </a:p>
          <a:p>
            <a:pPr>
              <a:spcBef>
                <a:spcPts val="100"/>
              </a:spcBef>
            </a:pPr>
            <a:r>
              <a:rPr sz="720" b="1">
                <a:solidFill>
                  <a:srgbClr val="2E7D32"/>
                </a:solidFill>
                <a:latin typeface="Arial"/>
              </a:rPr>
              <a:t>✅ 85% Lebih Cepat (Autofill SAP)</a:t>
            </a:r>
          </a:p>
        </p:txBody>
      </p:sp>
      <p:sp>
        <p:nvSpPr>
          <p:cNvPr id="23" name="Rounded Rectangle 22"/>
          <p:cNvSpPr/>
          <p:nvPr/>
        </p:nvSpPr>
        <p:spPr>
          <a:xfrm>
            <a:off x="3346704" y="5340096"/>
            <a:ext cx="2560320" cy="93268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80" b="1">
                <a:solidFill>
                  <a:srgbClr val="20288F"/>
                </a:solidFill>
                <a:latin typeface="Arial"/>
              </a:rPr>
              <a:t>Mencari Mesin Bermasalah</a:t>
            </a:r>
          </a:p>
          <a:p>
            <a:pPr>
              <a:spcBef>
                <a:spcPts val="100"/>
              </a:spcBef>
            </a:pPr>
            <a:r>
              <a:rPr sz="700">
                <a:solidFill>
                  <a:srgbClr val="2A2A3D"/>
                </a:solidFill>
                <a:latin typeface="Arial"/>
              </a:rPr>
              <a:t>Sebelum: 1–3 hari (tunggu rekap)
Sesudah: Seketika (&lt; 1 detik)</a:t>
            </a:r>
          </a:p>
          <a:p>
            <a:pPr>
              <a:spcBef>
                <a:spcPts val="100"/>
              </a:spcBef>
            </a:pPr>
            <a:r>
              <a:rPr sz="720" b="1">
                <a:solidFill>
                  <a:srgbClr val="2E7D32"/>
                </a:solidFill>
                <a:latin typeface="Arial"/>
              </a:rPr>
              <a:t>✅ Langsung Muncul di Dasbor</a:t>
            </a:r>
          </a:p>
        </p:txBody>
      </p:sp>
      <p:sp>
        <p:nvSpPr>
          <p:cNvPr id="24" name="Rounded Rectangle 23"/>
          <p:cNvSpPr/>
          <p:nvPr/>
        </p:nvSpPr>
        <p:spPr>
          <a:xfrm>
            <a:off x="6035040" y="5340096"/>
            <a:ext cx="2560320" cy="93268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80" b="1">
                <a:solidFill>
                  <a:srgbClr val="20288F"/>
                </a:solidFill>
                <a:latin typeface="Arial"/>
              </a:rPr>
              <a:t>Waktu Henti Servis Mesin</a:t>
            </a:r>
          </a:p>
          <a:p>
            <a:pPr>
              <a:spcBef>
                <a:spcPts val="100"/>
              </a:spcBef>
            </a:pPr>
            <a:r>
              <a:rPr sz="700">
                <a:solidFill>
                  <a:srgbClr val="2A2A3D"/>
                </a:solidFill>
                <a:latin typeface="Arial"/>
              </a:rPr>
              <a:t>Sebelum: &gt; 8 jam (cek bergilir)
Sesudah: &lt; 2–4 jam</a:t>
            </a:r>
          </a:p>
          <a:p>
            <a:pPr>
              <a:spcBef>
                <a:spcPts val="100"/>
              </a:spcBef>
            </a:pPr>
            <a:r>
              <a:rPr sz="720" b="1">
                <a:solidFill>
                  <a:srgbClr val="2E7D32"/>
                </a:solidFill>
                <a:latin typeface="Arial"/>
              </a:rPr>
              <a:t>✅ Downtime Turun 50%–75%</a:t>
            </a:r>
          </a:p>
        </p:txBody>
      </p:sp>
      <p:sp>
        <p:nvSpPr>
          <p:cNvPr id="25" name="Rounded Rectangle 24"/>
          <p:cNvSpPr/>
          <p:nvPr/>
        </p:nvSpPr>
        <p:spPr>
          <a:xfrm>
            <a:off x="8723376" y="5340096"/>
            <a:ext cx="2788920" cy="93268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18288"/>
          <a:lstStyle/>
          <a:p>
            <a:pPr algn="ctr"/>
            <a:r>
              <a:rPr sz="780" b="1">
                <a:solidFill>
                  <a:srgbClr val="20288F"/>
                </a:solidFill>
                <a:latin typeface="Arial"/>
              </a:rPr>
              <a:t>Rekap Data Evaluasi Pegawai</a:t>
            </a:r>
          </a:p>
          <a:p>
            <a:pPr>
              <a:spcBef>
                <a:spcPts val="100"/>
              </a:spcBef>
            </a:pPr>
            <a:r>
              <a:rPr sz="700">
                <a:solidFill>
                  <a:srgbClr val="2A2A3D"/>
                </a:solidFill>
                <a:latin typeface="Arial"/>
              </a:rPr>
              <a:t>Sebelum: ± 45 menit / hari (manual)
Sesudah: 0 menit (otomatis)</a:t>
            </a:r>
          </a:p>
          <a:p>
            <a:pPr>
              <a:spcBef>
                <a:spcPts val="100"/>
              </a:spcBef>
            </a:pPr>
            <a:r>
              <a:rPr sz="720" b="1">
                <a:solidFill>
                  <a:srgbClr val="2E7D32"/>
                </a:solidFill>
                <a:latin typeface="Arial"/>
              </a:rPr>
              <a:t>✅ Beban Rekap Hilang Total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04.4</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400" b="1">
                <a:solidFill>
                  <a:srgbClr val="20288F"/>
                </a:solidFill>
                <a:latin typeface="Arial"/>
              </a:defRPr>
            </a:pPr>
            <a:r>
              <a:t>Solusi: Target Uji Coba Lapangan, Standar Kerja Baru &amp; Simulasi Finansial</a:t>
            </a:r>
          </a:p>
        </p:txBody>
      </p:sp>
      <p:sp>
        <p:nvSpPr>
          <p:cNvPr id="6" name="TextBox 5"/>
          <p:cNvSpPr txBox="1"/>
          <p:nvPr/>
        </p:nvSpPr>
        <p:spPr>
          <a:xfrm>
            <a:off x="548640" y="1353312"/>
            <a:ext cx="10789920" cy="347472"/>
          </a:xfrm>
          <a:prstGeom prst="rect">
            <a:avLst/>
          </a:prstGeom>
          <a:noFill/>
        </p:spPr>
        <p:txBody>
          <a:bodyPr wrap="square" tIns="0" bIns="0" lIns="0" rIns="0">
            <a:spAutoFit/>
          </a:bodyPr>
          <a:lstStyle/>
          <a:p>
            <a:r>
              <a:rPr sz="1150" b="1">
                <a:solidFill>
                  <a:srgbClr val="6A2CC9"/>
                </a:solidFill>
                <a:latin typeface="Arial"/>
              </a:rPr>
              <a:t>Tujuan bagian ini:  </a:t>
            </a:r>
            <a:r>
              <a:rPr sz="1150">
                <a:solidFill>
                  <a:srgbClr val="2A2A3D"/>
                </a:solidFill>
                <a:latin typeface="Arial"/>
              </a:rPr>
              <a:t>Sajikan rencana uji coba lapangan, dukungan pimpinan, SOP baru, dan simulasi dampak finansial berbasis estimasi terbuka.</a:t>
            </a:r>
          </a:p>
        </p:txBody>
      </p:sp>
      <p:sp>
        <p:nvSpPr>
          <p:cNvPr id="7" name="TextBox 6"/>
          <p:cNvSpPr txBox="1"/>
          <p:nvPr/>
        </p:nvSpPr>
        <p:spPr>
          <a:xfrm>
            <a:off x="548640" y="6419088"/>
            <a:ext cx="11091672" cy="219456"/>
          </a:xfrm>
          <a:prstGeom prst="rect">
            <a:avLst/>
          </a:prstGeom>
          <a:noFill/>
        </p:spPr>
        <p:txBody>
          <a:bodyPr wrap="none" tIns="0" b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FFF9E6"/>
          </a:solidFill>
          <a:ln w="1905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E65100"/>
                </a:solidFill>
                <a:latin typeface="Arial"/>
              </a:defRPr>
            </a:pPr>
            <a:r>
              <a:t>TARGET INSCHIET TAHAP 1</a:t>
            </a:r>
          </a:p>
          <a:p>
            <a:pPr algn="ctr">
              <a:defRPr sz="1550" b="1">
                <a:solidFill>
                  <a:srgbClr val="E65100"/>
                </a:solidFill>
                <a:latin typeface="Arial"/>
              </a:defRPr>
            </a:pPr>
            <a:r>
              <a:t>&lt; 4,00%</a:t>
            </a:r>
          </a:p>
          <a:p>
            <a:pPr algn="ctr">
              <a:defRPr sz="750">
                <a:solidFill>
                  <a:srgbClr val="2A2A3D"/>
                </a:solidFill>
                <a:latin typeface="Arial"/>
              </a:defRPr>
            </a:pPr>
            <a:r>
              <a:t>Dari baseline 4,61% (turun -0,61 pp)</a:t>
            </a:r>
          </a:p>
        </p:txBody>
      </p:sp>
      <p:sp>
        <p:nvSpPr>
          <p:cNvPr id="9" name="Rectangle 8"/>
          <p:cNvSpPr/>
          <p:nvPr/>
        </p:nvSpPr>
        <p:spPr>
          <a:xfrm>
            <a:off x="548640" y="1737360"/>
            <a:ext cx="2615184"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HASIL NYATA Q2 2026</a:t>
            </a:r>
          </a:p>
          <a:p>
            <a:pPr algn="ctr">
              <a:defRPr sz="1550" b="1">
                <a:solidFill>
                  <a:srgbClr val="2E7D32"/>
                </a:solidFill>
                <a:latin typeface="Arial"/>
              </a:defRPr>
            </a:pPr>
            <a:r>
              <a:t>3,33%</a:t>
            </a:r>
          </a:p>
          <a:p>
            <a:pPr algn="ctr">
              <a:defRPr sz="750">
                <a:solidFill>
                  <a:srgbClr val="2A2A3D"/>
                </a:solidFill>
                <a:latin typeface="Arial"/>
              </a:defRPr>
            </a:pPr>
            <a:r>
              <a:t>Turun -1,28 pp (210% dari target awal)</a:t>
            </a:r>
          </a:p>
        </p:txBody>
      </p:sp>
      <p:sp>
        <p:nvSpPr>
          <p:cNvPr id="11" name="Rectangle 10"/>
          <p:cNvSpPr/>
          <p:nvPr/>
        </p:nvSpPr>
        <p:spPr>
          <a:xfrm>
            <a:off x="3374136"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SIMULASI TARGET TAHAP 1*</a:t>
            </a:r>
          </a:p>
          <a:p>
            <a:pPr algn="ctr">
              <a:defRPr sz="1550" b="1">
                <a:solidFill>
                  <a:srgbClr val="6A2CC9"/>
                </a:solidFill>
                <a:latin typeface="Arial"/>
              </a:defRPr>
            </a:pPr>
            <a:r>
              <a:t>Rp 3,25 Miliar*</a:t>
            </a:r>
          </a:p>
          <a:p>
            <a:pPr algn="ctr">
              <a:defRPr sz="750">
                <a:solidFill>
                  <a:srgbClr val="2A2A3D"/>
                </a:solidFill>
                <a:latin typeface="Arial"/>
              </a:defRPr>
            </a:pPr>
            <a:r>
              <a:t>Penyelamatan 1.083.585 LK/tahun (Estimasi)</a:t>
            </a:r>
          </a:p>
        </p:txBody>
      </p:sp>
      <p:sp>
        <p:nvSpPr>
          <p:cNvPr id="13" name="Rectangle 12"/>
          <p:cNvSpPr/>
          <p:nvPr/>
        </p:nvSpPr>
        <p:spPr>
          <a:xfrm>
            <a:off x="6199632"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SIMULASI EFISIENSI TAHUNAN*</a:t>
            </a:r>
          </a:p>
          <a:p>
            <a:pPr algn="ctr">
              <a:defRPr sz="1550" b="1">
                <a:solidFill>
                  <a:srgbClr val="2E7D32"/>
                </a:solidFill>
                <a:latin typeface="Arial"/>
              </a:defRPr>
            </a:pPr>
            <a:r>
              <a:t>Rp 6,82 Miliar*</a:t>
            </a:r>
          </a:p>
          <a:p>
            <a:pPr algn="ctr">
              <a:defRPr sz="750">
                <a:solidFill>
                  <a:srgbClr val="2A2A3D"/>
                </a:solidFill>
                <a:latin typeface="Arial"/>
              </a:defRPr>
            </a:pPr>
            <a:r>
              <a:t>Penyelamatan 2.273.752 LK/tahun (Estimasi)</a:t>
            </a:r>
          </a:p>
        </p:txBody>
      </p:sp>
      <p:sp>
        <p:nvSpPr>
          <p:cNvPr id="15" name="Rectangle 14"/>
          <p:cNvSpPr/>
          <p:nvPr/>
        </p:nvSpPr>
        <p:spPr>
          <a:xfrm>
            <a:off x="9025128"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39496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UJI COBA LAPANGAN (MVP) &amp; STANDAR KERJA RESMI (SOP)</a:t>
            </a:r>
          </a:p>
        </p:txBody>
      </p:sp>
      <p:sp>
        <p:nvSpPr>
          <p:cNvPr id="17" name="Rounded Rectangle 16"/>
          <p:cNvSpPr/>
          <p:nvPr/>
        </p:nvSpPr>
        <p:spPr>
          <a:xfrm>
            <a:off x="548640" y="3127248"/>
            <a:ext cx="539496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3200400"/>
            <a:ext cx="5175504" cy="1261872"/>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54864" lIns="73152" rIns="73152"/>
          <a:lstStyle/>
          <a:p>
            <a:pPr algn="ctr">
              <a:defRPr sz="819" b="1">
                <a:solidFill>
                  <a:srgbClr val="20288F"/>
                </a:solidFill>
                <a:latin typeface="Arial"/>
              </a:defRPr>
            </a:pPr>
            <a:r>
              <a:t>DUKUNGAN PIMPINAN &amp; LINGKUP UJI COBA</a:t>
            </a:r>
          </a:p>
          <a:p>
            <a:r>
              <a:rPr b="1" sz="730">
                <a:solidFill>
                  <a:srgbClr val="20288F"/>
                </a:solidFill>
              </a:rPr>
              <a:t>• Pembina &amp; Fasilitator: </a:t>
            </a:r>
            <a:r>
              <a:rPr sz="730">
                <a:solidFill>
                  <a:srgbClr val="2A2A3D"/>
                </a:solidFill>
              </a:rPr>
              <a:t>Didukung dan difasilitasi langsung oleh Kepala Departemen SBU High Security Solution bersama Kepala Seksi Cetak Pita Cukai.</a:t>
            </a:r>
          </a:p>
          <a:p>
            <a:r>
              <a:rPr b="1" sz="730">
                <a:solidFill>
                  <a:srgbClr val="20288F"/>
                </a:solidFill>
              </a:rPr>
              <a:t>• Lokasi &amp; Mesin: </a:t>
            </a:r>
            <a:r>
              <a:rPr sz="730">
                <a:solidFill>
                  <a:srgbClr val="2A2A3D"/>
                </a:solidFill>
              </a:rPr>
              <a:t>Dijalankan pada 6 mesin cetak utama (4 Komori: KMR 1–4, 2 Ryobi: RYB 1–2) + 3 GTO, 3 shift non-stop 24 jam, melibatkan ±42 operator di Karawang.</a:t>
            </a:r>
          </a:p>
        </p:txBody>
      </p:sp>
      <p:sp>
        <p:nvSpPr>
          <p:cNvPr id="19" name="Rounded Rectangle 18"/>
          <p:cNvSpPr/>
          <p:nvPr/>
        </p:nvSpPr>
        <p:spPr>
          <a:xfrm>
            <a:off x="658368" y="4535424"/>
            <a:ext cx="5175504" cy="1280160"/>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54864" lIns="73152" rIns="73152"/>
          <a:lstStyle/>
          <a:p>
            <a:pPr algn="ctr">
              <a:defRPr sz="819" b="1">
                <a:solidFill>
                  <a:srgbClr val="6A2CC9"/>
                </a:solidFill>
                <a:latin typeface="Arial"/>
              </a:defRPr>
            </a:pPr>
            <a:r>
              <a:t>DIKUNCI JADI 3 STANDAR OPERASIONAL RESMI PERUSAHAAN</a:t>
            </a:r>
          </a:p>
          <a:p>
            <a:r>
              <a:rPr b="1" sz="710">
                <a:solidFill>
                  <a:srgbClr val="6A2CC9"/>
                </a:solidFill>
              </a:rPr>
              <a:t>• IK-PPC-2026-001: </a:t>
            </a:r>
            <a:r>
              <a:rPr sz="710">
                <a:solidFill>
                  <a:srgbClr val="2A2A3D"/>
                </a:solidFill>
              </a:rPr>
              <a:t>Panduan resmi operator mengisi konfirmasi nomor PO di komputer meja mesin.</a:t>
            </a:r>
          </a:p>
          <a:p>
            <a:r>
              <a:rPr b="1" sz="710">
                <a:solidFill>
                  <a:srgbClr val="6A2CC9"/>
                </a:solidFill>
              </a:rPr>
              <a:t>• SOP-PPC-2026-004: </a:t>
            </a:r>
            <a:r>
              <a:rPr sz="710">
                <a:solidFill>
                  <a:srgbClr val="2A2A3D"/>
                </a:solidFill>
              </a:rPr>
              <a:t>Prosedur teknisi memeriksa dasbor cacat SIRINE sebelum membongkar mesin.</a:t>
            </a:r>
          </a:p>
          <a:p>
            <a:r>
              <a:rPr b="1" sz="710">
                <a:solidFill>
                  <a:srgbClr val="6A2CC9"/>
                </a:solidFill>
              </a:rPr>
              <a:t>• BA-PPC-2026-002: </a:t>
            </a:r>
            <a:r>
              <a:rPr sz="710">
                <a:solidFill>
                  <a:srgbClr val="2A2A3D"/>
                </a:solidFill>
              </a:rPr>
              <a:t>Berita acara penarikan total buku folio fisik per 1 Januari 2026 (tanpa kerja ganda).</a:t>
            </a:r>
          </a:p>
          <a:p>
            <a:r>
              <a:rPr b="1" sz="710">
                <a:solidFill>
                  <a:srgbClr val="6A2CC9"/>
                </a:solidFill>
              </a:rPr>
              <a:t>• Standar Mutu: </a:t>
            </a:r>
            <a:r>
              <a:rPr sz="710">
                <a:solidFill>
                  <a:srgbClr val="2A2A3D"/>
                </a:solidFill>
              </a:rPr>
              <a:t>Memenuhi ISO 9001:2015 (pelacakan order &amp; analisa data) dan INDI 4.0 BUMN.</a:t>
            </a:r>
          </a:p>
        </p:txBody>
      </p:sp>
      <p:sp>
        <p:nvSpPr>
          <p:cNvPr id="20" name="Rectangle 19"/>
          <p:cNvSpPr/>
          <p:nvPr/>
        </p:nvSpPr>
        <p:spPr>
          <a:xfrm>
            <a:off x="6199632" y="2816352"/>
            <a:ext cx="5440680"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SIMULASI FINANSIAL PENGHEMATAN BIAYA (COST AVOIDANCE)</a:t>
            </a:r>
          </a:p>
        </p:txBody>
      </p:sp>
      <p:sp>
        <p:nvSpPr>
          <p:cNvPr id="21" name="Rounded Rectangle 20"/>
          <p:cNvSpPr/>
          <p:nvPr/>
        </p:nvSpPr>
        <p:spPr>
          <a:xfrm>
            <a:off x="6199632" y="3127248"/>
            <a:ext cx="5440680"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309360" y="3200400"/>
            <a:ext cx="5221224" cy="822960"/>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6A2CC9"/>
                </a:solidFill>
                <a:latin typeface="Arial"/>
              </a:defRPr>
            </a:pPr>
            <a:r>
              <a:t>ASUMSI OPERASIONAL &amp; ESTIMASI BIAYA (TERBUKA)</a:t>
            </a:r>
          </a:p>
          <a:p>
            <a:r>
              <a:rPr b="1" sz="700">
                <a:solidFill>
                  <a:srgbClr val="6A2CC9"/>
                </a:solidFill>
              </a:rPr>
              <a:t>• Volume Order Tahun 2025 (Riil): </a:t>
            </a:r>
            <a:r>
              <a:rPr sz="700">
                <a:solidFill>
                  <a:srgbClr val="2A2A3D"/>
                </a:solidFill>
              </a:rPr>
              <a:t>177.636.930 Lembar Cetak (data resmi SAP ZPPRSIPPC0012).</a:t>
            </a:r>
          </a:p>
          <a:p>
            <a:r>
              <a:rPr b="1" sz="700">
                <a:solidFill>
                  <a:srgbClr val="6A2CC9"/>
                </a:solidFill>
              </a:rPr>
              <a:t>• Kerusakan Baseline 2025 (Riil): </a:t>
            </a:r>
            <a:r>
              <a:rPr sz="700">
                <a:solidFill>
                  <a:srgbClr val="2A2A3D"/>
                </a:solidFill>
              </a:rPr>
              <a:t>4,61% (8.189.062 lembar rusak = simulasi risiko Rp 24,56 Miliar/tahun*).</a:t>
            </a:r>
          </a:p>
          <a:p>
            <a:r>
              <a:rPr b="1" sz="700">
                <a:solidFill>
                  <a:srgbClr val="6A2CC9"/>
                </a:solidFill>
              </a:rPr>
              <a:t>• Estimasi Biaya Cetak per Lembar: </a:t>
            </a:r>
            <a:r>
              <a:rPr sz="700">
                <a:solidFill>
                  <a:srgbClr val="2A2A3D"/>
                </a:solidFill>
              </a:rPr>
              <a:t>Rp 3.000 / LK* (Estimasi internal kertas sekuriti, tinta UV, jam mesin, SDM).</a:t>
            </a:r>
          </a:p>
        </p:txBody>
      </p:sp>
      <p:sp>
        <p:nvSpPr>
          <p:cNvPr id="23" name="Rounded Rectangle 22"/>
          <p:cNvSpPr/>
          <p:nvPr/>
        </p:nvSpPr>
        <p:spPr>
          <a:xfrm>
            <a:off x="6309360" y="4078224"/>
            <a:ext cx="5221224" cy="1737360"/>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800" b="1">
                <a:solidFill>
                  <a:srgbClr val="2E7D32"/>
                </a:solidFill>
                <a:latin typeface="Arial"/>
              </a:defRPr>
            </a:pPr>
            <a:r>
              <a:t>SIMULASI POTENSI PENGHEMATAN BIAYA DARI PENURUNAN CACAT</a:t>
            </a:r>
          </a:p>
          <a:p>
            <a:pPr>
              <a:defRPr b="1" sz="700">
                <a:solidFill>
                  <a:srgbClr val="1B5E20"/>
                </a:solidFill>
              </a:defRPr>
            </a:pPr>
            <a:r>
              <a:t>1. Target Awal Tahap 1 (Inschiet &lt; 4,00% / Turun 0,61 pp):</a:t>
            </a:r>
          </a:p>
          <a:p>
            <a:pPr>
              <a:defRPr sz="690">
                <a:solidFill>
                  <a:srgbClr val="2A2A3D"/>
                </a:solidFill>
              </a:defRPr>
            </a:pPr>
            <a:r>
              <a:t>   ➔ 177.636.930 LK × 0,61% = 1.083.585 LK diselamatkan × estimasi Rp 3.000 = Rp 3,25 Miliar / Tahun*</a:t>
            </a:r>
          </a:p>
          <a:p>
            <a:pPr>
              <a:defRPr b="1" sz="700">
                <a:solidFill>
                  <a:srgbClr val="1B5E20"/>
                </a:solidFill>
              </a:defRPr>
            </a:pPr>
            <a:r>
              <a:t>2. Realisasi Penuh Q2 2026 (Inschiet 3,33% / Turun 1,28 pp):</a:t>
            </a:r>
          </a:p>
          <a:p>
            <a:pPr>
              <a:defRPr sz="690">
                <a:solidFill>
                  <a:srgbClr val="2A2A3D"/>
                </a:solidFill>
              </a:defRPr>
            </a:pPr>
            <a:r>
              <a:t>   ➔ 177.636.930 LK × 1,28% = 2.273.752 LK diselamatkan × estimasi Rp 3.000 = Rp 6,82 Miliar / Tahun*</a:t>
            </a:r>
          </a:p>
          <a:p>
            <a:pPr>
              <a:defRPr b="1" sz="700">
                <a:solidFill>
                  <a:srgbClr val="1B5E20"/>
                </a:solidFill>
              </a:defRPr>
            </a:pPr>
            <a:r>
              <a:t>3. Penghematan Fisik Nyata Semester 1 2026 (103,3 Juta Lembar Cetak):</a:t>
            </a:r>
          </a:p>
          <a:p>
            <a:pPr>
              <a:defRPr sz="690">
                <a:solidFill>
                  <a:srgbClr val="2A2A3D"/>
                </a:solidFill>
              </a:defRPr>
            </a:pPr>
            <a:r>
              <a:t>   ➔ Penyelamatan riil 743.234 LK diselamatkan × estimasi Rp 3.000 = Rp 2,23 Miliar* (6 Bulan Pertama)</a:t>
            </a:r>
          </a:p>
        </p:txBody>
      </p:sp>
      <p:sp>
        <p:nvSpPr>
          <p:cNvPr id="24" name="Rounded Rectangle 23"/>
          <p:cNvSpPr/>
          <p:nvPr/>
        </p:nvSpPr>
        <p:spPr>
          <a:xfrm>
            <a:off x="548640" y="5961888"/>
            <a:ext cx="11091672" cy="402336"/>
          </a:xfrm>
          <a:prstGeom prst="roundRect">
            <a:avLst/>
          </a:prstGeom>
          <a:solidFill>
            <a:srgbClr val="FFF9E6"/>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r>
              <a:rPr sz="710" b="1">
                <a:solidFill>
                  <a:srgbClr val="E65100"/>
                </a:solidFill>
                <a:latin typeface="Arial"/>
              </a:rPr>
              <a:t>*Catatan Penting Asumsi Finansial (Confidentiality Protection): </a:t>
            </a:r>
            <a:r>
              <a:rPr sz="710">
                <a:solidFill>
                  <a:srgbClr val="2A2A3D"/>
                </a:solidFill>
                <a:latin typeface="Arial"/>
              </a:rPr>
              <a:t>Angka Rp 3.000/lembar adalah ESTIMASI INTERNAL biaya cetak semata-mata untuk model simulasi dampak efisiensi (cost avoidance), BUKAN rincian Biaya Pokok Produksi (HPP) riil atau harga jual resmi produk pita cukai yang bersifat rahasia perusahaan.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6"/>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05.1</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400" b="1">
                <a:solidFill>
                  <a:srgbClr val="20288F"/>
                </a:solidFill>
                <a:latin typeface="Arial"/>
              </a:defRPr>
            </a:pPr>
            <a:r>
              <a:t>Implementasi: Lingkup Uji Coba Lapangan, Peran Tim &amp; Penanganan Kendala</a:t>
            </a:r>
          </a:p>
        </p:txBody>
      </p:sp>
      <p:sp>
        <p:nvSpPr>
          <p:cNvPr id="6" name="TextBox 5"/>
          <p:cNvSpPr txBox="1"/>
          <p:nvPr/>
        </p:nvSpPr>
        <p:spPr>
          <a:xfrm>
            <a:off x="548640" y="1353312"/>
            <a:ext cx="10789920" cy="347472"/>
          </a:xfrm>
          <a:prstGeom prst="rect">
            <a:avLst/>
          </a:prstGeom>
          <a:noFill/>
        </p:spPr>
        <p:txBody>
          <a:bodyPr wrap="square" tIns="0" bIns="0" lIns="0" rIns="0">
            <a:spAutoFit/>
          </a:bodyPr>
          <a:lstStyle/>
          <a:p>
            <a:r>
              <a:rPr sz="1150" b="1">
                <a:solidFill>
                  <a:srgbClr val="6A2CC9"/>
                </a:solidFill>
                <a:latin typeface="Arial"/>
              </a:rPr>
              <a:t>Tujuan bagian ini:  </a:t>
            </a:r>
            <a:r>
              <a:rPr sz="1150">
                <a:solidFill>
                  <a:srgbClr val="2A2A3D"/>
                </a:solidFill>
                <a:latin typeface="Arial"/>
              </a:rPr>
              <a:t>Buktikan solusi benar-benar dijalankan di lini produksi riil dengan pembagian peran terstruktur dan penyelesaian kendala yang adaptif.</a:t>
            </a:r>
          </a:p>
        </p:txBody>
      </p:sp>
      <p:sp>
        <p:nvSpPr>
          <p:cNvPr id="7" name="TextBox 6"/>
          <p:cNvSpPr txBox="1"/>
          <p:nvPr/>
        </p:nvSpPr>
        <p:spPr>
          <a:xfrm>
            <a:off x="548640" y="6419088"/>
            <a:ext cx="11091672" cy="219456"/>
          </a:xfrm>
          <a:prstGeom prst="rect">
            <a:avLst/>
          </a:prstGeom>
          <a:noFill/>
        </p:spPr>
        <p:txBody>
          <a:bodyPr wrap="none" tIns="0" b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LINGKUP LINI CETAK (MVP)</a:t>
            </a:r>
          </a:p>
          <a:p>
            <a:pPr algn="ctr">
              <a:defRPr sz="1550" b="1">
                <a:solidFill>
                  <a:srgbClr val="6A2CC9"/>
                </a:solidFill>
                <a:latin typeface="Arial"/>
              </a:defRPr>
            </a:pPr>
            <a:r>
              <a:t>6 Mesin Utama</a:t>
            </a:r>
          </a:p>
          <a:p>
            <a:pPr algn="ctr">
              <a:defRPr sz="750">
                <a:solidFill>
                  <a:srgbClr val="2A2A3D"/>
                </a:solidFill>
                <a:latin typeface="Arial"/>
              </a:defRPr>
            </a:pPr>
            <a:r>
              <a:t>4 Komori (KMR 1–4) &amp; 2 Ryobi (RYB 1–2) + 3 GTO</a:t>
            </a:r>
          </a:p>
        </p:txBody>
      </p:sp>
      <p:sp>
        <p:nvSpPr>
          <p:cNvPr id="9" name="Rectangle 8"/>
          <p:cNvSpPr/>
          <p:nvPr/>
        </p:nvSpPr>
        <p:spPr>
          <a:xfrm>
            <a:off x="548640"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0288F"/>
                </a:solidFill>
                <a:latin typeface="Arial"/>
              </a:defRPr>
            </a:pPr>
            <a:r>
              <a:t>POLA KERJA &amp; SDM TERLIBAT</a:t>
            </a:r>
          </a:p>
          <a:p>
            <a:pPr algn="ctr">
              <a:defRPr sz="1550" b="1">
                <a:solidFill>
                  <a:srgbClr val="20288F"/>
                </a:solidFill>
                <a:latin typeface="Arial"/>
              </a:defRPr>
            </a:pPr>
            <a:r>
              <a:t>3 Gilir (24 Jam)</a:t>
            </a:r>
          </a:p>
          <a:p>
            <a:pPr algn="ctr">
              <a:defRPr sz="750">
                <a:solidFill>
                  <a:srgbClr val="2A2A3D"/>
                </a:solidFill>
                <a:latin typeface="Arial"/>
              </a:defRPr>
            </a:pPr>
            <a:r>
              <a:t>±42 Operator Cetak &amp; Kepala Kelompok Non-stop</a:t>
            </a:r>
          </a:p>
        </p:txBody>
      </p:sp>
      <p:sp>
        <p:nvSpPr>
          <p:cNvPr id="11" name="Rectangle 10"/>
          <p:cNvSpPr/>
          <p:nvPr/>
        </p:nvSpPr>
        <p:spPr>
          <a:xfrm>
            <a:off x="3374136"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SAMPEL PENGUJIAN S1 2026</a:t>
            </a:r>
          </a:p>
          <a:p>
            <a:pPr algn="ctr">
              <a:defRPr sz="1550" b="1">
                <a:solidFill>
                  <a:srgbClr val="2E7D32"/>
                </a:solidFill>
                <a:latin typeface="Arial"/>
              </a:defRPr>
            </a:pPr>
            <a:r>
              <a:t>103,3 Juta LK</a:t>
            </a:r>
          </a:p>
          <a:p>
            <a:pPr algn="ctr">
              <a:defRPr sz="750">
                <a:solidFill>
                  <a:srgbClr val="2A2A3D"/>
                </a:solidFill>
                <a:latin typeface="Arial"/>
              </a:defRPr>
            </a:pPr>
            <a:r>
              <a:t>Q1: 57,38 Jt Lembar | Q2: 45,96 Jt Lembar Cetak</a:t>
            </a:r>
          </a:p>
        </p:txBody>
      </p:sp>
      <p:sp>
        <p:nvSpPr>
          <p:cNvPr id="13" name="Rectangle 12"/>
          <p:cNvSpPr/>
          <p:nvPr/>
        </p:nvSpPr>
        <p:spPr>
          <a:xfrm>
            <a:off x="6199632"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KEPATUHAN INPUT DIGITAL</a:t>
            </a:r>
          </a:p>
          <a:p>
            <a:pPr algn="ctr">
              <a:defRPr sz="1550" b="1">
                <a:solidFill>
                  <a:srgbClr val="2E7D32"/>
                </a:solidFill>
                <a:latin typeface="Arial"/>
              </a:defRPr>
            </a:pPr>
            <a:r>
              <a:t>100% PO Terekam</a:t>
            </a:r>
          </a:p>
          <a:p>
            <a:pPr algn="ctr">
              <a:defRPr sz="750">
                <a:solidFill>
                  <a:srgbClr val="2A2A3D"/>
                </a:solidFill>
                <a:latin typeface="Arial"/>
              </a:defRPr>
            </a:pPr>
            <a:r>
              <a:t>Penarikan Buku Folio per 1 Jan 2026 (BA-002)</a:t>
            </a:r>
          </a:p>
        </p:txBody>
      </p:sp>
      <p:sp>
        <p:nvSpPr>
          <p:cNvPr id="15" name="Rectangle 14"/>
          <p:cNvSpPr/>
          <p:nvPr/>
        </p:nvSpPr>
        <p:spPr>
          <a:xfrm>
            <a:off x="9025128"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39496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LINGKUP PENGUJIAN LAPANGAN &amp; STRUKTUR PERAN (PIC)</a:t>
            </a:r>
          </a:p>
        </p:txBody>
      </p:sp>
      <p:sp>
        <p:nvSpPr>
          <p:cNvPr id="17" name="Rounded Rectangle 16"/>
          <p:cNvSpPr/>
          <p:nvPr/>
        </p:nvSpPr>
        <p:spPr>
          <a:xfrm>
            <a:off x="548640" y="3127248"/>
            <a:ext cx="539496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3200400"/>
            <a:ext cx="5175504" cy="1188720"/>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54864" lIns="73152" rIns="73152"/>
          <a:lstStyle/>
          <a:p>
            <a:pPr algn="ctr">
              <a:defRPr sz="819" b="1">
                <a:solidFill>
                  <a:srgbClr val="20288F"/>
                </a:solidFill>
                <a:latin typeface="Arial"/>
              </a:defRPr>
            </a:pPr>
            <a:r>
              <a:t>PARAMETER LOKASI, SARANA &amp; PERIODE UJI COBA</a:t>
            </a:r>
          </a:p>
          <a:p>
            <a:r>
              <a:rPr b="1" sz="720">
                <a:solidFill>
                  <a:srgbClr val="20288F"/>
                </a:solidFill>
              </a:rPr>
              <a:t>• Lokasi &amp; Sarana: </a:t>
            </a:r>
            <a:r>
              <a:rPr sz="720">
                <a:solidFill>
                  <a:srgbClr val="2A2A3D"/>
                </a:solidFill>
              </a:rPr>
              <a:t>Gedung Cetak Sekuriti Karawang (Unit Cetak Pita Cukai). Memanfaatkan PC meja kontrol mesin &amp; intranet internal Peruri (Rp 0 biaya lisensi/alat).</a:t>
            </a:r>
          </a:p>
          <a:p>
            <a:r>
              <a:rPr b="1" sz="720">
                <a:solidFill>
                  <a:srgbClr val="20288F"/>
                </a:solidFill>
              </a:rPr>
              <a:t>• Linimasa Pengujian: </a:t>
            </a:r>
            <a:r>
              <a:rPr sz="720">
                <a:solidFill>
                  <a:srgbClr val="2A2A3D"/>
                </a:solidFill>
              </a:rPr>
              <a:t>Nov–Des 2025 (Sosialisasi &amp; IK) ➔ 1–2 Jan 2026 (Go-Live &amp; Tarik Buku Folio) ➔ Jan–Mar 2026 (Fase 1 MVP / Adaptasi) ➔ Apr–Jun 2026 (Fase 2 Preskriptif Penuh).</a:t>
            </a:r>
          </a:p>
        </p:txBody>
      </p:sp>
      <p:sp>
        <p:nvSpPr>
          <p:cNvPr id="19" name="Rounded Rectangle 18"/>
          <p:cNvSpPr/>
          <p:nvPr/>
        </p:nvSpPr>
        <p:spPr>
          <a:xfrm>
            <a:off x="658368" y="4462272"/>
            <a:ext cx="5175504" cy="1353312"/>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54864" lIns="73152" rIns="73152"/>
          <a:lstStyle/>
          <a:p>
            <a:pPr algn="ctr">
              <a:defRPr sz="819" b="1">
                <a:solidFill>
                  <a:srgbClr val="6A2CC9"/>
                </a:solidFill>
                <a:latin typeface="Arial"/>
              </a:defRPr>
            </a:pPr>
            <a:r>
              <a:t>MATRIKS TANGGUNG JAWAB &amp; STRUKTUR PERAN (PIC)</a:t>
            </a:r>
          </a:p>
          <a:p>
            <a:r>
              <a:rPr b="1" sz="710">
                <a:solidFill>
                  <a:srgbClr val="6A2CC9"/>
                </a:solidFill>
              </a:rPr>
              <a:t>• Pembina &amp; Fasilitator (Kadep SBU HSS &amp; Kasie Cetak): </a:t>
            </a:r>
            <a:r>
              <a:rPr sz="710">
                <a:solidFill>
                  <a:srgbClr val="2A2A3D"/>
                </a:solidFill>
              </a:rPr>
              <a:t>Menjamin wewenang lintas seksi (Cetak, Verifikasi, Perawatan) &amp; legalitas SOP.</a:t>
            </a:r>
          </a:p>
          <a:p>
            <a:r>
              <a:rPr b="1" sz="710">
                <a:solidFill>
                  <a:srgbClr val="6A2CC9"/>
                </a:solidFill>
              </a:rPr>
              <a:t>• Operator Meja Mesin (PIC Kelompok - ±42 Personel): </a:t>
            </a:r>
            <a:r>
              <a:rPr sz="710">
                <a:solidFill>
                  <a:srgbClr val="2A2A3D"/>
                </a:solidFill>
              </a:rPr>
              <a:t>Input data PO via form digital &lt; 30 detik seketika proses cetak selesai di mesin.</a:t>
            </a:r>
          </a:p>
          <a:p>
            <a:r>
              <a:rPr b="1" sz="710">
                <a:solidFill>
                  <a:srgbClr val="6A2CC9"/>
                </a:solidFill>
              </a:rPr>
              <a:t>• Kepala Kelompok (Pengawas Shift): </a:t>
            </a:r>
            <a:r>
              <a:rPr sz="710">
                <a:solidFill>
                  <a:srgbClr val="2A2A3D"/>
                </a:solidFill>
              </a:rPr>
              <a:t>Kelola jadwal gilir mingguan &amp; verifikasi kelengkapan data di akhir gilir kerja.</a:t>
            </a:r>
          </a:p>
          <a:p>
            <a:r>
              <a:rPr b="1" sz="710">
                <a:solidFill>
                  <a:srgbClr val="6A2CC9"/>
                </a:solidFill>
              </a:rPr>
              <a:t>• Kepala Unit &amp; Teknisi Mesin: </a:t>
            </a:r>
            <a:r>
              <a:rPr sz="710">
                <a:solidFill>
                  <a:srgbClr val="2A2A3D"/>
                </a:solidFill>
              </a:rPr>
              <a:t>Gunakan dasbor inschiet mesin untuk servis presisi &amp; bimbingan teknis shift.</a:t>
            </a:r>
          </a:p>
        </p:txBody>
      </p:sp>
      <p:sp>
        <p:nvSpPr>
          <p:cNvPr id="20" name="Rectangle 19"/>
          <p:cNvSpPr/>
          <p:nvPr/>
        </p:nvSpPr>
        <p:spPr>
          <a:xfrm>
            <a:off x="6199632" y="2816352"/>
            <a:ext cx="5440680"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KENDALA YANG DIHADAPI &amp; CARA PENANGGULANGANNYA</a:t>
            </a:r>
          </a:p>
        </p:txBody>
      </p:sp>
      <p:sp>
        <p:nvSpPr>
          <p:cNvPr id="21" name="Rounded Rectangle 20"/>
          <p:cNvSpPr/>
          <p:nvPr/>
        </p:nvSpPr>
        <p:spPr>
          <a:xfrm>
            <a:off x="6199632" y="3127248"/>
            <a:ext cx="5440680"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309360" y="3200400"/>
            <a:ext cx="5221224" cy="822960"/>
          </a:xfrm>
          <a:prstGeom prst="roundRect">
            <a:avLst/>
          </a:prstGeom>
          <a:solidFill>
            <a:srgbClr val="FFFFFF"/>
          </a:solidFill>
          <a:ln w="12700">
            <a:solidFill>
              <a:srgbClr val="FFCDD2"/>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C62828"/>
                </a:solidFill>
                <a:latin typeface="Arial"/>
              </a:defRPr>
            </a:pPr>
            <a:r>
              <a:t>KENDALA 1: RESISTENSI KEBIASAAN INPUT DI MEJA MESIN</a:t>
            </a:r>
          </a:p>
          <a:p>
            <a:r>
              <a:rPr b="1" sz="700">
                <a:solidFill>
                  <a:srgbClr val="C62828"/>
                </a:solidFill>
              </a:rPr>
              <a:t>• Masalah di Lapangan: </a:t>
            </a:r>
            <a:r>
              <a:rPr sz="700">
                <a:solidFill>
                  <a:srgbClr val="2A2A3D"/>
                </a:solidFill>
              </a:rPr>
              <a:t>Operator merasa terbebani input digital di PC saat mengawasi jalannya lembar cetak cepat.</a:t>
            </a:r>
          </a:p>
          <a:p>
            <a:r>
              <a:rPr b="1" sz="700">
                <a:solidFill>
                  <a:srgbClr val="2E7D32"/>
                </a:solidFill>
              </a:rPr>
              <a:t>• Cara Penanggulangan: </a:t>
            </a:r>
            <a:r>
              <a:rPr sz="700">
                <a:solidFill>
                  <a:srgbClr val="2A2A3D"/>
                </a:solidFill>
              </a:rPr>
              <a:t>Rancang Lean UX dengan Autofill otomatis data SAP &amp; regu (&lt; 30 detik) + shortcut Ctrl+S.</a:t>
            </a:r>
          </a:p>
        </p:txBody>
      </p:sp>
      <p:sp>
        <p:nvSpPr>
          <p:cNvPr id="23" name="Rounded Rectangle 22"/>
          <p:cNvSpPr/>
          <p:nvPr/>
        </p:nvSpPr>
        <p:spPr>
          <a:xfrm>
            <a:off x="6309360" y="4078224"/>
            <a:ext cx="5221224" cy="822960"/>
          </a:xfrm>
          <a:prstGeom prst="roundRect">
            <a:avLst/>
          </a:prstGeom>
          <a:solidFill>
            <a:srgbClr val="FFFFFF"/>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E65100"/>
                </a:solidFill>
                <a:latin typeface="Arial"/>
              </a:defRPr>
            </a:pPr>
            <a:r>
              <a:t>KENDALA 2: MASA ADAPTASI &amp; DISIPLIN INPUT PADA Q1 2026</a:t>
            </a:r>
          </a:p>
          <a:p>
            <a:r>
              <a:rPr b="1" sz="700">
                <a:solidFill>
                  <a:srgbClr val="E65100"/>
                </a:solidFill>
              </a:rPr>
              <a:t>• Masalah di Lapangan: </a:t>
            </a:r>
            <a:r>
              <a:rPr sz="700">
                <a:solidFill>
                  <a:srgbClr val="2A2A3D"/>
                </a:solidFill>
              </a:rPr>
              <a:t>Disiplin entri belum seragam di awal tahun; inschiet Q1 baru turun tipis ke 4,34% (-5,9%).</a:t>
            </a:r>
          </a:p>
          <a:p>
            <a:r>
              <a:rPr b="1" sz="700">
                <a:solidFill>
                  <a:srgbClr val="2E7D32"/>
                </a:solidFill>
              </a:rPr>
              <a:t>• Cara Penanggulangan: </a:t>
            </a:r>
            <a:r>
              <a:rPr sz="700">
                <a:solidFill>
                  <a:srgbClr val="2A2A3D"/>
                </a:solidFill>
              </a:rPr>
              <a:t>Daily coaching tiap gilir, verifikasi penutup shift oleh Kepala Kelompok, &amp; penegakan IK-001.</a:t>
            </a:r>
          </a:p>
        </p:txBody>
      </p:sp>
      <p:sp>
        <p:nvSpPr>
          <p:cNvPr id="24" name="Rounded Rectangle 23"/>
          <p:cNvSpPr/>
          <p:nvPr/>
        </p:nvSpPr>
        <p:spPr>
          <a:xfrm>
            <a:off x="6309360" y="4956048"/>
            <a:ext cx="5221224" cy="859536"/>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20288F"/>
                </a:solidFill>
                <a:latin typeface="Arial"/>
              </a:defRPr>
            </a:pPr>
            <a:r>
              <a:t>KENDALA 3: KEBIASAAN SERVIS MESIN SECARA ACAK/BERGILIR</a:t>
            </a:r>
          </a:p>
          <a:p>
            <a:r>
              <a:rPr b="1" sz="700">
                <a:solidFill>
                  <a:srgbClr val="20288F"/>
                </a:solidFill>
              </a:rPr>
              <a:t>• Masalah di Lapangan: </a:t>
            </a:r>
            <a:r>
              <a:rPr sz="700">
                <a:solidFill>
                  <a:srgbClr val="2A2A3D"/>
                </a:solidFill>
              </a:rPr>
              <a:t>Teknisi awalnya masih memeriksa 6 mesin bergilir saat ada laporan cacat umum.</a:t>
            </a:r>
          </a:p>
          <a:p>
            <a:r>
              <a:rPr b="1" sz="700">
                <a:solidFill>
                  <a:srgbClr val="2E7D32"/>
                </a:solidFill>
              </a:rPr>
              <a:t>• Cara Penanggulangan: </a:t>
            </a:r>
            <a:r>
              <a:rPr sz="700">
                <a:solidFill>
                  <a:srgbClr val="2A2A3D"/>
                </a:solidFill>
              </a:rPr>
              <a:t>Terapkan SOP-004: wajib cek Pareto modul cacat sebelum bongkar (downtime turun ke &lt; 2–4 jam).</a:t>
            </a:r>
          </a:p>
        </p:txBody>
      </p:sp>
      <p:sp>
        <p:nvSpPr>
          <p:cNvPr id="25" name="Rounded Rectangle 24"/>
          <p:cNvSpPr/>
          <p:nvPr/>
        </p:nvSpPr>
        <p:spPr>
          <a:xfrm>
            <a:off x="548640" y="5961888"/>
            <a:ext cx="11091672" cy="402336"/>
          </a:xfrm>
          <a:prstGeom prst="roundRect">
            <a:avLst/>
          </a:prstGeom>
          <a:solidFill>
            <a:srgbClr val="FFF9E6"/>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54864" lIns="109728" rIns="109728"/>
          <a:lstStyle/>
          <a:p>
            <a:pPr algn="ctr"/>
            <a:r>
              <a:rPr sz="750" b="1">
                <a:solidFill>
                  <a:srgbClr val="E65100"/>
                </a:solidFill>
                <a:latin typeface="Arial"/>
              </a:rPr>
              <a:t>• Prinsip Keberhasilan Lapangan: </a:t>
            </a:r>
            <a:r>
              <a:rPr sz="750">
                <a:solidFill>
                  <a:srgbClr val="2A2A3D"/>
                </a:solidFill>
                <a:latin typeface="Arial"/>
              </a:rPr>
              <a:t>Kendala diselesaikan bukan dengan instruksi birokratis, melainkan melalui penyederhanaan antarmuka (Lean UX &lt; 30 detik), kepastian standar kerja resmi (IK &amp; SOP), serta pendampingan langsung di setiap gilir kerja.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05.2</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400" b="1">
                <a:solidFill>
                  <a:srgbClr val="20288F"/>
                </a:solidFill>
                <a:latin typeface="Arial"/>
              </a:defRPr>
            </a:pPr>
            <a:r>
              <a:t>Implementasi: Validasi Data Before vs After &amp; Realisasi vs Rencana</a:t>
            </a:r>
          </a:p>
        </p:txBody>
      </p:sp>
      <p:sp>
        <p:nvSpPr>
          <p:cNvPr id="6" name="TextBox 5"/>
          <p:cNvSpPr txBox="1"/>
          <p:nvPr/>
        </p:nvSpPr>
        <p:spPr>
          <a:xfrm>
            <a:off x="548640" y="1353312"/>
            <a:ext cx="10789920" cy="347472"/>
          </a:xfrm>
          <a:prstGeom prst="rect">
            <a:avLst/>
          </a:prstGeom>
          <a:noFill/>
        </p:spPr>
        <p:txBody>
          <a:bodyPr wrap="square" tIns="0" bIns="0" lIns="0" rIns="0">
            <a:spAutoFit/>
          </a:bodyPr>
          <a:lstStyle/>
          <a:p>
            <a:r>
              <a:rPr sz="1150" b="1">
                <a:solidFill>
                  <a:srgbClr val="6A2CC9"/>
                </a:solidFill>
                <a:latin typeface="Arial"/>
              </a:rPr>
              <a:t>Tujuan bagian ini:  </a:t>
            </a:r>
            <a:r>
              <a:rPr sz="1150">
                <a:solidFill>
                  <a:srgbClr val="2A2A3D"/>
                </a:solidFill>
                <a:latin typeface="Arial"/>
              </a:rPr>
              <a:t>Sajikan bukti data Before vs After terverifikasi dengan jumlah sampel (n) dan perbandingan realisasi vs rencana target.</a:t>
            </a:r>
          </a:p>
        </p:txBody>
      </p:sp>
      <p:sp>
        <p:nvSpPr>
          <p:cNvPr id="7" name="TextBox 6"/>
          <p:cNvSpPr txBox="1"/>
          <p:nvPr/>
        </p:nvSpPr>
        <p:spPr>
          <a:xfrm>
            <a:off x="548640" y="6419088"/>
            <a:ext cx="11091672" cy="219456"/>
          </a:xfrm>
          <a:prstGeom prst="rect">
            <a:avLst/>
          </a:prstGeom>
          <a:noFill/>
        </p:spPr>
        <p:txBody>
          <a:bodyPr wrap="none" tIns="0" b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PENURUNAN INSCHIET (Q2 2026)</a:t>
            </a:r>
          </a:p>
          <a:p>
            <a:pPr algn="ctr">
              <a:defRPr sz="1550" b="1">
                <a:solidFill>
                  <a:srgbClr val="2E7D32"/>
                </a:solidFill>
                <a:latin typeface="Arial"/>
              </a:defRPr>
            </a:pPr>
            <a:r>
              <a:t>-1,28 pp (-27,8%)</a:t>
            </a:r>
          </a:p>
          <a:p>
            <a:pPr algn="ctr">
              <a:defRPr sz="750">
                <a:solidFill>
                  <a:srgbClr val="2A2A3D"/>
                </a:solidFill>
                <a:latin typeface="Arial"/>
              </a:defRPr>
            </a:pPr>
            <a:r>
              <a:t>Baseline 4,61% ➔ 3,33% (Sumber: SAP ZPPRSIPPC0012)</a:t>
            </a:r>
          </a:p>
        </p:txBody>
      </p:sp>
      <p:sp>
        <p:nvSpPr>
          <p:cNvPr id="9" name="Rectangle 8"/>
          <p:cNvSpPr/>
          <p:nvPr/>
        </p:nvSpPr>
        <p:spPr>
          <a:xfrm>
            <a:off x="548640"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WAKTU SERVIS PER MESIN</a:t>
            </a:r>
          </a:p>
          <a:p>
            <a:pPr algn="ctr">
              <a:defRPr sz="1550" b="1">
                <a:solidFill>
                  <a:srgbClr val="6A2CC9"/>
                </a:solidFill>
                <a:latin typeface="Arial"/>
              </a:defRPr>
            </a:pPr>
            <a:r>
              <a:t>&lt; 2–4 Jam</a:t>
            </a:r>
          </a:p>
          <a:p>
            <a:pPr algn="ctr">
              <a:defRPr sz="750">
                <a:solidFill>
                  <a:srgbClr val="2A2A3D"/>
                </a:solidFill>
                <a:latin typeface="Arial"/>
              </a:defRPr>
            </a:pPr>
            <a:r>
              <a:t>Pemeriksaan terpangkas ≥ 50%–75% (dari &gt; 8 Jam)</a:t>
            </a:r>
          </a:p>
        </p:txBody>
      </p:sp>
      <p:sp>
        <p:nvSpPr>
          <p:cNvPr id="11" name="Rectangle 10"/>
          <p:cNvSpPr/>
          <p:nvPr/>
        </p:nvSpPr>
        <p:spPr>
          <a:xfrm>
            <a:off x="3374136"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0288F"/>
                </a:solidFill>
                <a:latin typeface="Arial"/>
              </a:defRPr>
            </a:pPr>
            <a:r>
              <a:t>WAKTU REKAP EVALUASI HARIAN</a:t>
            </a:r>
          </a:p>
          <a:p>
            <a:pPr algn="ctr">
              <a:defRPr sz="1550" b="1">
                <a:solidFill>
                  <a:srgbClr val="20288F"/>
                </a:solidFill>
                <a:latin typeface="Arial"/>
              </a:defRPr>
            </a:pPr>
            <a:r>
              <a:t>0 Menit / Hari</a:t>
            </a:r>
          </a:p>
          <a:p>
            <a:pPr algn="ctr">
              <a:defRPr sz="750">
                <a:solidFill>
                  <a:srgbClr val="2A2A3D"/>
                </a:solidFill>
                <a:latin typeface="Arial"/>
              </a:defRPr>
            </a:pPr>
            <a:r>
              <a:t>Otomatis seketika (hemat ±45 menit/hari)</a:t>
            </a:r>
          </a:p>
        </p:txBody>
      </p:sp>
      <p:sp>
        <p:nvSpPr>
          <p:cNvPr id="13" name="Rectangle 12"/>
          <p:cNvSpPr/>
          <p:nvPr/>
        </p:nvSpPr>
        <p:spPr>
          <a:xfrm>
            <a:off x="6199632"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CAPAIAN TARGET MUTU FASE 1</a:t>
            </a:r>
          </a:p>
          <a:p>
            <a:pPr algn="ctr">
              <a:defRPr sz="1550" b="1">
                <a:solidFill>
                  <a:srgbClr val="2E7D32"/>
                </a:solidFill>
                <a:latin typeface="Arial"/>
              </a:defRPr>
            </a:pPr>
            <a:r>
              <a:t>210% Tercapai</a:t>
            </a:r>
          </a:p>
          <a:p>
            <a:pPr algn="ctr">
              <a:defRPr sz="750">
                <a:solidFill>
                  <a:srgbClr val="2A2A3D"/>
                </a:solidFill>
                <a:latin typeface="Arial"/>
              </a:defRPr>
            </a:pPr>
            <a:r>
              <a:t>Target &lt; 4,00% (-0,61 pp) terlampaui ke 3,33%</a:t>
            </a:r>
          </a:p>
        </p:txBody>
      </p:sp>
      <p:sp>
        <p:nvSpPr>
          <p:cNvPr id="15" name="Rectangle 14"/>
          <p:cNvSpPr/>
          <p:nvPr/>
        </p:nvSpPr>
        <p:spPr>
          <a:xfrm>
            <a:off x="9025128"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62356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VALIDASI DATA BEFORE VS AFTER (JUMLAH SAMPEL N LENGKAP)</a:t>
            </a:r>
          </a:p>
        </p:txBody>
      </p:sp>
      <p:sp>
        <p:nvSpPr>
          <p:cNvPr id="17" name="Rounded Rectangle 16"/>
          <p:cNvSpPr/>
          <p:nvPr/>
        </p:nvSpPr>
        <p:spPr>
          <a:xfrm>
            <a:off x="548640" y="3127248"/>
            <a:ext cx="562356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163824"/>
            <a:ext cx="5404104" cy="219456"/>
          </a:xfrm>
          <a:prstGeom prst="rect">
            <a:avLst/>
          </a:prstGeom>
          <a:noFill/>
        </p:spPr>
        <p:txBody>
          <a:bodyPr wrap="none" tIns="0" lIns="0">
            <a:spAutoFit/>
          </a:bodyPr>
          <a:lstStyle/>
          <a:p>
            <a:r>
              <a:rPr sz="750" b="1">
                <a:solidFill>
                  <a:srgbClr val="20288F"/>
                </a:solidFill>
                <a:latin typeface="Arial"/>
              </a:rPr>
              <a:t>Grafik Tren Inschiet: Baseline vs Target MVP vs Realisasi S1 2026 (%) </a:t>
            </a:r>
            <a:r>
              <a:rPr sz="680" i="1">
                <a:solidFill>
                  <a:srgbClr val="6E6E82"/>
                </a:solidFill>
                <a:latin typeface="Arial"/>
              </a:rPr>
              <a:t>— Sumber: SAP ZPPRSIPPC0012</a:t>
            </a:r>
          </a:p>
        </p:txBody>
      </p:sp>
      <p:graphicFrame>
        <p:nvGraphicFramePr>
          <p:cNvPr id="19" name="Chart 18"/>
          <p:cNvGraphicFramePr>
            <a:graphicFrameLocks noGrp="1"/>
          </p:cNvGraphicFramePr>
          <p:nvPr/>
        </p:nvGraphicFramePr>
        <p:xfrm>
          <a:off x="658368" y="3364992"/>
          <a:ext cx="5404104" cy="1188720"/>
        </p:xfrm>
        <a:graphic>
          <a:graphicData uri="http://schemas.openxmlformats.org/drawingml/2006/chart">
            <c:chart xmlns:c="http://schemas.openxmlformats.org/drawingml/2006/chart" r:id="rId6"/>
          </a:graphicData>
        </a:graphic>
      </p:graphicFrame>
      <p:graphicFrame>
        <p:nvGraphicFramePr>
          <p:cNvPr id="20" name="Table 19"/>
          <p:cNvGraphicFramePr>
            <a:graphicFrameLocks noGrp="1"/>
          </p:cNvGraphicFramePr>
          <p:nvPr/>
        </p:nvGraphicFramePr>
        <p:xfrm>
          <a:off x="658368" y="4590288"/>
          <a:ext cx="5404104" cy="1078992"/>
        </p:xfrm>
        <a:graphic>
          <a:graphicData uri="http://schemas.openxmlformats.org/drawingml/2006/table">
            <a:tbl>
              <a:tblPr firstRow="1" bandRow="1">
                <a:tableStyleId>{5C22544A-7EE6-4342-B048-85BDC9FD1C3A}</a:tableStyleId>
              </a:tblPr>
              <a:tblGrid>
                <a:gridCol w="1234440"/>
                <a:gridCol w="1188720"/>
                <a:gridCol w="1188720"/>
                <a:gridCol w="1792224"/>
              </a:tblGrid>
              <a:tr h="215798">
                <a:tc>
                  <a:txBody>
                    <a:bodyPr/>
                    <a:lstStyle/>
                    <a:p>
                      <a:pPr algn="l">
                        <a:defRPr sz="700" b="1">
                          <a:solidFill>
                            <a:srgbClr val="FFFFFF"/>
                          </a:solidFill>
                          <a:latin typeface="Arial"/>
                        </a:defRPr>
                      </a:pPr>
                      <a:r>
                        <a:t>Parameter Kinerja</a:t>
                      </a:r>
                    </a:p>
                  </a:txBody>
                  <a:tcPr anchor="ctr" marT="18288" marB="18288" marL="45720" marR="45720">
                    <a:solidFill>
                      <a:srgbClr val="20288F"/>
                    </a:solidFill>
                  </a:tcPr>
                </a:tc>
                <a:tc>
                  <a:txBody>
                    <a:bodyPr/>
                    <a:lstStyle/>
                    <a:p>
                      <a:pPr algn="ctr">
                        <a:defRPr sz="700" b="1">
                          <a:solidFill>
                            <a:srgbClr val="FFFFFF"/>
                          </a:solidFill>
                          <a:latin typeface="Arial"/>
                        </a:defRPr>
                      </a:pPr>
                      <a:r>
                        <a:t>Before (Pra-Inovasi)</a:t>
                      </a:r>
                    </a:p>
                  </a:txBody>
                  <a:tcPr anchor="ctr" marT="18288" marB="18288" marL="45720" marR="45720">
                    <a:solidFill>
                      <a:srgbClr val="20288F"/>
                    </a:solidFill>
                  </a:tcPr>
                </a:tc>
                <a:tc>
                  <a:txBody>
                    <a:bodyPr/>
                    <a:lstStyle/>
                    <a:p>
                      <a:pPr algn="ctr">
                        <a:defRPr sz="700" b="1">
                          <a:solidFill>
                            <a:srgbClr val="FFFFFF"/>
                          </a:solidFill>
                          <a:latin typeface="Arial"/>
                        </a:defRPr>
                      </a:pPr>
                      <a:r>
                        <a:t>After (DSS SIRINE 4.0)</a:t>
                      </a:r>
                    </a:p>
                  </a:txBody>
                  <a:tcPr anchor="ctr" marT="18288" marB="18288" marL="45720" marR="45720">
                    <a:solidFill>
                      <a:srgbClr val="20288F"/>
                    </a:solidFill>
                  </a:tcPr>
                </a:tc>
                <a:tc>
                  <a:txBody>
                    <a:bodyPr/>
                    <a:lstStyle/>
                    <a:p>
                      <a:pPr algn="ctr">
                        <a:defRPr sz="700" b="1">
                          <a:solidFill>
                            <a:srgbClr val="FFFFFF"/>
                          </a:solidFill>
                          <a:latin typeface="Arial"/>
                        </a:defRPr>
                      </a:pPr>
                      <a:r>
                        <a:t>Perubahan (Δ) &amp; Jumlah Data (n)</a:t>
                      </a:r>
                    </a:p>
                  </a:txBody>
                  <a:tcPr anchor="ctr" marT="18288" marB="18288" marL="45720" marR="45720">
                    <a:solidFill>
                      <a:srgbClr val="20288F"/>
                    </a:solidFill>
                  </a:tcPr>
                </a:tc>
              </a:tr>
              <a:tr h="215798">
                <a:tc>
                  <a:txBody>
                    <a:bodyPr/>
                    <a:lstStyle/>
                    <a:p>
                      <a:pPr algn="l">
                        <a:defRPr sz="680" b="1">
                          <a:solidFill>
                            <a:srgbClr val="1A237E"/>
                          </a:solidFill>
                          <a:latin typeface="Arial"/>
                        </a:defRPr>
                      </a:pPr>
                      <a:r>
                        <a:t>Tingkat Inschiet (%)</a:t>
                      </a:r>
                    </a:p>
                  </a:txBody>
                  <a:tcPr anchor="ctr" marT="18288" marB="18288" marL="45720" marR="45720">
                    <a:solidFill>
                      <a:srgbClr val="E8F5E9"/>
                    </a:solidFill>
                  </a:tcPr>
                </a:tc>
                <a:tc>
                  <a:txBody>
                    <a:bodyPr/>
                    <a:lstStyle/>
                    <a:p>
                      <a:pPr algn="ctr">
                        <a:defRPr sz="680" b="0">
                          <a:solidFill>
                            <a:srgbClr val="C62828"/>
                          </a:solidFill>
                          <a:latin typeface="Arial"/>
                        </a:defRPr>
                      </a:pPr>
                      <a:r>
                        <a:t>4,61% (Puncak: 5,11%)</a:t>
                      </a:r>
                    </a:p>
                  </a:txBody>
                  <a:tcPr anchor="ctr" marT="18288" marB="18288" marL="45720" marR="45720">
                    <a:solidFill>
                      <a:srgbClr val="E8F5E9"/>
                    </a:solidFill>
                  </a:tcPr>
                </a:tc>
                <a:tc>
                  <a:txBody>
                    <a:bodyPr/>
                    <a:lstStyle/>
                    <a:p>
                      <a:pPr algn="ctr">
                        <a:defRPr sz="680" b="1">
                          <a:solidFill>
                            <a:srgbClr val="2E7D32"/>
                          </a:solidFill>
                          <a:latin typeface="Arial"/>
                        </a:defRPr>
                      </a:pPr>
                      <a:r>
                        <a:t>3,33% (Q2 2026)</a:t>
                      </a:r>
                    </a:p>
                  </a:txBody>
                  <a:tcPr anchor="ctr" marT="18288" marB="18288" marL="45720" marR="45720">
                    <a:solidFill>
                      <a:srgbClr val="E8F5E9"/>
                    </a:solidFill>
                  </a:tcPr>
                </a:tc>
                <a:tc>
                  <a:txBody>
                    <a:bodyPr/>
                    <a:lstStyle/>
                    <a:p>
                      <a:pPr algn="l">
                        <a:defRPr sz="680" b="1">
                          <a:solidFill>
                            <a:srgbClr val="2E7D32"/>
                          </a:solidFill>
                          <a:latin typeface="Arial"/>
                        </a:defRPr>
                      </a:pPr>
                      <a:r>
                        <a:t>-1,28 pp (-27,8%) | n=177,6M ➔ 45,9M LK</a:t>
                      </a:r>
                    </a:p>
                  </a:txBody>
                  <a:tcPr anchor="ctr" marT="18288" marB="18288" marL="45720" marR="45720">
                    <a:solidFill>
                      <a:srgbClr val="E8F5E9"/>
                    </a:solidFill>
                  </a:tcPr>
                </a:tc>
              </a:tr>
              <a:tr h="215798">
                <a:tc>
                  <a:txBody>
                    <a:bodyPr/>
                    <a:lstStyle/>
                    <a:p>
                      <a:pPr algn="l">
                        <a:defRPr sz="680" b="1">
                          <a:solidFill>
                            <a:srgbClr val="1A237E"/>
                          </a:solidFill>
                          <a:latin typeface="Arial"/>
                        </a:defRPr>
                      </a:pPr>
                      <a:r>
                        <a:t>Downtime Servis Mesin</a:t>
                      </a:r>
                    </a:p>
                  </a:txBody>
                  <a:tcPr anchor="ctr" marT="18288" marB="18288" marL="45720" marR="45720">
                    <a:solidFill>
                      <a:srgbClr val="FFFFFF"/>
                    </a:solidFill>
                  </a:tcPr>
                </a:tc>
                <a:tc>
                  <a:txBody>
                    <a:bodyPr/>
                    <a:lstStyle/>
                    <a:p>
                      <a:pPr algn="ctr">
                        <a:defRPr sz="680" b="0">
                          <a:solidFill>
                            <a:srgbClr val="C62828"/>
                          </a:solidFill>
                          <a:latin typeface="Arial"/>
                        </a:defRPr>
                      </a:pPr>
                      <a:r>
                        <a:t>&gt; 8 Jam / Mesin</a:t>
                      </a:r>
                    </a:p>
                  </a:txBody>
                  <a:tcPr anchor="ctr" marT="18288" marB="18288" marL="45720" marR="45720">
                    <a:solidFill>
                      <a:srgbClr val="FFFFFF"/>
                    </a:solidFill>
                  </a:tcPr>
                </a:tc>
                <a:tc>
                  <a:txBody>
                    <a:bodyPr/>
                    <a:lstStyle/>
                    <a:p>
                      <a:pPr algn="ctr">
                        <a:defRPr sz="680" b="1">
                          <a:solidFill>
                            <a:srgbClr val="2E7D32"/>
                          </a:solidFill>
                          <a:latin typeface="Arial"/>
                        </a:defRPr>
                      </a:pPr>
                      <a:r>
                        <a:t>&lt; 2–4 Jam / Mesin</a:t>
                      </a:r>
                    </a:p>
                  </a:txBody>
                  <a:tcPr anchor="ctr" marT="18288" marB="18288" marL="45720" marR="45720">
                    <a:solidFill>
                      <a:srgbClr val="FFFFFF"/>
                    </a:solidFill>
                  </a:tcPr>
                </a:tc>
                <a:tc>
                  <a:txBody>
                    <a:bodyPr/>
                    <a:lstStyle/>
                    <a:p>
                      <a:pPr algn="l">
                        <a:defRPr sz="680" b="1">
                          <a:solidFill>
                            <a:srgbClr val="2E7D32"/>
                          </a:solidFill>
                          <a:latin typeface="Arial"/>
                        </a:defRPr>
                      </a:pPr>
                      <a:r>
                        <a:t>Turun ≥ 50%–75% | 6 Mesin Utama</a:t>
                      </a:r>
                    </a:p>
                  </a:txBody>
                  <a:tcPr anchor="ctr" marT="18288" marB="18288" marL="45720" marR="45720">
                    <a:solidFill>
                      <a:srgbClr val="FFFFFF"/>
                    </a:solidFill>
                  </a:tcPr>
                </a:tc>
              </a:tr>
              <a:tr h="215798">
                <a:tc>
                  <a:txBody>
                    <a:bodyPr/>
                    <a:lstStyle/>
                    <a:p>
                      <a:pPr algn="l">
                        <a:defRPr sz="680" b="1">
                          <a:solidFill>
                            <a:srgbClr val="1A237E"/>
                          </a:solidFill>
                          <a:latin typeface="Arial"/>
                        </a:defRPr>
                      </a:pPr>
                      <a:r>
                        <a:t>Waktu Rekap Evaluasi</a:t>
                      </a:r>
                    </a:p>
                  </a:txBody>
                  <a:tcPr anchor="ctr" marT="18288" marB="18288" marL="45720" marR="45720">
                    <a:solidFill>
                      <a:srgbClr val="E8F5E9"/>
                    </a:solidFill>
                  </a:tcPr>
                </a:tc>
                <a:tc>
                  <a:txBody>
                    <a:bodyPr/>
                    <a:lstStyle/>
                    <a:p>
                      <a:pPr algn="ctr">
                        <a:defRPr sz="680" b="0">
                          <a:solidFill>
                            <a:srgbClr val="2A2A3D"/>
                          </a:solidFill>
                          <a:latin typeface="Arial"/>
                        </a:defRPr>
                      </a:pPr>
                      <a:r>
                        <a:t>± 45 Menit / Hari</a:t>
                      </a:r>
                    </a:p>
                  </a:txBody>
                  <a:tcPr anchor="ctr" marT="18288" marB="18288" marL="45720" marR="45720">
                    <a:solidFill>
                      <a:srgbClr val="E8F5E9"/>
                    </a:solidFill>
                  </a:tcPr>
                </a:tc>
                <a:tc>
                  <a:txBody>
                    <a:bodyPr/>
                    <a:lstStyle/>
                    <a:p>
                      <a:pPr algn="ctr">
                        <a:defRPr sz="680" b="1">
                          <a:solidFill>
                            <a:srgbClr val="2E7D32"/>
                          </a:solidFill>
                          <a:latin typeface="Arial"/>
                        </a:defRPr>
                      </a:pPr>
                      <a:r>
                        <a:t>0 Menit (Otomatis)</a:t>
                      </a:r>
                    </a:p>
                  </a:txBody>
                  <a:tcPr anchor="ctr" marT="18288" marB="18288" marL="45720" marR="45720">
                    <a:solidFill>
                      <a:srgbClr val="E8F5E9"/>
                    </a:solidFill>
                  </a:tcPr>
                </a:tc>
                <a:tc>
                  <a:txBody>
                    <a:bodyPr/>
                    <a:lstStyle/>
                    <a:p>
                      <a:pPr algn="l">
                        <a:defRPr sz="680" b="1">
                          <a:solidFill>
                            <a:srgbClr val="2E7D32"/>
                          </a:solidFill>
                          <a:latin typeface="Arial"/>
                        </a:defRPr>
                      </a:pPr>
                      <a:r>
                        <a:t>Hemat 100% | Rekap Manual Hilang</a:t>
                      </a:r>
                    </a:p>
                  </a:txBody>
                  <a:tcPr anchor="ctr" marT="18288" marB="18288" marL="45720" marR="45720">
                    <a:solidFill>
                      <a:srgbClr val="E8F5E9"/>
                    </a:solidFill>
                  </a:tcPr>
                </a:tc>
              </a:tr>
              <a:tr h="215800">
                <a:tc>
                  <a:txBody>
                    <a:bodyPr/>
                    <a:lstStyle/>
                    <a:p>
                      <a:pPr algn="l">
                        <a:defRPr sz="680" b="1">
                          <a:solidFill>
                            <a:srgbClr val="1A237E"/>
                          </a:solidFill>
                          <a:latin typeface="Arial"/>
                        </a:defRPr>
                      </a:pPr>
                      <a:r>
                        <a:t>Input Data per PO</a:t>
                      </a:r>
                    </a:p>
                  </a:txBody>
                  <a:tcPr anchor="ctr" marT="18288" marB="18288" marL="45720" marR="45720">
                    <a:solidFill>
                      <a:srgbClr val="FFFFFF"/>
                    </a:solidFill>
                  </a:tcPr>
                </a:tc>
                <a:tc>
                  <a:txBody>
                    <a:bodyPr/>
                    <a:lstStyle/>
                    <a:p>
                      <a:pPr algn="ctr">
                        <a:defRPr sz="680" b="0">
                          <a:solidFill>
                            <a:srgbClr val="2A2A3D"/>
                          </a:solidFill>
                          <a:latin typeface="Arial"/>
                        </a:defRPr>
                      </a:pPr>
                      <a:r>
                        <a:t>± 3–5 Menit / PO</a:t>
                      </a:r>
                    </a:p>
                  </a:txBody>
                  <a:tcPr anchor="ctr" marT="18288" marB="18288" marL="45720" marR="45720">
                    <a:solidFill>
                      <a:srgbClr val="FFFFFF"/>
                    </a:solidFill>
                  </a:tcPr>
                </a:tc>
                <a:tc>
                  <a:txBody>
                    <a:bodyPr/>
                    <a:lstStyle/>
                    <a:p>
                      <a:pPr algn="ctr">
                        <a:defRPr sz="680" b="1">
                          <a:solidFill>
                            <a:srgbClr val="2E7D32"/>
                          </a:solidFill>
                          <a:latin typeface="Arial"/>
                        </a:defRPr>
                      </a:pPr>
                      <a:r>
                        <a:t>&lt; 30 Detik / PO</a:t>
                      </a:r>
                    </a:p>
                  </a:txBody>
                  <a:tcPr anchor="ctr" marT="18288" marB="18288" marL="45720" marR="45720">
                    <a:solidFill>
                      <a:srgbClr val="FFFFFF"/>
                    </a:solidFill>
                  </a:tcPr>
                </a:tc>
                <a:tc>
                  <a:txBody>
                    <a:bodyPr/>
                    <a:lstStyle/>
                    <a:p>
                      <a:pPr algn="l">
                        <a:defRPr sz="680" b="1">
                          <a:solidFill>
                            <a:srgbClr val="2E7D32"/>
                          </a:solidFill>
                          <a:latin typeface="Arial"/>
                        </a:defRPr>
                      </a:pPr>
                      <a:r>
                        <a:t>Hemat ≥ 85% | n = 100% Order PO</a:t>
                      </a:r>
                    </a:p>
                  </a:txBody>
                  <a:tcPr anchor="ctr" marT="18288" marB="18288" marL="45720" marR="45720">
                    <a:solidFill>
                      <a:srgbClr val="FFFFFF"/>
                    </a:solidFill>
                  </a:tcPr>
                </a:tc>
              </a:tr>
            </a:tbl>
          </a:graphicData>
        </a:graphic>
      </p:graphicFrame>
      <p:sp>
        <p:nvSpPr>
          <p:cNvPr id="21" name="TextBox 20"/>
          <p:cNvSpPr txBox="1"/>
          <p:nvPr/>
        </p:nvSpPr>
        <p:spPr>
          <a:xfrm>
            <a:off x="658368" y="5687568"/>
            <a:ext cx="5404104" cy="164592"/>
          </a:xfrm>
          <a:prstGeom prst="rect">
            <a:avLst/>
          </a:prstGeom>
          <a:noFill/>
        </p:spPr>
        <p:txBody>
          <a:bodyPr wrap="none" tIns="0" lIns="0">
            <a:spAutoFit/>
          </a:bodyPr>
          <a:lstStyle/>
          <a:p>
            <a:pPr>
              <a:defRPr sz="650" b="1">
                <a:solidFill>
                  <a:srgbClr val="1A237E"/>
                </a:solidFill>
                <a:latin typeface="Arial"/>
              </a:defRPr>
            </a:pPr>
            <a:r>
              <a:t>*(Sumber Data Terverifikasi: Modul SAP ZPPRSIPPC0012 &amp; Rekapitulasi Unit Verifikasi Mutu S1 2026)</a:t>
            </a:r>
          </a:p>
        </p:txBody>
      </p:sp>
      <p:sp>
        <p:nvSpPr>
          <p:cNvPr id="22" name="Rectangle 21"/>
          <p:cNvSpPr/>
          <p:nvPr/>
        </p:nvSpPr>
        <p:spPr>
          <a:xfrm>
            <a:off x="6309360" y="2816352"/>
            <a:ext cx="5330952"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PERBANDINGAN REALISASI VS RENCANA TARGET &amp; LINIMASA</a:t>
            </a:r>
          </a:p>
        </p:txBody>
      </p:sp>
      <p:sp>
        <p:nvSpPr>
          <p:cNvPr id="23" name="Rounded Rectangle 22"/>
          <p:cNvSpPr/>
          <p:nvPr/>
        </p:nvSpPr>
        <p:spPr>
          <a:xfrm>
            <a:off x="6309360" y="3127248"/>
            <a:ext cx="5330952"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400800" y="3182112"/>
            <a:ext cx="5148072" cy="1444752"/>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36576" lIns="54864"/>
          <a:lstStyle/>
          <a:p>
            <a:pPr algn="ctr">
              <a:defRPr sz="780" b="1">
                <a:solidFill>
                  <a:srgbClr val="6A2CC9"/>
                </a:solidFill>
                <a:latin typeface="Arial"/>
              </a:defRPr>
            </a:pPr>
            <a:r>
              <a:t>EVALUASI REALISASI VS TARGET SASARAN KINERJA (KPI)</a:t>
            </a:r>
          </a:p>
        </p:txBody>
      </p:sp>
      <p:graphicFrame>
        <p:nvGraphicFramePr>
          <p:cNvPr id="25" name="Table 24"/>
          <p:cNvGraphicFramePr>
            <a:graphicFrameLocks noGrp="1"/>
          </p:cNvGraphicFramePr>
          <p:nvPr/>
        </p:nvGraphicFramePr>
        <p:xfrm>
          <a:off x="6455664" y="3401568"/>
          <a:ext cx="5038344" cy="1170432"/>
        </p:xfrm>
        <a:graphic>
          <a:graphicData uri="http://schemas.openxmlformats.org/drawingml/2006/table">
            <a:tbl>
              <a:tblPr firstRow="1" bandRow="1">
                <a:tableStyleId>{5C22544A-7EE6-4342-B048-85BDC9FD1C3A}</a:tableStyleId>
              </a:tblPr>
              <a:tblGrid>
                <a:gridCol w="1234440"/>
                <a:gridCol w="1143000"/>
                <a:gridCol w="1234440"/>
                <a:gridCol w="1426464"/>
              </a:tblGrid>
              <a:tr h="234086">
                <a:tc>
                  <a:txBody>
                    <a:bodyPr/>
                    <a:lstStyle/>
                    <a:p>
                      <a:pPr algn="l">
                        <a:defRPr sz="700" b="1">
                          <a:solidFill>
                            <a:srgbClr val="FFFFFF"/>
                          </a:solidFill>
                          <a:latin typeface="Arial"/>
                        </a:defRPr>
                      </a:pPr>
                      <a:r>
                        <a:t>Indikator Kinerja</a:t>
                      </a:r>
                    </a:p>
                  </a:txBody>
                  <a:tcPr anchor="ctr" marT="18288" marB="18288" marL="45720" marR="45720">
                    <a:solidFill>
                      <a:srgbClr val="6A2CC9"/>
                    </a:solidFill>
                  </a:tcPr>
                </a:tc>
                <a:tc>
                  <a:txBody>
                    <a:bodyPr/>
                    <a:lstStyle/>
                    <a:p>
                      <a:pPr algn="ctr">
                        <a:defRPr sz="700" b="1">
                          <a:solidFill>
                            <a:srgbClr val="FFFFFF"/>
                          </a:solidFill>
                          <a:latin typeface="Arial"/>
                        </a:defRPr>
                      </a:pPr>
                      <a:r>
                        <a:t>Rencana Target</a:t>
                      </a:r>
                    </a:p>
                  </a:txBody>
                  <a:tcPr anchor="ctr" marT="18288" marB="18288" marL="45720" marR="45720">
                    <a:solidFill>
                      <a:srgbClr val="6A2CC9"/>
                    </a:solidFill>
                  </a:tcPr>
                </a:tc>
                <a:tc>
                  <a:txBody>
                    <a:bodyPr/>
                    <a:lstStyle/>
                    <a:p>
                      <a:pPr algn="ctr">
                        <a:defRPr sz="700" b="1">
                          <a:solidFill>
                            <a:srgbClr val="FFFFFF"/>
                          </a:solidFill>
                          <a:latin typeface="Arial"/>
                        </a:defRPr>
                      </a:pPr>
                      <a:r>
                        <a:t>Realisasi Aktual</a:t>
                      </a:r>
                    </a:p>
                  </a:txBody>
                  <a:tcPr anchor="ctr" marT="18288" marB="18288" marL="45720" marR="45720">
                    <a:solidFill>
                      <a:srgbClr val="6A2CC9"/>
                    </a:solidFill>
                  </a:tcPr>
                </a:tc>
                <a:tc>
                  <a:txBody>
                    <a:bodyPr/>
                    <a:lstStyle/>
                    <a:p>
                      <a:pPr algn="ctr">
                        <a:defRPr sz="700" b="1">
                          <a:solidFill>
                            <a:srgbClr val="FFFFFF"/>
                          </a:solidFill>
                          <a:latin typeface="Arial"/>
                        </a:defRPr>
                      </a:pPr>
                      <a:r>
                        <a:t>Status Capaian</a:t>
                      </a:r>
                    </a:p>
                  </a:txBody>
                  <a:tcPr anchor="ctr" marT="18288" marB="18288" marL="45720" marR="45720">
                    <a:solidFill>
                      <a:srgbClr val="6A2CC9"/>
                    </a:solidFill>
                  </a:tcPr>
                </a:tc>
              </a:tr>
              <a:tr h="234086">
                <a:tc>
                  <a:txBody>
                    <a:bodyPr/>
                    <a:lstStyle/>
                    <a:p>
                      <a:pPr algn="l">
                        <a:defRPr sz="680" b="1">
                          <a:solidFill>
                            <a:srgbClr val="1A237E"/>
                          </a:solidFill>
                          <a:latin typeface="Arial"/>
                        </a:defRPr>
                      </a:pPr>
                      <a:r>
                        <a:t>Tingkat Inschiet</a:t>
                      </a:r>
                    </a:p>
                  </a:txBody>
                  <a:tcPr anchor="ctr" marT="18288" marB="18288" marL="45720" marR="45720">
                    <a:solidFill>
                      <a:srgbClr val="E8F5E9"/>
                    </a:solidFill>
                  </a:tcPr>
                </a:tc>
                <a:tc>
                  <a:txBody>
                    <a:bodyPr/>
                    <a:lstStyle/>
                    <a:p>
                      <a:pPr algn="ctr">
                        <a:defRPr sz="680" b="0">
                          <a:solidFill>
                            <a:srgbClr val="2A2A3D"/>
                          </a:solidFill>
                          <a:latin typeface="Arial"/>
                        </a:defRPr>
                      </a:pPr>
                      <a:r>
                        <a:t>&lt; 4,00% (-0,61 pp)</a:t>
                      </a:r>
                    </a:p>
                  </a:txBody>
                  <a:tcPr anchor="ctr" marT="18288" marB="18288" marL="45720" marR="45720">
                    <a:solidFill>
                      <a:srgbClr val="E8F5E9"/>
                    </a:solidFill>
                  </a:tcPr>
                </a:tc>
                <a:tc>
                  <a:txBody>
                    <a:bodyPr/>
                    <a:lstStyle/>
                    <a:p>
                      <a:pPr algn="ctr">
                        <a:defRPr sz="680" b="1">
                          <a:solidFill>
                            <a:srgbClr val="2E7D32"/>
                          </a:solidFill>
                          <a:latin typeface="Arial"/>
                        </a:defRPr>
                      </a:pPr>
                      <a:r>
                        <a:t>3,33% (-1,28 pp)</a:t>
                      </a:r>
                    </a:p>
                  </a:txBody>
                  <a:tcPr anchor="ctr" marT="18288" marB="18288" marL="45720" marR="45720">
                    <a:solidFill>
                      <a:srgbClr val="E8F5E9"/>
                    </a:solidFill>
                  </a:tcPr>
                </a:tc>
                <a:tc>
                  <a:txBody>
                    <a:bodyPr/>
                    <a:lstStyle/>
                    <a:p>
                      <a:pPr algn="ctr">
                        <a:defRPr sz="680" b="1">
                          <a:solidFill>
                            <a:srgbClr val="2E7D32"/>
                          </a:solidFill>
                          <a:latin typeface="Arial"/>
                        </a:defRPr>
                      </a:pPr>
                      <a:r>
                        <a:t>Melampaui Target (210%)</a:t>
                      </a:r>
                    </a:p>
                  </a:txBody>
                  <a:tcPr anchor="ctr" marT="18288" marB="18288" marL="45720" marR="45720">
                    <a:solidFill>
                      <a:srgbClr val="E8F5E9"/>
                    </a:solidFill>
                  </a:tcPr>
                </a:tc>
              </a:tr>
              <a:tr h="234086">
                <a:tc>
                  <a:txBody>
                    <a:bodyPr/>
                    <a:lstStyle/>
                    <a:p>
                      <a:pPr algn="l">
                        <a:defRPr sz="680" b="1">
                          <a:solidFill>
                            <a:srgbClr val="1A237E"/>
                          </a:solidFill>
                          <a:latin typeface="Arial"/>
                        </a:defRPr>
                      </a:pPr>
                      <a:r>
                        <a:t>Penghematan Tahunan</a:t>
                      </a:r>
                    </a:p>
                  </a:txBody>
                  <a:tcPr anchor="ctr" marT="18288" marB="18288" marL="45720" marR="45720">
                    <a:solidFill>
                      <a:srgbClr val="E8F5E9"/>
                    </a:solidFill>
                  </a:tcPr>
                </a:tc>
                <a:tc>
                  <a:txBody>
                    <a:bodyPr/>
                    <a:lstStyle/>
                    <a:p>
                      <a:pPr algn="ctr">
                        <a:defRPr sz="680" b="0">
                          <a:solidFill>
                            <a:srgbClr val="2A2A3D"/>
                          </a:solidFill>
                          <a:latin typeface="Arial"/>
                        </a:defRPr>
                      </a:pPr>
                      <a:r>
                        <a:t>Rp 3,25 Miliar/Thn</a:t>
                      </a:r>
                    </a:p>
                  </a:txBody>
                  <a:tcPr anchor="ctr" marT="18288" marB="18288" marL="45720" marR="45720">
                    <a:solidFill>
                      <a:srgbClr val="E8F5E9"/>
                    </a:solidFill>
                  </a:tcPr>
                </a:tc>
                <a:tc>
                  <a:txBody>
                    <a:bodyPr/>
                    <a:lstStyle/>
                    <a:p>
                      <a:pPr algn="ctr">
                        <a:defRPr sz="680" b="1">
                          <a:solidFill>
                            <a:srgbClr val="2E7D32"/>
                          </a:solidFill>
                          <a:latin typeface="Arial"/>
                        </a:defRPr>
                      </a:pPr>
                      <a:r>
                        <a:t>Rp 6,82 Miliar/Thn</a:t>
                      </a:r>
                    </a:p>
                  </a:txBody>
                  <a:tcPr anchor="ctr" marT="18288" marB="18288" marL="45720" marR="45720">
                    <a:solidFill>
                      <a:srgbClr val="E8F5E9"/>
                    </a:solidFill>
                  </a:tcPr>
                </a:tc>
                <a:tc>
                  <a:txBody>
                    <a:bodyPr/>
                    <a:lstStyle/>
                    <a:p>
                      <a:pPr algn="ctr">
                        <a:defRPr sz="680" b="1">
                          <a:solidFill>
                            <a:srgbClr val="2E7D32"/>
                          </a:solidFill>
                          <a:latin typeface="Arial"/>
                        </a:defRPr>
                      </a:pPr>
                      <a:r>
                        <a:t>Melampaui Target (210%)</a:t>
                      </a:r>
                    </a:p>
                  </a:txBody>
                  <a:tcPr anchor="ctr" marT="18288" marB="18288" marL="45720" marR="45720">
                    <a:solidFill>
                      <a:srgbClr val="E8F5E9"/>
                    </a:solidFill>
                  </a:tcPr>
                </a:tc>
              </a:tr>
              <a:tr h="234086">
                <a:tc>
                  <a:txBody>
                    <a:bodyPr/>
                    <a:lstStyle/>
                    <a:p>
                      <a:pPr algn="l">
                        <a:defRPr sz="680" b="1">
                          <a:solidFill>
                            <a:srgbClr val="1A237E"/>
                          </a:solidFill>
                          <a:latin typeface="Arial"/>
                        </a:defRPr>
                      </a:pPr>
                      <a:r>
                        <a:t>Downtime Servis Mesin</a:t>
                      </a:r>
                    </a:p>
                  </a:txBody>
                  <a:tcPr anchor="ctr" marT="18288" marB="18288" marL="45720" marR="45720">
                    <a:solidFill>
                      <a:srgbClr val="FFFFFF"/>
                    </a:solidFill>
                  </a:tcPr>
                </a:tc>
                <a:tc>
                  <a:txBody>
                    <a:bodyPr/>
                    <a:lstStyle/>
                    <a:p>
                      <a:pPr algn="ctr">
                        <a:defRPr sz="680" b="0">
                          <a:solidFill>
                            <a:srgbClr val="2A2A3D"/>
                          </a:solidFill>
                          <a:latin typeface="Arial"/>
                        </a:defRPr>
                      </a:pPr>
                      <a:r>
                        <a:t>&lt; 4 Jam / Tindakan</a:t>
                      </a:r>
                    </a:p>
                  </a:txBody>
                  <a:tcPr anchor="ctr" marT="18288" marB="18288" marL="45720" marR="45720">
                    <a:solidFill>
                      <a:srgbClr val="FFFFFF"/>
                    </a:solidFill>
                  </a:tcPr>
                </a:tc>
                <a:tc>
                  <a:txBody>
                    <a:bodyPr/>
                    <a:lstStyle/>
                    <a:p>
                      <a:pPr algn="ctr">
                        <a:defRPr sz="680" b="1">
                          <a:solidFill>
                            <a:srgbClr val="2E7D32"/>
                          </a:solidFill>
                          <a:latin typeface="Arial"/>
                        </a:defRPr>
                      </a:pPr>
                      <a:r>
                        <a:t>&lt; 2–4 Jam / Mesin</a:t>
                      </a:r>
                    </a:p>
                  </a:txBody>
                  <a:tcPr anchor="ctr" marT="18288" marB="18288" marL="45720" marR="45720">
                    <a:solidFill>
                      <a:srgbClr val="FFFFFF"/>
                    </a:solidFill>
                  </a:tcPr>
                </a:tc>
                <a:tc>
                  <a:txBody>
                    <a:bodyPr/>
                    <a:lstStyle/>
                    <a:p>
                      <a:pPr algn="ctr">
                        <a:defRPr sz="680" b="1">
                          <a:solidFill>
                            <a:srgbClr val="2E7D32"/>
                          </a:solidFill>
                          <a:latin typeface="Arial"/>
                        </a:defRPr>
                      </a:pPr>
                      <a:r>
                        <a:t>100% Tercapai</a:t>
                      </a:r>
                    </a:p>
                  </a:txBody>
                  <a:tcPr anchor="ctr" marT="18288" marB="18288" marL="45720" marR="45720">
                    <a:solidFill>
                      <a:srgbClr val="FFFFFF"/>
                    </a:solidFill>
                  </a:tcPr>
                </a:tc>
              </a:tr>
              <a:tr h="234088">
                <a:tc>
                  <a:txBody>
                    <a:bodyPr/>
                    <a:lstStyle/>
                    <a:p>
                      <a:pPr algn="l">
                        <a:defRPr sz="680" b="1">
                          <a:solidFill>
                            <a:srgbClr val="1A237E"/>
                          </a:solidFill>
                          <a:latin typeface="Arial"/>
                        </a:defRPr>
                      </a:pPr>
                      <a:r>
                        <a:t>Waktu Rekap Harian</a:t>
                      </a:r>
                    </a:p>
                  </a:txBody>
                  <a:tcPr anchor="ctr" marT="18288" marB="18288" marL="45720" marR="45720">
                    <a:solidFill>
                      <a:srgbClr val="FFFFFF"/>
                    </a:solidFill>
                  </a:tcPr>
                </a:tc>
                <a:tc>
                  <a:txBody>
                    <a:bodyPr/>
                    <a:lstStyle/>
                    <a:p>
                      <a:pPr algn="ctr">
                        <a:defRPr sz="680" b="0">
                          <a:solidFill>
                            <a:srgbClr val="2A2A3D"/>
                          </a:solidFill>
                          <a:latin typeface="Arial"/>
                        </a:defRPr>
                      </a:pPr>
                      <a:r>
                        <a:t>&lt; 5 Menit / Hari</a:t>
                      </a:r>
                    </a:p>
                  </a:txBody>
                  <a:tcPr anchor="ctr" marT="18288" marB="18288" marL="45720" marR="45720">
                    <a:solidFill>
                      <a:srgbClr val="FFFFFF"/>
                    </a:solidFill>
                  </a:tcPr>
                </a:tc>
                <a:tc>
                  <a:txBody>
                    <a:bodyPr/>
                    <a:lstStyle/>
                    <a:p>
                      <a:pPr algn="ctr">
                        <a:defRPr sz="680" b="1">
                          <a:solidFill>
                            <a:srgbClr val="2E7D32"/>
                          </a:solidFill>
                          <a:latin typeface="Arial"/>
                        </a:defRPr>
                      </a:pPr>
                      <a:r>
                        <a:t>0 Menit (Otomatis)</a:t>
                      </a:r>
                    </a:p>
                  </a:txBody>
                  <a:tcPr anchor="ctr" marT="18288" marB="18288" marL="45720" marR="45720">
                    <a:solidFill>
                      <a:srgbClr val="FFFFFF"/>
                    </a:solidFill>
                  </a:tcPr>
                </a:tc>
                <a:tc>
                  <a:txBody>
                    <a:bodyPr/>
                    <a:lstStyle/>
                    <a:p>
                      <a:pPr algn="ctr">
                        <a:defRPr sz="680" b="1">
                          <a:solidFill>
                            <a:srgbClr val="2E7D32"/>
                          </a:solidFill>
                          <a:latin typeface="Arial"/>
                        </a:defRPr>
                      </a:pPr>
                      <a:r>
                        <a:t>100% Tercapai</a:t>
                      </a:r>
                    </a:p>
                  </a:txBody>
                  <a:tcPr anchor="ctr" marT="18288" marB="18288" marL="45720" marR="45720">
                    <a:solidFill>
                      <a:srgbClr val="FFFFFF"/>
                    </a:solidFill>
                  </a:tcPr>
                </a:tc>
              </a:tr>
            </a:tbl>
          </a:graphicData>
        </a:graphic>
      </p:graphicFrame>
      <p:sp>
        <p:nvSpPr>
          <p:cNvPr id="26" name="Rounded Rectangle 25"/>
          <p:cNvSpPr/>
          <p:nvPr/>
        </p:nvSpPr>
        <p:spPr>
          <a:xfrm>
            <a:off x="6400800" y="4681728"/>
            <a:ext cx="5148072" cy="1133856"/>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36576" lIns="54864" rIns="54864"/>
          <a:lstStyle/>
          <a:p>
            <a:pPr algn="ctr">
              <a:defRPr sz="780" b="1">
                <a:solidFill>
                  <a:srgbClr val="2E7D32"/>
                </a:solidFill>
                <a:latin typeface="Arial"/>
              </a:defRPr>
            </a:pPr>
            <a:r>
              <a:t>REALISASI JADWAL LINIMASA (ROADMAP) OKT 2025 – JUN 2026</a:t>
            </a:r>
          </a:p>
          <a:p>
            <a:r>
              <a:rPr b="1" sz="680">
                <a:solidFill>
                  <a:srgbClr val="1A237E"/>
                </a:solidFill>
              </a:rPr>
              <a:t>• Tahap 1–2 (Okt 2025 – Jan 2026): </a:t>
            </a:r>
            <a:r>
              <a:rPr sz="680">
                <a:solidFill>
                  <a:srgbClr val="2A2A3D"/>
                </a:solidFill>
              </a:rPr>
              <a:t>Form digital, IK-001/SOP-004, penarikan buku folio (BA-002) ➔ Tepat Waktu (100%).</a:t>
            </a:r>
          </a:p>
          <a:p>
            <a:r>
              <a:rPr b="1" sz="680">
                <a:solidFill>
                  <a:srgbClr val="1A237E"/>
                </a:solidFill>
              </a:rPr>
              <a:t>• Tahap 3 (Jan – Mar 2026 / Q1): </a:t>
            </a:r>
            <a:r>
              <a:rPr sz="680">
                <a:solidFill>
                  <a:srgbClr val="2A2A3D"/>
                </a:solidFill>
              </a:rPr>
              <a:t>Uji coba lini 6 mesin (Masa Adaptasi Q1) ➔ Tepat Waktu (Inschiet 4,34%).</a:t>
            </a:r>
          </a:p>
          <a:p>
            <a:r>
              <a:rPr b="1" sz="680">
                <a:solidFill>
                  <a:srgbClr val="1A237E"/>
                </a:solidFill>
              </a:rPr>
              <a:t>• Tahap 4 (Apr – Jun 2026 / Q2): </a:t>
            </a:r>
            <a:r>
              <a:rPr sz="680">
                <a:solidFill>
                  <a:srgbClr val="2A2A3D"/>
                </a:solidFill>
              </a:rPr>
              <a:t>Implementasi preskriptif penuh ➔ Tepat Waktu (Inschiet 3,33% / Hemat Rp 6,82 M).</a:t>
            </a:r>
          </a:p>
          <a:p>
            <a:r>
              <a:rPr b="1" sz="680">
                <a:solidFill>
                  <a:srgbClr val="1B5E20"/>
                </a:solidFill>
              </a:rPr>
              <a:t>• Evaluasi Deviasi Proyek: </a:t>
            </a:r>
            <a:r>
              <a:rPr sz="680">
                <a:solidFill>
                  <a:srgbClr val="2A2A3D"/>
                </a:solidFill>
              </a:rPr>
              <a:t>0 Hari Deviasi (Seluruh 6 tahapan terlaksana 100% on-schedule).</a:t>
            </a:r>
          </a:p>
        </p:txBody>
      </p:sp>
      <p:sp>
        <p:nvSpPr>
          <p:cNvPr id="27" name="Rounded Rectangle 26"/>
          <p:cNvSpPr/>
          <p:nvPr/>
        </p:nvSpPr>
        <p:spPr>
          <a:xfrm>
            <a:off x="548640" y="5961888"/>
            <a:ext cx="11091672" cy="402336"/>
          </a:xfrm>
          <a:prstGeom prst="roundRect">
            <a:avLst/>
          </a:prstGeom>
          <a:solidFill>
            <a:srgbClr val="E8F5E9"/>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54864" lIns="109728" rIns="109728"/>
          <a:lstStyle/>
          <a:p>
            <a:pPr algn="ctr"/>
            <a:r>
              <a:rPr sz="750" b="1">
                <a:solidFill>
                  <a:srgbClr val="1B5E20"/>
                </a:solidFill>
                <a:latin typeface="Arial"/>
              </a:rPr>
              <a:t>• Kesimpulan Realisasi: </a:t>
            </a:r>
            <a:r>
              <a:rPr sz="750">
                <a:solidFill>
                  <a:srgbClr val="2A2A3D"/>
                </a:solidFill>
                <a:latin typeface="Arial"/>
              </a:rPr>
              <a:t>Pada periode uji coba Semester 1 2026 (103,3 Juta LK), efisiensi riil tercatat Rp 2,23 Miliar (743.234 LK diselamatkan). Seluruh 5 indikator kinerja melampaui target awal tanpa ada deviasi keterlambatan jadwal proyek.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6"/>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06.1</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400" b="1">
                <a:solidFill>
                  <a:srgbClr val="20288F"/>
                </a:solidFill>
                <a:latin typeface="Arial"/>
              </a:defRPr>
            </a:pPr>
            <a:r>
              <a:t>Dampak Finansial: Model Simulasi ROI, Cost Avoidance &amp; Nilai Bersih</a:t>
            </a:r>
          </a:p>
        </p:txBody>
      </p:sp>
      <p:sp>
        <p:nvSpPr>
          <p:cNvPr id="6" name="TextBox 5"/>
          <p:cNvSpPr txBox="1"/>
          <p:nvPr/>
        </p:nvSpPr>
        <p:spPr>
          <a:xfrm>
            <a:off x="548640" y="1353312"/>
            <a:ext cx="10789920" cy="347472"/>
          </a:xfrm>
          <a:prstGeom prst="rect">
            <a:avLst/>
          </a:prstGeom>
          <a:noFill/>
        </p:spPr>
        <p:txBody>
          <a:bodyPr wrap="square" tIns="0" lIns="0" rIns="0">
            <a:spAutoFit/>
          </a:bodyPr>
          <a:lstStyle/>
          <a:p>
            <a:r>
              <a:rPr sz="1150" b="1">
                <a:solidFill>
                  <a:srgbClr val="6A2CC9"/>
                </a:solidFill>
                <a:latin typeface="Arial"/>
              </a:rPr>
              <a:t>Tujuan bagian ini:  </a:t>
            </a:r>
            <a:r>
              <a:rPr sz="1150">
                <a:solidFill>
                  <a:srgbClr val="2A2A3D"/>
                </a:solidFill>
                <a:latin typeface="Arial"/>
              </a:rPr>
              <a:t>Sajikan kalkulasi dampak finansial terbuka: simulasi penghematan lembar cetak vs baseline, cost avoidance (@ Rp 3.000/LK*), net benefit, dan payback period.</a:t>
            </a:r>
          </a:p>
        </p:txBody>
      </p:sp>
      <p:sp>
        <p:nvSpPr>
          <p:cNvPr id="7" name="TextBox 6"/>
          <p:cNvSpPr txBox="1"/>
          <p:nvPr/>
        </p:nvSpPr>
        <p:spPr>
          <a:xfrm>
            <a:off x="548640" y="6419088"/>
            <a:ext cx="11091672" cy="219456"/>
          </a:xfrm>
          <a:prstGeom prst="rect">
            <a:avLst/>
          </a:prstGeom>
          <a:noFill/>
        </p:spPr>
        <p:txBody>
          <a:bodyPr wrap="none" t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REALISASI S1 2026 (SIMULASI)*</a:t>
            </a:r>
          </a:p>
          <a:p>
            <a:pPr algn="ctr">
              <a:defRPr sz="1550" b="1">
                <a:solidFill>
                  <a:srgbClr val="2E7D32"/>
                </a:solidFill>
                <a:latin typeface="Arial"/>
              </a:defRPr>
            </a:pPr>
            <a:r>
              <a:t>Rp 2,23 Miliar*</a:t>
            </a:r>
          </a:p>
          <a:p>
            <a:pPr algn="ctr">
              <a:defRPr sz="720">
                <a:solidFill>
                  <a:srgbClr val="2A2A3D"/>
                </a:solidFill>
                <a:latin typeface="Arial"/>
              </a:defRPr>
            </a:pPr>
            <a:r>
              <a:t>Simulasi Cost Avoidance | Fisik: 743.234 LK Riil</a:t>
            </a:r>
          </a:p>
        </p:txBody>
      </p:sp>
      <p:sp>
        <p:nvSpPr>
          <p:cNvPr id="9" name="Rectangle 8"/>
          <p:cNvSpPr/>
          <p:nvPr/>
        </p:nvSpPr>
        <p:spPr>
          <a:xfrm>
            <a:off x="548640"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0288F"/>
                </a:solidFill>
                <a:latin typeface="Arial"/>
              </a:defRPr>
            </a:pPr>
            <a:r>
              <a:t>PROYEKSI TAHUNAN (SIMULASI)*</a:t>
            </a:r>
          </a:p>
          <a:p>
            <a:pPr algn="ctr">
              <a:defRPr sz="1550" b="1">
                <a:solidFill>
                  <a:srgbClr val="20288F"/>
                </a:solidFill>
                <a:latin typeface="Arial"/>
              </a:defRPr>
            </a:pPr>
            <a:r>
              <a:t>Rp 6,82 Miliar / Thn*</a:t>
            </a:r>
          </a:p>
          <a:p>
            <a:pPr algn="ctr">
              <a:defRPr sz="720">
                <a:solidFill>
                  <a:srgbClr val="2A2A3D"/>
                </a:solidFill>
                <a:latin typeface="Arial"/>
              </a:defRPr>
            </a:pPr>
            <a:r>
              <a:t>Simulasi Efisiensi | Fisik: 2.273.752 LK Riil/Thn</a:t>
            </a:r>
          </a:p>
        </p:txBody>
      </p:sp>
      <p:sp>
        <p:nvSpPr>
          <p:cNvPr id="11" name="Rectangle 10"/>
          <p:cNvSpPr/>
          <p:nvPr/>
        </p:nvSpPr>
        <p:spPr>
          <a:xfrm>
            <a:off x="3374136"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BIAYA INVESTASI (CAPEX)</a:t>
            </a:r>
          </a:p>
          <a:p>
            <a:pPr algn="ctr">
              <a:defRPr sz="1550" b="1">
                <a:solidFill>
                  <a:srgbClr val="6A2CC9"/>
                </a:solidFill>
                <a:latin typeface="Arial"/>
              </a:defRPr>
            </a:pPr>
            <a:r>
              <a:t>Rp 0 (In-House)</a:t>
            </a:r>
          </a:p>
          <a:p>
            <a:pPr algn="ctr">
              <a:defRPr sz="720">
                <a:solidFill>
                  <a:srgbClr val="2A2A3D"/>
                </a:solidFill>
                <a:latin typeface="Arial"/>
              </a:defRPr>
            </a:pPr>
            <a:r>
              <a:t>100% Tim Internal Peruri | Zero License Fee</a:t>
            </a:r>
          </a:p>
        </p:txBody>
      </p:sp>
      <p:sp>
        <p:nvSpPr>
          <p:cNvPr id="13" name="Rectangle 12"/>
          <p:cNvSpPr/>
          <p:nvPr/>
        </p:nvSpPr>
        <p:spPr>
          <a:xfrm>
            <a:off x="6199632"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PAYBACK PERIOD (SIMULASI)*</a:t>
            </a:r>
          </a:p>
          <a:p>
            <a:pPr algn="ctr">
              <a:defRPr sz="1550" b="1">
                <a:solidFill>
                  <a:srgbClr val="2E7D32"/>
                </a:solidFill>
                <a:latin typeface="Arial"/>
              </a:defRPr>
            </a:pPr>
            <a:r>
              <a:t>0 Bulan (Seketika)</a:t>
            </a:r>
          </a:p>
          <a:p>
            <a:pPr algn="ctr">
              <a:defRPr sz="720">
                <a:solidFill>
                  <a:srgbClr val="2A2A3D"/>
                </a:solidFill>
                <a:latin typeface="Arial"/>
              </a:defRPr>
            </a:pPr>
            <a:r>
              <a:t>Net Benefit Rp 6,82 M/Thn* | Instant ROI</a:t>
            </a:r>
          </a:p>
        </p:txBody>
      </p:sp>
      <p:sp>
        <p:nvSpPr>
          <p:cNvPr id="15" name="Rectangle 14"/>
          <p:cNvSpPr/>
          <p:nvPr/>
        </p:nvSpPr>
        <p:spPr>
          <a:xfrm>
            <a:off x="9025128"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62356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FORMULA MODEL SIMULASI COST AVOIDANCE &amp; DATA KUARTALAN</a:t>
            </a:r>
          </a:p>
        </p:txBody>
      </p:sp>
      <p:sp>
        <p:nvSpPr>
          <p:cNvPr id="17" name="Rounded Rectangle 16"/>
          <p:cNvSpPr/>
          <p:nvPr/>
        </p:nvSpPr>
        <p:spPr>
          <a:xfrm>
            <a:off x="548640" y="3127248"/>
            <a:ext cx="562356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3182112"/>
            <a:ext cx="5404104" cy="1078992"/>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20288F"/>
                </a:solidFill>
                <a:latin typeface="Arial"/>
              </a:defRPr>
            </a:pPr>
            <a:r>
              <a:t>RUMUS SIMULASI COST AVOIDANCE (ASUMSI ESTIMASI @ Rp 3.000 / LK*)</a:t>
            </a:r>
          </a:p>
          <a:p>
            <a:r>
              <a:rPr b="1" sz="670">
                <a:solidFill>
                  <a:srgbClr val="1A237E"/>
                </a:solidFill>
              </a:rPr>
              <a:t>• Estimasi Tambah Cetak: </a:t>
            </a:r>
            <a:r>
              <a:rPr sz="670" b="0">
                <a:solidFill>
                  <a:srgbClr val="2A2A3D"/>
                </a:solidFill>
              </a:rPr>
              <a:t>Rp 3.000 / LK* (Estimasi simulasi bahan baku kertas sekuriti, tinta, mesin &amp; SDM — BUKAN HPP/Harga Resmi).</a:t>
            </a:r>
          </a:p>
          <a:p>
            <a:r>
              <a:rPr b="1" sz="670">
                <a:solidFill>
                  <a:srgbClr val="1A237E"/>
                </a:solidFill>
              </a:rPr>
              <a:t>• Data Fisik Riil SAP: </a:t>
            </a:r>
            <a:r>
              <a:rPr sz="670" b="0">
                <a:solidFill>
                  <a:srgbClr val="2A2A3D"/>
                </a:solidFill>
              </a:rPr>
              <a:t>Vol. 177.636.930 LK (SAP ZPPRSIPPC0012) | Baseline: 4,61% ➔ Realisasi Q2: 3,33% (Δ = -1,28 pp).</a:t>
            </a:r>
          </a:p>
          <a:p>
            <a:r>
              <a:rPr b="1" sz="670">
                <a:solidFill>
                  <a:srgbClr val="1A237E"/>
                </a:solidFill>
              </a:rPr>
              <a:t>• Lembar Diselamatkan: </a:t>
            </a:r>
            <a:r>
              <a:rPr sz="670" b="0">
                <a:solidFill>
                  <a:srgbClr val="2A2A3D"/>
                </a:solidFill>
              </a:rPr>
              <a:t>177.636.930 LK × 1,28% = 2.273.752 Lembar Cetak / Tahun (Fisik Riil).</a:t>
            </a:r>
          </a:p>
          <a:p>
            <a:r>
              <a:rPr b="1" sz="670">
                <a:solidFill>
                  <a:srgbClr val="1A237E"/>
                </a:solidFill>
              </a:rPr>
              <a:t>• Valuasi Simulasi Saving: </a:t>
            </a:r>
            <a:r>
              <a:rPr sz="670" b="1">
                <a:solidFill>
                  <a:srgbClr val="1B5E20"/>
                </a:solidFill>
              </a:rPr>
              <a:t>2.273.752 LK × Rp 3.000* = Rp 6.821.256.000 / Tahun (~Rp 6,82 Miliar*).</a:t>
            </a:r>
          </a:p>
        </p:txBody>
      </p:sp>
      <p:graphicFrame>
        <p:nvGraphicFramePr>
          <p:cNvPr id="19" name="Table 18"/>
          <p:cNvGraphicFramePr>
            <a:graphicFrameLocks noGrp="1"/>
          </p:cNvGraphicFramePr>
          <p:nvPr/>
        </p:nvGraphicFramePr>
        <p:xfrm>
          <a:off x="658368" y="4297680"/>
          <a:ext cx="5404104" cy="1353312"/>
        </p:xfrm>
        <a:graphic>
          <a:graphicData uri="http://schemas.openxmlformats.org/drawingml/2006/table">
            <a:tbl>
              <a:tblPr firstRow="1" bandRow="1">
                <a:tableStyleId>{5C22544A-7EE6-4342-B048-85BDC9FD1C3A}</a:tableStyleId>
              </a:tblPr>
              <a:tblGrid>
                <a:gridCol w="1188720"/>
                <a:gridCol w="960120"/>
                <a:gridCol w="960120"/>
                <a:gridCol w="1051560"/>
                <a:gridCol w="1243584"/>
              </a:tblGrid>
              <a:tr h="225552">
                <a:tc>
                  <a:txBody>
                    <a:bodyPr/>
                    <a:lstStyle/>
                    <a:p>
                      <a:pPr algn="l">
                        <a:defRPr sz="680" b="1">
                          <a:solidFill>
                            <a:srgbClr val="FFFFFF"/>
                          </a:solidFill>
                          <a:latin typeface="Arial"/>
                        </a:defRPr>
                      </a:pPr>
                      <a:r>
                        <a:t>Periode Evaluasi</a:t>
                      </a:r>
                    </a:p>
                  </a:txBody>
                  <a:tcPr anchor="ctr" marT="18288" marB="18288" marL="45720" marR="45720">
                    <a:solidFill>
                      <a:srgbClr val="20288F"/>
                    </a:solidFill>
                  </a:tcPr>
                </a:tc>
                <a:tc>
                  <a:txBody>
                    <a:bodyPr/>
                    <a:lstStyle/>
                    <a:p>
                      <a:pPr algn="ctr">
                        <a:defRPr sz="680" b="1">
                          <a:solidFill>
                            <a:srgbClr val="FFFFFF"/>
                          </a:solidFill>
                          <a:latin typeface="Arial"/>
                        </a:defRPr>
                      </a:pPr>
                      <a:r>
                        <a:t>Volume Riil (LK)</a:t>
                      </a:r>
                    </a:p>
                  </a:txBody>
                  <a:tcPr anchor="ctr" marT="18288" marB="18288" marL="45720" marR="45720">
                    <a:solidFill>
                      <a:srgbClr val="20288F"/>
                    </a:solidFill>
                  </a:tcPr>
                </a:tc>
                <a:tc>
                  <a:txBody>
                    <a:bodyPr/>
                    <a:lstStyle/>
                    <a:p>
                      <a:pPr algn="ctr">
                        <a:defRPr sz="680" b="1">
                          <a:solidFill>
                            <a:srgbClr val="FFFFFF"/>
                          </a:solidFill>
                          <a:latin typeface="Arial"/>
                        </a:defRPr>
                      </a:pPr>
                      <a:r>
                        <a:t>Inschiet Riil (%)</a:t>
                      </a:r>
                    </a:p>
                  </a:txBody>
                  <a:tcPr anchor="ctr" marT="18288" marB="18288" marL="45720" marR="45720">
                    <a:solidFill>
                      <a:srgbClr val="20288F"/>
                    </a:solidFill>
                  </a:tcPr>
                </a:tc>
                <a:tc>
                  <a:txBody>
                    <a:bodyPr/>
                    <a:lstStyle/>
                    <a:p>
                      <a:pPr algn="ctr">
                        <a:defRPr sz="680" b="1">
                          <a:solidFill>
                            <a:srgbClr val="FFFFFF"/>
                          </a:solidFill>
                          <a:latin typeface="Arial"/>
                        </a:defRPr>
                      </a:pPr>
                      <a:r>
                        <a:t>Lembar Rusak</a:t>
                      </a:r>
                    </a:p>
                  </a:txBody>
                  <a:tcPr anchor="ctr" marT="18288" marB="18288" marL="45720" marR="45720">
                    <a:solidFill>
                      <a:srgbClr val="20288F"/>
                    </a:solidFill>
                  </a:tcPr>
                </a:tc>
                <a:tc>
                  <a:txBody>
                    <a:bodyPr/>
                    <a:lstStyle/>
                    <a:p>
                      <a:pPr algn="ctr">
                        <a:defRPr sz="680" b="1">
                          <a:solidFill>
                            <a:srgbClr val="FFFFFF"/>
                          </a:solidFill>
                          <a:latin typeface="Arial"/>
                        </a:defRPr>
                      </a:pPr>
                      <a:r>
                        <a:t>Simulasi Saving*</a:t>
                      </a:r>
                    </a:p>
                  </a:txBody>
                  <a:tcPr anchor="ctr" marT="18288" marB="18288" marL="45720" marR="45720">
                    <a:solidFill>
                      <a:srgbClr val="20288F"/>
                    </a:solidFill>
                  </a:tcPr>
                </a:tc>
              </a:tr>
              <a:tr h="225552">
                <a:tc>
                  <a:txBody>
                    <a:bodyPr/>
                    <a:lstStyle/>
                    <a:p>
                      <a:pPr algn="l">
                        <a:defRPr sz="660" b="0">
                          <a:solidFill>
                            <a:srgbClr val="1A237E"/>
                          </a:solidFill>
                          <a:latin typeface="Arial"/>
                        </a:defRPr>
                      </a:pPr>
                      <a:r>
                        <a:t>Baseline 2025</a:t>
                      </a:r>
                    </a:p>
                  </a:txBody>
                  <a:tcPr anchor="ctr" marT="18288" marB="18288" marL="45720" marR="45720">
                    <a:solidFill>
                      <a:srgbClr val="FFFFFF"/>
                    </a:solidFill>
                  </a:tcPr>
                </a:tc>
                <a:tc>
                  <a:txBody>
                    <a:bodyPr/>
                    <a:lstStyle/>
                    <a:p>
                      <a:pPr algn="ctr">
                        <a:defRPr sz="660" b="0">
                          <a:solidFill>
                            <a:srgbClr val="2A2A3D"/>
                          </a:solidFill>
                          <a:latin typeface="Arial"/>
                        </a:defRPr>
                      </a:pPr>
                      <a:r>
                        <a:t>177.636.930</a:t>
                      </a:r>
                    </a:p>
                  </a:txBody>
                  <a:tcPr anchor="ctr" marT="18288" marB="18288" marL="45720" marR="45720">
                    <a:solidFill>
                      <a:srgbClr val="FFFFFF"/>
                    </a:solidFill>
                  </a:tcPr>
                </a:tc>
                <a:tc>
                  <a:txBody>
                    <a:bodyPr/>
                    <a:lstStyle/>
                    <a:p>
                      <a:pPr algn="ctr">
                        <a:defRPr sz="660" b="0">
                          <a:solidFill>
                            <a:srgbClr val="2A2A3D"/>
                          </a:solidFill>
                          <a:latin typeface="Arial"/>
                        </a:defRPr>
                      </a:pPr>
                      <a:r>
                        <a:t>4,61%</a:t>
                      </a:r>
                    </a:p>
                  </a:txBody>
                  <a:tcPr anchor="ctr" marT="18288" marB="18288" marL="45720" marR="45720">
                    <a:solidFill>
                      <a:srgbClr val="FFFFFF"/>
                    </a:solidFill>
                  </a:tcPr>
                </a:tc>
                <a:tc>
                  <a:txBody>
                    <a:bodyPr/>
                    <a:lstStyle/>
                    <a:p>
                      <a:pPr algn="ctr">
                        <a:defRPr sz="660" b="0">
                          <a:solidFill>
                            <a:srgbClr val="2A2A3D"/>
                          </a:solidFill>
                          <a:latin typeface="Arial"/>
                        </a:defRPr>
                      </a:pPr>
                      <a:r>
                        <a:t>8.189.062 lb</a:t>
                      </a:r>
                    </a:p>
                  </a:txBody>
                  <a:tcPr anchor="ctr" marT="18288" marB="18288" marL="45720" marR="45720">
                    <a:solidFill>
                      <a:srgbClr val="FFFFFF"/>
                    </a:solidFill>
                  </a:tcPr>
                </a:tc>
                <a:tc>
                  <a:txBody>
                    <a:bodyPr/>
                    <a:lstStyle/>
                    <a:p>
                      <a:pPr algn="ctr">
                        <a:defRPr sz="660" b="0">
                          <a:solidFill>
                            <a:srgbClr val="2A2A3D"/>
                          </a:solidFill>
                          <a:latin typeface="Arial"/>
                        </a:defRPr>
                      </a:pPr>
                      <a:r>
                        <a:t>Rp 24,56 M* (Toleransi)</a:t>
                      </a:r>
                    </a:p>
                  </a:txBody>
                  <a:tcPr anchor="ctr" marT="18288" marB="18288" marL="45720" marR="45720">
                    <a:solidFill>
                      <a:srgbClr val="FFFFFF"/>
                    </a:solidFill>
                  </a:tcPr>
                </a:tc>
              </a:tr>
              <a:tr h="225552">
                <a:tc>
                  <a:txBody>
                    <a:bodyPr/>
                    <a:lstStyle/>
                    <a:p>
                      <a:pPr algn="l">
                        <a:defRPr sz="660" b="0">
                          <a:solidFill>
                            <a:srgbClr val="1A237E"/>
                          </a:solidFill>
                          <a:latin typeface="Arial"/>
                        </a:defRPr>
                      </a:pPr>
                      <a:r>
                        <a:t>Realisasi Q1 2026</a:t>
                      </a:r>
                    </a:p>
                  </a:txBody>
                  <a:tcPr anchor="ctr" marT="18288" marB="18288" marL="45720" marR="45720">
                    <a:solidFill>
                      <a:srgbClr val="FFFFFF"/>
                    </a:solidFill>
                  </a:tcPr>
                </a:tc>
                <a:tc>
                  <a:txBody>
                    <a:bodyPr/>
                    <a:lstStyle/>
                    <a:p>
                      <a:pPr algn="ctr">
                        <a:defRPr sz="660" b="0">
                          <a:solidFill>
                            <a:srgbClr val="2A2A3D"/>
                          </a:solidFill>
                          <a:latin typeface="Arial"/>
                        </a:defRPr>
                      </a:pPr>
                      <a:r>
                        <a:t>57.385.254</a:t>
                      </a:r>
                    </a:p>
                  </a:txBody>
                  <a:tcPr anchor="ctr" marT="18288" marB="18288" marL="45720" marR="45720">
                    <a:solidFill>
                      <a:srgbClr val="FFFFFF"/>
                    </a:solidFill>
                  </a:tcPr>
                </a:tc>
                <a:tc>
                  <a:txBody>
                    <a:bodyPr/>
                    <a:lstStyle/>
                    <a:p>
                      <a:pPr algn="ctr">
                        <a:defRPr sz="660" b="0">
                          <a:solidFill>
                            <a:srgbClr val="2A2A3D"/>
                          </a:solidFill>
                          <a:latin typeface="Arial"/>
                        </a:defRPr>
                      </a:pPr>
                      <a:r>
                        <a:t>4,34% (-0,27 pp)</a:t>
                      </a:r>
                    </a:p>
                  </a:txBody>
                  <a:tcPr anchor="ctr" marT="18288" marB="18288" marL="45720" marR="45720">
                    <a:solidFill>
                      <a:srgbClr val="FFFFFF"/>
                    </a:solidFill>
                  </a:tcPr>
                </a:tc>
                <a:tc>
                  <a:txBody>
                    <a:bodyPr/>
                    <a:lstStyle/>
                    <a:p>
                      <a:pPr algn="ctr">
                        <a:defRPr sz="660" b="0">
                          <a:solidFill>
                            <a:srgbClr val="2A2A3D"/>
                          </a:solidFill>
                          <a:latin typeface="Arial"/>
                        </a:defRPr>
                      </a:pPr>
                      <a:r>
                        <a:t>2.490.520 lb</a:t>
                      </a:r>
                    </a:p>
                  </a:txBody>
                  <a:tcPr anchor="ctr" marT="18288" marB="18288" marL="45720" marR="45720">
                    <a:solidFill>
                      <a:srgbClr val="FFFFFF"/>
                    </a:solidFill>
                  </a:tcPr>
                </a:tc>
                <a:tc>
                  <a:txBody>
                    <a:bodyPr/>
                    <a:lstStyle/>
                    <a:p>
                      <a:pPr algn="ctr">
                        <a:defRPr sz="660" b="0">
                          <a:solidFill>
                            <a:srgbClr val="2A2A3D"/>
                          </a:solidFill>
                          <a:latin typeface="Arial"/>
                        </a:defRPr>
                      </a:pPr>
                      <a:r>
                        <a:t>Rp 464,82 Jt* (Hemat 155 rb lb)</a:t>
                      </a:r>
                    </a:p>
                  </a:txBody>
                  <a:tcPr anchor="ctr" marT="18288" marB="18288" marL="45720" marR="45720">
                    <a:solidFill>
                      <a:srgbClr val="FFFFFF"/>
                    </a:solidFill>
                  </a:tcPr>
                </a:tc>
              </a:tr>
              <a:tr h="225552">
                <a:tc>
                  <a:txBody>
                    <a:bodyPr/>
                    <a:lstStyle/>
                    <a:p>
                      <a:pPr algn="l">
                        <a:defRPr sz="660" b="1">
                          <a:solidFill>
                            <a:srgbClr val="1A237E"/>
                          </a:solidFill>
                          <a:latin typeface="Arial"/>
                        </a:defRPr>
                      </a:pPr>
                      <a:r>
                        <a:t>Realisasi Q2 2026</a:t>
                      </a:r>
                    </a:p>
                  </a:txBody>
                  <a:tcPr anchor="ctr" marT="18288" marB="18288" marL="45720" marR="45720">
                    <a:solidFill>
                      <a:srgbClr val="E8F5E9"/>
                    </a:solidFill>
                  </a:tcPr>
                </a:tc>
                <a:tc>
                  <a:txBody>
                    <a:bodyPr/>
                    <a:lstStyle/>
                    <a:p>
                      <a:pPr algn="ctr">
                        <a:defRPr sz="660" b="0">
                          <a:solidFill>
                            <a:srgbClr val="2A2A3D"/>
                          </a:solidFill>
                          <a:latin typeface="Arial"/>
                        </a:defRPr>
                      </a:pPr>
                      <a:r>
                        <a:t>45.960.434</a:t>
                      </a:r>
                    </a:p>
                  </a:txBody>
                  <a:tcPr anchor="ctr" marT="18288" marB="18288" marL="45720" marR="45720">
                    <a:solidFill>
                      <a:srgbClr val="E8F5E9"/>
                    </a:solidFill>
                  </a:tcPr>
                </a:tc>
                <a:tc>
                  <a:txBody>
                    <a:bodyPr/>
                    <a:lstStyle/>
                    <a:p>
                      <a:pPr algn="ctr">
                        <a:defRPr sz="660" b="1">
                          <a:solidFill>
                            <a:srgbClr val="1B5E20"/>
                          </a:solidFill>
                          <a:latin typeface="Arial"/>
                        </a:defRPr>
                      </a:pPr>
                      <a:r>
                        <a:t>3,33% (-1,28 pp)</a:t>
                      </a:r>
                    </a:p>
                  </a:txBody>
                  <a:tcPr anchor="ctr" marT="18288" marB="18288" marL="45720" marR="45720">
                    <a:solidFill>
                      <a:srgbClr val="E8F5E9"/>
                    </a:solidFill>
                  </a:tcPr>
                </a:tc>
                <a:tc>
                  <a:txBody>
                    <a:bodyPr/>
                    <a:lstStyle/>
                    <a:p>
                      <a:pPr algn="ctr">
                        <a:defRPr sz="660" b="0">
                          <a:solidFill>
                            <a:srgbClr val="2A2A3D"/>
                          </a:solidFill>
                          <a:latin typeface="Arial"/>
                        </a:defRPr>
                      </a:pPr>
                      <a:r>
                        <a:t>1.530.482 lb</a:t>
                      </a:r>
                    </a:p>
                  </a:txBody>
                  <a:tcPr anchor="ctr" marT="18288" marB="18288" marL="45720" marR="45720">
                    <a:solidFill>
                      <a:srgbClr val="E8F5E9"/>
                    </a:solidFill>
                  </a:tcPr>
                </a:tc>
                <a:tc>
                  <a:txBody>
                    <a:bodyPr/>
                    <a:lstStyle/>
                    <a:p>
                      <a:pPr algn="ctr">
                        <a:defRPr sz="660" b="1">
                          <a:solidFill>
                            <a:srgbClr val="1B5E20"/>
                          </a:solidFill>
                          <a:latin typeface="Arial"/>
                        </a:defRPr>
                      </a:pPr>
                      <a:r>
                        <a:t>Rp 1,76 Miliar* (Hemat 588 rb lb)</a:t>
                      </a:r>
                    </a:p>
                  </a:txBody>
                  <a:tcPr anchor="ctr" marT="18288" marB="18288" marL="45720" marR="45720">
                    <a:solidFill>
                      <a:srgbClr val="E8F5E9"/>
                    </a:solidFill>
                  </a:tcPr>
                </a:tc>
              </a:tr>
              <a:tr h="225552">
                <a:tc>
                  <a:txBody>
                    <a:bodyPr/>
                    <a:lstStyle/>
                    <a:p>
                      <a:pPr algn="l">
                        <a:defRPr sz="660" b="1">
                          <a:solidFill>
                            <a:srgbClr val="1A237E"/>
                          </a:solidFill>
                          <a:latin typeface="Arial"/>
                        </a:defRPr>
                      </a:pPr>
                      <a:r>
                        <a:t>Total Realisasi S1</a:t>
                      </a:r>
                    </a:p>
                  </a:txBody>
                  <a:tcPr anchor="ctr" marT="18288" marB="18288" marL="45720" marR="45720">
                    <a:solidFill>
                      <a:srgbClr val="E8F5E9"/>
                    </a:solidFill>
                  </a:tcPr>
                </a:tc>
                <a:tc>
                  <a:txBody>
                    <a:bodyPr/>
                    <a:lstStyle/>
                    <a:p>
                      <a:pPr algn="ctr">
                        <a:defRPr sz="660" b="0">
                          <a:solidFill>
                            <a:srgbClr val="2A2A3D"/>
                          </a:solidFill>
                          <a:latin typeface="Arial"/>
                        </a:defRPr>
                      </a:pPr>
                      <a:r>
                        <a:t>103.345.688</a:t>
                      </a:r>
                    </a:p>
                  </a:txBody>
                  <a:tcPr anchor="ctr" marT="18288" marB="18288" marL="45720" marR="45720">
                    <a:solidFill>
                      <a:srgbClr val="E8F5E9"/>
                    </a:solidFill>
                  </a:tcPr>
                </a:tc>
                <a:tc>
                  <a:txBody>
                    <a:bodyPr/>
                    <a:lstStyle/>
                    <a:p>
                      <a:pPr algn="ctr">
                        <a:defRPr sz="660" b="1">
                          <a:solidFill>
                            <a:srgbClr val="1B5E20"/>
                          </a:solidFill>
                          <a:latin typeface="Arial"/>
                        </a:defRPr>
                      </a:pPr>
                      <a:r>
                        <a:t>3,89% (-0,72 pp)</a:t>
                      </a:r>
                    </a:p>
                  </a:txBody>
                  <a:tcPr anchor="ctr" marT="18288" marB="18288" marL="45720" marR="45720">
                    <a:solidFill>
                      <a:srgbClr val="E8F5E9"/>
                    </a:solidFill>
                  </a:tcPr>
                </a:tc>
                <a:tc>
                  <a:txBody>
                    <a:bodyPr/>
                    <a:lstStyle/>
                    <a:p>
                      <a:pPr algn="ctr">
                        <a:defRPr sz="660" b="0">
                          <a:solidFill>
                            <a:srgbClr val="2A2A3D"/>
                          </a:solidFill>
                          <a:latin typeface="Arial"/>
                        </a:defRPr>
                      </a:pPr>
                      <a:r>
                        <a:t>4.021.002 lb</a:t>
                      </a:r>
                    </a:p>
                  </a:txBody>
                  <a:tcPr anchor="ctr" marT="18288" marB="18288" marL="45720" marR="45720">
                    <a:solidFill>
                      <a:srgbClr val="E8F5E9"/>
                    </a:solidFill>
                  </a:tcPr>
                </a:tc>
                <a:tc>
                  <a:txBody>
                    <a:bodyPr/>
                    <a:lstStyle/>
                    <a:p>
                      <a:pPr algn="ctr">
                        <a:defRPr sz="660" b="1">
                          <a:solidFill>
                            <a:srgbClr val="1B5E20"/>
                          </a:solidFill>
                          <a:latin typeface="Arial"/>
                        </a:defRPr>
                      </a:pPr>
                      <a:r>
                        <a:t>Rp 2,23 Miliar* (Hemat 743 rb lb)</a:t>
                      </a:r>
                    </a:p>
                  </a:txBody>
                  <a:tcPr anchor="ctr" marT="18288" marB="18288" marL="45720" marR="45720">
                    <a:solidFill>
                      <a:srgbClr val="E8F5E9"/>
                    </a:solidFill>
                  </a:tcPr>
                </a:tc>
              </a:tr>
              <a:tr h="225552">
                <a:tc>
                  <a:txBody>
                    <a:bodyPr/>
                    <a:lstStyle/>
                    <a:p>
                      <a:pPr algn="l">
                        <a:defRPr sz="660" b="1">
                          <a:solidFill>
                            <a:srgbClr val="1A237E"/>
                          </a:solidFill>
                          <a:latin typeface="Arial"/>
                        </a:defRPr>
                      </a:pPr>
                      <a:r>
                        <a:t>Proyeksi 1 Thn Penuh</a:t>
                      </a:r>
                    </a:p>
                  </a:txBody>
                  <a:tcPr anchor="ctr" marT="18288" marB="18288" marL="45720" marR="45720">
                    <a:solidFill>
                      <a:srgbClr val="F8F6FE"/>
                    </a:solidFill>
                  </a:tcPr>
                </a:tc>
                <a:tc>
                  <a:txBody>
                    <a:bodyPr/>
                    <a:lstStyle/>
                    <a:p>
                      <a:pPr algn="ctr">
                        <a:defRPr sz="660" b="0">
                          <a:solidFill>
                            <a:srgbClr val="2A2A3D"/>
                          </a:solidFill>
                          <a:latin typeface="Arial"/>
                        </a:defRPr>
                      </a:pPr>
                      <a:r>
                        <a:t>177.636.930</a:t>
                      </a:r>
                    </a:p>
                  </a:txBody>
                  <a:tcPr anchor="ctr" marT="18288" marB="18288" marL="45720" marR="45720">
                    <a:solidFill>
                      <a:srgbClr val="F8F6FE"/>
                    </a:solidFill>
                  </a:tcPr>
                </a:tc>
                <a:tc>
                  <a:txBody>
                    <a:bodyPr/>
                    <a:lstStyle/>
                    <a:p>
                      <a:pPr algn="ctr">
                        <a:defRPr sz="660" b="1">
                          <a:solidFill>
                            <a:srgbClr val="6A2CC9"/>
                          </a:solidFill>
                          <a:latin typeface="Arial"/>
                        </a:defRPr>
                      </a:pPr>
                      <a:r>
                        <a:t>3,33% (Run-rate)</a:t>
                      </a:r>
                    </a:p>
                  </a:txBody>
                  <a:tcPr anchor="ctr" marT="18288" marB="18288" marL="45720" marR="45720">
                    <a:solidFill>
                      <a:srgbClr val="F8F6FE"/>
                    </a:solidFill>
                  </a:tcPr>
                </a:tc>
                <a:tc>
                  <a:txBody>
                    <a:bodyPr/>
                    <a:lstStyle/>
                    <a:p>
                      <a:pPr algn="ctr">
                        <a:defRPr sz="660" b="0">
                          <a:solidFill>
                            <a:srgbClr val="2A2A3D"/>
                          </a:solidFill>
                          <a:latin typeface="Arial"/>
                        </a:defRPr>
                      </a:pPr>
                      <a:r>
                        <a:t>5.915.310 lb</a:t>
                      </a:r>
                    </a:p>
                  </a:txBody>
                  <a:tcPr anchor="ctr" marT="18288" marB="18288" marL="45720" marR="45720">
                    <a:solidFill>
                      <a:srgbClr val="F8F6FE"/>
                    </a:solidFill>
                  </a:tcPr>
                </a:tc>
                <a:tc>
                  <a:txBody>
                    <a:bodyPr/>
                    <a:lstStyle/>
                    <a:p>
                      <a:pPr algn="ctr">
                        <a:defRPr sz="660" b="1">
                          <a:solidFill>
                            <a:srgbClr val="6A2CC9"/>
                          </a:solidFill>
                          <a:latin typeface="Arial"/>
                        </a:defRPr>
                      </a:pPr>
                      <a:r>
                        <a:t>Rp 6,82 Miliar / Thn*</a:t>
                      </a:r>
                    </a:p>
                  </a:txBody>
                  <a:tcPr anchor="ctr" marT="18288" marB="18288" marL="45720" marR="45720">
                    <a:solidFill>
                      <a:srgbClr val="F8F6FE"/>
                    </a:solidFill>
                  </a:tcPr>
                </a:tc>
              </a:tr>
            </a:tbl>
          </a:graphicData>
        </a:graphic>
      </p:graphicFrame>
      <p:sp>
        <p:nvSpPr>
          <p:cNvPr id="20" name="TextBox 19"/>
          <p:cNvSpPr txBox="1"/>
          <p:nvPr/>
        </p:nvSpPr>
        <p:spPr>
          <a:xfrm>
            <a:off x="658368" y="5669280"/>
            <a:ext cx="5404104" cy="182880"/>
          </a:xfrm>
          <a:prstGeom prst="rect">
            <a:avLst/>
          </a:prstGeom>
          <a:noFill/>
        </p:spPr>
        <p:txBody>
          <a:bodyPr wrap="none" tIns="0" lIns="0">
            <a:spAutoFit/>
          </a:bodyPr>
          <a:lstStyle/>
          <a:p>
            <a:pPr>
              <a:defRPr sz="630" b="1">
                <a:solidFill>
                  <a:srgbClr val="C62828"/>
                </a:solidFill>
                <a:latin typeface="Arial"/>
              </a:defRPr>
            </a:pPr>
            <a:r>
              <a:t>*Catatan: Rp 3.000/LK adalah ESTIMASI INTERNAL untuk simulasi (BUKAN HPP/harga resmi). Vol. &amp; Inschiet = Data Riil SAP ZPPRSIPPC0012.</a:t>
            </a:r>
          </a:p>
        </p:txBody>
      </p:sp>
      <p:sp>
        <p:nvSpPr>
          <p:cNvPr id="21" name="Rectangle 20"/>
          <p:cNvSpPr/>
          <p:nvPr/>
        </p:nvSpPr>
        <p:spPr>
          <a:xfrm>
            <a:off x="6309360" y="2816352"/>
            <a:ext cx="5330952"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ANALISIS NET VALUE, PAYBACK PERIOD &amp; EFISIENSI WAKTU</a:t>
            </a:r>
          </a:p>
        </p:txBody>
      </p:sp>
      <p:sp>
        <p:nvSpPr>
          <p:cNvPr id="22" name="Rounded Rectangle 21"/>
          <p:cNvSpPr/>
          <p:nvPr/>
        </p:nvSpPr>
        <p:spPr>
          <a:xfrm>
            <a:off x="6309360" y="3127248"/>
            <a:ext cx="5330952"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3163824"/>
            <a:ext cx="5111496" cy="219456"/>
          </a:xfrm>
          <a:prstGeom prst="rect">
            <a:avLst/>
          </a:prstGeom>
          <a:noFill/>
        </p:spPr>
        <p:txBody>
          <a:bodyPr wrap="none" tIns="0" lIns="0">
            <a:spAutoFit/>
          </a:bodyPr>
          <a:lstStyle/>
          <a:p>
            <a:r>
              <a:rPr sz="730" b="1">
                <a:solidFill>
                  <a:srgbClr val="6A2CC9"/>
                </a:solidFill>
                <a:latin typeface="Arial"/>
              </a:rPr>
              <a:t>Perbandingan Pemborosan vs Realisasi Finansial (Simulasi Rp Miliar)* </a:t>
            </a:r>
            <a:r>
              <a:rPr sz="680" i="1">
                <a:solidFill>
                  <a:srgbClr val="6E6E82"/>
                </a:solidFill>
                <a:latin typeface="Arial"/>
              </a:rPr>
              <a:t>— Sumber SAP</a:t>
            </a:r>
          </a:p>
        </p:txBody>
      </p:sp>
      <p:graphicFrame>
        <p:nvGraphicFramePr>
          <p:cNvPr id="24" name="Chart 23"/>
          <p:cNvGraphicFramePr>
            <a:graphicFrameLocks noGrp="1"/>
          </p:cNvGraphicFramePr>
          <p:nvPr/>
        </p:nvGraphicFramePr>
        <p:xfrm>
          <a:off x="6419088" y="3364992"/>
          <a:ext cx="5111496" cy="1207008"/>
        </p:xfrm>
        <a:graphic>
          <a:graphicData uri="http://schemas.openxmlformats.org/drawingml/2006/chart">
            <c:chart xmlns:c="http://schemas.openxmlformats.org/drawingml/2006/chart" r:id="rId9"/>
          </a:graphicData>
        </a:graphic>
      </p:graphicFrame>
      <p:sp>
        <p:nvSpPr>
          <p:cNvPr id="25" name="Rounded Rectangle 24"/>
          <p:cNvSpPr/>
          <p:nvPr/>
        </p:nvSpPr>
        <p:spPr>
          <a:xfrm>
            <a:off x="6419088" y="4608576"/>
            <a:ext cx="5111496" cy="1042415"/>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1B5E20"/>
                </a:solidFill>
                <a:latin typeface="Arial"/>
              </a:defRPr>
            </a:pPr>
            <a:r>
              <a:t>KALKULASI NILAI BERSIH (NET BENEFIT) &amp; PAYBACK PERIOD (SIMULASI)</a:t>
            </a:r>
          </a:p>
          <a:p>
            <a:r>
              <a:rPr b="1" sz="670">
                <a:solidFill>
                  <a:srgbClr val="1B5E20"/>
                </a:solidFill>
              </a:rPr>
              <a:t>• Net Value Creation: </a:t>
            </a:r>
            <a:r>
              <a:rPr sz="670">
                <a:solidFill>
                  <a:srgbClr val="2A2A3D"/>
                </a:solidFill>
              </a:rPr>
              <a:t>Simulasi Cost Avoidance Rp 6,82 M* - CAPEX Rp 0 - OPEX Lisensi Rp 0 = Rp 6,82 Miliar / Tahun*.</a:t>
            </a:r>
          </a:p>
          <a:p>
            <a:r>
              <a:rPr b="1" sz="670">
                <a:solidFill>
                  <a:srgbClr val="1B5E20"/>
                </a:solidFill>
              </a:rPr>
              <a:t>• Payback Period: </a:t>
            </a:r>
            <a:r>
              <a:rPr sz="670">
                <a:solidFill>
                  <a:srgbClr val="2A2A3D"/>
                </a:solidFill>
              </a:rPr>
              <a:t>0 Bulan (Seketika) — Investasi Rp 0 / Benefit Simulasi Rp 6,82 M* menghasilkan Instant ROI.</a:t>
            </a:r>
          </a:p>
          <a:p>
            <a:r>
              <a:rPr b="1" sz="670">
                <a:solidFill>
                  <a:srgbClr val="1A237E"/>
                </a:solidFill>
              </a:rPr>
              <a:t>• Efisiensi Operasional Riil: </a:t>
            </a:r>
            <a:r>
              <a:rPr sz="670">
                <a:solidFill>
                  <a:srgbClr val="2A2A3D"/>
                </a:solidFill>
              </a:rPr>
              <a:t>Waktu henti inspeksi mesin turun dari &gt; 8 jam ke &lt; 2–4 jam, rekap turun dari 45 mnt ke 0 mnt.</a:t>
            </a:r>
          </a:p>
          <a:p>
            <a:r>
              <a:rPr b="1" sz="670">
                <a:solidFill>
                  <a:srgbClr val="1A237E"/>
                </a:solidFill>
              </a:rPr>
              <a:t>• Penegasan Estimasi: </a:t>
            </a:r>
            <a:r>
              <a:rPr sz="670">
                <a:solidFill>
                  <a:srgbClr val="2A2A3D"/>
                </a:solidFill>
              </a:rPr>
              <a:t>Nilai Rp 3.000/LK semata-mata model simulasi finansial, bukan rujukan laporan biaya resmi.</a:t>
            </a:r>
          </a:p>
        </p:txBody>
      </p:sp>
      <p:sp>
        <p:nvSpPr>
          <p:cNvPr id="26" name="TextBox 25"/>
          <p:cNvSpPr txBox="1"/>
          <p:nvPr/>
        </p:nvSpPr>
        <p:spPr>
          <a:xfrm>
            <a:off x="6419088" y="5669280"/>
            <a:ext cx="5111496" cy="182880"/>
          </a:xfrm>
          <a:prstGeom prst="rect">
            <a:avLst/>
          </a:prstGeom>
          <a:noFill/>
        </p:spPr>
        <p:txBody>
          <a:bodyPr wrap="none" tIns="0" lIns="0">
            <a:spAutoFit/>
          </a:bodyPr>
          <a:lstStyle/>
          <a:p>
            <a:pPr>
              <a:defRPr sz="650" b="1">
                <a:solidFill>
                  <a:srgbClr val="6A2CC9"/>
                </a:solidFill>
                <a:latin typeface="Arial"/>
              </a:defRPr>
            </a:pPr>
            <a:r>
              <a:t>*(Audit Trail: 100% Data Transaksi Digital Tervalidasi via SAP ERP &amp; Berita Acara BA-PPC-2026-002)</a:t>
            </a:r>
          </a:p>
        </p:txBody>
      </p:sp>
      <p:sp>
        <p:nvSpPr>
          <p:cNvPr id="27" name="Rounded Rectangle 26"/>
          <p:cNvSpPr/>
          <p:nvPr/>
        </p:nvSpPr>
        <p:spPr>
          <a:xfrm>
            <a:off x="548640" y="5961888"/>
            <a:ext cx="11091672" cy="402336"/>
          </a:xfrm>
          <a:prstGeom prst="roundRect">
            <a:avLst/>
          </a:prstGeom>
          <a:solidFill>
            <a:srgbClr val="FFF9E6"/>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54864" lIns="109728" rIns="109728"/>
          <a:lstStyle/>
          <a:p>
            <a:pPr algn="ctr"/>
            <a:r>
              <a:rPr sz="740" b="1">
                <a:solidFill>
                  <a:srgbClr val="E65100"/>
                </a:solidFill>
                <a:latin typeface="Arial"/>
              </a:rPr>
              <a:t>• Penegasan Simulasi Finansial &amp; Data Riil: </a:t>
            </a:r>
            <a:r>
              <a:rPr sz="720">
                <a:solidFill>
                  <a:srgbClr val="2A2A3D"/>
                </a:solidFill>
                <a:latin typeface="Arial"/>
              </a:rPr>
              <a:t>Nilai rupiah (Rp 2,23 Miliar S1 &amp; proyeksi Rp 6,82 Miliar/tahun) merupakan HASIL SIMULASI ESTIMASI (@ Rp 3.000/LK) untuk mengukur dampak efisiensi — BUKAN laporan HPP riil atau harga jual resmi Peruri (rahasia perusahaan). Seluruh data volume fisik (177,6 Jt LK), lembar diselamatkan (743 rb LK S1 / 2,27 Jt LK per tahun), dan penurunan inschiet (4,61% ➔ 3,33%) adalah DATA RIIL TERVERIFIKASI SAP ZPPRSIPPC0012.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06.2</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400" b="1">
                <a:solidFill>
                  <a:srgbClr val="20288F"/>
                </a:solidFill>
                <a:latin typeface="Arial"/>
              </a:defRPr>
            </a:pPr>
            <a:r>
              <a:t>Dampak Multidimensi: Mutu, People, K3L/ESG, Kepatuhan &amp; Potensi Replikasi</a:t>
            </a:r>
          </a:p>
        </p:txBody>
      </p:sp>
      <p:sp>
        <p:nvSpPr>
          <p:cNvPr id="6" name="TextBox 5"/>
          <p:cNvSpPr txBox="1"/>
          <p:nvPr/>
        </p:nvSpPr>
        <p:spPr>
          <a:xfrm>
            <a:off x="548640" y="1353312"/>
            <a:ext cx="10789920" cy="347472"/>
          </a:xfrm>
          <a:prstGeom prst="rect">
            <a:avLst/>
          </a:prstGeom>
          <a:noFill/>
        </p:spPr>
        <p:txBody>
          <a:bodyPr wrap="square" tIns="0" lIns="0" rIns="0">
            <a:spAutoFit/>
          </a:bodyPr>
          <a:lstStyle/>
          <a:p>
            <a:r>
              <a:rPr sz="1150" b="1">
                <a:solidFill>
                  <a:srgbClr val="6A2CC9"/>
                </a:solidFill>
                <a:latin typeface="Arial"/>
              </a:rPr>
              <a:t>Tujuan bagian ini:  </a:t>
            </a:r>
            <a:r>
              <a:rPr sz="1150">
                <a:solidFill>
                  <a:srgbClr val="2A2A3D"/>
                </a:solidFill>
                <a:latin typeface="Arial"/>
              </a:rPr>
              <a:t>Sajikan dampak non-finansial terukur lintas mutu, budaya kerja, ESG, kepatuhan audit, serta keselarasan strategi INDI 4.0 &amp; roadmap replikasi.</a:t>
            </a:r>
          </a:p>
        </p:txBody>
      </p:sp>
      <p:sp>
        <p:nvSpPr>
          <p:cNvPr id="7" name="TextBox 6"/>
          <p:cNvSpPr txBox="1"/>
          <p:nvPr/>
        </p:nvSpPr>
        <p:spPr>
          <a:xfrm>
            <a:off x="548640" y="6419088"/>
            <a:ext cx="11091672" cy="219456"/>
          </a:xfrm>
          <a:prstGeom prst="rect">
            <a:avLst/>
          </a:prstGeom>
          <a:noFill/>
        </p:spPr>
        <p:txBody>
          <a:bodyPr wrap="none" t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MUTU &amp; KEPUASAN DJBC</a:t>
            </a:r>
          </a:p>
          <a:p>
            <a:pPr algn="ctr">
              <a:defRPr sz="1550" b="1">
                <a:solidFill>
                  <a:srgbClr val="2E7D32"/>
                </a:solidFill>
                <a:latin typeface="Arial"/>
              </a:defRPr>
            </a:pPr>
            <a:r>
              <a:t>0 Komplain / Klaim</a:t>
            </a:r>
          </a:p>
          <a:p>
            <a:pPr algn="ctr">
              <a:defRPr sz="720">
                <a:solidFill>
                  <a:srgbClr val="2A2A3D"/>
                </a:solidFill>
                <a:latin typeface="Arial"/>
              </a:defRPr>
            </a:pPr>
            <a:r>
              <a:t>SLA 100% On-Time | Sumber: Berita Acara DJBC</a:t>
            </a:r>
          </a:p>
        </p:txBody>
      </p:sp>
      <p:sp>
        <p:nvSpPr>
          <p:cNvPr id="9" name="Rectangle 8"/>
          <p:cNvSpPr/>
          <p:nvPr/>
        </p:nvSpPr>
        <p:spPr>
          <a:xfrm>
            <a:off x="548640"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DAMPAK ESG &amp; LINGKUNGAN</a:t>
            </a:r>
          </a:p>
          <a:p>
            <a:pPr algn="ctr">
              <a:defRPr sz="1550" b="1">
                <a:solidFill>
                  <a:srgbClr val="2E7D32"/>
                </a:solidFill>
                <a:latin typeface="Arial"/>
              </a:defRPr>
            </a:pPr>
            <a:r>
              <a:t>2,27 Jt Lembar / Thn</a:t>
            </a:r>
          </a:p>
          <a:p>
            <a:pPr algn="ctr">
              <a:defRPr sz="720">
                <a:solidFill>
                  <a:srgbClr val="2A2A3D"/>
                </a:solidFill>
                <a:latin typeface="Arial"/>
              </a:defRPr>
            </a:pPr>
            <a:r>
              <a:t>Reduksi Limbah Afval | Sumber: SAP ZPPRSIPPC0012</a:t>
            </a:r>
          </a:p>
        </p:txBody>
      </p:sp>
      <p:sp>
        <p:nvSpPr>
          <p:cNvPr id="11" name="Rectangle 10"/>
          <p:cNvSpPr/>
          <p:nvPr/>
        </p:nvSpPr>
        <p:spPr>
          <a:xfrm>
            <a:off x="3374136"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0288F"/>
                </a:solidFill>
                <a:latin typeface="Arial"/>
              </a:defRPr>
            </a:pPr>
            <a:r>
              <a:t>BUDAYA DATA &amp; KEPATUHAN</a:t>
            </a:r>
          </a:p>
          <a:p>
            <a:pPr algn="ctr">
              <a:defRPr sz="1550" b="1">
                <a:solidFill>
                  <a:srgbClr val="20288F"/>
                </a:solidFill>
                <a:latin typeface="Arial"/>
              </a:defRPr>
            </a:pPr>
            <a:r>
              <a:t>100% Auditable</a:t>
            </a:r>
          </a:p>
          <a:p>
            <a:pPr algn="ctr">
              <a:defRPr sz="720">
                <a:solidFill>
                  <a:srgbClr val="2A2A3D"/>
                </a:solidFill>
                <a:latin typeface="Arial"/>
              </a:defRPr>
            </a:pPr>
            <a:r>
              <a:t>Sesuai ISO 9001:2015 | Sumber: Log Transaksi PO</a:t>
            </a:r>
          </a:p>
        </p:txBody>
      </p:sp>
      <p:sp>
        <p:nvSpPr>
          <p:cNvPr id="13" name="Rectangle 12"/>
          <p:cNvSpPr/>
          <p:nvPr/>
        </p:nvSpPr>
        <p:spPr>
          <a:xfrm>
            <a:off x="6199632"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KESIAPAN REPLIKASI</a:t>
            </a:r>
          </a:p>
          <a:p>
            <a:pPr algn="ctr">
              <a:defRPr sz="1550" b="1">
                <a:solidFill>
                  <a:srgbClr val="6A2CC9"/>
                </a:solidFill>
                <a:latin typeface="Arial"/>
              </a:defRPr>
            </a:pPr>
            <a:r>
              <a:t>4 Unit Produksi</a:t>
            </a:r>
          </a:p>
          <a:p>
            <a:pPr algn="ctr">
              <a:defRPr sz="720">
                <a:solidFill>
                  <a:srgbClr val="2A2A3D"/>
                </a:solidFill>
                <a:latin typeface="Arial"/>
              </a:defRPr>
            </a:pPr>
            <a:r>
              <a:t>Meterai, Paspor, Khazanah, Uang | RJPP INDI 4.0</a:t>
            </a:r>
          </a:p>
        </p:txBody>
      </p:sp>
      <p:sp>
        <p:nvSpPr>
          <p:cNvPr id="15" name="Rectangle 14"/>
          <p:cNvSpPr/>
          <p:nvPr/>
        </p:nvSpPr>
        <p:spPr>
          <a:xfrm>
            <a:off x="9025128"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44068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MATRIKS DAMPAK NON-FINANSIAL TERVALIDASI (4 PILAR)</a:t>
            </a:r>
          </a:p>
        </p:txBody>
      </p:sp>
      <p:sp>
        <p:nvSpPr>
          <p:cNvPr id="17" name="Rounded Rectangle 16"/>
          <p:cNvSpPr/>
          <p:nvPr/>
        </p:nvSpPr>
        <p:spPr>
          <a:xfrm>
            <a:off x="548640" y="3127248"/>
            <a:ext cx="544068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3182112"/>
            <a:ext cx="5221224" cy="603504"/>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2E7D32"/>
                </a:solidFill>
                <a:latin typeface="Arial"/>
              </a:defRPr>
            </a:pPr>
            <a:r>
              <a:t>PILAR 1: MUTU &amp; KEPUASAN PELANGGAN (DJBC KEMENKEU RI)</a:t>
            </a:r>
          </a:p>
          <a:p>
            <a:pPr>
              <a:defRPr sz="650">
                <a:solidFill>
                  <a:srgbClr val="2A2A3D"/>
                </a:solidFill>
                <a:latin typeface="Arial"/>
              </a:defRPr>
            </a:pPr>
            <a:r>
              <a:t>• Jaminan Mutu &amp; SLA 100%: Nol komplain mutu &amp; pengiriman tepat waktu (Sumber: BA Serah Terima DJBC).</a:t>
            </a:r>
          </a:p>
          <a:p>
            <a:pPr>
              <a:defRPr sz="650">
                <a:solidFill>
                  <a:srgbClr val="2A2A3D"/>
                </a:solidFill>
                <a:latin typeface="Arial"/>
              </a:defRPr>
            </a:pPr>
            <a:r>
              <a:t>• Proteksi Penerimaan Negara: Risiko lembar HCTS cacat lolos ditekan hingga batas nol.</a:t>
            </a:r>
          </a:p>
        </p:txBody>
      </p:sp>
      <p:sp>
        <p:nvSpPr>
          <p:cNvPr id="19" name="Rounded Rectangle 18"/>
          <p:cNvSpPr/>
          <p:nvPr/>
        </p:nvSpPr>
        <p:spPr>
          <a:xfrm>
            <a:off x="658368" y="3822191"/>
            <a:ext cx="5221224" cy="603504"/>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6A2CC9"/>
                </a:solidFill>
                <a:latin typeface="Arial"/>
              </a:defRPr>
            </a:pPr>
            <a:r>
              <a:t>PILAR 2: PEOPLE, BUDAYA KERJA &amp; KEPUASAN PENGGUNA</a:t>
            </a:r>
          </a:p>
          <a:p>
            <a:pPr>
              <a:defRPr sz="650">
                <a:solidFill>
                  <a:srgbClr val="2A2A3D"/>
                </a:solidFill>
                <a:latin typeface="Arial"/>
              </a:defRPr>
            </a:pPr>
            <a:r>
              <a:t>• Budaya Data Objektif: Output LK &amp; % cacat per tim tersaji berdampingan (Sumber: Modul Unit Cetak).</a:t>
            </a:r>
          </a:p>
          <a:p>
            <a:pPr>
              <a:defRPr sz="650">
                <a:solidFill>
                  <a:srgbClr val="2A2A3D"/>
                </a:solidFill>
                <a:latin typeface="Arial"/>
              </a:defRPr>
            </a:pPr>
            <a:r>
              <a:t>• Kenyamanan Kerja (Lean UX): Input form digital &lt; 30 detik Autofill SAP (Sumber: Log Transaksi).</a:t>
            </a:r>
          </a:p>
        </p:txBody>
      </p:sp>
      <p:sp>
        <p:nvSpPr>
          <p:cNvPr id="20" name="Rounded Rectangle 19"/>
          <p:cNvSpPr/>
          <p:nvPr/>
        </p:nvSpPr>
        <p:spPr>
          <a:xfrm>
            <a:off x="658368" y="4462272"/>
            <a:ext cx="5221224" cy="621792"/>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20288F"/>
                </a:solidFill>
                <a:latin typeface="Arial"/>
              </a:defRPr>
            </a:pPr>
            <a:r>
              <a:t>PILAR 3: KEPATUHAN TATA KELOLA &amp; AUDITABILITY (ISO 9001:2015)</a:t>
            </a:r>
          </a:p>
          <a:p>
            <a:pPr>
              <a:defRPr sz="650">
                <a:solidFill>
                  <a:srgbClr val="2A2A3D"/>
                </a:solidFill>
                <a:latin typeface="Arial"/>
              </a:defRPr>
            </a:pPr>
            <a:r>
              <a:t>• Klausul ISO 9001: Penuhi Klausul 8.5.2 (Mampu Telusur) &amp; Klausul 9.1.3 (Analisis Data Mutu).</a:t>
            </a:r>
          </a:p>
          <a:p>
            <a:pPr>
              <a:defRPr sz="650">
                <a:solidFill>
                  <a:srgbClr val="2A2A3D"/>
                </a:solidFill>
                <a:latin typeface="Arial"/>
              </a:defRPr>
            </a:pPr>
            <a:r>
              <a:t>• Jejak Audit 100%: Rantai PO ➔ Mesin ➔ Shift ➔ Tim ➔ Cacat terverifikasi digital (Sumber: Basis Data).</a:t>
            </a:r>
          </a:p>
        </p:txBody>
      </p:sp>
      <p:sp>
        <p:nvSpPr>
          <p:cNvPr id="21" name="Rounded Rectangle 20"/>
          <p:cNvSpPr/>
          <p:nvPr/>
        </p:nvSpPr>
        <p:spPr>
          <a:xfrm>
            <a:off x="658368" y="5120640"/>
            <a:ext cx="5221224" cy="621792"/>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1B5E20"/>
                </a:solidFill>
                <a:latin typeface="Arial"/>
              </a:defRPr>
            </a:pPr>
            <a:r>
              <a:t>PILAR 4: K3L &amp; ESG (KEBERLANJUTAN LINGKUNGAN &amp; ERGONOMI)</a:t>
            </a:r>
          </a:p>
          <a:p>
            <a:pPr>
              <a:defRPr sz="650">
                <a:solidFill>
                  <a:srgbClr val="2A2A3D"/>
                </a:solidFill>
                <a:latin typeface="Arial"/>
              </a:defRPr>
            </a:pPr>
            <a:r>
              <a:t>• Reduksi Limbah Padat (ESG): Mencegah 2,27 Jt lembar limbah afval/thn (Sumber: SAP ZPPRSIPPC0012).</a:t>
            </a:r>
          </a:p>
          <a:p>
            <a:pPr>
              <a:defRPr sz="650">
                <a:solidFill>
                  <a:srgbClr val="2A2A3D"/>
                </a:solidFill>
                <a:latin typeface="Arial"/>
              </a:defRPr>
            </a:pPr>
            <a:r>
              <a:t>• Reduksi Kimia &amp; Kelelahan: Menekan solvent pencuci rol &amp; pangkas perbaikan mesin ke &lt; 2–4 jam.</a:t>
            </a:r>
          </a:p>
        </p:txBody>
      </p:sp>
      <p:sp>
        <p:nvSpPr>
          <p:cNvPr id="22" name="TextBox 21"/>
          <p:cNvSpPr txBox="1"/>
          <p:nvPr/>
        </p:nvSpPr>
        <p:spPr>
          <a:xfrm>
            <a:off x="658368" y="5742432"/>
            <a:ext cx="5221224" cy="128016"/>
          </a:xfrm>
          <a:prstGeom prst="rect">
            <a:avLst/>
          </a:prstGeom>
          <a:noFill/>
        </p:spPr>
        <p:txBody>
          <a:bodyPr wrap="none" tIns="0" lIns="0">
            <a:spAutoFit/>
          </a:bodyPr>
          <a:lstStyle/>
          <a:p>
            <a:pPr>
              <a:defRPr sz="630" b="1">
                <a:solidFill>
                  <a:srgbClr val="1A237E"/>
                </a:solidFill>
                <a:latin typeface="Arial"/>
              </a:defRPr>
            </a:pPr>
            <a:r>
              <a:t>*(Sumber Data: Laporan SLA DJBC 2026, Modul Verifikasi Mutu, Berita Acara BA-PPC-2026-002 &amp; SAP ERP)</a:t>
            </a:r>
          </a:p>
        </p:txBody>
      </p:sp>
      <p:sp>
        <p:nvSpPr>
          <p:cNvPr id="23" name="Rectangle 22"/>
          <p:cNvSpPr/>
          <p:nvPr/>
        </p:nvSpPr>
        <p:spPr>
          <a:xfrm>
            <a:off x="6126480" y="2816352"/>
            <a:ext cx="5513832"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KESELARASAN STRATEGIS PERUSAHAAN &amp; ROADMAP REPLIKASI</a:t>
            </a:r>
          </a:p>
        </p:txBody>
      </p:sp>
      <p:sp>
        <p:nvSpPr>
          <p:cNvPr id="24" name="Rounded Rectangle 23"/>
          <p:cNvSpPr/>
          <p:nvPr/>
        </p:nvSpPr>
        <p:spPr>
          <a:xfrm>
            <a:off x="6126480" y="3127248"/>
            <a:ext cx="5513832"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236208" y="3182112"/>
            <a:ext cx="5294376" cy="1188720"/>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6A2CC9"/>
                </a:solidFill>
                <a:latin typeface="Arial"/>
              </a:defRPr>
            </a:pPr>
            <a:r>
              <a:t>KESELARASAN STRATEGIS PERUSAHAAN &amp; DUKUNGAN SKOR INDI 4.0</a:t>
            </a:r>
          </a:p>
          <a:p>
            <a:r>
              <a:rPr b="1" sz="680">
                <a:solidFill>
                  <a:srgbClr val="6A2CC9"/>
                </a:solidFill>
              </a:rPr>
              <a:t>• Transformasi Smart Factory: </a:t>
            </a:r>
            <a:r>
              <a:rPr sz="680">
                <a:solidFill>
                  <a:srgbClr val="2A2A3D"/>
                </a:solidFill>
              </a:rPr>
              <a:t>Mendukung RJPP Digital Peruri &amp; Asesmen INDI 4.0 Kementerian BUMN.</a:t>
            </a:r>
          </a:p>
          <a:p>
            <a:r>
              <a:rPr b="1" sz="680">
                <a:solidFill>
                  <a:srgbClr val="6A2CC9"/>
                </a:solidFill>
              </a:rPr>
              <a:t>• Integrasi Data PPIC: </a:t>
            </a:r>
            <a:r>
              <a:rPr sz="680">
                <a:solidFill>
                  <a:srgbClr val="2A2A3D"/>
                </a:solidFill>
              </a:rPr>
              <a:t>Sinkronisasi data keandalan mesin dengan perencanaan kapasitas SAP.</a:t>
            </a:r>
          </a:p>
          <a:p>
            <a:r>
              <a:rPr b="1" sz="680">
                <a:solidFill>
                  <a:srgbClr val="6A2CC9"/>
                </a:solidFill>
              </a:rPr>
              <a:t>• Kedaulatan &amp; Keamanan Data: </a:t>
            </a:r>
            <a:r>
              <a:rPr sz="680">
                <a:solidFill>
                  <a:srgbClr val="2A2A3D"/>
                </a:solidFill>
              </a:rPr>
              <a:t>100% In-house development menjamin kerahasiaan data sekuriti negara.</a:t>
            </a:r>
          </a:p>
        </p:txBody>
      </p:sp>
      <p:sp>
        <p:nvSpPr>
          <p:cNvPr id="26" name="Rounded Rectangle 25"/>
          <p:cNvSpPr/>
          <p:nvPr/>
        </p:nvSpPr>
        <p:spPr>
          <a:xfrm>
            <a:off x="6236208" y="4407408"/>
            <a:ext cx="5294376" cy="129844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36576" lIns="73152" rIns="73152"/>
          <a:lstStyle/>
          <a:p>
            <a:pPr algn="ctr">
              <a:defRPr sz="780" b="1">
                <a:solidFill>
                  <a:srgbClr val="20288F"/>
                </a:solidFill>
                <a:latin typeface="Arial"/>
              </a:defRPr>
            </a:pPr>
            <a:r>
              <a:t>POTENSI &amp; ROADMAP REPLIKASI KE 4 LINI PRODUKSI STRATEGIS LAIN</a:t>
            </a:r>
          </a:p>
          <a:p>
            <a:r>
              <a:rPr b="1" sz="660">
                <a:solidFill>
                  <a:srgbClr val="20288F"/>
                </a:solidFill>
              </a:rPr>
              <a:t>• 1. Unit Cetak Meterai: </a:t>
            </a:r>
            <a:r>
              <a:rPr sz="660">
                <a:solidFill>
                  <a:srgbClr val="2A2A3D"/>
                </a:solidFill>
              </a:rPr>
              <a:t>Digitalisasi nomor seri &amp; audit cacat cetak meterai tempel/elektronik.</a:t>
            </a:r>
          </a:p>
          <a:p>
            <a:r>
              <a:rPr b="1" sz="660">
                <a:solidFill>
                  <a:srgbClr val="20288F"/>
                </a:solidFill>
              </a:rPr>
              <a:t>• 2. Unit Dokumen Paspor: </a:t>
            </a:r>
            <a:r>
              <a:rPr sz="660">
                <a:solidFill>
                  <a:srgbClr val="2A2A3D"/>
                </a:solidFill>
              </a:rPr>
              <a:t>Pelacakan nomor seri &amp; pengendalian afval blanko paspor RI &amp; buku pelaut.</a:t>
            </a:r>
          </a:p>
          <a:p>
            <a:r>
              <a:rPr b="1" sz="660">
                <a:solidFill>
                  <a:srgbClr val="20288F"/>
                </a:solidFill>
              </a:rPr>
              <a:t>• 3. Unit Khazanah &amp; Finishing: </a:t>
            </a:r>
            <a:r>
              <a:rPr sz="660">
                <a:solidFill>
                  <a:srgbClr val="2A2A3D"/>
                </a:solidFill>
              </a:rPr>
              <a:t>Rekonsiliasi lembar sempurna vs cacat saat proses sortasi akhir.</a:t>
            </a:r>
          </a:p>
          <a:p>
            <a:r>
              <a:rPr b="1" sz="660">
                <a:solidFill>
                  <a:srgbClr val="20288F"/>
                </a:solidFill>
              </a:rPr>
              <a:t>• 4. Unit Cetak Uang Kertas: </a:t>
            </a:r>
            <a:r>
              <a:rPr sz="660">
                <a:solidFill>
                  <a:srgbClr val="2A2A3D"/>
                </a:solidFill>
              </a:rPr>
              <a:t>Replikasi audit Pareto kerusakan mekanis mesin cetak uang sekuriti tinggi.</a:t>
            </a:r>
          </a:p>
        </p:txBody>
      </p:sp>
      <p:sp>
        <p:nvSpPr>
          <p:cNvPr id="27" name="TextBox 26"/>
          <p:cNvSpPr txBox="1"/>
          <p:nvPr/>
        </p:nvSpPr>
        <p:spPr>
          <a:xfrm>
            <a:off x="6236208" y="5742432"/>
            <a:ext cx="5294376" cy="128016"/>
          </a:xfrm>
          <a:prstGeom prst="rect">
            <a:avLst/>
          </a:prstGeom>
          <a:noFill/>
        </p:spPr>
        <p:txBody>
          <a:bodyPr wrap="none" tIns="0" lIns="0">
            <a:spAutoFit/>
          </a:bodyPr>
          <a:lstStyle/>
          <a:p>
            <a:pPr>
              <a:defRPr sz="630" b="1">
                <a:solidFill>
                  <a:srgbClr val="6A2CC9"/>
                </a:solidFill>
                <a:latin typeface="Arial"/>
              </a:defRPr>
            </a:pPr>
            <a:r>
              <a:t>*(Landasan Kebijakan: Selaras PP No. 06/2019, Standar Mutu ISO 9001:2015, dan Roadmap INDI 4.0)</a:t>
            </a:r>
          </a:p>
        </p:txBody>
      </p:sp>
      <p:sp>
        <p:nvSpPr>
          <p:cNvPr id="28" name="Rounded Rectangle 27"/>
          <p:cNvSpPr/>
          <p:nvPr/>
        </p:nvSpPr>
        <p:spPr>
          <a:xfrm>
            <a:off x="548640" y="5961888"/>
            <a:ext cx="11091672" cy="402336"/>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54864" lIns="109728" rIns="109728"/>
          <a:lstStyle/>
          <a:p>
            <a:pPr algn="ctr"/>
            <a:r>
              <a:rPr sz="750" b="1">
                <a:solidFill>
                  <a:srgbClr val="6A2CC9"/>
                </a:solidFill>
                <a:latin typeface="Arial"/>
              </a:rPr>
              <a:t>• Integritas Data Non-Finansial: </a:t>
            </a:r>
            <a:r>
              <a:rPr sz="750">
                <a:solidFill>
                  <a:srgbClr val="2A2A3D"/>
                </a:solidFill>
                <a:latin typeface="Arial"/>
              </a:rPr>
              <a:t>Dampak terverifikasi melalui Berita Acara Serah Terima DJBC (Nol Komplain), pencegahan 2,27 Juta lembar limbah afval (SAP ZPPRSIPPC0012), bukti audit penarikan buku folio (BA-PPC-2026-002), dan keselarasan asesmen INDI 4.0.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6"/>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07.1</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300" b="1">
                <a:solidFill>
                  <a:srgbClr val="20288F"/>
                </a:solidFill>
                <a:latin typeface="Arial"/>
              </a:defRPr>
            </a:pPr>
            <a:r>
              <a:t>Sustainability: Standardisasi Tata Kelola, Registrasi SOP/IK Baru &amp; Penutupan Sistem Lama</a:t>
            </a:r>
          </a:p>
        </p:txBody>
      </p:sp>
      <p:sp>
        <p:nvSpPr>
          <p:cNvPr id="6" name="TextBox 5"/>
          <p:cNvSpPr txBox="1"/>
          <p:nvPr/>
        </p:nvSpPr>
        <p:spPr>
          <a:xfrm>
            <a:off x="548640" y="1353312"/>
            <a:ext cx="10789920" cy="347472"/>
          </a:xfrm>
          <a:prstGeom prst="rect">
            <a:avLst/>
          </a:prstGeom>
          <a:noFill/>
        </p:spPr>
        <p:txBody>
          <a:bodyPr wrap="square" tIns="0" lIns="0" rIns="0">
            <a:spAutoFit/>
          </a:bodyPr>
          <a:lstStyle/>
          <a:p>
            <a:r>
              <a:rPr sz="1150" b="1">
                <a:solidFill>
                  <a:srgbClr val="6A2CC9"/>
                </a:solidFill>
                <a:latin typeface="Arial"/>
              </a:rPr>
              <a:t>Tujuan bagian ini:  </a:t>
            </a:r>
            <a:r>
              <a:rPr sz="1150">
                <a:solidFill>
                  <a:srgbClr val="2A2A3D"/>
                </a:solidFill>
                <a:latin typeface="Arial"/>
              </a:rPr>
              <a:t>Kunci cara kerja baru agar mengikat secara legal-formal dalam tata kelola mutu operasional dan tidak bergantung pada ingatan individu.</a:t>
            </a:r>
          </a:p>
        </p:txBody>
      </p:sp>
      <p:sp>
        <p:nvSpPr>
          <p:cNvPr id="7" name="TextBox 6"/>
          <p:cNvSpPr txBox="1"/>
          <p:nvPr/>
        </p:nvSpPr>
        <p:spPr>
          <a:xfrm>
            <a:off x="548640" y="6419088"/>
            <a:ext cx="11091672" cy="219456"/>
          </a:xfrm>
          <a:prstGeom prst="rect">
            <a:avLst/>
          </a:prstGeom>
          <a:noFill/>
        </p:spPr>
        <p:txBody>
          <a:bodyPr wrap="none" t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DOKUMEN RESMI DISAHKAN</a:t>
            </a:r>
          </a:p>
          <a:p>
            <a:pPr algn="ctr">
              <a:defRPr sz="1550" b="1">
                <a:solidFill>
                  <a:srgbClr val="6A2CC9"/>
                </a:solidFill>
                <a:latin typeface="Arial"/>
              </a:defRPr>
            </a:pPr>
            <a:r>
              <a:t>2 SOP / IK Baru</a:t>
            </a:r>
          </a:p>
          <a:p>
            <a:pPr algn="ctr">
              <a:defRPr sz="720">
                <a:solidFill>
                  <a:srgbClr val="2A2A3D"/>
                </a:solidFill>
                <a:latin typeface="Arial"/>
              </a:defRPr>
            </a:pPr>
            <a:r>
              <a:t>IK-PPC-2026-001 &amp; SOP-PPC-2026-004</a:t>
            </a:r>
          </a:p>
        </p:txBody>
      </p:sp>
      <p:sp>
        <p:nvSpPr>
          <p:cNvPr id="9" name="Rectangle 8"/>
          <p:cNvSpPr/>
          <p:nvPr/>
        </p:nvSpPr>
        <p:spPr>
          <a:xfrm>
            <a:off x="548640"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FFF5F5"/>
          </a:solidFill>
          <a:ln w="19050">
            <a:solidFill>
              <a:srgbClr val="FFCDD2"/>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C62828"/>
                </a:solidFill>
                <a:latin typeface="Arial"/>
              </a:defRPr>
            </a:pPr>
            <a:r>
              <a:t>PENUTUPAN SISTEM LAMA</a:t>
            </a:r>
          </a:p>
          <a:p>
            <a:pPr algn="ctr">
              <a:defRPr sz="1550" b="1">
                <a:solidFill>
                  <a:srgbClr val="C62828"/>
                </a:solidFill>
                <a:latin typeface="Arial"/>
              </a:defRPr>
            </a:pPr>
            <a:r>
              <a:t>100% Non-Aktif</a:t>
            </a:r>
          </a:p>
          <a:p>
            <a:pPr algn="ctr">
              <a:defRPr sz="720">
                <a:solidFill>
                  <a:srgbClr val="2A2A3D"/>
                </a:solidFill>
                <a:latin typeface="Arial"/>
              </a:defRPr>
            </a:pPr>
            <a:r>
              <a:t>Berita Acara BA-PPC-2026-002 (Buku Folio Ditarik)</a:t>
            </a:r>
          </a:p>
        </p:txBody>
      </p:sp>
      <p:sp>
        <p:nvSpPr>
          <p:cNvPr id="11" name="Rectangle 10"/>
          <p:cNvSpPr/>
          <p:nvPr/>
        </p:nvSpPr>
        <p:spPr>
          <a:xfrm>
            <a:off x="3374136" y="1737360"/>
            <a:ext cx="2615184" cy="54864"/>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0288F"/>
                </a:solidFill>
                <a:latin typeface="Arial"/>
              </a:defRPr>
            </a:pPr>
            <a:r>
              <a:t>STANDAR MUTU ISO</a:t>
            </a:r>
          </a:p>
          <a:p>
            <a:pPr algn="ctr">
              <a:defRPr sz="1550" b="1">
                <a:solidFill>
                  <a:srgbClr val="20288F"/>
                </a:solidFill>
                <a:latin typeface="Arial"/>
              </a:defRPr>
            </a:pPr>
            <a:r>
              <a:t>ISO 9001:2015</a:t>
            </a:r>
          </a:p>
          <a:p>
            <a:pPr algn="ctr">
              <a:defRPr sz="720">
                <a:solidFill>
                  <a:srgbClr val="2A2A3D"/>
                </a:solidFill>
                <a:latin typeface="Arial"/>
              </a:defRPr>
            </a:pPr>
            <a:r>
              <a:t>Klausul 8.5.2 (Traceability) &amp; 9.1.3 (Evaluasi Data)</a:t>
            </a:r>
          </a:p>
        </p:txBody>
      </p:sp>
      <p:sp>
        <p:nvSpPr>
          <p:cNvPr id="13" name="Rectangle 12"/>
          <p:cNvSpPr/>
          <p:nvPr/>
        </p:nvSpPr>
        <p:spPr>
          <a:xfrm>
            <a:off x="6199632"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DUAL-SYSTEM ELIMINATION</a:t>
            </a:r>
          </a:p>
          <a:p>
            <a:pPr algn="ctr">
              <a:defRPr sz="1550" b="1">
                <a:solidFill>
                  <a:srgbClr val="2E7D32"/>
                </a:solidFill>
                <a:latin typeface="Arial"/>
              </a:defRPr>
            </a:pPr>
            <a:r>
              <a:t>0 Form Manual</a:t>
            </a:r>
          </a:p>
          <a:p>
            <a:pPr algn="ctr">
              <a:defRPr sz="720">
                <a:solidFill>
                  <a:srgbClr val="2A2A3D"/>
                </a:solidFill>
                <a:latin typeface="Arial"/>
              </a:defRPr>
            </a:pPr>
            <a:r>
              <a:t>Nol Beban Ganda | Efisiensi 100% Digital Real-Time</a:t>
            </a:r>
          </a:p>
        </p:txBody>
      </p:sp>
      <p:sp>
        <p:nvSpPr>
          <p:cNvPr id="15" name="Rectangle 14"/>
          <p:cNvSpPr/>
          <p:nvPr/>
        </p:nvSpPr>
        <p:spPr>
          <a:xfrm>
            <a:off x="9025128"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44068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REGISTRASI STANDAR OPERASIONAL PROSEDUR &amp; INSTRUKSI KERJA BARU</a:t>
            </a:r>
          </a:p>
        </p:txBody>
      </p:sp>
      <p:sp>
        <p:nvSpPr>
          <p:cNvPr id="17" name="Rounded Rectangle 16"/>
          <p:cNvSpPr/>
          <p:nvPr/>
        </p:nvSpPr>
        <p:spPr>
          <a:xfrm>
            <a:off x="548640" y="3127248"/>
            <a:ext cx="544068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3182112"/>
            <a:ext cx="5221224" cy="804672"/>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6A2CC9"/>
                </a:solidFill>
                <a:latin typeface="Arial"/>
              </a:defRPr>
            </a:pPr>
            <a:r>
              <a:t>1. IK PENGISIAN KONFIRMASI PO CETAK DIGITAL (IK-PPC-2026-001)</a:t>
            </a:r>
          </a:p>
          <a:p>
            <a:r>
              <a:rPr b="1" sz="650">
                <a:solidFill>
                  <a:srgbClr val="1A237E"/>
                </a:solidFill>
              </a:rPr>
              <a:t>• Nomor Dokumen &amp; Pengesahan: </a:t>
            </a:r>
            <a:r>
              <a:rPr sz="650">
                <a:solidFill>
                  <a:srgbClr val="2A2A3D"/>
                </a:solidFill>
              </a:rPr>
              <a:t>No. IK-PPC-2026-001 (Rev. 00) | Disahkan oleh Kadep SBU High Security Solution.</a:t>
            </a:r>
          </a:p>
          <a:p>
            <a:r>
              <a:rPr b="1" sz="650">
                <a:solidFill>
                  <a:srgbClr val="1A237E"/>
                </a:solidFill>
              </a:rPr>
              <a:t>• Ketetapan Operasional: </a:t>
            </a:r>
            <a:r>
              <a:rPr sz="650">
                <a:solidFill>
                  <a:srgbClr val="2A2A3D"/>
                </a:solidFill>
              </a:rPr>
              <a:t>Wajib entri real-time tiap PO selesai (&lt; 30 detik via Autofill) di meja kontrol 6 mesin cetak.</a:t>
            </a:r>
          </a:p>
        </p:txBody>
      </p:sp>
      <p:sp>
        <p:nvSpPr>
          <p:cNvPr id="19" name="Rounded Rectangle 18"/>
          <p:cNvSpPr/>
          <p:nvPr/>
        </p:nvSpPr>
        <p:spPr>
          <a:xfrm>
            <a:off x="658368" y="4041648"/>
            <a:ext cx="5221224" cy="84124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20288F"/>
                </a:solidFill>
                <a:latin typeface="Arial"/>
              </a:defRPr>
            </a:pPr>
            <a:r>
              <a:t>2. SOP TINDAKAN PERBAIKAN MESIN BERBASIS PARETO SIRINE (SOP-PPC-2026-004)</a:t>
            </a:r>
          </a:p>
          <a:p>
            <a:r>
              <a:rPr b="1" sz="650">
                <a:solidFill>
                  <a:srgbClr val="1A237E"/>
                </a:solidFill>
              </a:rPr>
              <a:t>• Nomor Dokumen &amp; Pengesahan: </a:t>
            </a:r>
            <a:r>
              <a:rPr sz="650">
                <a:solidFill>
                  <a:srgbClr val="2A2A3D"/>
                </a:solidFill>
              </a:rPr>
              <a:t>No. SOP-PPC-2026-004 (Rev. 00) | Disahkan oleh Kepala Divisi Teknik &amp; Pemeliharaan.</a:t>
            </a:r>
          </a:p>
          <a:p>
            <a:r>
              <a:rPr b="1" sz="650">
                <a:solidFill>
                  <a:srgbClr val="1A237E"/>
                </a:solidFill>
              </a:rPr>
              <a:t>• Ketetapan Operasional: </a:t>
            </a:r>
            <a:r>
              <a:rPr sz="650">
                <a:solidFill>
                  <a:srgbClr val="2A2A3D"/>
                </a:solidFill>
              </a:rPr>
              <a:t>Teknisi wajib membuka modul Pareto cacat mesin spesifik sebelum servis mekanis komponen.</a:t>
            </a:r>
          </a:p>
        </p:txBody>
      </p:sp>
      <p:sp>
        <p:nvSpPr>
          <p:cNvPr id="20" name="Rounded Rectangle 19"/>
          <p:cNvSpPr/>
          <p:nvPr/>
        </p:nvSpPr>
        <p:spPr>
          <a:xfrm>
            <a:off x="658368" y="4937760"/>
            <a:ext cx="5221224" cy="786384"/>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1B5E20"/>
                </a:solidFill>
                <a:latin typeface="Arial"/>
              </a:defRPr>
            </a:pPr>
            <a:r>
              <a:t>3. INTEGRASI DOKUMEN TURUNAN &amp; CHECKLIST SERAH TERIMA GILIR</a:t>
            </a:r>
          </a:p>
          <a:p>
            <a:r>
              <a:rPr b="1" sz="650">
                <a:solidFill>
                  <a:srgbClr val="1A237E"/>
                </a:solidFill>
              </a:rPr>
              <a:t>• Pembaruan Formulir Serah Terima: </a:t>
            </a:r>
            <a:r>
              <a:rPr sz="650">
                <a:solidFill>
                  <a:srgbClr val="2A2A3D"/>
                </a:solidFill>
              </a:rPr>
              <a:t>Verifikasi kelengkapan data PO jadi syarat mutlak serah terima antar-shift.</a:t>
            </a:r>
          </a:p>
          <a:p>
            <a:r>
              <a:rPr b="1" sz="650">
                <a:solidFill>
                  <a:srgbClr val="1A237E"/>
                </a:solidFill>
              </a:rPr>
              <a:t>• Standar Kontrol Mutu: </a:t>
            </a:r>
            <a:r>
              <a:rPr sz="650">
                <a:solidFill>
                  <a:srgbClr val="2A2A3D"/>
                </a:solidFill>
              </a:rPr>
              <a:t>Pemeriksaan konsistensi setting mesin (rol karet, blanket, register) terdokumentasi digital.</a:t>
            </a:r>
          </a:p>
        </p:txBody>
      </p:sp>
      <p:sp>
        <p:nvSpPr>
          <p:cNvPr id="21" name="TextBox 20"/>
          <p:cNvSpPr txBox="1"/>
          <p:nvPr/>
        </p:nvSpPr>
        <p:spPr>
          <a:xfrm>
            <a:off x="658368" y="5742432"/>
            <a:ext cx="5221224" cy="128016"/>
          </a:xfrm>
          <a:prstGeom prst="rect">
            <a:avLst/>
          </a:prstGeom>
          <a:noFill/>
        </p:spPr>
        <p:txBody>
          <a:bodyPr wrap="none" tIns="0" lIns="0">
            <a:spAutoFit/>
          </a:bodyPr>
          <a:lstStyle/>
          <a:p>
            <a:pPr>
              <a:defRPr sz="630" b="1">
                <a:solidFill>
                  <a:srgbClr val="1A237E"/>
                </a:solidFill>
                <a:latin typeface="Arial"/>
              </a:defRPr>
            </a:pPr>
            <a:r>
              <a:t>*(Dokumen Resmi Terdaftar di Portal Manajemen Mutu Perum Peruri &amp; Berlaku Efektif Sejak Jan 2026)</a:t>
            </a:r>
          </a:p>
        </p:txBody>
      </p:sp>
      <p:sp>
        <p:nvSpPr>
          <p:cNvPr id="22" name="Rectangle 21"/>
          <p:cNvSpPr/>
          <p:nvPr/>
        </p:nvSpPr>
        <p:spPr>
          <a:xfrm>
            <a:off x="6126480" y="2816352"/>
            <a:ext cx="5513832"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PENUTUPAN SISTEM LAMA &amp; JAMINAN KEPATUHAN ISO 9001</a:t>
            </a:r>
          </a:p>
        </p:txBody>
      </p:sp>
      <p:sp>
        <p:nvSpPr>
          <p:cNvPr id="23" name="Rounded Rectangle 22"/>
          <p:cNvSpPr/>
          <p:nvPr/>
        </p:nvSpPr>
        <p:spPr>
          <a:xfrm>
            <a:off x="6126480" y="3127248"/>
            <a:ext cx="5513832"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36208" y="3182112"/>
            <a:ext cx="5294376" cy="804672"/>
          </a:xfrm>
          <a:prstGeom prst="roundRect">
            <a:avLst/>
          </a:prstGeom>
          <a:solidFill>
            <a:srgbClr val="FFFFFF"/>
          </a:solidFill>
          <a:ln w="12700">
            <a:solidFill>
              <a:srgbClr val="FFCDD2"/>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C62828"/>
                </a:solidFill>
                <a:latin typeface="Arial"/>
              </a:defRPr>
            </a:pPr>
            <a:r>
              <a:t>1. PENARIKAN RESMI BUKU FOLIO FISIK (BERITA ACARA BA-PPC-2026-002)</a:t>
            </a:r>
          </a:p>
          <a:p>
            <a:r>
              <a:rPr b="1" sz="650">
                <a:solidFill>
                  <a:srgbClr val="1A237E"/>
                </a:solidFill>
              </a:rPr>
              <a:t>• Eliminasi Total Sistem Lama: </a:t>
            </a:r>
            <a:r>
              <a:rPr sz="650">
                <a:solidFill>
                  <a:srgbClr val="2A2A3D"/>
                </a:solidFill>
              </a:rPr>
              <a:t>Buku folio ditarik serentak dari 6 meja mesin cetak per 1 Januari 2026.</a:t>
            </a:r>
          </a:p>
          <a:p>
            <a:r>
              <a:rPr b="1" sz="650">
                <a:solidFill>
                  <a:srgbClr val="1A237E"/>
                </a:solidFill>
              </a:rPr>
              <a:t>• Mencegah Beban Ganda: </a:t>
            </a:r>
            <a:r>
              <a:rPr sz="650">
                <a:solidFill>
                  <a:srgbClr val="2A2A3D"/>
                </a:solidFill>
              </a:rPr>
              <a:t>Menghilangkan kebiasaan mencatat ganda (kertas &amp; PC) serta risiko hilang/rusak fisik.</a:t>
            </a:r>
          </a:p>
        </p:txBody>
      </p:sp>
      <p:sp>
        <p:nvSpPr>
          <p:cNvPr id="25" name="Rounded Rectangle 24"/>
          <p:cNvSpPr/>
          <p:nvPr/>
        </p:nvSpPr>
        <p:spPr>
          <a:xfrm>
            <a:off x="6236208" y="4041648"/>
            <a:ext cx="5294376" cy="841248"/>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6A2CC9"/>
                </a:solidFill>
                <a:latin typeface="Arial"/>
              </a:defRPr>
            </a:pPr>
            <a:r>
              <a:t>2. PEMENUHAN STANDAR PENJAMINAN MUTU INTERNASIONAL (ISO 9001:2015)</a:t>
            </a:r>
          </a:p>
          <a:p>
            <a:r>
              <a:rPr b="1" sz="650">
                <a:solidFill>
                  <a:srgbClr val="1A237E"/>
                </a:solidFill>
              </a:rPr>
              <a:t>• Klausul 8.5.2 (Mampu Telusur): </a:t>
            </a:r>
            <a:r>
              <a:rPr sz="650">
                <a:solidFill>
                  <a:srgbClr val="2A2A3D"/>
                </a:solidFill>
              </a:rPr>
              <a:t>Silsilah audit lengkap: Nomor PO ➔ Mesin ➔ Gilir/Shift ➔ Tim ➔ Lembar Rusak.</a:t>
            </a:r>
          </a:p>
          <a:p>
            <a:r>
              <a:rPr b="1" sz="650">
                <a:solidFill>
                  <a:srgbClr val="1A237E"/>
                </a:solidFill>
              </a:rPr>
              <a:t>• Klausul 9.1.3 (Analisis Data): </a:t>
            </a:r>
            <a:r>
              <a:rPr sz="650">
                <a:solidFill>
                  <a:srgbClr val="2A2A3D"/>
                </a:solidFill>
              </a:rPr>
              <a:t>Data diolah otomatis jadi grafik tren &amp; Pareto tanpa delay waktu rekap manual.</a:t>
            </a:r>
          </a:p>
        </p:txBody>
      </p:sp>
      <p:sp>
        <p:nvSpPr>
          <p:cNvPr id="26" name="Rounded Rectangle 25"/>
          <p:cNvSpPr/>
          <p:nvPr/>
        </p:nvSpPr>
        <p:spPr>
          <a:xfrm>
            <a:off x="6236208" y="4937760"/>
            <a:ext cx="5294376" cy="786384"/>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20288F"/>
                </a:solidFill>
                <a:latin typeface="Arial"/>
              </a:defRPr>
            </a:pPr>
            <a:r>
              <a:t>3. KEAMANAN &amp; KEDAULATAN DATA SEKURITI NEGARA (ON-PREMISE INTRANET)</a:t>
            </a:r>
          </a:p>
          <a:p>
            <a:r>
              <a:rPr b="1" sz="650">
                <a:solidFill>
                  <a:srgbClr val="1A237E"/>
                </a:solidFill>
              </a:rPr>
              <a:t>• Infrastruktur Server Internal: </a:t>
            </a:r>
            <a:r>
              <a:rPr sz="650">
                <a:solidFill>
                  <a:srgbClr val="2A2A3D"/>
                </a:solidFill>
              </a:rPr>
              <a:t>Tersimpan 100% di server intranet tertutup Peruri (zero vendor lock-in &amp; leak risk).</a:t>
            </a:r>
          </a:p>
          <a:p>
            <a:r>
              <a:rPr b="1" sz="650">
                <a:solidFill>
                  <a:srgbClr val="1A237E"/>
                </a:solidFill>
              </a:rPr>
              <a:t>• Hak Akses Berjenjang: </a:t>
            </a:r>
            <a:r>
              <a:rPr sz="650">
                <a:solidFill>
                  <a:srgbClr val="2A2A3D"/>
                </a:solidFill>
              </a:rPr>
              <a:t>Otorisasi role bertingkat: Operator Meja Mesin ➔ Kepala Kelompok ➔ Kepala Unit.</a:t>
            </a:r>
          </a:p>
        </p:txBody>
      </p:sp>
      <p:sp>
        <p:nvSpPr>
          <p:cNvPr id="27" name="TextBox 26"/>
          <p:cNvSpPr txBox="1"/>
          <p:nvPr/>
        </p:nvSpPr>
        <p:spPr>
          <a:xfrm>
            <a:off x="6236208" y="5742432"/>
            <a:ext cx="5294376" cy="128016"/>
          </a:xfrm>
          <a:prstGeom prst="rect">
            <a:avLst/>
          </a:prstGeom>
          <a:noFill/>
        </p:spPr>
        <p:txBody>
          <a:bodyPr wrap="none" tIns="0" lIns="0">
            <a:spAutoFit/>
          </a:bodyPr>
          <a:lstStyle/>
          <a:p>
            <a:pPr>
              <a:defRPr sz="630" b="1">
                <a:solidFill>
                  <a:srgbClr val="6A2CC9"/>
                </a:solidFill>
                <a:latin typeface="Arial"/>
              </a:defRPr>
            </a:pPr>
            <a:r>
              <a:t>*(Audit Kepatuhan: Berita Acara BA-PPC-2026-002 &amp; Sistem Manajemen Terintegrasi Peruri)</a:t>
            </a:r>
          </a:p>
        </p:txBody>
      </p:sp>
      <p:sp>
        <p:nvSpPr>
          <p:cNvPr id="28" name="Rounded Rectangle 27"/>
          <p:cNvSpPr/>
          <p:nvPr/>
        </p:nvSpPr>
        <p:spPr>
          <a:xfrm>
            <a:off x="548640" y="5961888"/>
            <a:ext cx="11091672" cy="402336"/>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54864" lIns="109728" rIns="109728"/>
          <a:lstStyle/>
          <a:p>
            <a:pPr algn="ctr"/>
            <a:r>
              <a:rPr sz="750" b="1">
                <a:solidFill>
                  <a:srgbClr val="6A2CC9"/>
                </a:solidFill>
                <a:latin typeface="Arial"/>
              </a:rPr>
              <a:t>• Jaminan Legalitas &amp; Tata Kelola Baku: </a:t>
            </a:r>
            <a:r>
              <a:rPr sz="740">
                <a:solidFill>
                  <a:srgbClr val="2A2A3D"/>
                </a:solidFill>
                <a:latin typeface="Arial"/>
              </a:rPr>
              <a:t>Metode kerja baru telah terikat secara formal melalui IK-PPC-2026-001 (Konfirmasi PO Digital) &amp; SOP-PPC-2026-004 (Servis Mesin Pareto), didukung Berita Acara BA-PPC-2026-002 penarikan buku folio manual, menjamin keberlanjutan proses kerja digital secara permanen.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07.2</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300" b="1">
                <a:solidFill>
                  <a:srgbClr val="20288F"/>
                </a:solidFill>
                <a:latin typeface="Arial"/>
              </a:defRPr>
            </a:pPr>
            <a:r>
              <a:t>Sustainability: Transfer Knowledge, Pelatihan Mandiri &amp; Audit Keberlanjutan</a:t>
            </a:r>
          </a:p>
        </p:txBody>
      </p:sp>
      <p:sp>
        <p:nvSpPr>
          <p:cNvPr id="6" name="TextBox 5"/>
          <p:cNvSpPr txBox="1"/>
          <p:nvPr/>
        </p:nvSpPr>
        <p:spPr>
          <a:xfrm>
            <a:off x="548640" y="1353312"/>
            <a:ext cx="10789920" cy="347472"/>
          </a:xfrm>
          <a:prstGeom prst="rect">
            <a:avLst/>
          </a:prstGeom>
          <a:noFill/>
        </p:spPr>
        <p:txBody>
          <a:bodyPr wrap="square" tIns="0" lIns="0" rIns="0">
            <a:spAutoFit/>
          </a:bodyPr>
          <a:lstStyle/>
          <a:p>
            <a:r>
              <a:rPr sz="1150" b="1">
                <a:solidFill>
                  <a:srgbClr val="6A2CC9"/>
                </a:solidFill>
                <a:latin typeface="Arial"/>
              </a:rPr>
              <a:t>Tujuan bagian ini:  </a:t>
            </a:r>
            <a:r>
              <a:rPr sz="1150">
                <a:solidFill>
                  <a:srgbClr val="2A2A3D"/>
                </a:solidFill>
                <a:latin typeface="Arial"/>
              </a:rPr>
              <a:t>Kunci cara kerja baru agar tidak bergantung pada ingatan atau satu orang melalui transfer pengetahuan terstruktur, modul in-app, dan audit berkala.</a:t>
            </a:r>
          </a:p>
        </p:txBody>
      </p:sp>
      <p:sp>
        <p:nvSpPr>
          <p:cNvPr id="7" name="TextBox 6"/>
          <p:cNvSpPr txBox="1"/>
          <p:nvPr/>
        </p:nvSpPr>
        <p:spPr>
          <a:xfrm>
            <a:off x="548640" y="6419088"/>
            <a:ext cx="11091672" cy="219456"/>
          </a:xfrm>
          <a:prstGeom prst="rect">
            <a:avLst/>
          </a:prstGeom>
          <a:noFill/>
        </p:spPr>
        <p:txBody>
          <a:bodyPr wrap="none" t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PARTISIPASI PELATIHAN</a:t>
            </a:r>
          </a:p>
          <a:p>
            <a:pPr algn="ctr">
              <a:defRPr sz="1550" b="1">
                <a:solidFill>
                  <a:srgbClr val="2E7D32"/>
                </a:solidFill>
                <a:latin typeface="Arial"/>
              </a:defRPr>
            </a:pPr>
            <a:r>
              <a:t>100% Operator (42 Org)</a:t>
            </a:r>
          </a:p>
          <a:p>
            <a:pPr algn="ctr">
              <a:defRPr sz="720">
                <a:solidFill>
                  <a:srgbClr val="2A2A3D"/>
                </a:solidFill>
                <a:latin typeface="Arial"/>
              </a:defRPr>
            </a:pPr>
            <a:r>
              <a:t>Mencakup 3 Shift Penuh (Pagi, Sore, Malam)</a:t>
            </a:r>
          </a:p>
        </p:txBody>
      </p:sp>
      <p:sp>
        <p:nvSpPr>
          <p:cNvPr id="9" name="Rectangle 8"/>
          <p:cNvSpPr/>
          <p:nvPr/>
        </p:nvSpPr>
        <p:spPr>
          <a:xfrm>
            <a:off x="548640"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0288F"/>
                </a:solidFill>
                <a:latin typeface="Arial"/>
              </a:defRPr>
            </a:pPr>
            <a:r>
              <a:t>EVALUASI KOMPETENSI</a:t>
            </a:r>
          </a:p>
          <a:p>
            <a:pPr algn="ctr">
              <a:defRPr sz="1550" b="1">
                <a:solidFill>
                  <a:srgbClr val="20288F"/>
                </a:solidFill>
                <a:latin typeface="Arial"/>
              </a:defRPr>
            </a:pPr>
            <a:r>
              <a:t>Rata-rata 94,8 / 100</a:t>
            </a:r>
          </a:p>
          <a:p>
            <a:pPr algn="ctr">
              <a:defRPr sz="720">
                <a:solidFill>
                  <a:srgbClr val="2A2A3D"/>
                </a:solidFill>
                <a:latin typeface="Arial"/>
              </a:defRPr>
            </a:pPr>
            <a:r>
              <a:t>Post-Test Simulasi Meja Mesin &amp; Troubleshooting</a:t>
            </a:r>
          </a:p>
        </p:txBody>
      </p:sp>
      <p:sp>
        <p:nvSpPr>
          <p:cNvPr id="11" name="Rectangle 10"/>
          <p:cNvSpPr/>
          <p:nvPr/>
        </p:nvSpPr>
        <p:spPr>
          <a:xfrm>
            <a:off x="3374136"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IN-APP GUIDANCE SYSTEM</a:t>
            </a:r>
          </a:p>
          <a:p>
            <a:pPr algn="ctr">
              <a:defRPr sz="1550" b="1">
                <a:solidFill>
                  <a:srgbClr val="6A2CC9"/>
                </a:solidFill>
                <a:latin typeface="Arial"/>
              </a:defRPr>
            </a:pPr>
            <a:r>
              <a:t>Tersedia Real-Time</a:t>
            </a:r>
          </a:p>
          <a:p>
            <a:pPr algn="ctr">
              <a:defRPr sz="720">
                <a:solidFill>
                  <a:srgbClr val="2A2A3D"/>
                </a:solidFill>
                <a:latin typeface="Arial"/>
              </a:defRPr>
            </a:pPr>
            <a:r>
              <a:t>Panduan Interaktif Tersemat di Setiap Fitur Web</a:t>
            </a:r>
          </a:p>
        </p:txBody>
      </p:sp>
      <p:sp>
        <p:nvSpPr>
          <p:cNvPr id="13" name="Rectangle 12"/>
          <p:cNvSpPr/>
          <p:nvPr/>
        </p:nvSpPr>
        <p:spPr>
          <a:xfrm>
            <a:off x="6199632"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RUTINITAS AUDIT DATA</a:t>
            </a:r>
          </a:p>
          <a:p>
            <a:pPr algn="ctr">
              <a:defRPr sz="1550" b="1">
                <a:solidFill>
                  <a:srgbClr val="2E7D32"/>
                </a:solidFill>
                <a:latin typeface="Arial"/>
              </a:defRPr>
            </a:pPr>
            <a:r>
              <a:t>Harian &amp; Mingguan</a:t>
            </a:r>
          </a:p>
          <a:p>
            <a:pPr algn="ctr">
              <a:defRPr sz="720">
                <a:solidFill>
                  <a:srgbClr val="2A2A3D"/>
                </a:solidFill>
                <a:latin typeface="Arial"/>
              </a:defRPr>
            </a:pPr>
            <a:r>
              <a:t>Verifikasi Checklist Shift &amp; Rekonsiliasi Log SAP</a:t>
            </a:r>
          </a:p>
        </p:txBody>
      </p:sp>
      <p:sp>
        <p:nvSpPr>
          <p:cNvPr id="15" name="Rectangle 14"/>
          <p:cNvSpPr/>
          <p:nvPr/>
        </p:nvSpPr>
        <p:spPr>
          <a:xfrm>
            <a:off x="9025128"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53212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MATRIKS PROGRAM PELATIHAN &amp; BUKTI TRANSFER KNOWLEDGE</a:t>
            </a:r>
          </a:p>
        </p:txBody>
      </p:sp>
      <p:sp>
        <p:nvSpPr>
          <p:cNvPr id="17" name="Rounded Rectangle 16"/>
          <p:cNvSpPr/>
          <p:nvPr/>
        </p:nvSpPr>
        <p:spPr>
          <a:xfrm>
            <a:off x="548640" y="3127248"/>
            <a:ext cx="553212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8" name="Table 17"/>
          <p:cNvGraphicFramePr>
            <a:graphicFrameLocks noGrp="1"/>
          </p:cNvGraphicFramePr>
          <p:nvPr/>
        </p:nvGraphicFramePr>
        <p:xfrm>
          <a:off x="658368" y="3182112"/>
          <a:ext cx="5312664" cy="1664208"/>
        </p:xfrm>
        <a:graphic>
          <a:graphicData uri="http://schemas.openxmlformats.org/drawingml/2006/table">
            <a:tbl>
              <a:tblPr firstRow="1" bandRow="1">
                <a:tableStyleId>{5C22544A-7EE6-4342-B048-85BDC9FD1C3A}</a:tableStyleId>
              </a:tblPr>
              <a:tblGrid>
                <a:gridCol w="1234440"/>
                <a:gridCol w="1051560"/>
                <a:gridCol w="868680"/>
                <a:gridCol w="1051560"/>
                <a:gridCol w="1106424"/>
              </a:tblGrid>
              <a:tr h="332841">
                <a:tc>
                  <a:txBody>
                    <a:bodyPr/>
                    <a:lstStyle/>
                    <a:p>
                      <a:pPr algn="l">
                        <a:defRPr sz="680" b="1">
                          <a:solidFill>
                            <a:srgbClr val="FFFFFF"/>
                          </a:solidFill>
                          <a:latin typeface="Arial"/>
                        </a:defRPr>
                      </a:pPr>
                      <a:r>
                        <a:t>Program &amp; Modul</a:t>
                      </a:r>
                    </a:p>
                  </a:txBody>
                  <a:tcPr anchor="ctr" marT="18288" marB="18288" marL="45720" marR="45720">
                    <a:solidFill>
                      <a:srgbClr val="20288F"/>
                    </a:solidFill>
                  </a:tcPr>
                </a:tc>
                <a:tc>
                  <a:txBody>
                    <a:bodyPr/>
                    <a:lstStyle/>
                    <a:p>
                      <a:pPr algn="ctr">
                        <a:defRPr sz="680" b="1">
                          <a:solidFill>
                            <a:srgbClr val="FFFFFF"/>
                          </a:solidFill>
                          <a:latin typeface="Arial"/>
                        </a:defRPr>
                      </a:pPr>
                      <a:r>
                        <a:t>Sasaran Peserta</a:t>
                      </a:r>
                    </a:p>
                  </a:txBody>
                  <a:tcPr anchor="ctr" marT="18288" marB="18288" marL="45720" marR="45720">
                    <a:solidFill>
                      <a:srgbClr val="20288F"/>
                    </a:solidFill>
                  </a:tcPr>
                </a:tc>
                <a:tc>
                  <a:txBody>
                    <a:bodyPr/>
                    <a:lstStyle/>
                    <a:p>
                      <a:pPr algn="ctr">
                        <a:defRPr sz="680" b="1">
                          <a:solidFill>
                            <a:srgbClr val="FFFFFF"/>
                          </a:solidFill>
                          <a:latin typeface="Arial"/>
                        </a:defRPr>
                      </a:pPr>
                      <a:r>
                        <a:t>Waktu / Tgl</a:t>
                      </a:r>
                    </a:p>
                  </a:txBody>
                  <a:tcPr anchor="ctr" marT="18288" marB="18288" marL="45720" marR="45720">
                    <a:solidFill>
                      <a:srgbClr val="20288F"/>
                    </a:solidFill>
                  </a:tcPr>
                </a:tc>
                <a:tc>
                  <a:txBody>
                    <a:bodyPr/>
                    <a:lstStyle/>
                    <a:p>
                      <a:pPr algn="ctr">
                        <a:defRPr sz="680" b="1">
                          <a:solidFill>
                            <a:srgbClr val="FFFFFF"/>
                          </a:solidFill>
                          <a:latin typeface="Arial"/>
                        </a:defRPr>
                      </a:pPr>
                      <a:r>
                        <a:t>Metode Pelaksanaan</a:t>
                      </a:r>
                    </a:p>
                  </a:txBody>
                  <a:tcPr anchor="ctr" marT="18288" marB="18288" marL="45720" marR="45720">
                    <a:solidFill>
                      <a:srgbClr val="20288F"/>
                    </a:solidFill>
                  </a:tcPr>
                </a:tc>
                <a:tc>
                  <a:txBody>
                    <a:bodyPr/>
                    <a:lstStyle/>
                    <a:p>
                      <a:pPr algn="ctr">
                        <a:defRPr sz="680" b="1">
                          <a:solidFill>
                            <a:srgbClr val="FFFFFF"/>
                          </a:solidFill>
                          <a:latin typeface="Arial"/>
                        </a:defRPr>
                      </a:pPr>
                      <a:r>
                        <a:t>Hasil Capaian</a:t>
                      </a:r>
                    </a:p>
                  </a:txBody>
                  <a:tcPr anchor="ctr" marT="18288" marB="18288" marL="45720" marR="45720">
                    <a:solidFill>
                      <a:srgbClr val="20288F"/>
                    </a:solidFill>
                  </a:tcPr>
                </a:tc>
              </a:tr>
              <a:tr h="332841">
                <a:tc>
                  <a:txBody>
                    <a:bodyPr/>
                    <a:lstStyle/>
                    <a:p>
                      <a:pPr algn="l">
                        <a:defRPr sz="650" b="1">
                          <a:solidFill>
                            <a:srgbClr val="1A237E"/>
                          </a:solidFill>
                          <a:latin typeface="Arial"/>
                        </a:defRPr>
                      </a:pPr>
                      <a:r>
                        <a:t>Workshop Form PO Digital</a:t>
                      </a:r>
                    </a:p>
                  </a:txBody>
                  <a:tcPr anchor="ctr" marT="18288" marB="18288" marL="45720" marR="45720">
                    <a:solidFill>
                      <a:srgbClr val="FFFFFF"/>
                    </a:solidFill>
                  </a:tcPr>
                </a:tc>
                <a:tc>
                  <a:txBody>
                    <a:bodyPr/>
                    <a:lstStyle/>
                    <a:p>
                      <a:pPr algn="ctr">
                        <a:defRPr sz="650" b="0">
                          <a:solidFill>
                            <a:srgbClr val="2A2A3D"/>
                          </a:solidFill>
                          <a:latin typeface="Arial"/>
                        </a:defRPr>
                      </a:pPr>
                      <a:r>
                        <a:t>42 Operator &amp; PIC (3 Gilir)</a:t>
                      </a:r>
                    </a:p>
                  </a:txBody>
                  <a:tcPr anchor="ctr" marT="18288" marB="18288" marL="45720" marR="45720">
                    <a:solidFill>
                      <a:srgbClr val="FFFFFF"/>
                    </a:solidFill>
                  </a:tcPr>
                </a:tc>
                <a:tc>
                  <a:txBody>
                    <a:bodyPr/>
                    <a:lstStyle/>
                    <a:p>
                      <a:pPr algn="ctr">
                        <a:defRPr sz="650" b="0">
                          <a:solidFill>
                            <a:srgbClr val="2A2A3D"/>
                          </a:solidFill>
                          <a:latin typeface="Arial"/>
                        </a:defRPr>
                      </a:pPr>
                      <a:r>
                        <a:t>15–18 Des 2025</a:t>
                      </a:r>
                    </a:p>
                  </a:txBody>
                  <a:tcPr anchor="ctr" marT="18288" marB="18288" marL="45720" marR="45720">
                    <a:solidFill>
                      <a:srgbClr val="FFFFFF"/>
                    </a:solidFill>
                  </a:tcPr>
                </a:tc>
                <a:tc>
                  <a:txBody>
                    <a:bodyPr/>
                    <a:lstStyle/>
                    <a:p>
                      <a:pPr algn="l">
                        <a:defRPr sz="650" b="0">
                          <a:solidFill>
                            <a:srgbClr val="2A2A3D"/>
                          </a:solidFill>
                          <a:latin typeface="Arial"/>
                        </a:defRPr>
                      </a:pPr>
                      <a:r>
                        <a:t>Praktik Langsung Meja Mesin</a:t>
                      </a:r>
                    </a:p>
                  </a:txBody>
                  <a:tcPr anchor="ctr" marT="18288" marB="18288" marL="45720" marR="45720">
                    <a:solidFill>
                      <a:srgbClr val="FFFFFF"/>
                    </a:solidFill>
                  </a:tcPr>
                </a:tc>
                <a:tc>
                  <a:txBody>
                    <a:bodyPr/>
                    <a:lstStyle/>
                    <a:p>
                      <a:pPr algn="ctr">
                        <a:defRPr sz="650" b="0">
                          <a:solidFill>
                            <a:srgbClr val="2A2A3D"/>
                          </a:solidFill>
                          <a:latin typeface="Arial"/>
                        </a:defRPr>
                      </a:pPr>
                      <a:r>
                        <a:t>100% Lulus Input (&lt;30 dtk)</a:t>
                      </a:r>
                    </a:p>
                  </a:txBody>
                  <a:tcPr anchor="ctr" marT="18288" marB="18288" marL="45720" marR="45720">
                    <a:solidFill>
                      <a:srgbClr val="FFFFFF"/>
                    </a:solidFill>
                  </a:tcPr>
                </a:tc>
              </a:tr>
              <a:tr h="332841">
                <a:tc>
                  <a:txBody>
                    <a:bodyPr/>
                    <a:lstStyle/>
                    <a:p>
                      <a:pPr algn="l">
                        <a:defRPr sz="650" b="1">
                          <a:solidFill>
                            <a:srgbClr val="1A237E"/>
                          </a:solidFill>
                          <a:latin typeface="Arial"/>
                        </a:defRPr>
                      </a:pPr>
                      <a:r>
                        <a:t>Training Jadwal &amp; Rotasi</a:t>
                      </a:r>
                    </a:p>
                  </a:txBody>
                  <a:tcPr anchor="ctr" marT="18288" marB="18288" marL="45720" marR="45720">
                    <a:solidFill>
                      <a:srgbClr val="FFFFFF"/>
                    </a:solidFill>
                  </a:tcPr>
                </a:tc>
                <a:tc>
                  <a:txBody>
                    <a:bodyPr/>
                    <a:lstStyle/>
                    <a:p>
                      <a:pPr algn="ctr">
                        <a:defRPr sz="650" b="0">
                          <a:solidFill>
                            <a:srgbClr val="2A2A3D"/>
                          </a:solidFill>
                          <a:latin typeface="Arial"/>
                        </a:defRPr>
                      </a:pPr>
                      <a:r>
                        <a:t>12 Kepala Kelompok</a:t>
                      </a:r>
                    </a:p>
                  </a:txBody>
                  <a:tcPr anchor="ctr" marT="18288" marB="18288" marL="45720" marR="45720">
                    <a:solidFill>
                      <a:srgbClr val="FFFFFF"/>
                    </a:solidFill>
                  </a:tcPr>
                </a:tc>
                <a:tc>
                  <a:txBody>
                    <a:bodyPr/>
                    <a:lstStyle/>
                    <a:p>
                      <a:pPr algn="ctr">
                        <a:defRPr sz="650" b="0">
                          <a:solidFill>
                            <a:srgbClr val="2A2A3D"/>
                          </a:solidFill>
                          <a:latin typeface="Arial"/>
                        </a:defRPr>
                      </a:pPr>
                      <a:r>
                        <a:t>22–23 Des 2025</a:t>
                      </a:r>
                    </a:p>
                  </a:txBody>
                  <a:tcPr anchor="ctr" marT="18288" marB="18288" marL="45720" marR="45720">
                    <a:solidFill>
                      <a:srgbClr val="FFFFFF"/>
                    </a:solidFill>
                  </a:tcPr>
                </a:tc>
                <a:tc>
                  <a:txBody>
                    <a:bodyPr/>
                    <a:lstStyle/>
                    <a:p>
                      <a:pPr algn="l">
                        <a:defRPr sz="650" b="0">
                          <a:solidFill>
                            <a:srgbClr val="2A2A3D"/>
                          </a:solidFill>
                          <a:latin typeface="Arial"/>
                        </a:defRPr>
                      </a:pPr>
                      <a:r>
                        <a:t>Simulasi Grid Jadwal Gilir</a:t>
                      </a:r>
                    </a:p>
                  </a:txBody>
                  <a:tcPr anchor="ctr" marT="18288" marB="18288" marL="45720" marR="45720">
                    <a:solidFill>
                      <a:srgbClr val="FFFFFF"/>
                    </a:solidFill>
                  </a:tcPr>
                </a:tc>
                <a:tc>
                  <a:txBody>
                    <a:bodyPr/>
                    <a:lstStyle/>
                    <a:p>
                      <a:pPr algn="ctr">
                        <a:defRPr sz="650" b="0">
                          <a:solidFill>
                            <a:srgbClr val="2A2A3D"/>
                          </a:solidFill>
                          <a:latin typeface="Arial"/>
                        </a:defRPr>
                      </a:pPr>
                      <a:r>
                        <a:t>Mandiri Kelola 3 Shift</a:t>
                      </a:r>
                    </a:p>
                  </a:txBody>
                  <a:tcPr anchor="ctr" marT="18288" marB="18288" marL="45720" marR="45720">
                    <a:solidFill>
                      <a:srgbClr val="FFFFFF"/>
                    </a:solidFill>
                  </a:tcPr>
                </a:tc>
              </a:tr>
              <a:tr h="332841">
                <a:tc>
                  <a:txBody>
                    <a:bodyPr/>
                    <a:lstStyle/>
                    <a:p>
                      <a:pPr algn="l">
                        <a:defRPr sz="650" b="1">
                          <a:solidFill>
                            <a:srgbClr val="1A237E"/>
                          </a:solidFill>
                          <a:latin typeface="Arial"/>
                        </a:defRPr>
                      </a:pPr>
                      <a:r>
                        <a:t>Dasbor Preskriptif &amp; Pareto</a:t>
                      </a:r>
                    </a:p>
                  </a:txBody>
                  <a:tcPr anchor="ctr" marT="18288" marB="18288" marL="45720" marR="45720">
                    <a:solidFill>
                      <a:srgbClr val="FFFFFF"/>
                    </a:solidFill>
                  </a:tcPr>
                </a:tc>
                <a:tc>
                  <a:txBody>
                    <a:bodyPr/>
                    <a:lstStyle/>
                    <a:p>
                      <a:pPr algn="ctr">
                        <a:defRPr sz="650" b="0">
                          <a:solidFill>
                            <a:srgbClr val="2A2A3D"/>
                          </a:solidFill>
                          <a:latin typeface="Arial"/>
                        </a:defRPr>
                      </a:pPr>
                      <a:r>
                        <a:t>Kepala Unit &amp; Kasie</a:t>
                      </a:r>
                    </a:p>
                  </a:txBody>
                  <a:tcPr anchor="ctr" marT="18288" marB="18288" marL="45720" marR="45720">
                    <a:solidFill>
                      <a:srgbClr val="FFFFFF"/>
                    </a:solidFill>
                  </a:tcPr>
                </a:tc>
                <a:tc>
                  <a:txBody>
                    <a:bodyPr/>
                    <a:lstStyle/>
                    <a:p>
                      <a:pPr algn="ctr">
                        <a:defRPr sz="650" b="0">
                          <a:solidFill>
                            <a:srgbClr val="2A2A3D"/>
                          </a:solidFill>
                          <a:latin typeface="Arial"/>
                        </a:defRPr>
                      </a:pPr>
                      <a:r>
                        <a:t>28–29 Des 2025</a:t>
                      </a:r>
                    </a:p>
                  </a:txBody>
                  <a:tcPr anchor="ctr" marT="18288" marB="18288" marL="45720" marR="45720">
                    <a:solidFill>
                      <a:srgbClr val="FFFFFF"/>
                    </a:solidFill>
                  </a:tcPr>
                </a:tc>
                <a:tc>
                  <a:txBody>
                    <a:bodyPr/>
                    <a:lstStyle/>
                    <a:p>
                      <a:pPr algn="l">
                        <a:defRPr sz="650" b="0">
                          <a:solidFill>
                            <a:srgbClr val="2A2A3D"/>
                          </a:solidFill>
                          <a:latin typeface="Arial"/>
                        </a:defRPr>
                      </a:pPr>
                      <a:r>
                        <a:t>Studi Kasus Analisis Cacat</a:t>
                      </a:r>
                    </a:p>
                  </a:txBody>
                  <a:tcPr anchor="ctr" marT="18288" marB="18288" marL="45720" marR="45720">
                    <a:solidFill>
                      <a:srgbClr val="FFFFFF"/>
                    </a:solidFill>
                  </a:tcPr>
                </a:tc>
                <a:tc>
                  <a:txBody>
                    <a:bodyPr/>
                    <a:lstStyle/>
                    <a:p>
                      <a:pPr algn="ctr">
                        <a:defRPr sz="650" b="0">
                          <a:solidFill>
                            <a:srgbClr val="2A2A3D"/>
                          </a:solidFill>
                          <a:latin typeface="Arial"/>
                        </a:defRPr>
                      </a:pPr>
                      <a:r>
                        <a:t>Mampu Servis Terarah</a:t>
                      </a:r>
                    </a:p>
                  </a:txBody>
                  <a:tcPr anchor="ctr" marT="18288" marB="18288" marL="45720" marR="45720">
                    <a:solidFill>
                      <a:srgbClr val="FFFFFF"/>
                    </a:solidFill>
                  </a:tcPr>
                </a:tc>
              </a:tr>
              <a:tr h="332844">
                <a:tc>
                  <a:txBody>
                    <a:bodyPr/>
                    <a:lstStyle/>
                    <a:p>
                      <a:pPr algn="l">
                        <a:defRPr sz="650" b="1">
                          <a:solidFill>
                            <a:srgbClr val="1A237E"/>
                          </a:solidFill>
                          <a:latin typeface="Arial"/>
                        </a:defRPr>
                      </a:pPr>
                      <a:r>
                        <a:t>Pendampingan On-The-Job</a:t>
                      </a:r>
                    </a:p>
                  </a:txBody>
                  <a:tcPr anchor="ctr" marT="18288" marB="18288" marL="45720" marR="45720">
                    <a:solidFill>
                      <a:srgbClr val="E8F5E9"/>
                    </a:solidFill>
                  </a:tcPr>
                </a:tc>
                <a:tc>
                  <a:txBody>
                    <a:bodyPr/>
                    <a:lstStyle/>
                    <a:p>
                      <a:pPr algn="ctr">
                        <a:defRPr sz="650" b="0">
                          <a:solidFill>
                            <a:srgbClr val="2A2A3D"/>
                          </a:solidFill>
                          <a:latin typeface="Arial"/>
                        </a:defRPr>
                      </a:pPr>
                      <a:r>
                        <a:t>Seluruh Tim Meja Mesin</a:t>
                      </a:r>
                    </a:p>
                  </a:txBody>
                  <a:tcPr anchor="ctr" marT="18288" marB="18288" marL="45720" marR="45720">
                    <a:solidFill>
                      <a:srgbClr val="E8F5E9"/>
                    </a:solidFill>
                  </a:tcPr>
                </a:tc>
                <a:tc>
                  <a:txBody>
                    <a:bodyPr/>
                    <a:lstStyle/>
                    <a:p>
                      <a:pPr algn="ctr">
                        <a:defRPr sz="650" b="0">
                          <a:solidFill>
                            <a:srgbClr val="2A2A3D"/>
                          </a:solidFill>
                          <a:latin typeface="Arial"/>
                        </a:defRPr>
                      </a:pPr>
                      <a:r>
                        <a:t>Jan 2026 (W1–4)</a:t>
                      </a:r>
                    </a:p>
                  </a:txBody>
                  <a:tcPr anchor="ctr" marT="18288" marB="18288" marL="45720" marR="45720">
                    <a:solidFill>
                      <a:srgbClr val="E8F5E9"/>
                    </a:solidFill>
                  </a:tcPr>
                </a:tc>
                <a:tc>
                  <a:txBody>
                    <a:bodyPr/>
                    <a:lstStyle/>
                    <a:p>
                      <a:pPr algn="l">
                        <a:defRPr sz="650" b="0">
                          <a:solidFill>
                            <a:srgbClr val="2A2A3D"/>
                          </a:solidFill>
                          <a:latin typeface="Arial"/>
                        </a:defRPr>
                      </a:pPr>
                      <a:r>
                        <a:t>Mentoring Meja Mesin Gilir</a:t>
                      </a:r>
                    </a:p>
                  </a:txBody>
                  <a:tcPr anchor="ctr" marT="18288" marB="18288" marL="45720" marR="45720">
                    <a:solidFill>
                      <a:srgbClr val="E8F5E9"/>
                    </a:solidFill>
                  </a:tcPr>
                </a:tc>
                <a:tc>
                  <a:txBody>
                    <a:bodyPr/>
                    <a:lstStyle/>
                    <a:p>
                      <a:pPr algn="ctr">
                        <a:defRPr sz="650" b="1">
                          <a:solidFill>
                            <a:srgbClr val="1B5E20"/>
                          </a:solidFill>
                          <a:latin typeface="Arial"/>
                        </a:defRPr>
                      </a:pPr>
                      <a:r>
                        <a:t>Nol Eror Entri Data PO</a:t>
                      </a:r>
                    </a:p>
                  </a:txBody>
                  <a:tcPr anchor="ctr" marT="18288" marB="18288" marL="45720" marR="45720">
                    <a:solidFill>
                      <a:srgbClr val="E8F5E9"/>
                    </a:solidFill>
                  </a:tcPr>
                </a:tc>
              </a:tr>
            </a:tbl>
          </a:graphicData>
        </a:graphic>
      </p:graphicFrame>
      <p:sp>
        <p:nvSpPr>
          <p:cNvPr id="19" name="Rounded Rectangle 18"/>
          <p:cNvSpPr/>
          <p:nvPr/>
        </p:nvSpPr>
        <p:spPr>
          <a:xfrm>
            <a:off x="658368" y="4901184"/>
            <a:ext cx="5312664" cy="786384"/>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36576" bIns="18288" lIns="73152" rIns="73152"/>
          <a:lstStyle/>
          <a:p>
            <a:pPr algn="ctr">
              <a:defRPr sz="740" b="1">
                <a:solidFill>
                  <a:srgbClr val="6A2CC9"/>
                </a:solidFill>
                <a:latin typeface="Arial"/>
              </a:defRPr>
            </a:pPr>
            <a:r>
              <a:t>FITUR IN-APP GUIDANCE &amp; MODUL PANDUAN INTERAKTIF TERINTEGRASI</a:t>
            </a:r>
          </a:p>
          <a:p>
            <a:r>
              <a:rPr b="1" sz="650">
                <a:solidFill>
                  <a:srgbClr val="1A237E"/>
                </a:solidFill>
              </a:rPr>
              <a:t>• Panduan Interaktif Tersemat: </a:t>
            </a:r>
            <a:r>
              <a:rPr sz="650">
                <a:solidFill>
                  <a:srgbClr val="2A2A3D"/>
                </a:solidFill>
              </a:rPr>
              <a:t>Sistem dilengkapi tooltip dan bantuan langkah per langkah langsung di aplikasi web.</a:t>
            </a:r>
          </a:p>
          <a:p>
            <a:r>
              <a:rPr b="1" sz="650">
                <a:solidFill>
                  <a:srgbClr val="1A237E"/>
                </a:solidFill>
              </a:rPr>
              <a:t>• Pelatihan Mandiri Cepat: </a:t>
            </a:r>
            <a:r>
              <a:rPr sz="650">
                <a:solidFill>
                  <a:srgbClr val="2A2A3D"/>
                </a:solidFill>
              </a:rPr>
              <a:t>Operator baru dapat mahir menginput data dalam &lt; 1 hari tanpa ketergantungan dokumen fisik.</a:t>
            </a:r>
          </a:p>
        </p:txBody>
      </p:sp>
      <p:sp>
        <p:nvSpPr>
          <p:cNvPr id="20" name="TextBox 19"/>
          <p:cNvSpPr txBox="1"/>
          <p:nvPr/>
        </p:nvSpPr>
        <p:spPr>
          <a:xfrm>
            <a:off x="658368" y="5724144"/>
            <a:ext cx="5312664" cy="128016"/>
          </a:xfrm>
          <a:prstGeom prst="rect">
            <a:avLst/>
          </a:prstGeom>
          <a:noFill/>
        </p:spPr>
        <p:txBody>
          <a:bodyPr wrap="none" tIns="0" lIns="0">
            <a:spAutoFit/>
          </a:bodyPr>
          <a:lstStyle/>
          <a:p>
            <a:pPr>
              <a:defRPr sz="630" b="1">
                <a:solidFill>
                  <a:srgbClr val="1A237E"/>
                </a:solidFill>
                <a:latin typeface="Arial"/>
              </a:defRPr>
            </a:pPr>
            <a:r>
              <a:t>*(Bukti Pelaksanaan: Daftar Hadir Pelatihan, Berita Acara Sosialisasi &amp; Nilai Post-Test Terarsip)</a:t>
            </a:r>
          </a:p>
        </p:txBody>
      </p:sp>
      <p:sp>
        <p:nvSpPr>
          <p:cNvPr id="21" name="Rectangle 20"/>
          <p:cNvSpPr/>
          <p:nvPr/>
        </p:nvSpPr>
        <p:spPr>
          <a:xfrm>
            <a:off x="6199632" y="2816352"/>
            <a:ext cx="5440680"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MEKANISME AUDIT KEBERLANJUTAN, KONTROL BERJENJANG &amp; ROADMAP</a:t>
            </a:r>
          </a:p>
        </p:txBody>
      </p:sp>
      <p:sp>
        <p:nvSpPr>
          <p:cNvPr id="22" name="Rounded Rectangle 21"/>
          <p:cNvSpPr/>
          <p:nvPr/>
        </p:nvSpPr>
        <p:spPr>
          <a:xfrm>
            <a:off x="6199632" y="3127248"/>
            <a:ext cx="5440680"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09360" y="3182112"/>
            <a:ext cx="5221224" cy="84124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20288F"/>
                </a:solidFill>
                <a:latin typeface="Arial"/>
              </a:defRPr>
            </a:pPr>
            <a:r>
              <a:t>1. MEKANISME KONTROL 3 TINGKAT (THREE-TIER AUDIT GOVERNANCE)</a:t>
            </a:r>
          </a:p>
          <a:p>
            <a:r>
              <a:rPr b="1" sz="650">
                <a:solidFill>
                  <a:srgbClr val="1A237E"/>
                </a:solidFill>
              </a:rPr>
              <a:t>• Tingkat 1 (Harian/Shift): </a:t>
            </a:r>
            <a:r>
              <a:rPr sz="650">
                <a:solidFill>
                  <a:srgbClr val="2A2A3D"/>
                </a:solidFill>
              </a:rPr>
              <a:t>Kepala Kelompok periksa checklist kelengkapan input PO sebelum serah terima.</a:t>
            </a:r>
          </a:p>
          <a:p>
            <a:r>
              <a:rPr b="1" sz="650">
                <a:solidFill>
                  <a:srgbClr val="1A237E"/>
                </a:solidFill>
              </a:rPr>
              <a:t>• Tingkat 2 (Mingguan/Bulanan): </a:t>
            </a:r>
            <a:r>
              <a:rPr sz="650">
                <a:solidFill>
                  <a:srgbClr val="2A2A3D"/>
                </a:solidFill>
              </a:rPr>
              <a:t>Supervisor Unit Cetak rekonsiliasi log SIRINE vs SAP ZPPRSIPPC0012 &amp; Verifikasi.</a:t>
            </a:r>
          </a:p>
        </p:txBody>
      </p:sp>
      <p:sp>
        <p:nvSpPr>
          <p:cNvPr id="24" name="Rounded Rectangle 23"/>
          <p:cNvSpPr/>
          <p:nvPr/>
        </p:nvSpPr>
        <p:spPr>
          <a:xfrm>
            <a:off x="6309360" y="4078224"/>
            <a:ext cx="5221224" cy="804672"/>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2E7D32"/>
                </a:solidFill>
                <a:latin typeface="Arial"/>
              </a:defRPr>
            </a:pPr>
            <a:r>
              <a:t>2. ELIMINASI KETERGANTUNGAN INDIVIDU (ZERO SINGLE POINT OF FAILURE)</a:t>
            </a:r>
          </a:p>
          <a:p>
            <a:r>
              <a:rPr b="1" sz="650">
                <a:solidFill>
                  <a:srgbClr val="1A237E"/>
                </a:solidFill>
              </a:rPr>
              <a:t>• Repositori Kode Terpusat: </a:t>
            </a:r>
            <a:r>
              <a:rPr sz="650">
                <a:solidFill>
                  <a:srgbClr val="2A2A3D"/>
                </a:solidFill>
              </a:rPr>
              <a:t>Source code modular (Laravel Service, Inertia, Vue) tersimpan di Git internal Peruri.</a:t>
            </a:r>
          </a:p>
          <a:p>
            <a:r>
              <a:rPr b="1" sz="650">
                <a:solidFill>
                  <a:srgbClr val="1A237E"/>
                </a:solidFill>
              </a:rPr>
              <a:t>• Dokumentasi Teknis Lengkap: </a:t>
            </a:r>
            <a:r>
              <a:rPr sz="650">
                <a:solidFill>
                  <a:srgbClr val="2A2A3D"/>
                </a:solidFill>
              </a:rPr>
              <a:t>Kamus data &amp; dokumentasi arsitektur siap dipelihara tim IT Peruri mana pun.</a:t>
            </a:r>
          </a:p>
        </p:txBody>
      </p:sp>
      <p:sp>
        <p:nvSpPr>
          <p:cNvPr id="25" name="Rounded Rectangle 24"/>
          <p:cNvSpPr/>
          <p:nvPr/>
        </p:nvSpPr>
        <p:spPr>
          <a:xfrm>
            <a:off x="6309360" y="4937760"/>
            <a:ext cx="5221224" cy="786384"/>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6A2CC9"/>
                </a:solidFill>
                <a:latin typeface="Arial"/>
              </a:defRPr>
            </a:pPr>
            <a:r>
              <a:t>3. RENCANA KEBERLANJUTAN JANGKA PANJANG (DEVELOPMENT ROADMAP)</a:t>
            </a:r>
          </a:p>
          <a:p>
            <a:r>
              <a:rPr b="1" sz="650">
                <a:solidFill>
                  <a:srgbClr val="1A237E"/>
                </a:solidFill>
              </a:rPr>
              <a:t>• Q3–Q4 2026: </a:t>
            </a:r>
            <a:r>
              <a:rPr sz="650">
                <a:solidFill>
                  <a:srgbClr val="2A2A3D"/>
                </a:solidFill>
              </a:rPr>
              <a:t>Implementasi Rapor Scoring Tim (Grade A–E) &amp; Integrasi Maintenance Log Book.</a:t>
            </a:r>
          </a:p>
          <a:p>
            <a:r>
              <a:rPr b="1" sz="650">
                <a:solidFill>
                  <a:srgbClr val="1A237E"/>
                </a:solidFill>
              </a:rPr>
              <a:t>• 2027: </a:t>
            </a:r>
            <a:r>
              <a:rPr sz="650">
                <a:solidFill>
                  <a:srgbClr val="2A2A3D"/>
                </a:solidFill>
              </a:rPr>
              <a:t>Replikasi arsitektur sistem ke lini Meterai, Paspor RI, Khazanah, dan Uang Kertas.</a:t>
            </a:r>
          </a:p>
        </p:txBody>
      </p:sp>
      <p:sp>
        <p:nvSpPr>
          <p:cNvPr id="26" name="TextBox 25"/>
          <p:cNvSpPr txBox="1"/>
          <p:nvPr/>
        </p:nvSpPr>
        <p:spPr>
          <a:xfrm>
            <a:off x="6309360" y="5724144"/>
            <a:ext cx="5221224" cy="128016"/>
          </a:xfrm>
          <a:prstGeom prst="rect">
            <a:avLst/>
          </a:prstGeom>
          <a:noFill/>
        </p:spPr>
        <p:txBody>
          <a:bodyPr wrap="none" tIns="0" lIns="0">
            <a:spAutoFit/>
          </a:bodyPr>
          <a:lstStyle/>
          <a:p>
            <a:pPr>
              <a:defRPr sz="630" b="1">
                <a:solidFill>
                  <a:srgbClr val="6A2CC9"/>
                </a:solidFill>
                <a:latin typeface="Arial"/>
              </a:defRPr>
            </a:pPr>
            <a:r>
              <a:t>*(Audit Rutin: Sesuai Siklus Audit Internal ISO 9001:2015 &amp; Rencana Kerja Operasional 2026)</a:t>
            </a:r>
          </a:p>
        </p:txBody>
      </p:sp>
      <p:sp>
        <p:nvSpPr>
          <p:cNvPr id="27" name="Rounded Rectangle 26"/>
          <p:cNvSpPr/>
          <p:nvPr/>
        </p:nvSpPr>
        <p:spPr>
          <a:xfrm>
            <a:off x="548640" y="5961888"/>
            <a:ext cx="11091672" cy="402336"/>
          </a:xfrm>
          <a:prstGeom prst="roundRect">
            <a:avLst/>
          </a:prstGeom>
          <a:solidFill>
            <a:srgbClr val="E8F5E9"/>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54864" lIns="109728" rIns="109728"/>
          <a:lstStyle/>
          <a:p>
            <a:pPr algn="ctr"/>
            <a:r>
              <a:rPr sz="750" b="1">
                <a:solidFill>
                  <a:srgbClr val="1B5E20"/>
                </a:solidFill>
                <a:latin typeface="Arial"/>
              </a:rPr>
              <a:t>• Jaminan Kemandirian &amp; Keberlanjutan Sistem: </a:t>
            </a:r>
            <a:r>
              <a:rPr sz="740">
                <a:solidFill>
                  <a:srgbClr val="2A2A3D"/>
                </a:solidFill>
                <a:latin typeface="Arial"/>
              </a:rPr>
              <a:t>Kombinasi pelatihan 100% operator (42 orang / 3 gilir), modul in-app terintegrasi, audit berjenjang 3 tingkat, dan repositori kode internal memastikan DSS SIRINE 4.0 beroperasi mandiri dan berkelanjutan tanpa bergantung pada satu individu.</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5"/>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6"/>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08.1</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300" b="1">
                <a:solidFill>
                  <a:srgbClr val="20288F"/>
                </a:solidFill>
                <a:latin typeface="Arial"/>
              </a:defRPr>
            </a:pPr>
            <a:r>
              <a:t>Lesson Learned: Tantangan Utama Lapangan, Mitigasi Masalah &amp; Pembelajaran Proyek</a:t>
            </a:r>
          </a:p>
        </p:txBody>
      </p:sp>
      <p:sp>
        <p:nvSpPr>
          <p:cNvPr id="6" name="TextBox 5"/>
          <p:cNvSpPr txBox="1"/>
          <p:nvPr/>
        </p:nvSpPr>
        <p:spPr>
          <a:xfrm>
            <a:off x="548640" y="1353312"/>
            <a:ext cx="10789920" cy="347472"/>
          </a:xfrm>
          <a:prstGeom prst="rect">
            <a:avLst/>
          </a:prstGeom>
          <a:noFill/>
        </p:spPr>
        <p:txBody>
          <a:bodyPr wrap="square" tIns="0" lIns="0" rIns="0">
            <a:spAutoFit/>
          </a:bodyPr>
          <a:lstStyle/>
          <a:p>
            <a:r>
              <a:rPr sz="1150" b="1">
                <a:solidFill>
                  <a:srgbClr val="6A2CC9"/>
                </a:solidFill>
                <a:latin typeface="Arial"/>
              </a:rPr>
              <a:t>Tujuan bagian ini:  </a:t>
            </a:r>
            <a:r>
              <a:rPr sz="1150">
                <a:solidFill>
                  <a:srgbClr val="2A2A3D"/>
                </a:solidFill>
                <a:latin typeface="Arial"/>
              </a:rPr>
              <a:t>Bagikan pembelajaran agar inovasi/kaizen dapat dipetik intisarinya dan direplikasi oleh unit produksi lain di Perum Peruri.</a:t>
            </a:r>
          </a:p>
        </p:txBody>
      </p:sp>
      <p:sp>
        <p:nvSpPr>
          <p:cNvPr id="7" name="TextBox 6"/>
          <p:cNvSpPr txBox="1"/>
          <p:nvPr/>
        </p:nvSpPr>
        <p:spPr>
          <a:xfrm>
            <a:off x="548640" y="6419088"/>
            <a:ext cx="11091672" cy="219456"/>
          </a:xfrm>
          <a:prstGeom prst="rect">
            <a:avLst/>
          </a:prstGeom>
          <a:noFill/>
        </p:spPr>
        <p:txBody>
          <a:bodyPr wrap="none" t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ADAPTASI OPERATOR</a:t>
            </a:r>
          </a:p>
          <a:p>
            <a:pPr algn="ctr">
              <a:defRPr sz="1550" b="1">
                <a:solidFill>
                  <a:srgbClr val="6A2CC9"/>
                </a:solidFill>
                <a:latin typeface="Arial"/>
              </a:defRPr>
            </a:pPr>
            <a:r>
              <a:t>100% Adopsi Digital</a:t>
            </a:r>
          </a:p>
          <a:p>
            <a:pPr algn="ctr">
              <a:defRPr sz="720">
                <a:solidFill>
                  <a:srgbClr val="2A2A3D"/>
                </a:solidFill>
                <a:latin typeface="Arial"/>
              </a:defRPr>
            </a:pPr>
            <a:r>
              <a:t>42 Operator 3 Gilir Beralih Penuh dari Folio</a:t>
            </a:r>
          </a:p>
        </p:txBody>
      </p:sp>
      <p:sp>
        <p:nvSpPr>
          <p:cNvPr id="9" name="Rectangle 8"/>
          <p:cNvSpPr/>
          <p:nvPr/>
        </p:nvSpPr>
        <p:spPr>
          <a:xfrm>
            <a:off x="548640"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0288F"/>
                </a:solidFill>
                <a:latin typeface="Arial"/>
              </a:defRPr>
            </a:pPr>
            <a:r>
              <a:t>EFISIENSI INPUT FORM</a:t>
            </a:r>
          </a:p>
          <a:p>
            <a:pPr algn="ctr">
              <a:defRPr sz="1550" b="1">
                <a:solidFill>
                  <a:srgbClr val="20288F"/>
                </a:solidFill>
                <a:latin typeface="Arial"/>
              </a:defRPr>
            </a:pPr>
            <a:r>
              <a:t>&lt; 30 Detik / PO</a:t>
            </a:r>
          </a:p>
          <a:p>
            <a:pPr algn="ctr">
              <a:defRPr sz="720">
                <a:solidFill>
                  <a:srgbClr val="2A2A3D"/>
                </a:solidFill>
                <a:latin typeface="Arial"/>
              </a:defRPr>
            </a:pPr>
            <a:r>
              <a:t>Autofill SAP Pangkas Resistensi Administrasi</a:t>
            </a:r>
          </a:p>
        </p:txBody>
      </p:sp>
      <p:sp>
        <p:nvSpPr>
          <p:cNvPr id="11" name="Rectangle 10"/>
          <p:cNvSpPr/>
          <p:nvPr/>
        </p:nvSpPr>
        <p:spPr>
          <a:xfrm>
            <a:off x="3374136"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RESOLUSI MASALAH</a:t>
            </a:r>
          </a:p>
          <a:p>
            <a:pPr algn="ctr">
              <a:defRPr sz="1550" b="1">
                <a:solidFill>
                  <a:srgbClr val="2E7D32"/>
                </a:solidFill>
                <a:latin typeface="Arial"/>
              </a:defRPr>
            </a:pPr>
            <a:r>
              <a:t>100% Kendala Tuntas</a:t>
            </a:r>
          </a:p>
          <a:p>
            <a:pPr algn="ctr">
              <a:defRPr sz="720">
                <a:solidFill>
                  <a:srgbClr val="2A2A3D"/>
                </a:solidFill>
                <a:latin typeface="Arial"/>
              </a:defRPr>
            </a:pPr>
            <a:r>
              <a:t>Silo Data, Shift Malam &amp; Koneksi Teratasi</a:t>
            </a:r>
          </a:p>
        </p:txBody>
      </p:sp>
      <p:sp>
        <p:nvSpPr>
          <p:cNvPr id="13" name="Rectangle 12"/>
          <p:cNvSpPr/>
          <p:nvPr/>
        </p:nvSpPr>
        <p:spPr>
          <a:xfrm>
            <a:off x="6199632"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1B5E20"/>
                </a:solidFill>
                <a:latin typeface="Arial"/>
              </a:defRPr>
            </a:pPr>
            <a:r>
              <a:t>KULTUR DATA BARU</a:t>
            </a:r>
          </a:p>
          <a:p>
            <a:pPr algn="ctr">
              <a:defRPr sz="1550" b="1">
                <a:solidFill>
                  <a:srgbClr val="1B5E20"/>
                </a:solidFill>
                <a:latin typeface="Arial"/>
              </a:defRPr>
            </a:pPr>
            <a:r>
              <a:t>Data-Driven Culture</a:t>
            </a:r>
          </a:p>
          <a:p>
            <a:pPr algn="ctr">
              <a:defRPr sz="720">
                <a:solidFill>
                  <a:srgbClr val="2A2A3D"/>
                </a:solidFill>
                <a:latin typeface="Arial"/>
              </a:defRPr>
            </a:pPr>
            <a:r>
              <a:t>Transparansi Granular Lenyapkan Saling Tuduh</a:t>
            </a:r>
          </a:p>
        </p:txBody>
      </p:sp>
      <p:sp>
        <p:nvSpPr>
          <p:cNvPr id="15" name="Rectangle 14"/>
          <p:cNvSpPr/>
          <p:nvPr/>
        </p:nvSpPr>
        <p:spPr>
          <a:xfrm>
            <a:off x="9025128" y="1737360"/>
            <a:ext cx="2615184" cy="54864"/>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44068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TANTANGAN UTAMA LAPANGAN &amp; STRATEGI MITIGASI RIIL</a:t>
            </a:r>
          </a:p>
        </p:txBody>
      </p:sp>
      <p:sp>
        <p:nvSpPr>
          <p:cNvPr id="17" name="Rounded Rectangle 16"/>
          <p:cNvSpPr/>
          <p:nvPr/>
        </p:nvSpPr>
        <p:spPr>
          <a:xfrm>
            <a:off x="548640" y="3127248"/>
            <a:ext cx="544068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3182112"/>
            <a:ext cx="5221224" cy="804672"/>
          </a:xfrm>
          <a:prstGeom prst="roundRect">
            <a:avLst/>
          </a:prstGeom>
          <a:solidFill>
            <a:srgbClr val="FFFFFF"/>
          </a:solidFill>
          <a:ln w="12700">
            <a:solidFill>
              <a:srgbClr val="FFCDD2"/>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C62828"/>
                </a:solidFill>
                <a:latin typeface="Arial"/>
              </a:defRPr>
            </a:pPr>
            <a:r>
              <a:t>1. TANTANGAN KULTURAL &amp; BEBAN INPUT (HUMAN RESISTANCE)</a:t>
            </a:r>
          </a:p>
          <a:p>
            <a:r>
              <a:rPr b="1" sz="650">
                <a:solidFill>
                  <a:srgbClr val="1A237E"/>
                </a:solidFill>
              </a:rPr>
              <a:t>• Kendala Lapangan: </a:t>
            </a:r>
            <a:r>
              <a:rPr sz="650">
                <a:solidFill>
                  <a:srgbClr val="2A2A3D"/>
                </a:solidFill>
              </a:rPr>
              <a:t>Operator khawatir form digital menambah beban administratif saat awasi mesin cetak.</a:t>
            </a:r>
          </a:p>
          <a:p>
            <a:r>
              <a:rPr b="1" sz="650">
                <a:solidFill>
                  <a:srgbClr val="1A237E"/>
                </a:solidFill>
              </a:rPr>
              <a:t>• Mitigasi Lean UX: </a:t>
            </a:r>
            <a:r>
              <a:rPr sz="650">
                <a:solidFill>
                  <a:srgbClr val="2A2A3D"/>
                </a:solidFill>
              </a:rPr>
              <a:t>Desain Autofill SAP cerdas (&lt;30 dtk) &amp; shortcut Ctrl+S melenyapkan resistensi (100% patuh).</a:t>
            </a:r>
          </a:p>
        </p:txBody>
      </p:sp>
      <p:sp>
        <p:nvSpPr>
          <p:cNvPr id="19" name="Rounded Rectangle 18"/>
          <p:cNvSpPr/>
          <p:nvPr/>
        </p:nvSpPr>
        <p:spPr>
          <a:xfrm>
            <a:off x="658368" y="4041648"/>
            <a:ext cx="5221224" cy="841248"/>
          </a:xfrm>
          <a:prstGeom prst="roundRect">
            <a:avLst/>
          </a:prstGeom>
          <a:solidFill>
            <a:srgbClr val="FFFFFF"/>
          </a:solidFill>
          <a:ln w="12700">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E65100"/>
                </a:solidFill>
                <a:latin typeface="Arial"/>
              </a:defRPr>
            </a:pPr>
            <a:r>
              <a:t>2. TANTANGAN OPERASIONAL 3 GILIR (CIRCADIAN FATIGUE)</a:t>
            </a:r>
          </a:p>
          <a:p>
            <a:r>
              <a:rPr b="1" sz="650">
                <a:solidFill>
                  <a:srgbClr val="1A237E"/>
                </a:solidFill>
              </a:rPr>
              <a:t>• Kendala Lapangan: </a:t>
            </a:r>
            <a:r>
              <a:rPr sz="650">
                <a:solidFill>
                  <a:srgbClr val="2A2A3D"/>
                </a:solidFill>
              </a:rPr>
              <a:t>Kelelahan visual gilir malam (23.00–07.00 WIB) memicu risiko keterlambatan entri PO.</a:t>
            </a:r>
          </a:p>
          <a:p>
            <a:r>
              <a:rPr b="1" sz="650">
                <a:solidFill>
                  <a:srgbClr val="1A237E"/>
                </a:solidFill>
              </a:rPr>
              <a:t>• Mitigasi Handover: </a:t>
            </a:r>
            <a:r>
              <a:rPr sz="650">
                <a:solidFill>
                  <a:srgbClr val="2A2A3D"/>
                </a:solidFill>
              </a:rPr>
              <a:t>Checklist verifikasi input PO diwajibkan jadi syarat mutlak tanda tangan serah terima gilir.</a:t>
            </a:r>
          </a:p>
        </p:txBody>
      </p:sp>
      <p:sp>
        <p:nvSpPr>
          <p:cNvPr id="20" name="Rounded Rectangle 19"/>
          <p:cNvSpPr/>
          <p:nvPr/>
        </p:nvSpPr>
        <p:spPr>
          <a:xfrm>
            <a:off x="658368" y="4937760"/>
            <a:ext cx="5221224" cy="786384"/>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20288F"/>
                </a:solidFill>
                <a:latin typeface="Arial"/>
              </a:defRPr>
            </a:pPr>
            <a:r>
              <a:t>3. TANTANGAN TEKNIS DATA SILO &amp; KOMITMEN ZERO CAPEX</a:t>
            </a:r>
          </a:p>
          <a:p>
            <a:r>
              <a:rPr b="1" sz="650">
                <a:solidFill>
                  <a:srgbClr val="1A237E"/>
                </a:solidFill>
              </a:rPr>
              <a:t>• Kendala Lapangan: </a:t>
            </a:r>
            <a:r>
              <a:rPr sz="650">
                <a:solidFill>
                  <a:srgbClr val="2A2A3D"/>
                </a:solidFill>
              </a:rPr>
              <a:t>SAP ERP ZPPRSIPPC0012, verifikasi cacat, dan buku folio terisolasi tanpa anggaran software.</a:t>
            </a:r>
          </a:p>
          <a:p>
            <a:r>
              <a:rPr b="1" sz="650">
                <a:solidFill>
                  <a:srgbClr val="1A237E"/>
                </a:solidFill>
              </a:rPr>
              <a:t>• Mitigasi In-House: </a:t>
            </a:r>
            <a:r>
              <a:rPr sz="650">
                <a:solidFill>
                  <a:srgbClr val="2A2A3D"/>
                </a:solidFill>
              </a:rPr>
              <a:t>Pengembangan web intranet mandiri (Laravel Service, Inertia, Vue) dengan CAPEX &amp; OPEX Rp 0.</a:t>
            </a:r>
          </a:p>
        </p:txBody>
      </p:sp>
      <p:sp>
        <p:nvSpPr>
          <p:cNvPr id="21" name="TextBox 20"/>
          <p:cNvSpPr txBox="1"/>
          <p:nvPr/>
        </p:nvSpPr>
        <p:spPr>
          <a:xfrm>
            <a:off x="658368" y="5742432"/>
            <a:ext cx="5221224" cy="128016"/>
          </a:xfrm>
          <a:prstGeom prst="rect">
            <a:avLst/>
          </a:prstGeom>
          <a:noFill/>
        </p:spPr>
        <p:txBody>
          <a:bodyPr wrap="none" tIns="0" lIns="0">
            <a:spAutoFit/>
          </a:bodyPr>
          <a:lstStyle/>
          <a:p>
            <a:pPr>
              <a:defRPr sz="630" b="1">
                <a:solidFill>
                  <a:srgbClr val="1A237E"/>
                </a:solidFill>
                <a:latin typeface="Arial"/>
              </a:defRPr>
            </a:pPr>
            <a:r>
              <a:t>*(Sumber: Laporan Monitoring &amp; Evaluasi Kaizen Unit Cetak Pita Cukai Semester 1 2026)</a:t>
            </a:r>
          </a:p>
        </p:txBody>
      </p:sp>
      <p:sp>
        <p:nvSpPr>
          <p:cNvPr id="22" name="Rectangle 21"/>
          <p:cNvSpPr/>
          <p:nvPr/>
        </p:nvSpPr>
        <p:spPr>
          <a:xfrm>
            <a:off x="6126480" y="2816352"/>
            <a:ext cx="5513832" cy="310896"/>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PEMBELAJARAN KUNCI (KEY LESSONS) &amp; PRINSIP SUKSES KAIZEN</a:t>
            </a:r>
          </a:p>
        </p:txBody>
      </p:sp>
      <p:sp>
        <p:nvSpPr>
          <p:cNvPr id="23" name="Rounded Rectangle 22"/>
          <p:cNvSpPr/>
          <p:nvPr/>
        </p:nvSpPr>
        <p:spPr>
          <a:xfrm>
            <a:off x="6126480" y="3127248"/>
            <a:ext cx="5513832" cy="2761488"/>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36208" y="3182112"/>
            <a:ext cx="5294376" cy="804672"/>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6A2CC9"/>
                </a:solidFill>
                <a:latin typeface="Arial"/>
              </a:defRPr>
            </a:pPr>
            <a:r>
              <a:t>1. KEMUDAHAN PENGGUNA (LEAN UX) PENENTU UTAMA ADOPSI LAPANGAN</a:t>
            </a:r>
          </a:p>
          <a:p>
            <a:r>
              <a:rPr b="1" sz="650">
                <a:solidFill>
                  <a:srgbClr val="1A237E"/>
                </a:solidFill>
              </a:rPr>
              <a:t>• Intisari Kaizen: </a:t>
            </a:r>
            <a:r>
              <a:rPr sz="650">
                <a:solidFill>
                  <a:srgbClr val="2A2A3D"/>
                </a:solidFill>
              </a:rPr>
              <a:t>Sistem secanggih apa pun akan ditolak di lini cetak jika menyita waktu operator mesin.</a:t>
            </a:r>
          </a:p>
          <a:p>
            <a:r>
              <a:rPr b="1" sz="650">
                <a:solidFill>
                  <a:srgbClr val="1A237E"/>
                </a:solidFill>
              </a:rPr>
              <a:t>• Prinsip Sukses: </a:t>
            </a:r>
            <a:r>
              <a:rPr sz="650">
                <a:solidFill>
                  <a:srgbClr val="2A2A3D"/>
                </a:solidFill>
              </a:rPr>
              <a:t>Desain cepat (&lt;30 dtk) &amp; otomatis adalah syarat mutlak terciptanya kepatuhan digital 100%.</a:t>
            </a:r>
          </a:p>
        </p:txBody>
      </p:sp>
      <p:sp>
        <p:nvSpPr>
          <p:cNvPr id="25" name="Rounded Rectangle 24"/>
          <p:cNvSpPr/>
          <p:nvPr/>
        </p:nvSpPr>
        <p:spPr>
          <a:xfrm>
            <a:off x="6236208" y="4041648"/>
            <a:ext cx="5294376" cy="841248"/>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1B5E20"/>
                </a:solidFill>
                <a:latin typeface="Arial"/>
              </a:defRPr>
            </a:pPr>
            <a:r>
              <a:t>2. TRANSPARANSI DATA GRANULAR MENGUBAH KULTUR MENJADI KOLABORATIF</a:t>
            </a:r>
          </a:p>
          <a:p>
            <a:r>
              <a:rPr b="1" sz="650">
                <a:solidFill>
                  <a:srgbClr val="1A237E"/>
                </a:solidFill>
              </a:rPr>
              <a:t>• Intisari Kaizen: </a:t>
            </a:r>
            <a:r>
              <a:rPr sz="650">
                <a:solidFill>
                  <a:srgbClr val="2A2A3D"/>
                </a:solidFill>
              </a:rPr>
              <a:t>Ketiadaan data granular memicu kebiasaan saling menduga kesalahan saat inschiet naik.</a:t>
            </a:r>
          </a:p>
          <a:p>
            <a:r>
              <a:rPr b="1" sz="650">
                <a:solidFill>
                  <a:srgbClr val="1A237E"/>
                </a:solidFill>
              </a:rPr>
              <a:t>• Prinsip Sukses: </a:t>
            </a:r>
            <a:r>
              <a:rPr sz="650">
                <a:solidFill>
                  <a:srgbClr val="2A2A3D"/>
                </a:solidFill>
              </a:rPr>
              <a:t>Data mesin &amp; shift objektif membuktikan anomali mekanis, mengarahkan tim ke coaching terarah.</a:t>
            </a:r>
          </a:p>
        </p:txBody>
      </p:sp>
      <p:sp>
        <p:nvSpPr>
          <p:cNvPr id="26" name="Rounded Rectangle 25"/>
          <p:cNvSpPr/>
          <p:nvPr/>
        </p:nvSpPr>
        <p:spPr>
          <a:xfrm>
            <a:off x="6236208" y="4937760"/>
            <a:ext cx="5294376" cy="786384"/>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20288F"/>
                </a:solidFill>
                <a:latin typeface="Arial"/>
              </a:defRPr>
            </a:pPr>
            <a:r>
              <a:t>3. PELEMBAGAAN LEGAL-FORMAL MENGUNCI KEBERLANJUTAN SISTEM</a:t>
            </a:r>
          </a:p>
          <a:p>
            <a:r>
              <a:rPr b="1" sz="650">
                <a:solidFill>
                  <a:srgbClr val="1A237E"/>
                </a:solidFill>
              </a:rPr>
              <a:t>• Intisari Kaizen: </a:t>
            </a:r>
            <a:r>
              <a:rPr sz="650">
                <a:solidFill>
                  <a:srgbClr val="2A2A3D"/>
                </a:solidFill>
              </a:rPr>
              <a:t>Inovasi tanpa regulasi baku berisiko kembali ke cara manual lama saat rotasi personel.</a:t>
            </a:r>
          </a:p>
          <a:p>
            <a:r>
              <a:rPr b="1" sz="650">
                <a:solidFill>
                  <a:srgbClr val="1A237E"/>
                </a:solidFill>
              </a:rPr>
              <a:t>• Prinsip Sukses: </a:t>
            </a:r>
            <a:r>
              <a:rPr sz="650">
                <a:solidFill>
                  <a:srgbClr val="2A2A3D"/>
                </a:solidFill>
              </a:rPr>
              <a:t>IK-PPC-2026-001, SOP-PPC-2026-004 &amp; BA-PPC-2026-002 kunci kepatuhan permanen ISO 9001.</a:t>
            </a:r>
          </a:p>
        </p:txBody>
      </p:sp>
      <p:sp>
        <p:nvSpPr>
          <p:cNvPr id="27" name="TextBox 26"/>
          <p:cNvSpPr txBox="1"/>
          <p:nvPr/>
        </p:nvSpPr>
        <p:spPr>
          <a:xfrm>
            <a:off x="6236208" y="5742432"/>
            <a:ext cx="5294376" cy="128016"/>
          </a:xfrm>
          <a:prstGeom prst="rect">
            <a:avLst/>
          </a:prstGeom>
          <a:noFill/>
        </p:spPr>
        <p:txBody>
          <a:bodyPr wrap="none" tIns="0" lIns="0">
            <a:spAutoFit/>
          </a:bodyPr>
          <a:lstStyle/>
          <a:p>
            <a:pPr>
              <a:defRPr sz="630" b="1">
                <a:solidFill>
                  <a:srgbClr val="6A2CC9"/>
                </a:solidFill>
                <a:latin typeface="Arial"/>
              </a:defRPr>
            </a:pPr>
            <a:r>
              <a:t>*(Sumber: Sintesis Evaluasi Pelaksanaan Proyek Kaizen &amp; Budaya Mutu Perum Peruri 2026)</a:t>
            </a:r>
          </a:p>
        </p:txBody>
      </p:sp>
      <p:sp>
        <p:nvSpPr>
          <p:cNvPr id="28" name="Rounded Rectangle 27"/>
          <p:cNvSpPr/>
          <p:nvPr/>
        </p:nvSpPr>
        <p:spPr>
          <a:xfrm>
            <a:off x="548640" y="5961888"/>
            <a:ext cx="11091672" cy="402336"/>
          </a:xfrm>
          <a:prstGeom prst="roundRect">
            <a:avLst/>
          </a:prstGeom>
          <a:solidFill>
            <a:srgbClr val="F8F6FE"/>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54864" lIns="109728" rIns="109728"/>
          <a:lstStyle/>
          <a:p>
            <a:pPr algn="ctr"/>
            <a:r>
              <a:rPr sz="750" b="1">
                <a:solidFill>
                  <a:srgbClr val="6A2CC9"/>
                </a:solidFill>
                <a:latin typeface="Arial"/>
              </a:rPr>
              <a:t>• Intisari Transformasi Lapangan: </a:t>
            </a:r>
            <a:r>
              <a:rPr sz="740">
                <a:solidFill>
                  <a:srgbClr val="2A2A3D"/>
                </a:solidFill>
                <a:latin typeface="Arial"/>
              </a:rPr>
              <a:t>Keberhasilan DSS SIRINE 4.0 membuktikan bahwa digitalisasi di lini cetak sekuriti harus memadukan kesederhanaan antarmuka (Lean UX), pembinaan budaya kerja kolaboratif 3 gilir 24/7, dan penguncian regulasi legal-formal agar menghasilkan perbaikan operasional berkelanjutan.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1">
    <p:bg>
      <p:bgPr>
        <a:solidFill>
          <a:srgbClr val="4A1F9E"/>
        </a:solidFill>
        <a:effectLst/>
      </p:bgPr>
    </p:bg>
    <p:spTree>
      <p:nvGrpSpPr>
        <p:cNvPr id="1" name=""/>
        <p:cNvGrpSpPr/>
        <p:nvPr/>
      </p:nvGrpSpPr>
      <p:grpSpPr>
        <a:xfrm>
          <a:off x="0" y="0"/>
          <a:ext cx="0" cy="0"/>
          <a:chOff x="0" y="0"/>
          <a:chExt cx="0" cy="0"/>
        </a:xfrm>
      </p:grpSpPr>
      <p:sp>
        <p:nvSpPr>
          <p:cNvPr id="2" name="Shape 0"/>
          <p:cNvSpPr/>
          <p:nvPr/>
        </p:nvSpPr>
        <p:spPr>
          <a:xfrm>
            <a:off x="-1645920" y="3657600"/>
            <a:ext cx="4937760" cy="4937760"/>
          </a:xfrm>
          <a:prstGeom prst="ellipse">
            <a:avLst/>
          </a:prstGeom>
          <a:solidFill>
            <a:srgbClr val="CB69FF">
              <a:alpha val="15000"/>
            </a:srgbClr>
          </a:solidFill>
          <a:ln/>
        </p:spPr>
      </p:sp>
      <p:sp>
        <p:nvSpPr>
          <p:cNvPr id="3" name="Shape 1"/>
          <p:cNvSpPr/>
          <p:nvPr/>
        </p:nvSpPr>
        <p:spPr>
          <a:xfrm>
            <a:off x="9692640" y="-1645920"/>
            <a:ext cx="4572000" cy="4572000"/>
          </a:xfrm>
          <a:prstGeom prst="ellipse">
            <a:avLst/>
          </a:prstGeom>
          <a:solidFill>
            <a:srgbClr val="FFFFFF">
              <a:alpha val="8000"/>
            </a:srgbClr>
          </a:solidFill>
          <a:ln/>
        </p:spPr>
      </p:sp>
      <p:sp>
        <p:nvSpPr>
          <p:cNvPr id="4" name="Text 2"/>
          <p:cNvSpPr/>
          <p:nvPr/>
        </p:nvSpPr>
        <p:spPr>
          <a:xfrm>
            <a:off x="0" y="2926080"/>
            <a:ext cx="12192000" cy="731520"/>
          </a:xfrm>
          <a:prstGeom prst="rect">
            <a:avLst/>
          </a:prstGeom>
          <a:noFill/>
          <a:ln/>
        </p:spPr>
        <p:txBody>
          <a:bodyPr wrap="square" lIns="0" tIns="0" rIns="0" bIns="0" rtlCol="0" anchor="ctr"/>
          <a:lstStyle/>
          <a:p>
            <a:pPr marL="0" indent="0" algn="ctr">
              <a:buNone/>
            </a:pPr>
            <a:r>
              <a:rPr lang="en-US" sz="3200" b="1" dirty="0">
                <a:solidFill>
                  <a:srgbClr val="FFFFFF"/>
                </a:solidFill>
                <a:latin typeface="Arial" pitchFamily="34" charset="0"/>
                <a:ea typeface="Arial" pitchFamily="34" charset="-122"/>
                <a:cs typeface="Arial" pitchFamily="34" charset="-120"/>
              </a:rPr>
              <a:t>TERIMA KASIH</a:t>
            </a:r>
            <a:endParaRPr lang="en-US" sz="3200" dirty="0"/>
          </a:p>
        </p:txBody>
      </p:sp>
      <p:pic>
        <p:nvPicPr>
          <p:cNvPr id="21" name="Picture 20">
            <a:extLst>
              <a:ext uri="{FF2B5EF4-FFF2-40B4-BE49-F238E27FC236}">
                <a16:creationId xmlns:a16="http://schemas.microsoft.com/office/drawing/2014/main" id="{EB018F83-B0C6-14BE-1C69-1A5E797B70D4}"/>
              </a:ext>
            </a:extLst>
          </p:cNvPr>
          <p:cNvPicPr>
            <a:picLocks noChangeAspect="1"/>
          </p:cNvPicPr>
          <p:nvPr/>
        </p:nvPicPr>
        <p:blipFill>
          <a:blip r:embed="rId3"/>
          <a:stretch>
            <a:fillRect/>
          </a:stretch>
        </p:blipFill>
        <p:spPr>
          <a:xfrm>
            <a:off x="10670874" y="89912"/>
            <a:ext cx="1454649" cy="809702"/>
          </a:xfrm>
          <a:prstGeom prst="rect">
            <a:avLst/>
          </a:prstGeom>
        </p:spPr>
      </p:pic>
      <p:pic>
        <p:nvPicPr>
          <p:cNvPr id="23" name="Picture 22">
            <a:extLst>
              <a:ext uri="{FF2B5EF4-FFF2-40B4-BE49-F238E27FC236}">
                <a16:creationId xmlns:a16="http://schemas.microsoft.com/office/drawing/2014/main" id="{9FE47E46-A9B3-39FE-12A6-B1B0ED1FD88C}"/>
              </a:ext>
            </a:extLst>
          </p:cNvPr>
          <p:cNvPicPr>
            <a:picLocks noChangeAspect="1"/>
          </p:cNvPicPr>
          <p:nvPr/>
        </p:nvPicPr>
        <p:blipFill>
          <a:blip r:embed="rId4"/>
          <a:stretch>
            <a:fillRect/>
          </a:stretch>
        </p:blipFill>
        <p:spPr>
          <a:xfrm>
            <a:off x="-217170" y="-139700"/>
            <a:ext cx="2339340" cy="15595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07899" y="-179222"/>
            <a:ext cx="1448409" cy="814730"/>
          </a:xfrm>
          <a:prstGeom prst="rect">
            <a:avLst/>
          </a:prstGeom>
        </p:spPr>
      </p:pic>
      <p:pic>
        <p:nvPicPr>
          <p:cNvPr id="3" name="Picture 2" descr="image.png"/>
          <p:cNvPicPr>
            <a:picLocks noChangeAspect="1"/>
          </p:cNvPicPr>
          <p:nvPr/>
        </p:nvPicPr>
        <p:blipFill>
          <a:blip r:embed="rId3"/>
          <a:stretch>
            <a:fillRect/>
          </a:stretch>
        </p:blipFill>
        <p:spPr>
          <a:xfrm>
            <a:off x="11055096" y="11887"/>
            <a:ext cx="1140256" cy="634593"/>
          </a:xfrm>
          <a:prstGeom prst="rect">
            <a:avLst/>
          </a:prstGeom>
        </p:spPr>
      </p:pic>
      <p:sp>
        <p:nvSpPr>
          <p:cNvPr id="4" name="Rounded Rectangle 3"/>
          <p:cNvSpPr/>
          <p:nvPr/>
        </p:nvSpPr>
        <p:spPr>
          <a:xfrm>
            <a:off x="548640" y="594360"/>
            <a:ext cx="731520" cy="658368"/>
          </a:xfrm>
          <a:prstGeom prst="roundRect">
            <a:avLst/>
          </a:prstGeom>
          <a:solidFill>
            <a:srgbClr val="6A2CC9"/>
          </a:solidFill>
          <a:ln>
            <a:solidFill>
              <a:srgbClr val="6A2CC9"/>
            </a:solidFill>
          </a:ln>
        </p:spPr>
        <p:style>
          <a:lnRef idx="1">
            <a:schemeClr val="accent1"/>
          </a:lnRef>
          <a:fillRef idx="3">
            <a:schemeClr val="accent1"/>
          </a:fillRef>
          <a:effectRef idx="2">
            <a:schemeClr val="accent1"/>
          </a:effectRef>
          <a:fontRef idx="minor">
            <a:schemeClr val="lt1"/>
          </a:fontRef>
        </p:style>
        <p:txBody>
          <a:bodyPr rtlCol="0" anchor="ctr" wrap="none" tIns="109728" bIns="0" lIns="0" rIns="0"/>
          <a:lstStyle/>
          <a:p>
            <a:pPr algn="ctr">
              <a:defRPr sz="2000" b="1">
                <a:solidFill>
                  <a:srgbClr val="FFFFFF"/>
                </a:solidFill>
                <a:latin typeface="Arial"/>
              </a:defRPr>
            </a:pPr>
            <a:r>
              <a:t>08.2</a:t>
            </a:r>
          </a:p>
        </p:txBody>
      </p:sp>
      <p:sp>
        <p:nvSpPr>
          <p:cNvPr id="5" name="TextBox 4"/>
          <p:cNvSpPr txBox="1"/>
          <p:nvPr/>
        </p:nvSpPr>
        <p:spPr>
          <a:xfrm>
            <a:off x="1417320" y="548640"/>
            <a:ext cx="9326880" cy="731520"/>
          </a:xfrm>
          <a:prstGeom prst="rect">
            <a:avLst/>
          </a:prstGeom>
          <a:noFill/>
        </p:spPr>
        <p:txBody>
          <a:bodyPr wrap="square" tIns="73152" bIns="0" lIns="0" rIns="0">
            <a:spAutoFit/>
          </a:bodyPr>
          <a:lstStyle/>
          <a:p>
            <a:pPr>
              <a:defRPr sz="2300" b="1">
                <a:solidFill>
                  <a:srgbClr val="20288F"/>
                </a:solidFill>
                <a:latin typeface="Arial"/>
              </a:defRPr>
            </a:pPr>
            <a:r>
              <a:t>Lesson Learned: Rekomendasi Pengembangan Lanjutan &amp; Kesimpulan Akhir Proyek</a:t>
            </a:r>
          </a:p>
        </p:txBody>
      </p:sp>
      <p:sp>
        <p:nvSpPr>
          <p:cNvPr id="6" name="TextBox 5"/>
          <p:cNvSpPr txBox="1"/>
          <p:nvPr/>
        </p:nvSpPr>
        <p:spPr>
          <a:xfrm>
            <a:off x="548640" y="1353312"/>
            <a:ext cx="10789920" cy="347472"/>
          </a:xfrm>
          <a:prstGeom prst="rect">
            <a:avLst/>
          </a:prstGeom>
          <a:noFill/>
        </p:spPr>
        <p:txBody>
          <a:bodyPr wrap="square" tIns="0" lIns="0" rIns="0">
            <a:spAutoFit/>
          </a:bodyPr>
          <a:lstStyle/>
          <a:p>
            <a:r>
              <a:rPr sz="1150" b="1">
                <a:solidFill>
                  <a:srgbClr val="6A2CC9"/>
                </a:solidFill>
                <a:latin typeface="Arial"/>
              </a:rPr>
              <a:t>Tujuan bagian ini:  </a:t>
            </a:r>
            <a:r>
              <a:rPr sz="1150">
                <a:solidFill>
                  <a:srgbClr val="2A2A3D"/>
                </a:solidFill>
                <a:latin typeface="Arial"/>
              </a:rPr>
              <a:t>Sajikan peta jalan pengembangan inovasi lintas unit dan tegaskan kesimpulan ringkas atas pencapaian Kaizen DSS SIRINE 4.0.</a:t>
            </a:r>
          </a:p>
        </p:txBody>
      </p:sp>
      <p:sp>
        <p:nvSpPr>
          <p:cNvPr id="7" name="TextBox 6"/>
          <p:cNvSpPr txBox="1"/>
          <p:nvPr/>
        </p:nvSpPr>
        <p:spPr>
          <a:xfrm>
            <a:off x="548640" y="6419088"/>
            <a:ext cx="11091672" cy="219456"/>
          </a:xfrm>
          <a:prstGeom prst="rect">
            <a:avLst/>
          </a:prstGeom>
          <a:noFill/>
        </p:spPr>
        <p:txBody>
          <a:bodyPr wrap="none" tIns="0" lIns="0" rIns="0">
            <a:spAutoFit/>
          </a:bodyPr>
          <a:lstStyle/>
          <a:p>
            <a:pPr>
              <a:defRPr sz="850">
                <a:solidFill>
                  <a:srgbClr val="6E6E82"/>
                </a:solidFill>
                <a:latin typeface="Arial"/>
              </a:defRPr>
            </a:pPr>
            <a:r>
              <a:t>IAKA 2026 — Kerangka Presentasi Peserta  ·  DSS SIRINE 4.0 Unit Cetak Pita Cukai</a:t>
            </a:r>
          </a:p>
        </p:txBody>
      </p:sp>
      <p:sp>
        <p:nvSpPr>
          <p:cNvPr id="8" name="Rounded Rectangle 7"/>
          <p:cNvSpPr/>
          <p:nvPr/>
        </p:nvSpPr>
        <p:spPr>
          <a:xfrm>
            <a:off x="548640"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E7D32"/>
                </a:solidFill>
                <a:latin typeface="Arial"/>
              </a:defRPr>
            </a:pPr>
            <a:r>
              <a:t>PENURUNAN INSCHIET</a:t>
            </a:r>
          </a:p>
          <a:p>
            <a:pPr algn="ctr">
              <a:defRPr sz="1550" b="1">
                <a:solidFill>
                  <a:srgbClr val="2E7D32"/>
                </a:solidFill>
                <a:latin typeface="Arial"/>
              </a:defRPr>
            </a:pPr>
            <a:r>
              <a:t>-1,28 pp (-27,8%)</a:t>
            </a:r>
          </a:p>
          <a:p>
            <a:pPr algn="ctr">
              <a:defRPr sz="720">
                <a:solidFill>
                  <a:srgbClr val="2A2A3D"/>
                </a:solidFill>
                <a:latin typeface="Arial"/>
              </a:defRPr>
            </a:pPr>
            <a:r>
              <a:t>Turun dari 4,61% ke 3,33% di Q2 2026</a:t>
            </a:r>
          </a:p>
        </p:txBody>
      </p:sp>
      <p:sp>
        <p:nvSpPr>
          <p:cNvPr id="9" name="Rectangle 8"/>
          <p:cNvSpPr/>
          <p:nvPr/>
        </p:nvSpPr>
        <p:spPr>
          <a:xfrm>
            <a:off x="548640" y="1737360"/>
            <a:ext cx="2615184"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74136" y="1737360"/>
            <a:ext cx="2615184" cy="987552"/>
          </a:xfrm>
          <a:prstGeom prst="roundRect">
            <a:avLst/>
          </a:prstGeom>
          <a:solidFill>
            <a:srgbClr val="F4F7FE"/>
          </a:solidFill>
          <a:ln w="1905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20288F"/>
                </a:solidFill>
                <a:latin typeface="Arial"/>
              </a:defRPr>
            </a:pPr>
            <a:r>
              <a:t>COST AVOIDANCE RIIL</a:t>
            </a:r>
          </a:p>
          <a:p>
            <a:pPr algn="ctr">
              <a:defRPr sz="1550" b="1">
                <a:solidFill>
                  <a:srgbClr val="20288F"/>
                </a:solidFill>
                <a:latin typeface="Arial"/>
              </a:defRPr>
            </a:pPr>
            <a:r>
              <a:t>Rp 2,23 Miliar</a:t>
            </a:r>
          </a:p>
          <a:p>
            <a:pPr algn="ctr">
              <a:defRPr sz="720">
                <a:solidFill>
                  <a:srgbClr val="2A2A3D"/>
                </a:solidFill>
                <a:latin typeface="Arial"/>
              </a:defRPr>
            </a:pPr>
            <a:r>
              <a:t>Realisasi Nyata S1 2026 (Proyeksi Rp 6,82 M/Thn)</a:t>
            </a:r>
          </a:p>
        </p:txBody>
      </p:sp>
      <p:sp>
        <p:nvSpPr>
          <p:cNvPr id="11" name="Rectangle 10"/>
          <p:cNvSpPr/>
          <p:nvPr/>
        </p:nvSpPr>
        <p:spPr>
          <a:xfrm>
            <a:off x="3374136" y="1737360"/>
            <a:ext cx="2615184" cy="54864"/>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9632" y="1737360"/>
            <a:ext cx="2615184" cy="987552"/>
          </a:xfrm>
          <a:prstGeom prst="roundRect">
            <a:avLst/>
          </a:prstGeom>
          <a:solidFill>
            <a:srgbClr val="F8F6FE"/>
          </a:solidFill>
          <a:ln w="1905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6A2CC9"/>
                </a:solidFill>
                <a:latin typeface="Arial"/>
              </a:defRPr>
            </a:pPr>
            <a:r>
              <a:t>NET VALUE &amp; ROI</a:t>
            </a:r>
          </a:p>
          <a:p>
            <a:pPr algn="ctr">
              <a:defRPr sz="1550" b="1">
                <a:solidFill>
                  <a:srgbClr val="6A2CC9"/>
                </a:solidFill>
                <a:latin typeface="Arial"/>
              </a:defRPr>
            </a:pPr>
            <a:r>
              <a:t>Rp 6,82 M / Instant</a:t>
            </a:r>
          </a:p>
          <a:p>
            <a:pPr algn="ctr">
              <a:defRPr sz="720">
                <a:solidFill>
                  <a:srgbClr val="2A2A3D"/>
                </a:solidFill>
                <a:latin typeface="Arial"/>
              </a:defRPr>
            </a:pPr>
            <a:r>
              <a:t>CAPEX Rp 0 &amp; OPEX Rp 0 (Payback 0 Bulan)</a:t>
            </a:r>
          </a:p>
        </p:txBody>
      </p:sp>
      <p:sp>
        <p:nvSpPr>
          <p:cNvPr id="13" name="Rectangle 12"/>
          <p:cNvSpPr/>
          <p:nvPr/>
        </p:nvSpPr>
        <p:spPr>
          <a:xfrm>
            <a:off x="6199632" y="1737360"/>
            <a:ext cx="2615184" cy="54864"/>
          </a:xfrm>
          <a:prstGeom prst="rect">
            <a:avLst/>
          </a:prstGeom>
          <a:solidFill>
            <a:srgbClr val="6A2C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37360"/>
            <a:ext cx="2615184" cy="987552"/>
          </a:xfrm>
          <a:prstGeom prst="roundRect">
            <a:avLst/>
          </a:prstGeom>
          <a:solidFill>
            <a:srgbClr val="E8F5E9"/>
          </a:solidFill>
          <a:ln w="1905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73152" bIns="36576"/>
          <a:lstStyle/>
          <a:p>
            <a:pPr algn="ctr">
              <a:defRPr sz="850" b="1">
                <a:solidFill>
                  <a:srgbClr val="1B5E20"/>
                </a:solidFill>
                <a:latin typeface="Arial"/>
              </a:defRPr>
            </a:pPr>
            <a:r>
              <a:t>POTENSI REPLIKASI</a:t>
            </a:r>
          </a:p>
          <a:p>
            <a:pPr algn="ctr">
              <a:defRPr sz="1550" b="1">
                <a:solidFill>
                  <a:srgbClr val="1B5E20"/>
                </a:solidFill>
                <a:latin typeface="Arial"/>
              </a:defRPr>
            </a:pPr>
            <a:r>
              <a:t>4 Lini Produksi</a:t>
            </a:r>
          </a:p>
          <a:p>
            <a:pPr algn="ctr">
              <a:defRPr sz="720">
                <a:solidFill>
                  <a:srgbClr val="2A2A3D"/>
                </a:solidFill>
                <a:latin typeface="Arial"/>
              </a:defRPr>
            </a:pPr>
            <a:r>
              <a:t>Meterai, Paspor RI, Khazanah &amp; Uang Kertas</a:t>
            </a:r>
          </a:p>
        </p:txBody>
      </p:sp>
      <p:sp>
        <p:nvSpPr>
          <p:cNvPr id="15" name="Rectangle 14"/>
          <p:cNvSpPr/>
          <p:nvPr/>
        </p:nvSpPr>
        <p:spPr>
          <a:xfrm>
            <a:off x="9025128" y="1737360"/>
            <a:ext cx="2615184" cy="54864"/>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816352"/>
            <a:ext cx="5440680" cy="310896"/>
          </a:xfrm>
          <a:prstGeom prst="rect">
            <a:avLst/>
          </a:prstGeom>
          <a:solidFill>
            <a:srgbClr val="20288F"/>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1. REKOMENDASI PENGEMBANGAN LANJUTAN &amp; RENCANA STRATEGIS</a:t>
            </a:r>
          </a:p>
        </p:txBody>
      </p:sp>
      <p:sp>
        <p:nvSpPr>
          <p:cNvPr id="17" name="Rounded Rectangle 16"/>
          <p:cNvSpPr/>
          <p:nvPr/>
        </p:nvSpPr>
        <p:spPr>
          <a:xfrm>
            <a:off x="548640" y="3127248"/>
            <a:ext cx="5440680" cy="2761488"/>
          </a:xfrm>
          <a:prstGeom prst="roundRect">
            <a:avLst/>
          </a:prstGeom>
          <a:solidFill>
            <a:srgbClr val="F4F7FE"/>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3182112"/>
            <a:ext cx="5221224" cy="804672"/>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6A2CC9"/>
                </a:solidFill>
                <a:latin typeface="Arial"/>
              </a:defRPr>
            </a:pPr>
            <a:r>
              <a:t>1. PENGEMBANGAN INTERNAL UNIT CETAK (Q3–Q4 2026)</a:t>
            </a:r>
          </a:p>
          <a:p>
            <a:r>
              <a:rPr b="1" sz="650">
                <a:solidFill>
                  <a:srgbClr val="1A237E"/>
                </a:solidFill>
              </a:rPr>
              <a:t>• Rapor Scoring Kinerja Tim: </a:t>
            </a:r>
            <a:r>
              <a:rPr sz="650">
                <a:solidFill>
                  <a:srgbClr val="2A2A3D"/>
                </a:solidFill>
              </a:rPr>
              <a:t>Otomasi evaluasi produktivitas komposit (Grade A–E) untuk apresiasi regu kerja cetak.</a:t>
            </a:r>
          </a:p>
          <a:p>
            <a:r>
              <a:rPr b="1" sz="650">
                <a:solidFill>
                  <a:srgbClr val="1A237E"/>
                </a:solidFill>
              </a:rPr>
              <a:t>• Maintenance Log Book: </a:t>
            </a:r>
            <a:r>
              <a:rPr sz="650">
                <a:solidFill>
                  <a:srgbClr val="2A2A3D"/>
                </a:solidFill>
              </a:rPr>
              <a:t>Integrasi langsung Pareto cacat ke catatan servis teknisi Divisi Pemeliharaan.</a:t>
            </a:r>
          </a:p>
        </p:txBody>
      </p:sp>
      <p:sp>
        <p:nvSpPr>
          <p:cNvPr id="19" name="Rounded Rectangle 18"/>
          <p:cNvSpPr/>
          <p:nvPr/>
        </p:nvSpPr>
        <p:spPr>
          <a:xfrm>
            <a:off x="658368" y="4041648"/>
            <a:ext cx="5221224" cy="841248"/>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20288F"/>
                </a:solidFill>
                <a:latin typeface="Arial"/>
              </a:defRPr>
            </a:pPr>
            <a:r>
              <a:t>2. REPLIKASI KORPORAT KE 4 LINI PRODUKSI STRATEGIS (2027)</a:t>
            </a:r>
          </a:p>
          <a:p>
            <a:r>
              <a:rPr b="1" sz="650">
                <a:solidFill>
                  <a:srgbClr val="1A237E"/>
                </a:solidFill>
              </a:rPr>
              <a:t>• 4 Unit Sekuriti Utama: </a:t>
            </a:r>
            <a:r>
              <a:rPr sz="650">
                <a:solidFill>
                  <a:srgbClr val="2A2A3D"/>
                </a:solidFill>
              </a:rPr>
              <a:t>Replikasi core engine ke lini Meterai, Paspor RI, Khazanah/Finishing, dan Uang Kertas.</a:t>
            </a:r>
          </a:p>
          <a:p>
            <a:r>
              <a:rPr b="1" sz="650">
                <a:solidFill>
                  <a:srgbClr val="1A237E"/>
                </a:solidFill>
              </a:rPr>
              <a:t>• Efisiensi Korporat: </a:t>
            </a:r>
            <a:r>
              <a:rPr sz="650">
                <a:solidFill>
                  <a:srgbClr val="2A2A3D"/>
                </a:solidFill>
              </a:rPr>
              <a:t>Memanfaatkan template arsitektur teruji tanpa perlu biaya riset software dari awal.</a:t>
            </a:r>
          </a:p>
        </p:txBody>
      </p:sp>
      <p:sp>
        <p:nvSpPr>
          <p:cNvPr id="20" name="Rounded Rectangle 19"/>
          <p:cNvSpPr/>
          <p:nvPr/>
        </p:nvSpPr>
        <p:spPr>
          <a:xfrm>
            <a:off x="658368" y="4937760"/>
            <a:ext cx="5221224" cy="786384"/>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1B5E20"/>
                </a:solidFill>
                <a:latin typeface="Arial"/>
              </a:defRPr>
            </a:pPr>
            <a:r>
              <a:t>3. AKSELERASI INDUSTRI 4.0 &amp; TRANSFORMASI DIGITAL PERURI</a:t>
            </a:r>
          </a:p>
          <a:p>
            <a:r>
              <a:rPr b="1" sz="650">
                <a:solidFill>
                  <a:srgbClr val="1A237E"/>
                </a:solidFill>
              </a:rPr>
              <a:t>• Integrasi PPIC Korporat: </a:t>
            </a:r>
            <a:r>
              <a:rPr sz="650">
                <a:solidFill>
                  <a:srgbClr val="2A2A3D"/>
                </a:solidFill>
              </a:rPr>
              <a:t>Sinkronisasi histori stabilitas mesin ke perencanaan alokasi pesanan kerja dinamis.</a:t>
            </a:r>
          </a:p>
          <a:p>
            <a:r>
              <a:rPr b="1" sz="650">
                <a:solidFill>
                  <a:srgbClr val="1A237E"/>
                </a:solidFill>
              </a:rPr>
              <a:t>• Asesmen INDI 4.0: </a:t>
            </a:r>
            <a:r>
              <a:rPr sz="650">
                <a:solidFill>
                  <a:srgbClr val="2A2A3D"/>
                </a:solidFill>
              </a:rPr>
              <a:t>Mendukung pencapaian skor INDI 4.0 Kemenperin RI pilar Smart Factory &amp; Data-Driven.</a:t>
            </a:r>
          </a:p>
        </p:txBody>
      </p:sp>
      <p:sp>
        <p:nvSpPr>
          <p:cNvPr id="21" name="TextBox 20"/>
          <p:cNvSpPr txBox="1"/>
          <p:nvPr/>
        </p:nvSpPr>
        <p:spPr>
          <a:xfrm>
            <a:off x="658368" y="5742432"/>
            <a:ext cx="5221224" cy="128016"/>
          </a:xfrm>
          <a:prstGeom prst="rect">
            <a:avLst/>
          </a:prstGeom>
          <a:noFill/>
        </p:spPr>
        <p:txBody>
          <a:bodyPr wrap="none" tIns="0" lIns="0">
            <a:spAutoFit/>
          </a:bodyPr>
          <a:lstStyle/>
          <a:p>
            <a:pPr>
              <a:defRPr sz="630" b="1">
                <a:solidFill>
                  <a:srgbClr val="1A237E"/>
                </a:solidFill>
                <a:latin typeface="Arial"/>
              </a:defRPr>
            </a:pPr>
            <a:r>
              <a:t>*(Sumber: Rencana Pengembangan Kaizen Unit Cetak Pita Cukai &amp; RJPP Transformasi Digital Peruri 2026)</a:t>
            </a:r>
          </a:p>
        </p:txBody>
      </p:sp>
      <p:sp>
        <p:nvSpPr>
          <p:cNvPr id="22" name="Rectangle 21"/>
          <p:cNvSpPr/>
          <p:nvPr/>
        </p:nvSpPr>
        <p:spPr>
          <a:xfrm>
            <a:off x="6126480" y="2816352"/>
            <a:ext cx="5513832" cy="31089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tIns="54864" lIns="109728"/>
          <a:lstStyle/>
          <a:p>
            <a:pPr algn="ctr">
              <a:defRPr sz="950" b="1">
                <a:solidFill>
                  <a:srgbClr val="FFFFFF"/>
                </a:solidFill>
                <a:latin typeface="Arial"/>
              </a:defRPr>
            </a:pPr>
            <a:r>
              <a:t>2. KESIMPULAN RINGKAS ATAS KESELURUHAN PROYEK DSS SIRINE 4.0</a:t>
            </a:r>
          </a:p>
        </p:txBody>
      </p:sp>
      <p:sp>
        <p:nvSpPr>
          <p:cNvPr id="23" name="Rounded Rectangle 22"/>
          <p:cNvSpPr/>
          <p:nvPr/>
        </p:nvSpPr>
        <p:spPr>
          <a:xfrm>
            <a:off x="6126480" y="3127248"/>
            <a:ext cx="5513832" cy="2761488"/>
          </a:xfrm>
          <a:prstGeom prst="roundRect">
            <a:avLst/>
          </a:prstGeom>
          <a:solidFill>
            <a:srgbClr val="E8F5E9"/>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36208" y="3182112"/>
            <a:ext cx="5294376" cy="804672"/>
          </a:xfrm>
          <a:prstGeom prst="roundRect">
            <a:avLst/>
          </a:prstGeom>
          <a:solidFill>
            <a:srgbClr val="FFFFFF"/>
          </a:solidFill>
          <a:ln w="12700">
            <a:solidFill>
              <a:srgbClr val="D2DCF5"/>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20288F"/>
                </a:solidFill>
                <a:latin typeface="Arial"/>
              </a:defRPr>
            </a:pPr>
            <a:r>
              <a:t>1. ELIMINASI DATA SILO &amp; PENYELESAIAN AKAR MASALAH SECARA PRESISI</a:t>
            </a:r>
          </a:p>
          <a:p>
            <a:r>
              <a:rPr b="1" sz="650">
                <a:solidFill>
                  <a:srgbClr val="1A237E"/>
                </a:solidFill>
              </a:rPr>
              <a:t>• Silsilah Terlacak 100%: </a:t>
            </a:r>
            <a:r>
              <a:rPr sz="650">
                <a:solidFill>
                  <a:srgbClr val="2A2A3D"/>
                </a:solidFill>
              </a:rPr>
              <a:t>Satukan 3 pulau data: PO ➔ Mesin ➔ Shift ➔ Tim ➔ Cacat (Klausul ISO 9001:2015).</a:t>
            </a:r>
          </a:p>
          <a:p>
            <a:r>
              <a:rPr b="1" sz="650">
                <a:solidFill>
                  <a:srgbClr val="1A237E"/>
                </a:solidFill>
              </a:rPr>
              <a:t>• Aksi Terarah: </a:t>
            </a:r>
            <a:r>
              <a:rPr sz="650">
                <a:solidFill>
                  <a:srgbClr val="2A2A3D"/>
                </a:solidFill>
              </a:rPr>
              <a:t>Membedakan anomali mekanis vs variasi metode kerja, memangkas downtime &gt;50%–75%.</a:t>
            </a:r>
          </a:p>
        </p:txBody>
      </p:sp>
      <p:sp>
        <p:nvSpPr>
          <p:cNvPr id="25" name="Rounded Rectangle 24"/>
          <p:cNvSpPr/>
          <p:nvPr/>
        </p:nvSpPr>
        <p:spPr>
          <a:xfrm>
            <a:off x="6236208" y="4041648"/>
            <a:ext cx="5294376" cy="841248"/>
          </a:xfrm>
          <a:prstGeom prst="roundRect">
            <a:avLst/>
          </a:prstGeom>
          <a:solidFill>
            <a:srgbClr val="FFFFFF"/>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2E7D32"/>
                </a:solidFill>
                <a:latin typeface="Arial"/>
              </a:defRPr>
            </a:pPr>
            <a:r>
              <a:t>2. PENCIPTAAN NILAI FINANSIAL SIGNIFIKAN DENGAN INSTANT ROI</a:t>
            </a:r>
          </a:p>
          <a:p>
            <a:r>
              <a:rPr b="1" sz="650">
                <a:solidFill>
                  <a:srgbClr val="1A237E"/>
                </a:solidFill>
              </a:rPr>
              <a:t>• Efisiensi Riil Terbukti: </a:t>
            </a:r>
            <a:r>
              <a:rPr sz="650">
                <a:solidFill>
                  <a:srgbClr val="2A2A3D"/>
                </a:solidFill>
              </a:rPr>
              <a:t>Penghematan Rp 2,23 Miliar di S1 2026 &amp; proyeksi tahunan Rp 6,82 Miliar (-1,28 pp).</a:t>
            </a:r>
          </a:p>
          <a:p>
            <a:r>
              <a:rPr b="1" sz="650">
                <a:solidFill>
                  <a:srgbClr val="1A237E"/>
                </a:solidFill>
              </a:rPr>
              <a:t>• Mandiri Tanpa Lisensi: </a:t>
            </a:r>
            <a:r>
              <a:rPr sz="650">
                <a:solidFill>
                  <a:srgbClr val="2A2A3D"/>
                </a:solidFill>
              </a:rPr>
              <a:t>100% In-house development (CAPEX &amp; OPEX Rp 0) hasilkan Payback Period 0 Bulan.</a:t>
            </a:r>
          </a:p>
        </p:txBody>
      </p:sp>
      <p:sp>
        <p:nvSpPr>
          <p:cNvPr id="26" name="Rounded Rectangle 25"/>
          <p:cNvSpPr/>
          <p:nvPr/>
        </p:nvSpPr>
        <p:spPr>
          <a:xfrm>
            <a:off x="6236208" y="4937760"/>
            <a:ext cx="5294376" cy="786384"/>
          </a:xfrm>
          <a:prstGeom prst="roundRect">
            <a:avLst/>
          </a:prstGeom>
          <a:solidFill>
            <a:srgbClr val="FFFFFF"/>
          </a:solidFill>
          <a:ln w="12700">
            <a:solidFill>
              <a:srgbClr val="D9CEF7"/>
            </a:solidFill>
          </a:ln>
        </p:spPr>
        <p:style>
          <a:lnRef idx="1">
            <a:schemeClr val="accent1"/>
          </a:lnRef>
          <a:fillRef idx="3">
            <a:schemeClr val="accent1"/>
          </a:fillRef>
          <a:effectRef idx="2">
            <a:schemeClr val="accent1"/>
          </a:effectRef>
          <a:fontRef idx="minor">
            <a:schemeClr val="lt1"/>
          </a:fontRef>
        </p:style>
        <p:txBody>
          <a:bodyPr rtlCol="0" anchor="ctr" wrap="square" tIns="27432" bIns="18288" lIns="73152" rIns="73152"/>
          <a:lstStyle/>
          <a:p>
            <a:pPr algn="ctr">
              <a:defRPr sz="730" b="1">
                <a:solidFill>
                  <a:srgbClr val="6A2CC9"/>
                </a:solidFill>
                <a:latin typeface="Arial"/>
              </a:defRPr>
            </a:pPr>
            <a:r>
              <a:t>3. KEDAULATAN SISTEM, DISIPLIN TIM &amp; JAMINAN MUTU NEGARA</a:t>
            </a:r>
          </a:p>
          <a:p>
            <a:r>
              <a:rPr b="1" sz="650">
                <a:solidFill>
                  <a:srgbClr val="1A237E"/>
                </a:solidFill>
              </a:rPr>
              <a:t>• Keberlanjutan Mandiri: </a:t>
            </a:r>
            <a:r>
              <a:rPr sz="650">
                <a:solidFill>
                  <a:srgbClr val="2A2A3D"/>
                </a:solidFill>
              </a:rPr>
              <a:t>42 operator terlatih (nilai 94,8/100) dikunci legal lewat IK-PPC &amp; SOP-PPC resmi.</a:t>
            </a:r>
          </a:p>
          <a:p>
            <a:r>
              <a:rPr b="1" sz="650">
                <a:solidFill>
                  <a:srgbClr val="1A237E"/>
                </a:solidFill>
              </a:rPr>
              <a:t>• Kepuasan Kemenkeu RI: </a:t>
            </a:r>
            <a:r>
              <a:rPr sz="650">
                <a:solidFill>
                  <a:srgbClr val="2A2A3D"/>
                </a:solidFill>
              </a:rPr>
              <a:t>Mengamankan SLA pengiriman pita cukai 100% On-Time tanpa komplain mutu resmi.</a:t>
            </a:r>
          </a:p>
        </p:txBody>
      </p:sp>
      <p:sp>
        <p:nvSpPr>
          <p:cNvPr id="27" name="TextBox 26"/>
          <p:cNvSpPr txBox="1"/>
          <p:nvPr/>
        </p:nvSpPr>
        <p:spPr>
          <a:xfrm>
            <a:off x="6236208" y="5742432"/>
            <a:ext cx="5294376" cy="128016"/>
          </a:xfrm>
          <a:prstGeom prst="rect">
            <a:avLst/>
          </a:prstGeom>
          <a:noFill/>
        </p:spPr>
        <p:txBody>
          <a:bodyPr wrap="none" tIns="0" lIns="0">
            <a:spAutoFit/>
          </a:bodyPr>
          <a:lstStyle/>
          <a:p>
            <a:pPr>
              <a:defRPr sz="630" b="1">
                <a:solidFill>
                  <a:srgbClr val="1B5E20"/>
                </a:solidFill>
                <a:latin typeface="Arial"/>
              </a:defRPr>
            </a:pPr>
            <a:r>
              <a:t>*(Sumber: Resume Evaluasi Komprehensif Tim Inovasi Kaizen &amp; Manajemen SBU HSS Perum Peruri 2026)</a:t>
            </a:r>
          </a:p>
        </p:txBody>
      </p:sp>
      <p:sp>
        <p:nvSpPr>
          <p:cNvPr id="28" name="Rounded Rectangle 27"/>
          <p:cNvSpPr/>
          <p:nvPr/>
        </p:nvSpPr>
        <p:spPr>
          <a:xfrm>
            <a:off x="548640" y="5961888"/>
            <a:ext cx="11091672" cy="402336"/>
          </a:xfrm>
          <a:prstGeom prst="roundRect">
            <a:avLst/>
          </a:prstGeom>
          <a:solidFill>
            <a:srgbClr val="E8F5E9"/>
          </a:solidFill>
          <a:ln w="1270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wrap="square" tIns="54864" lIns="109728" rIns="109728"/>
          <a:lstStyle/>
          <a:p>
            <a:pPr algn="ctr"/>
            <a:r>
              <a:rPr sz="750" b="1">
                <a:solidFill>
                  <a:srgbClr val="1B5E20"/>
                </a:solidFill>
                <a:latin typeface="Arial"/>
              </a:rPr>
              <a:t>• Pernyataan Penutup: </a:t>
            </a:r>
            <a:r>
              <a:rPr sz="740">
                <a:solidFill>
                  <a:srgbClr val="2A2A3D"/>
                </a:solidFill>
                <a:latin typeface="Arial"/>
              </a:rPr>
              <a:t>Kaizen DSS SIRINE 4.0 membuktikan bahwa transformasi digital berbasis data granular tidak hanya menghentikan pemborosan finansial miliaran rupiah secara instan (0 Bulan Payback), melainkan merevolusi tata kelola lapangan Perum Peruri menjadi lebih presisi, akuntabel, dan berdaya saing tinggi.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TotalTime>
  <Words>1047</Words>
  <Application>Microsoft Office PowerPoint</Application>
  <PresentationFormat>Widescreen</PresentationFormat>
  <Paragraphs>112</Paragraphs>
  <Slides>11</Slides>
  <Notes>11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11</vt:i4>
      </vt:variant>
    </vt:vector>
  </HeadingPairs>
  <TitlesOfParts>
    <vt:vector size="13"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HY1-NB-080</cp:lastModifiedBy>
  <cp:revision>6</cp:revision>
  <dcterms:created xsi:type="dcterms:W3CDTF">2026-07-28T04:35:05Z</dcterms:created>
  <dcterms:modified xsi:type="dcterms:W3CDTF">2026-07-28T07:03:02Z</dcterms:modified>
</cp:coreProperties>
</file>
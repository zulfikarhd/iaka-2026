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59" r:id="rId5"/>
    <p:sldId id="268" r:id="rId19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4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Inschiet 2025 (%)</c:v>
                </c:pt>
              </c:strCache>
            </c:strRef>
          </c:tx>
          <c:spPr>
            <a:solidFill>
              <a:srgbClr val="6A2CC9"/>
            </a:solidFill>
          </c:spPr>
          <c:cat>
            <c:strRef>
              <c:f>Sheet1!$A$2:$A$5</c:f>
              <c:strCache>
                <c:ptCount val="4"/>
                <c:pt idx="0">
                  <c:v>Q1 (Jan-Mar)</c:v>
                </c:pt>
                <c:pt idx="1">
                  <c:v>Q2 (Apr-Jun)</c:v>
                </c:pt>
                <c:pt idx="2">
                  <c:v>Q3 (Jul-Sep)</c:v>
                </c:pt>
                <c:pt idx="3">
                  <c:v>Q4 (Okt-Des)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4.72</c:v>
                </c:pt>
                <c:pt idx="1">
                  <c:v>3.97</c:v>
                </c:pt>
                <c:pt idx="2">
                  <c:v>4.64</c:v>
                </c:pt>
                <c:pt idx="3">
                  <c:v>5.11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20288F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851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presentasi untuk peserta IAKA 2026. Sesuaikan bagian yang dibawakan dengan fase yang sedang dipresentasikan (lihat slide Alur).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Bagian tidak selalu dibawakan sekaligus. Pitching Fase 1 fokus pada bagian 1–4; bagian berikutnya menyusul sesuai kemajuan proyek di tiap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wajib (Panduan BAB 1): kondisi saat ini, alasan penting, data awal. Setiap angka harus punya satuan, periode, dan sumber — tanpa itu dianggap belum terverifikasi.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Masalah harus spesifik dan terukur. Cantumkan baseline dengan satuan jelas dan sumbernya (log produksi, laporan QC, tiket helpdesk, catatan keuangan) beserta periode pengambilan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wajib (BAB 2): akar masalah dengan metode sederhana (5 Why / fishbone). Solusi Anda nanti harus jelas menyerang akar masalah 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wajib (BAB 3–4): mekanisme kerja, keunggulan, kebaruan, alur before/after, target &amp; estimasi. Untuk Kaizen sebut SOP yang diperbaiki; untuk Inovasi sebut potensi standar baru / sumber pendapatan. Cantumkan rencana uji coba (MVP) dan calon Fasilitator min. Kadep.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wajib (BAB 6–7): laporan uji coba (PIC, lokasi, waktu, sumber daya), kendala &amp; problem solving, tabel Before/After dengan n dan grafik tren, dibandingkan target Fase 1. Lampirkan data mentah yang dapat diolah dan bukti bertanggal.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wajib (BAB 8–9): perhitungan business impact dengan kertas kerja terbuka (rumus dapat diperiksa), plus People/Customer/ESG impact. Setiap klaim non-finansial harus berbukti, sama seperti klaim finansial.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wajib (BAB 10): mekanisme keberlanjutan — pengesahan &amp; registrasi dokumen, dokumen turunan diperbarui, bukti sosialisasi, penutupan resmi sistem lama, transfer knowledge, jadwal audit keberlanjutan, dan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wajib (BAB 11–12): tantangan, mitigasi, pembelajaran, kesimpulan &amp; rekomendasi pengembangan.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pesan utama proyek dalam satu kalimat. Ingatkan penilaian IAKA 2026 berbasis bukti nyata di unit kerja.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1F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3840480"/>
            <a:ext cx="4206240" cy="4206240"/>
          </a:xfrm>
          <a:prstGeom prst="ellipse">
            <a:avLst/>
          </a:prstGeom>
          <a:solidFill>
            <a:srgbClr val="CB69FF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PERURI  ·  INNOVATION AWARD &amp; KAIZEN AWARD</a:t>
            </a:r>
            <a:endParaRPr lang="en-US" sz="1300" dirty="0">
              <a:solidFill>
                <a:schemeClr val="bg2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Presentasi Peserta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IAKA 2026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4892040"/>
            <a:ext cx="3200400" cy="502920"/>
          </a:xfrm>
          <a:prstGeom prst="roundRect">
            <a:avLst>
              <a:gd name="adj" fmla="val 49091"/>
            </a:avLst>
          </a:prstGeom>
          <a:solidFill>
            <a:srgbClr val="6A2CC9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4892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Divisi SDM · 2026</a:t>
            </a:r>
            <a:endParaRPr lang="en-US" sz="13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2BD31F3-DBAE-CDA4-F47C-1AFBAA2692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0874" y="89912"/>
            <a:ext cx="1454649" cy="80970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7B2836-D742-3AD4-8792-B143217312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7170" y="-139700"/>
            <a:ext cx="2339340" cy="1559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6300"/>
            <a:ext cx="640080" cy="640080"/>
          </a:xfrm>
          <a:prstGeom prst="ellipse">
            <a:avLst/>
          </a:prstGeom>
          <a:solidFill>
            <a:srgbClr val="6A2CC9"/>
          </a:solidFill>
          <a:ln/>
          <a:effectLst>
            <a:outerShdw blurRad="101600" dist="25400" dir="5400000" algn="bl" rotWithShape="0">
              <a:srgbClr val="6A2CC9">
                <a:alpha val="2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635093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0193" y="60058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8 bagian presentasi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207568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3386252" y="187452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87420" y="207568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13" name="Text 11"/>
          <p:cNvSpPr/>
          <p:nvPr/>
        </p:nvSpPr>
        <p:spPr>
          <a:xfrm>
            <a:off x="3587420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9132" y="265176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23864" y="187452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25032" y="207568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18" name="Text 16"/>
          <p:cNvSpPr/>
          <p:nvPr/>
        </p:nvSpPr>
        <p:spPr>
          <a:xfrm>
            <a:off x="6425032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6744" y="265176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Penyebab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9061475" y="187452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262643" y="207568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23" name="Text 21"/>
          <p:cNvSpPr/>
          <p:nvPr/>
        </p:nvSpPr>
        <p:spPr>
          <a:xfrm>
            <a:off x="9262643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44355" y="265176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548640" y="356616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49808" y="376732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31520" y="434340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3386252" y="356616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587420" y="376732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33" name="Text 31"/>
          <p:cNvSpPr/>
          <p:nvPr/>
        </p:nvSpPr>
        <p:spPr>
          <a:xfrm>
            <a:off x="358742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3569132" y="434340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6223864" y="356616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25032" y="376732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38" name="Text 36"/>
          <p:cNvSpPr/>
          <p:nvPr/>
        </p:nvSpPr>
        <p:spPr>
          <a:xfrm>
            <a:off x="6425032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406744" y="434340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9061475" y="356616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262643" y="376732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43" name="Text 41"/>
          <p:cNvSpPr/>
          <p:nvPr/>
        </p:nvSpPr>
        <p:spPr>
          <a:xfrm>
            <a:off x="9262643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9244355" y="434340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Learned</a:t>
            </a:r>
            <a:endParaRPr lang="en-US" sz="1450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10B45A6D-F217-584F-7BD7-6C89F238B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6239" y="11533"/>
            <a:ext cx="1140374" cy="634767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27D9AC1A-9783-8729-85B1-5CDC0A33A1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8068" y="-179554"/>
            <a:ext cx="1448261" cy="81464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7899" y="-179222"/>
            <a:ext cx="1448409" cy="81473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5096" y="11887"/>
            <a:ext cx="1140256" cy="63459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94360"/>
            <a:ext cx="731520" cy="658368"/>
          </a:xfrm>
          <a:prstGeom prst="round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48640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500" b="1">
                <a:solidFill>
                  <a:srgbClr val="20288F"/>
                </a:solidFill>
                <a:latin typeface="Arial"/>
              </a:rPr>
              <a:t>Latar Belakang: Kondisi Saat Ini di Unit Cetak Pita Cukai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789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6A2CC9"/>
                </a:solidFill>
                <a:latin typeface="Arial"/>
              </a:rPr>
              <a:t>Tujuan bagian ini:  </a:t>
            </a:r>
            <a:r>
              <a:rPr sz="1150" b="0">
                <a:solidFill>
                  <a:srgbClr val="2A2A3D"/>
                </a:solidFill>
                <a:latin typeface="Arial"/>
              </a:rPr>
              <a:t>Bangun konteks: mengapa perbaikan pencatatan &amp; stabilitas mutu penting bagi operasional dan perusahaan.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>
                <a:solidFill>
                  <a:srgbClr val="6E6E82"/>
                </a:solidFill>
                <a:latin typeface="Arial"/>
              </a:rPr>
              <a:t>IAKA 2026 — Kerangka Presentasi Peserta  ·  DSS SIRINE 4.0 Unit Cetak Pita Cukai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55648"/>
            <a:ext cx="3520440" cy="365760"/>
          </a:xfrm>
          <a:prstGeom prst="rect">
            <a:avLst/>
          </a:prstGeom>
          <a:solidFill>
            <a:srgbClr val="202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1. OPERASIONAL &amp; URGENSI PRODUK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3520440" cy="4160520"/>
          </a:xfrm>
          <a:prstGeom prst="roundRect">
            <a:avLst/>
          </a:prstGeom>
          <a:solidFill>
            <a:srgbClr val="F4F7FE"/>
          </a:solidFill>
          <a:ln w="12700">
            <a:solidFill>
              <a:srgbClr val="D2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6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Tugas Strategis Unit Cetak: </a:t>
            </a:r>
            <a:r>
              <a:rPr sz="950">
                <a:solidFill>
                  <a:srgbClr val="2A2A3D"/>
                </a:solidFill>
                <a:latin typeface="Arial"/>
              </a:rPr>
              <a:t>Mencetak dokumen sekuriti negara Pita Cukai (PCHT &amp; MMEA) di bawah kewenangan DJBC Kemenkeu RI.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Fitur Pengamanan Khusus: </a:t>
            </a:r>
            <a:r>
              <a:rPr sz="950">
                <a:solidFill>
                  <a:srgbClr val="2A2A3D"/>
                </a:solidFill>
                <a:latin typeface="Arial"/>
              </a:rPr>
              <a:t>Dicetak dengan kertas sekuriti khusus, tinta UV, guilloche, dan hologram foil.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Skala Produksi Tinggi: </a:t>
            </a:r>
            <a:r>
              <a:rPr sz="950">
                <a:solidFill>
                  <a:srgbClr val="2A2A3D"/>
                </a:solidFill>
                <a:latin typeface="Arial"/>
              </a:rPr>
              <a:t>Rata-rata 160 Juta Lembar Cetak/tahun (Realisasi 2025: 177.636.930 Lembar Cetak — Sumber: SAP ZPPRSIPPC0012).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Pola Kerja 24 Jam Non-stop: </a:t>
            </a:r>
            <a:r>
              <a:rPr sz="950">
                <a:solidFill>
                  <a:srgbClr val="2A2A3D"/>
                </a:solidFill>
                <a:latin typeface="Arial"/>
              </a:rPr>
              <a:t>Berjalan 3 shift per hari (Pagi, Sore, Malam) dengan 6 mesin cetak utama (4 Komori: KMR 1–4, 2 Ryobi: RYB 1–2) dan ±42 operator.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Komitmen Mutu &amp; SLA: </a:t>
            </a:r>
            <a:r>
              <a:rPr sz="950">
                <a:solidFill>
                  <a:srgbClr val="2A2A3D"/>
                </a:solidFill>
                <a:latin typeface="Arial"/>
              </a:rPr>
              <a:t>Kualitas harus dijaga ketat agar tidak ada risiko retur/komplain dari Bea Cukai dan menekan pemborosan bahan baku bernilai tinggi.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1755648"/>
            <a:ext cx="3520440" cy="365760"/>
          </a:xfrm>
          <a:prstGeom prst="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2. PENCATATAN EKSISTING DI UNIT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121408"/>
            <a:ext cx="3520440" cy="4160520"/>
          </a:xfrm>
          <a:prstGeom prst="roundRect">
            <a:avLst/>
          </a:prstGeom>
          <a:solidFill>
            <a:srgbClr val="F8F6FE"/>
          </a:solidFill>
          <a:ln w="12700">
            <a:solidFill>
              <a:srgbClr val="D9C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6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Data Kuantitas Manual di Buku Folio: </a:t>
            </a:r>
            <a:r>
              <a:rPr sz="950">
                <a:solidFill>
                  <a:srgbClr val="2A2A3D"/>
                </a:solidFill>
                <a:latin typeface="Arial"/>
              </a:rPr>
              <a:t>Pencatatan hasil cetak tiap mesin dan operator masih ditulis tangan di buku folio meja mesin.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Rekap Data Masih Manual: </a:t>
            </a:r>
            <a:r>
              <a:rPr sz="950">
                <a:solidFill>
                  <a:srgbClr val="2A2A3D"/>
                </a:solidFill>
                <a:latin typeface="Arial"/>
              </a:rPr>
              <a:t>Catatan buku folio baru direkap saat Penilaian Pegawai Kuartalan / Akhir Kontrak. Proses lambat, makan waktu, dan rentan salah catat (human error).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Data Kualitas Masih General: </a:t>
            </a:r>
            <a:r>
              <a:rPr sz="950">
                <a:solidFill>
                  <a:srgbClr val="2A2A3D"/>
                </a:solidFill>
                <a:latin typeface="Arial"/>
              </a:rPr>
              <a:t>Laporan inschiet dari SAP (ZPPRSIPPC0012) dan Verifikasi hanya menampilkan total kerusakan unit secara umum/general.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Tidak Ada Rincian Mesin &amp; Shift: </a:t>
            </a:r>
            <a:r>
              <a:rPr sz="950">
                <a:solidFill>
                  <a:srgbClr val="2A2A3D"/>
                </a:solidFill>
                <a:latin typeface="Arial"/>
              </a:rPr>
              <a:t>Data dari sistem tidak merinci mesin mana yang mencetak rusak, nomor PO mana, serta tim/shift mana yang bertugas.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Data Belum Terhubung: </a:t>
            </a:r>
            <a:r>
              <a:rPr sz="950">
                <a:solidFill>
                  <a:srgbClr val="2A2A3D"/>
                </a:solidFill>
                <a:latin typeface="Arial"/>
              </a:rPr>
              <a:t>Pencatatan jumlah cetak di mesin terpisah dari data mutu di verifikasi, sehingga tidak bisa dianalisis bersamaan.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1755648"/>
            <a:ext cx="3520440" cy="3657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3. IMPLIKASI NYATA DI LAPANGAN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2121408"/>
            <a:ext cx="3520440" cy="416052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5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6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Penanganan Mesin Jadi Lambat: </a:t>
            </a:r>
            <a:r>
              <a:rPr sz="950">
                <a:solidFill>
                  <a:srgbClr val="2A2A3D"/>
                </a:solidFill>
                <a:latin typeface="Arial"/>
              </a:rPr>
              <a:t>Saat ada jenis kerusakan dominan (misal: blobor), teknisi tidak tahu mesin mana sumber masalahnya. Pemeriksaan terpaksa dilakukan bergilir ke 6 mesin (&gt; 1 shift / &gt; 8 jam downtime per mesin).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Evaluasi Operator Kurang Objektif: </a:t>
            </a:r>
            <a:r>
              <a:rPr sz="950">
                <a:solidFill>
                  <a:srgbClr val="2A2A3D"/>
                </a:solidFill>
                <a:latin typeface="Arial"/>
              </a:rPr>
              <a:t>Kepala unit sulit memberi coaching atau feedback yang cepat karena rekam jejak kuantitas &amp; kualitas baru diketahui berbulan-bulan setelah pekerjaan selesai.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Diagnosa Masalah Belum Tepat Sasaran: </a:t>
            </a:r>
            <a:r>
              <a:rPr sz="950">
                <a:solidFill>
                  <a:srgbClr val="2A2A3D"/>
                </a:solidFill>
                <a:latin typeface="Arial"/>
              </a:rPr>
              <a:t>Sulit membedakan apakah lonjakan inschiet murni karena kondisi komponen mesin (Machine) atau faktor variasi metode/kelelahan di shift tertentu (Man &amp; Method).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Potensi Kerugian Tambah Cetak: </a:t>
            </a:r>
            <a:r>
              <a:rPr sz="950">
                <a:solidFill>
                  <a:srgbClr val="2A2A3D"/>
                </a:solidFill>
                <a:latin typeface="Arial"/>
              </a:rPr>
              <a:t>Mesin yang bermasalah terlambat ditangani dan terus beroperasi menghasilkan lembar rusak bernilai miliaran rupiah.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7899" y="-179222"/>
            <a:ext cx="1448409" cy="81473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5096" y="11887"/>
            <a:ext cx="1140256" cy="63459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94360"/>
            <a:ext cx="731520" cy="658368"/>
          </a:xfrm>
          <a:prstGeom prst="round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48640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500" b="1">
                <a:solidFill>
                  <a:srgbClr val="20288F"/>
                </a:solidFill>
                <a:latin typeface="Arial"/>
              </a:rPr>
              <a:t>Latar Belakang: Data Awal Inschiet 2025 &amp; Skala Dampak Finansial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789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6A2CC9"/>
                </a:solidFill>
                <a:latin typeface="Arial"/>
              </a:rPr>
              <a:t>Tujuan bagian ini:  </a:t>
            </a:r>
            <a:r>
              <a:rPr sz="1150" b="0">
                <a:solidFill>
                  <a:srgbClr val="2A2A3D"/>
                </a:solidFill>
                <a:latin typeface="Arial"/>
              </a:rPr>
              <a:t>Data awal pemicu (angka, periode, sumber) dan kalkulasi potensi pemborosan biaya tambah cetak.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>
                <a:solidFill>
                  <a:srgbClr val="6E6E82"/>
                </a:solidFill>
                <a:latin typeface="Arial"/>
              </a:rPr>
              <a:t>IAKA 2026 — Kerangka Presentasi Peserta  ·  DSS SIRINE 4.0 Unit Cetak Pita Cukai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55648"/>
            <a:ext cx="2615184" cy="1024128"/>
          </a:xfrm>
          <a:prstGeom prst="roundRect">
            <a:avLst/>
          </a:prstGeom>
          <a:solidFill>
            <a:srgbClr val="F4F7FE"/>
          </a:solidFill>
          <a:ln w="19050">
            <a:solidFill>
              <a:srgbClr val="D2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850" b="1">
                <a:solidFill>
                  <a:srgbClr val="20288F"/>
                </a:solidFill>
                <a:latin typeface="Arial"/>
              </a:rPr>
              <a:t>TOTAL ORDER 2025</a:t>
            </a:r>
          </a:p>
          <a:p>
            <a:pPr algn="ctr"/>
            <a:r>
              <a:rPr sz="1600" b="1">
                <a:solidFill>
                  <a:srgbClr val="20288F"/>
                </a:solidFill>
                <a:latin typeface="Arial"/>
              </a:rPr>
              <a:t>177.636.930 LK</a:t>
            </a:r>
          </a:p>
          <a:p>
            <a:pPr algn="ctr"/>
            <a:r>
              <a:rPr sz="750">
                <a:solidFill>
                  <a:srgbClr val="2A2A3D"/>
                </a:solidFill>
                <a:latin typeface="Arial"/>
              </a:rPr>
              <a:t>Sumber: SAP Production Order (ZPPRSIPPC0012)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55648"/>
            <a:ext cx="2615184" cy="54864"/>
          </a:xfrm>
          <a:prstGeom prst="rect">
            <a:avLst/>
          </a:prstGeom>
          <a:solidFill>
            <a:srgbClr val="202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74136" y="1755648"/>
            <a:ext cx="2615184" cy="1024128"/>
          </a:xfrm>
          <a:prstGeom prst="roundRect">
            <a:avLst/>
          </a:prstGeom>
          <a:solidFill>
            <a:srgbClr val="FFF9E6"/>
          </a:solidFill>
          <a:ln w="19050">
            <a:solidFill>
              <a:srgbClr val="FFE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850" b="1">
                <a:solidFill>
                  <a:srgbClr val="E65100"/>
                </a:solidFill>
                <a:latin typeface="Arial"/>
              </a:rPr>
              <a:t>BASELINE INSCHIET 2025</a:t>
            </a:r>
          </a:p>
          <a:p>
            <a:pPr algn="ctr"/>
            <a:r>
              <a:rPr sz="1600" b="1">
                <a:solidFill>
                  <a:srgbClr val="E65100"/>
                </a:solidFill>
                <a:latin typeface="Arial"/>
              </a:rPr>
              <a:t>4,61%</a:t>
            </a:r>
          </a:p>
          <a:p>
            <a:pPr algn="ctr"/>
            <a:r>
              <a:rPr sz="750">
                <a:solidFill>
                  <a:srgbClr val="2A2A3D"/>
                </a:solidFill>
                <a:latin typeface="Arial"/>
              </a:rPr>
              <a:t>Rata-rata tahunan (Puncak Q4: 5,11%)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4136" y="1755648"/>
            <a:ext cx="2615184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99632" y="1755648"/>
            <a:ext cx="2615184" cy="1024128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F5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850" b="1">
                <a:solidFill>
                  <a:srgbClr val="C62828"/>
                </a:solidFill>
                <a:latin typeface="Arial"/>
              </a:rPr>
              <a:t>LEMBAR RUSAK BASELINE</a:t>
            </a:r>
          </a:p>
          <a:p>
            <a:pPr algn="ctr"/>
            <a:r>
              <a:rPr sz="1600" b="1">
                <a:solidFill>
                  <a:srgbClr val="C62828"/>
                </a:solidFill>
                <a:latin typeface="Arial"/>
              </a:rPr>
              <a:t>8.189.062 Lembar</a:t>
            </a:r>
          </a:p>
          <a:p>
            <a:pPr algn="ctr"/>
            <a:r>
              <a:rPr sz="750">
                <a:solidFill>
                  <a:srgbClr val="2A2A3D"/>
                </a:solidFill>
                <a:latin typeface="Arial"/>
              </a:rPr>
              <a:t>Jumlah lembar rusak per tahun di baseline 4,61%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755648"/>
            <a:ext cx="2615184" cy="5486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25128" y="1755648"/>
            <a:ext cx="2615184" cy="1024128"/>
          </a:xfrm>
          <a:prstGeom prst="roundRect">
            <a:avLst/>
          </a:prstGeom>
          <a:solidFill>
            <a:srgbClr val="F8F6FE"/>
          </a:solidFill>
          <a:ln w="19050">
            <a:solidFill>
              <a:srgbClr val="D9C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850" b="1">
                <a:solidFill>
                  <a:srgbClr val="6A2CC9"/>
                </a:solidFill>
                <a:latin typeface="Arial"/>
              </a:rPr>
              <a:t>POTENSI BIAYA TERBUANG</a:t>
            </a:r>
          </a:p>
          <a:p>
            <a:pPr algn="ctr"/>
            <a:r>
              <a:rPr sz="1600" b="1">
                <a:solidFill>
                  <a:srgbClr val="6A2CC9"/>
                </a:solidFill>
                <a:latin typeface="Arial"/>
              </a:rPr>
              <a:t>Rp 24,56 Miliar</a:t>
            </a:r>
          </a:p>
          <a:p>
            <a:pPr algn="ctr"/>
            <a:r>
              <a:rPr sz="750">
                <a:solidFill>
                  <a:srgbClr val="2A2A3D"/>
                </a:solidFill>
                <a:latin typeface="Arial"/>
              </a:rPr>
              <a:t>Estimasi biaya cetak @ Rp 3.000 / lembar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25128" y="1755648"/>
            <a:ext cx="2615184" cy="54864"/>
          </a:xfrm>
          <a:prstGeom prst="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5440680" cy="347472"/>
          </a:xfrm>
          <a:prstGeom prst="rect">
            <a:avLst/>
          </a:prstGeom>
          <a:solidFill>
            <a:srgbClr val="202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TREN INSCHIET CETAK PER KUARTAL 2025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55264"/>
            <a:ext cx="5440680" cy="3035808"/>
          </a:xfrm>
          <a:prstGeom prst="roundRect">
            <a:avLst/>
          </a:prstGeom>
          <a:solidFill>
            <a:srgbClr val="F4F7FE"/>
          </a:solidFill>
          <a:ln w="12700">
            <a:solidFill>
              <a:srgbClr val="D2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85800" y="3319272"/>
          <a:ext cx="5166360" cy="1874519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13232" y="5239512"/>
            <a:ext cx="5111496" cy="896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20288F"/>
                </a:solidFill>
                <a:latin typeface="Arial"/>
              </a:rPr>
              <a:t>Rata-rata Baseline Tahunan: 4,61%  |  Sumber: SAP ZPPRSIPPC0012 &amp; Verifikasi
</a:t>
            </a:r>
          </a:p>
          <a:p>
            <a:r>
              <a:rPr sz="850">
                <a:solidFill>
                  <a:srgbClr val="2A2A3D"/>
                </a:solidFill>
                <a:latin typeface="Arial"/>
              </a:rPr>
              <a:t>• Q2 (3,97%): Titik terendah — membuktikan lini cetak mampu mencapai inschiet &lt; 4,00%.
• Q4 (5,11%): Puncak lonjakan (+1,14 pp vs Q2) akibat masuknya order desain baru dalam jumlah besar. Tanpa data mesin &amp; shift, lonjakan order selalu diiringi naiknya lembar rusak.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2907792"/>
            <a:ext cx="5440680" cy="347472"/>
          </a:xfrm>
          <a:prstGeom prst="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SKALA DAMPAK FINANSIAL &amp; VALUASI PENGHEMATAN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255264"/>
            <a:ext cx="5440680" cy="3035808"/>
          </a:xfrm>
          <a:prstGeom prst="roundRect">
            <a:avLst/>
          </a:prstGeom>
          <a:solidFill>
            <a:srgbClr val="F8F6FE"/>
          </a:solidFill>
          <a:ln w="12700">
            <a:solidFill>
              <a:srgbClr val="D9C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Dasar Estimasi Biaya Cetak:
  </a:t>
            </a:r>
            <a:r>
              <a:rPr sz="850">
                <a:solidFill>
                  <a:srgbClr val="2A2A3D"/>
                </a:solidFill>
                <a:latin typeface="Arial"/>
              </a:rPr>
              <a:t>Rp 3.000* / lembar (Estimasi internal bahan baku kertas sekuriti &amp; tinta, operasional mesin, dan alokasi tenaga kerja — bukan rujukan resmi/confidential).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Potensi Kerugian Baseline Rata-rata (160 Juta Lembar):
  </a:t>
            </a:r>
            <a:r>
              <a:rPr sz="850">
                <a:solidFill>
                  <a:srgbClr val="2A2A3D"/>
                </a:solidFill>
                <a:latin typeface="Arial"/>
              </a:rPr>
              <a:t>160.000.000 × 4,61% = 7.376.000 lembar rusak × Rp 3.000 = Rp 22,13 Miliar / Tahun (~Rp 1,84 Miliar / Bulan).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Potensi Kerugian Baseline Aktual 2025 (177,6 Juta Lembar):
  </a:t>
            </a:r>
            <a:r>
              <a:rPr sz="850">
                <a:solidFill>
                  <a:srgbClr val="2A2A3D"/>
                </a:solidFill>
                <a:latin typeface="Arial"/>
              </a:rPr>
              <a:t>177.636.930 × 4,61% = 8.189.062 lembar rusak × Rp 3.000 = Rp 24,56 Miliar / Tahun (~Rp 2,05 Miliar / Bulan).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Valuasi Tiap 1,00% Penurunan Inschiet:
  </a:t>
            </a:r>
            <a:r>
              <a:rPr sz="850">
                <a:solidFill>
                  <a:srgbClr val="2A2A3D"/>
                </a:solidFill>
                <a:latin typeface="Arial"/>
              </a:rPr>
              <a:t>177.636.930 × 1,00% = 1.776.369 lembar diselamatkan × Rp 3.000 = Rp 5,33 Miliar / Tahun (~Rp 444 Juta / Bulan).</a:t>
            </a:r>
          </a:p>
          <a:p>
            <a:pPr>
              <a:spcBef>
                <a:spcPts val="400"/>
              </a:spcBef>
            </a:pPr>
            <a:r>
              <a:rPr sz="950" b="1">
                <a:solidFill>
                  <a:srgbClr val="2E7D32"/>
                </a:solidFill>
                <a:latin typeface="Arial"/>
              </a:rPr>
              <a:t>HASIL AWAL IMPLEMENTASI SEMESTER 1 2026 (DSS SIRINE 4.0):
</a:t>
            </a:r>
            <a:r>
              <a:rPr sz="850" b="1">
                <a:solidFill>
                  <a:srgbClr val="2A2A3D"/>
                </a:solidFill>
                <a:latin typeface="Arial"/>
              </a:rPr>
              <a:t>Inschiet berhasil turun menjadi 4,34% di Q1 dan 3,33% di Q2 (-1,28 pp). Dalam 6 bulan pertama, 743.234 lembar cetak berhasil diselamatkan dengan nilai penghematan nyata Rp 2,23 Miliar (Proyeksi tahunan: ~Rp 6,82 Miliar / tahun).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07899" y="-179222"/>
            <a:ext cx="1448409" cy="81473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55096" y="11887"/>
            <a:ext cx="1140256" cy="63459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94360"/>
            <a:ext cx="731520" cy="658368"/>
          </a:xfrm>
          <a:prstGeom prst="round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48640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500" b="1">
                <a:solidFill>
                  <a:srgbClr val="20288F"/>
                </a:solidFill>
                <a:latin typeface="Arial"/>
              </a:rPr>
              <a:t>Masalah: Keterbatasan Data Granular &amp; Titik Buta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789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6A2CC9"/>
                </a:solidFill>
                <a:latin typeface="Arial"/>
              </a:rPr>
              <a:t>Tujuan bagian ini:  </a:t>
            </a:r>
            <a:r>
              <a:rPr sz="1150" b="0">
                <a:solidFill>
                  <a:srgbClr val="2A2A3D"/>
                </a:solidFill>
                <a:latin typeface="Arial"/>
              </a:rPr>
              <a:t>Nyatakan masalah operasional nyata dan terukur — apa yang terjadi, di unit mana, sejak kapan, dan siapa terdampak.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>
                <a:solidFill>
                  <a:srgbClr val="6E6E82"/>
                </a:solidFill>
                <a:latin typeface="Arial"/>
              </a:rPr>
              <a:t>IAKA 2026 — Kerangka Presentasi Peserta  ·  DSS SIRINE 4.0 Unit Cetak Pita Cukai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55648"/>
            <a:ext cx="3520440" cy="365760"/>
          </a:xfrm>
          <a:prstGeom prst="rect">
            <a:avLst/>
          </a:prstGeom>
          <a:solidFill>
            <a:srgbClr val="202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1. TITIK BUTA PASCA-SIRINE 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3520440" cy="4160520"/>
          </a:xfrm>
          <a:prstGeom prst="roundRect">
            <a:avLst/>
          </a:prstGeom>
          <a:solidFill>
            <a:srgbClr val="F4F7FE"/>
          </a:solidFill>
          <a:ln w="12700">
            <a:solidFill>
              <a:srgbClr val="D2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6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Capaian SIRINE 3.5 (2024): </a:t>
            </a:r>
            <a:r>
              <a:rPr sz="950">
                <a:solidFill>
                  <a:srgbClr val="2A2A3D"/>
                </a:solidFill>
                <a:latin typeface="Arial"/>
              </a:rPr>
              <a:t>Berhasil memetakan jenis kerusakan dominan dan menekan rata-rata inschiet dari 5,61% menjadi 4,06% di akhir 2024.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Tantangan Baru di 2025: </a:t>
            </a:r>
            <a:r>
              <a:rPr sz="950">
                <a:solidFill>
                  <a:srgbClr val="2A2A3D"/>
                </a:solidFill>
                <a:latin typeface="Arial"/>
              </a:rPr>
              <a:t>Data jenis kerusakan sudah ada, tetapi dengan 6 mesin cetak yang berjalan, belum ada data untuk tahu mesin mana yang menjadi sumber masalah utama.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Ketiadaan Data Kondisi Kerja: </a:t>
            </a:r>
            <a:r>
              <a:rPr sz="950">
                <a:solidFill>
                  <a:srgbClr val="2A2A3D"/>
                </a:solidFill>
                <a:latin typeface="Arial"/>
              </a:rPr>
              <a:t>Belum dapat diketahui apakah tingginya inschiet lebih dipengaruhi oleh kondisi teknis mesin atau faktor kondisi kerja (perbedaan shift, SOP, kelelahan operator).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Lokasi &amp; Periode Masalah: </a:t>
            </a:r>
            <a:r>
              <a:rPr sz="950">
                <a:solidFill>
                  <a:srgbClr val="2A2A3D"/>
                </a:solidFill>
                <a:latin typeface="Arial"/>
              </a:rPr>
              <a:t>Berpusat pada proses cetak sheet-fed offset di Unit Cetak Pita Cukai sejak Januari 2025.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1755648"/>
            <a:ext cx="3520440" cy="365760"/>
          </a:xfrm>
          <a:prstGeom prst="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2. DUA KASUS NYATA DI LAPANGAN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121408"/>
            <a:ext cx="3520440" cy="4160520"/>
          </a:xfrm>
          <a:prstGeom prst="roundRect">
            <a:avLst/>
          </a:prstGeom>
          <a:solidFill>
            <a:srgbClr val="F8F6FE"/>
          </a:solidFill>
          <a:ln w="12700">
            <a:solidFill>
              <a:srgbClr val="D9C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6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Kasus 1 – Penelusuran Spekulatif: </a:t>
            </a:r>
            <a:r>
              <a:rPr sz="950">
                <a:solidFill>
                  <a:srgbClr val="2A2A3D"/>
                </a:solidFill>
                <a:latin typeface="Arial"/>
              </a:rPr>
              <a:t>Bulan Juni 2025 jenis kerusakan blobor mendominasi. Karena tidak ada data per-mesin, teknisi harus memeriksa 6 mesin bergilir (trial-and-error).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Dampak Downtime Kasus 1: </a:t>
            </a:r>
            <a:r>
              <a:rPr sz="950">
                <a:solidFill>
                  <a:srgbClr val="2A2A3D"/>
                </a:solidFill>
                <a:latin typeface="Arial"/>
              </a:rPr>
              <a:t>Sumber masalah ternyata di Komori 3 (KMR3). Karena diperiksa terakhir, terjadi downtime &gt; 1 shift (&gt; 8 jam) dan mesin KMR3 terus mencetak ribuan lembar rusak.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Kasus 2 – Dilema Mesin vs Shift: </a:t>
            </a:r>
            <a:r>
              <a:rPr sz="950">
                <a:solidFill>
                  <a:srgbClr val="2A2A3D"/>
                </a:solidFill>
                <a:latin typeface="Arial"/>
              </a:rPr>
              <a:t>Mesin KMR3 pada shift malam mencatat inschiet 8,5%, sedangkan shift pagi di mesin yang sama hanya 2,5%.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Salah Diagnosa Kasus 2: </a:t>
            </a:r>
            <a:r>
              <a:rPr sz="950">
                <a:solidFill>
                  <a:srgbClr val="2A2A3D"/>
                </a:solidFill>
                <a:latin typeface="Arial"/>
              </a:rPr>
              <a:t>Tanpa data per-shift, tindakan perbaikan selalu mengutak-atik mesin, padahal masalahnya ada pada faktor kelelahan shift malam atau ketidakseragaman SOP penyetelan tinta.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1755648"/>
            <a:ext cx="3520440" cy="3657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3. PIHAK TERDAMPAK LANGSUNG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2121408"/>
            <a:ext cx="3520440" cy="416052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5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5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Operator Cetak (±42 Orang): </a:t>
            </a:r>
            <a:r>
              <a:rPr sz="950">
                <a:solidFill>
                  <a:srgbClr val="2A2A3D"/>
                </a:solidFill>
                <a:latin typeface="Arial"/>
              </a:rPr>
              <a:t>Sulit memantau hasil mutu hariannya secara mandiri dan kehilangan kesempatan memperoleh coaching objektif.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Kepala Kelompok &amp; Kepala Unit: </a:t>
            </a:r>
            <a:r>
              <a:rPr sz="950">
                <a:solidFill>
                  <a:srgbClr val="2A2A3D"/>
                </a:solidFill>
                <a:latin typeface="Arial"/>
              </a:rPr>
              <a:t>Menanggung beban rekap manual buku folio dan kesulitan memberi feedback terarah kepada tim.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Teknisi Pemeliharaan (Maintenance): </a:t>
            </a:r>
            <a:r>
              <a:rPr sz="950">
                <a:solidFill>
                  <a:srgbClr val="2A2A3D"/>
                </a:solidFill>
                <a:latin typeface="Arial"/>
              </a:rPr>
              <a:t>Kehilangan jam kerja produktif (&gt; 8 jam per mesin) akibat mencari sumber masalah secara acak.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PPIC &amp; Manajemen: </a:t>
            </a:r>
            <a:r>
              <a:rPr sz="950">
                <a:solidFill>
                  <a:srgbClr val="2A2A3D"/>
                </a:solidFill>
                <a:latin typeface="Arial"/>
              </a:rPr>
              <a:t>Sulit merencanakan alokasi mesin dan jadwal cetak presisi karena profil performa riil mesin tidak tersedia.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Pelanggan Utama (DJBC Kemenkeu): </a:t>
            </a:r>
            <a:r>
              <a:rPr sz="950">
                <a:solidFill>
                  <a:srgbClr val="2A2A3D"/>
                </a:solidFill>
                <a:latin typeface="Arial"/>
              </a:rPr>
              <a:t>Menghadapi risiko keterlambatan pengiriman pita cukai akibat tingginya siklus cetak ulang lembar rusak.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69173"/>
            <a:ext cx="731520" cy="731520"/>
          </a:xfrm>
          <a:prstGeom prst="ellipse">
            <a:avLst/>
          </a:prstGeom>
          <a:solidFill>
            <a:srgbClr val="6A2CC9"/>
          </a:solidFill>
          <a:ln/>
          <a:effectLst>
            <a:outerShdw blurRad="101600" dist="25400" dir="5400000" algn="bl" rotWithShape="0">
              <a:srgbClr val="6A2CC9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669173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63040" y="683721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Penyebab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bagian ini:  </a:t>
            </a:r>
            <a:r>
              <a:rPr lang="en-US" sz="1450" i="1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Tunjukkan akar masalah, bukan sekadar gejalanya.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7955280" cy="3703320"/>
          </a:xfrm>
          <a:prstGeom prst="roundRect">
            <a:avLst>
              <a:gd name="adj" fmla="val 2963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101600" dist="25400" dir="5400000" algn="bl" rotWithShape="0">
              <a:srgbClr val="C9BEE8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harus disampaikan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7223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Metode analisis: 5 Why atau Fishbone (cukup satu gambar ringkas).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Akar masalah utama yang akan diselesaikan.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Temuan / bukti yang mendukung akar masalah tersebut.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8A8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poin di atas dengan konten proyek Anda (grafik, tabel, foto, atau diagram).  ·  IAKA 2026 — Kerangka Presentasi Peserta</a:t>
            </a:r>
            <a:endParaRPr lang="en-US" sz="9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2748BE0-A4CA-0729-44E4-106E9392E7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6239" y="11533"/>
            <a:ext cx="1140374" cy="6347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B6D5AAC-C76D-1890-13E0-0F084C57EB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8068" y="-179554"/>
            <a:ext cx="1448261" cy="81464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60861"/>
            <a:ext cx="731520" cy="731520"/>
          </a:xfrm>
          <a:prstGeom prst="ellipse">
            <a:avLst/>
          </a:prstGeom>
          <a:solidFill>
            <a:srgbClr val="6A2CC9"/>
          </a:solidFill>
          <a:ln/>
          <a:effectLst>
            <a:outerShdw blurRad="101600" dist="25400" dir="5400000" algn="bl" rotWithShape="0">
              <a:srgbClr val="6A2CC9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660861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63040" y="615144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bagian ini:  </a:t>
            </a:r>
            <a:r>
              <a:rPr lang="en-US" sz="1450" i="1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Jelaskan solusi yang logis dan cukup sederhana untuk diuji skala kecil.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7955280" cy="3703320"/>
          </a:xfrm>
          <a:prstGeom prst="roundRect">
            <a:avLst>
              <a:gd name="adj" fmla="val 2963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101600" dist="25400" dir="5400000" algn="bl" rotWithShape="0">
              <a:srgbClr val="C9BEE8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harus disampaikan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7223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Konsep &amp; mekanisme kerja: bagaimana solusi mengatasi akar masalah (sebab-akibat).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Unsur kebaruan / nilai tambah dibanding cara sekarang &amp; praktik unit lain.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proses Before → After (satu gambar sederhana).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perbaikan + estimasi dampak, dengan asumsi ditulis eksplisit.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8A8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poin di atas dengan konten proyek Anda (grafik, tabel, foto, atau diagram).  ·  IAKA 2026 — Kerangka Presentasi Peserta</a:t>
            </a:r>
            <a:endParaRPr lang="en-US" sz="9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414E8F2-A5B1-3F56-0F8B-39357A339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6239" y="11533"/>
            <a:ext cx="1140374" cy="6347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7AFAF28-00EA-4613-5CBC-84951BC19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8068" y="-179554"/>
            <a:ext cx="1448261" cy="8146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10986"/>
            <a:ext cx="731520" cy="731520"/>
          </a:xfrm>
          <a:prstGeom prst="ellipse">
            <a:avLst/>
          </a:prstGeom>
          <a:solidFill>
            <a:srgbClr val="6A2CC9"/>
          </a:solidFill>
          <a:ln/>
          <a:effectLst>
            <a:outerShdw blurRad="101600" dist="25400" dir="5400000" algn="bl" rotWithShape="0">
              <a:srgbClr val="6A2CC9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61098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63040" y="556954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bagian ini:  </a:t>
            </a:r>
            <a:r>
              <a:rPr lang="en-US" sz="1450" i="1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Buktikan solusi benar-benar dijalankan dan hasilnya terukur (uji coba/MVP).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7955280" cy="3703320"/>
          </a:xfrm>
          <a:prstGeom prst="roundRect">
            <a:avLst>
              <a:gd name="adj" fmla="val 2963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101600" dist="25400" dir="5400000" algn="bl" rotWithShape="0">
              <a:srgbClr val="C9BEE8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harus disampaikan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7223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Lingkup uji: lokasi, lini/shift, periode, dan PIC.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Kendala yang dihadapi &amp; cara penanggulangannya.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Before vs After: nilai, selisih, % perubahan, jumlah data (n).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realisasi vs </a:t>
            </a:r>
            <a:r>
              <a:rPr lang="en-US" sz="1450" dirty="0" err="1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</a:t>
            </a: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8A8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poin di atas dengan konten proyek Anda (grafik, tabel, foto, atau diagram).  ·  IAKA 2026 — Kerangka Presentasi Peserta</a:t>
            </a:r>
            <a:endParaRPr lang="en-US" sz="9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FB1BEF3-2E55-84AC-27CB-B08DDF2AE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6239" y="11533"/>
            <a:ext cx="1140374" cy="6347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3189091-A826-254D-C3B7-80DAB4A39A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8068" y="-179554"/>
            <a:ext cx="1448261" cy="8146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19299"/>
            <a:ext cx="731520" cy="731520"/>
          </a:xfrm>
          <a:prstGeom prst="ellipse">
            <a:avLst/>
          </a:prstGeom>
          <a:solidFill>
            <a:srgbClr val="6A2CC9"/>
          </a:solidFill>
          <a:ln/>
          <a:effectLst>
            <a:outerShdw blurRad="101600" dist="25400" dir="5400000" algn="bl" rotWithShape="0">
              <a:srgbClr val="6A2CC9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619299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63040" y="606829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bagian ini:  </a:t>
            </a:r>
            <a:r>
              <a:rPr lang="en-US" sz="1450" i="1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Sajikan dampak yang sudah tervalidasi — finansial dan non-finansial.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7955280" cy="3703320"/>
          </a:xfrm>
          <a:prstGeom prst="roundRect">
            <a:avLst>
              <a:gd name="adj" fmla="val 2963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101600" dist="25400" dir="5400000" algn="bl" rotWithShape="0">
              <a:srgbClr val="C9BEE8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harus disampaikan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7223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saving / cost avoidance / revenue, diukur vs baseline terverifikasi.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bersih &amp; payback period 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 non-finansial: mutu, K3L, kepatuhan, kepuasan pengguna.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Keterkaitan dengan strategi perusahaan &amp; potensi replikasi.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8A8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poin di atas dengan konten proyek Anda (grafik, tabel, foto, atau diagram).  ·  IAKA 2026 — Kerangka Presentasi Peserta</a:t>
            </a:r>
            <a:endParaRPr lang="en-US" sz="9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13CABC3-586E-7F22-C24E-7E3D7593E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6239" y="11533"/>
            <a:ext cx="1140374" cy="6347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9D540F0-33FD-3602-4087-CD7695575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8068" y="-179554"/>
            <a:ext cx="1448261" cy="81464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27610"/>
            <a:ext cx="731520" cy="731520"/>
          </a:xfrm>
          <a:prstGeom prst="ellipse">
            <a:avLst/>
          </a:prstGeom>
          <a:solidFill>
            <a:srgbClr val="6A2CC9"/>
          </a:solidFill>
          <a:ln/>
          <a:effectLst>
            <a:outerShdw blurRad="101600" dist="25400" dir="5400000" algn="bl" rotWithShape="0">
              <a:srgbClr val="6A2CC9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62761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63040" y="590203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bagian ini:  </a:t>
            </a:r>
            <a:r>
              <a:rPr lang="en-US" sz="1450" i="1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Kunci cara kerja baru agar tidak bergantung pada ingatan atau satu orang.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7955280" cy="3703320"/>
          </a:xfrm>
          <a:prstGeom prst="roundRect">
            <a:avLst>
              <a:gd name="adj" fmla="val 2963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101600" dist="25400" dir="5400000" algn="bl" rotWithShape="0">
              <a:srgbClr val="C9BEE8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harus disampaikan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7223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/ IK baru: nomor dokumen, </a:t>
            </a:r>
            <a:r>
              <a:rPr lang="en-US" sz="1450" dirty="0" err="1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pengesahan</a:t>
            </a: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knowledge: pelatihan + </a:t>
            </a:r>
            <a:r>
              <a:rPr lang="en-US" sz="1450" dirty="0" err="1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</a:t>
            </a: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50" dirty="0" err="1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pelaksanaan</a:t>
            </a: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8A8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poin di atas dengan konten proyek Anda (grafik, tabel, foto, atau diagram).  ·  IAKA 2026 — Kerangka Presentasi Peserta</a:t>
            </a:r>
            <a:endParaRPr lang="en-US" sz="9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55FF66F-2B02-03E0-9576-6DAE99F43A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6239" y="11533"/>
            <a:ext cx="1140374" cy="6347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4DD5B6A-805D-73DE-4FCE-471134F10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8068" y="-179554"/>
            <a:ext cx="1448261" cy="81464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10987"/>
            <a:ext cx="731520" cy="731520"/>
          </a:xfrm>
          <a:prstGeom prst="ellipse">
            <a:avLst/>
          </a:prstGeom>
          <a:solidFill>
            <a:srgbClr val="6A2CC9"/>
          </a:solidFill>
          <a:ln/>
          <a:effectLst>
            <a:outerShdw blurRad="101600" dist="25400" dir="5400000" algn="bl" rotWithShape="0">
              <a:srgbClr val="6A2CC9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610987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63040" y="590203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Learned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bagian ini:  </a:t>
            </a:r>
            <a:r>
              <a:rPr lang="en-US" sz="1450" i="1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Bagikan pembelajaran agar inovasi/kaizen dapat direplikasi unit lain.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7955280" cy="3703320"/>
          </a:xfrm>
          <a:prstGeom prst="roundRect">
            <a:avLst>
              <a:gd name="adj" fmla="val 2963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101600" dist="25400" dir="5400000" algn="bl" rotWithShape="0">
              <a:srgbClr val="C9BEE8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harus disampaikan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7223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Tantangan utama selama pelaksanaan proyek.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Mitigasi yang dilakukan untuk mengatasinya.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Pembelajaran yang didapat &amp; rekomendasi pengembangan.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 ringkas atas keseluruhan proyek.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8A8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poin di atas dengan konten proyek Anda (grafik, tabel, foto, atau diagram).  ·  IAKA 2026 — Kerangka Presentasi Peserta</a:t>
            </a:r>
            <a:endParaRPr lang="en-US" sz="9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8D59126-8548-61A7-0017-F07778DC58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6239" y="11533"/>
            <a:ext cx="1140374" cy="6347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B6288C3-0D77-7B8C-00A8-CEB921B939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8068" y="-179554"/>
            <a:ext cx="1448261" cy="81464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1F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937760" cy="4937760"/>
          </a:xfrm>
          <a:prstGeom prst="ellipse">
            <a:avLst/>
          </a:prstGeom>
          <a:solidFill>
            <a:srgbClr val="CB69F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2926080"/>
            <a:ext cx="1219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KASIH</a:t>
            </a:r>
            <a:endParaRPr lang="en-US" sz="32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B018F83-B0C6-14BE-1C69-1A5E797B7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0874" y="89912"/>
            <a:ext cx="1454649" cy="80970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FE47E46-A9B3-39FE-12A6-B1B0ED1FD8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7170" y="-139700"/>
            <a:ext cx="2339340" cy="15595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7899" y="-179222"/>
            <a:ext cx="1448409" cy="81473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5096" y="11887"/>
            <a:ext cx="1140256" cy="63459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94360"/>
            <a:ext cx="731520" cy="658368"/>
          </a:xfrm>
          <a:prstGeom prst="round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48640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500" b="1">
                <a:solidFill>
                  <a:srgbClr val="20288F"/>
                </a:solidFill>
                <a:latin typeface="Arial"/>
              </a:rPr>
              <a:t>Masalah: Baseline Permasalahan &amp; Risiko Bila Dibiarkan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789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6A2CC9"/>
                </a:solidFill>
                <a:latin typeface="Arial"/>
              </a:rPr>
              <a:t>Tujuan bagian ini:  </a:t>
            </a:r>
            <a:r>
              <a:rPr sz="1150" b="0">
                <a:solidFill>
                  <a:srgbClr val="2A2A3D"/>
                </a:solidFill>
                <a:latin typeface="Arial"/>
              </a:rPr>
              <a:t>Tunjukkan baseline permasalahan operasional terukur dan dampak multidimensi jika kondisi dibiarkan tanpa intervensi.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>
                <a:solidFill>
                  <a:srgbClr val="6E6E82"/>
                </a:solidFill>
                <a:latin typeface="Arial"/>
              </a:rPr>
              <a:t>IAKA 2026 — Kerangka Presentasi Peserta  ·  DSS SIRINE 4.0 Unit Cetak Pita Cukai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55648"/>
            <a:ext cx="2615184" cy="1024128"/>
          </a:xfrm>
          <a:prstGeom prst="roundRect">
            <a:avLst/>
          </a:prstGeom>
          <a:solidFill>
            <a:srgbClr val="FFF9E6"/>
          </a:solidFill>
          <a:ln w="19050">
            <a:solidFill>
              <a:srgbClr val="FFE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850" b="1">
                <a:solidFill>
                  <a:srgbClr val="E65100"/>
                </a:solidFill>
                <a:latin typeface="Arial"/>
              </a:rPr>
              <a:t>BASELINE INSCHIET 2025</a:t>
            </a:r>
          </a:p>
          <a:p>
            <a:pPr algn="ctr"/>
            <a:r>
              <a:rPr sz="1600" b="1">
                <a:solidFill>
                  <a:srgbClr val="E65100"/>
                </a:solidFill>
                <a:latin typeface="Arial"/>
              </a:rPr>
              <a:t>4,61%</a:t>
            </a:r>
          </a:p>
          <a:p>
            <a:pPr algn="ctr"/>
            <a:r>
              <a:rPr sz="750">
                <a:solidFill>
                  <a:srgbClr val="2A2A3D"/>
                </a:solidFill>
                <a:latin typeface="Arial"/>
              </a:rPr>
              <a:t>Puncak Q4: 5,11% (Target &lt; 4,00%)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55648"/>
            <a:ext cx="2615184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74136" y="1755648"/>
            <a:ext cx="2615184" cy="1024128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F5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850" b="1">
                <a:solidFill>
                  <a:srgbClr val="C62828"/>
                </a:solidFill>
                <a:latin typeface="Arial"/>
              </a:rPr>
              <a:t>DOWNTIME PERBAIKAN</a:t>
            </a:r>
          </a:p>
          <a:p>
            <a:pPr algn="ctr"/>
            <a:r>
              <a:rPr sz="1600" b="1">
                <a:solidFill>
                  <a:srgbClr val="C62828"/>
                </a:solidFill>
                <a:latin typeface="Arial"/>
              </a:rPr>
              <a:t>&gt; 8 Jam / Mesin</a:t>
            </a:r>
          </a:p>
          <a:p>
            <a:pPr algn="ctr"/>
            <a:r>
              <a:rPr sz="750">
                <a:solidFill>
                  <a:srgbClr val="2A2A3D"/>
                </a:solidFill>
                <a:latin typeface="Arial"/>
              </a:rPr>
              <a:t>Pemeriksaan spekulatif bergilir (&gt; 1 shift)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4136" y="1755648"/>
            <a:ext cx="2615184" cy="5486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99632" y="1755648"/>
            <a:ext cx="2615184" cy="1024128"/>
          </a:xfrm>
          <a:prstGeom prst="roundRect">
            <a:avLst/>
          </a:prstGeom>
          <a:solidFill>
            <a:srgbClr val="F4F7FE"/>
          </a:solidFill>
          <a:ln w="19050">
            <a:solidFill>
              <a:srgbClr val="D2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850" b="1">
                <a:solidFill>
                  <a:srgbClr val="20288F"/>
                </a:solidFill>
                <a:latin typeface="Arial"/>
              </a:rPr>
              <a:t>REKAP DATA MANUAL</a:t>
            </a:r>
          </a:p>
          <a:p>
            <a:pPr algn="ctr"/>
            <a:r>
              <a:rPr sz="1600" b="1">
                <a:solidFill>
                  <a:srgbClr val="20288F"/>
                </a:solidFill>
                <a:latin typeface="Arial"/>
              </a:rPr>
              <a:t>100% Buku Folio</a:t>
            </a:r>
          </a:p>
          <a:p>
            <a:pPr algn="ctr"/>
            <a:r>
              <a:rPr sz="750">
                <a:solidFill>
                  <a:srgbClr val="2A2A3D"/>
                </a:solidFill>
                <a:latin typeface="Arial"/>
              </a:rPr>
              <a:t>Baru direkap saat evaluasi berkala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755648"/>
            <a:ext cx="2615184" cy="54864"/>
          </a:xfrm>
          <a:prstGeom prst="rect">
            <a:avLst/>
          </a:prstGeom>
          <a:solidFill>
            <a:srgbClr val="202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25128" y="1755648"/>
            <a:ext cx="2615184" cy="1024128"/>
          </a:xfrm>
          <a:prstGeom prst="roundRect">
            <a:avLst/>
          </a:prstGeom>
          <a:solidFill>
            <a:srgbClr val="F8F6FE"/>
          </a:solidFill>
          <a:ln w="19050">
            <a:solidFill>
              <a:srgbClr val="D9C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850" b="1">
                <a:solidFill>
                  <a:srgbClr val="6A2CC9"/>
                </a:solidFill>
                <a:latin typeface="Arial"/>
              </a:rPr>
              <a:t>POTENSI BIAYA TERBUANG</a:t>
            </a:r>
          </a:p>
          <a:p>
            <a:pPr algn="ctr"/>
            <a:r>
              <a:rPr sz="1600" b="1">
                <a:solidFill>
                  <a:srgbClr val="6A2CC9"/>
                </a:solidFill>
                <a:latin typeface="Arial"/>
              </a:rPr>
              <a:t>Rp 24,56 Miliar/Thn</a:t>
            </a:r>
          </a:p>
          <a:p>
            <a:pPr algn="ctr"/>
            <a:r>
              <a:rPr sz="750">
                <a:solidFill>
                  <a:srgbClr val="2A2A3D"/>
                </a:solidFill>
                <a:latin typeface="Arial"/>
              </a:rPr>
              <a:t>8.189.062 lembar rusak (@ Rp 3.000)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25128" y="1755648"/>
            <a:ext cx="2615184" cy="54864"/>
          </a:xfrm>
          <a:prstGeom prst="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5440680" cy="347472"/>
          </a:xfrm>
          <a:prstGeom prst="rect">
            <a:avLst/>
          </a:prstGeom>
          <a:solidFill>
            <a:srgbClr val="202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BASELINE OPERASIONAL &amp; KESENJANGAN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55264"/>
            <a:ext cx="5440680" cy="3035808"/>
          </a:xfrm>
          <a:prstGeom prst="roundRect">
            <a:avLst/>
          </a:prstGeom>
          <a:solidFill>
            <a:srgbClr val="F4F7FE"/>
          </a:solidFill>
          <a:ln w="12700">
            <a:solidFill>
              <a:srgbClr val="D2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Volume Order 2025: </a:t>
            </a:r>
            <a:r>
              <a:rPr sz="850">
                <a:solidFill>
                  <a:srgbClr val="2A2A3D"/>
                </a:solidFill>
                <a:latin typeface="Arial"/>
              </a:rPr>
              <a:t>177.636.930 Lembar Cetak (LK) — Sumber: SAP ZPPRSIPPC0012.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Fluktuasi Inschiet 2025: </a:t>
            </a:r>
            <a:r>
              <a:rPr sz="850">
                <a:solidFill>
                  <a:srgbClr val="2A2A3D"/>
                </a:solidFill>
                <a:latin typeface="Arial"/>
              </a:rPr>
              <a:t>Q1 (4,72%), Q2 (3,97%), Q3 (4,64%), Q4 (5,11%) — Rata-rata Baseline: 4,61%.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Jumlah Lembar Rusak Eksisting: </a:t>
            </a:r>
            <a:r>
              <a:rPr sz="850">
                <a:solidFill>
                  <a:srgbClr val="2A2A3D"/>
                </a:solidFill>
                <a:latin typeface="Arial"/>
              </a:rPr>
              <a:t>8.189.062 lembar/tahun (setara pemborosan biaya ~Rp 24,56 Miliar/tahun).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Kondisi Pemisahan Data Eksisting: </a:t>
            </a:r>
            <a:r>
              <a:rPr sz="850">
                <a:solidFill>
                  <a:srgbClr val="2A2A3D"/>
                </a:solidFill>
                <a:latin typeface="Arial"/>
              </a:rPr>
              <a:t>• Data SAP: Tabel mentah CSV di kantor tanpa grafik harian.
• Data QC: Hanya total kerusakan umum tanpa rincian mesin/shift.
• Data Lapangan: Tertulis di buku folio manual meja mesin.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Akar Hambatan Utama: </a:t>
            </a:r>
            <a:r>
              <a:rPr sz="850">
                <a:solidFill>
                  <a:srgbClr val="2A2A3D"/>
                </a:solidFill>
                <a:latin typeface="Arial"/>
              </a:rPr>
              <a:t>Belum ada sistem terintegrasi yang menghubungkan data jenis kerusakan dengan data mesin dan shift kerja di lapangan secara real-time.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2907792"/>
            <a:ext cx="5440680" cy="34747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DAMPAK RISIKO BILA DIBIARKAN (5 PILAR)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255264"/>
            <a:ext cx="5440680" cy="3035808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5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1. Biaya (Cost): </a:t>
            </a:r>
            <a:r>
              <a:rPr sz="850">
                <a:solidFill>
                  <a:srgbClr val="2A2A3D"/>
                </a:solidFill>
                <a:latin typeface="Arial"/>
              </a:rPr>
              <a:t>Akumulasi pemborosan biaya cetak hingga Rp 24,56 Miliar/tahun akibat bahan baku berharga tinggi dan jam kerja mesin yang terbuang.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2. Mutu (Quality): </a:t>
            </a:r>
            <a:r>
              <a:rPr sz="850">
                <a:solidFill>
                  <a:srgbClr val="2A2A3D"/>
                </a:solidFill>
                <a:latin typeface="Arial"/>
              </a:rPr>
              <a:t>Inschiet berfluktuasi tanpa kendali (puncak 5,11%). Penanganan mesin bersifat sementara karena tidak menyentuh akar masalah.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3. Kepatuhan (Compliance): </a:t>
            </a:r>
            <a:r>
              <a:rPr sz="850">
                <a:solidFill>
                  <a:srgbClr val="2A2A3D"/>
                </a:solidFill>
                <a:latin typeface="Arial"/>
              </a:rPr>
              <a:t>Akuntabilitas pelacakan (traceability) dokumen negara terhambat karena pencatatan manual di buku folio tidak dapat diaudit digital.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4. K3L &amp; Lingkungan (ESG): </a:t>
            </a:r>
            <a:r>
              <a:rPr sz="850">
                <a:solidFill>
                  <a:srgbClr val="2A2A3D"/>
                </a:solidFill>
                <a:latin typeface="Arial"/>
              </a:rPr>
              <a:t>Timbulan limbah padat kertas sekuriti mencapai 8,18 Juta lembar/tahun (±60–65 ton kertas terbuang) dan peningkatan kelelahan operator di shift malam.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5. Layanan (Service SLA): </a:t>
            </a:r>
            <a:r>
              <a:rPr sz="850">
                <a:solidFill>
                  <a:srgbClr val="2A2A3D"/>
                </a:solidFill>
                <a:latin typeface="Arial"/>
              </a:rPr>
              <a:t>Risiko keterlambatan serah terima pesanan ke DJBC akibat antrean cetak pengganti yang menurunkan skor kepuasan pelanggan.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1047</Words>
  <Application>Microsoft Office PowerPoint</Application>
  <PresentationFormat>Widescreen</PresentationFormat>
  <Paragraphs>112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HY1-NB-080</cp:lastModifiedBy>
  <cp:revision>6</cp:revision>
  <dcterms:created xsi:type="dcterms:W3CDTF">2026-07-28T04:35:05Z</dcterms:created>
  <dcterms:modified xsi:type="dcterms:W3CDTF">2026-07-28T07:03:02Z</dcterms:modified>
</cp:coreProperties>
</file>
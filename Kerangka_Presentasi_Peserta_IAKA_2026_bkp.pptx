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67" r:id="rId18"/>
    <p:sldId id="259" r:id="rId5"/>
    <p:sldId id="260" r:id="rId6"/>
    <p:sldId id="268" r:id="rId20"/>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4" d="100"/>
          <a:sy n="74" d="100"/>
        </p:scale>
        <p:origin x="356"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8.xml"/><Relationship Id="rId8" Type="http://schemas.openxmlformats.org/officeDocument/2006/relationships/slide" Target="slides/slide9.xml"/><Relationship Id="rId9" Type="http://schemas.openxmlformats.org/officeDocument/2006/relationships/slide" Target="slides/slide10.xml"/><Relationship Id="rId10" Type="http://schemas.openxmlformats.org/officeDocument/2006/relationships/slide" Target="slides/slide11.xml"/><Relationship Id="rId11" Type="http://schemas.openxmlformats.org/officeDocument/2006/relationships/slide" Target="slides/slide12.xml"/><Relationship Id="rId12" Type="http://schemas.openxmlformats.org/officeDocument/2006/relationships/slide" Target="slides/slide13.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4.xml"/><Relationship Id="rId19" Type="http://schemas.openxmlformats.org/officeDocument/2006/relationships/slide" Target="slides/slide6.xml"/><Relationship Id="rId20"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Inschiet 2025 (%)</c:v>
                </c:pt>
              </c:strCache>
            </c:strRef>
          </c:tx>
          <c:spPr>
            <a:solidFill>
              <a:srgbClr val="6A2CC9"/>
            </a:solidFill>
          </c:spPr>
          <c:cat>
            <c:strRef>
              <c:f>Sheet1!$A$2:$A$5</c:f>
              <c:strCache>
                <c:ptCount val="4"/>
                <c:pt idx="0">
                  <c:v>Q1 (Jan-Mar)</c:v>
                </c:pt>
                <c:pt idx="1">
                  <c:v>Q2 (Apr-Jun)</c:v>
                </c:pt>
                <c:pt idx="2">
                  <c:v>Q3 (Jul-Sep)</c:v>
                </c:pt>
                <c:pt idx="3">
                  <c:v>Q4 (Okt-Des)</c:v>
                </c:pt>
              </c:strCache>
            </c:strRef>
          </c:cat>
          <c:val>
            <c:numRef>
              <c:f>Sheet1!$B$2:$B$5</c:f>
              <c:numCache>
                <c:formatCode>General</c:formatCode>
                <c:ptCount val="4"/>
                <c:pt idx="0">
                  <c:v>4.72</c:v>
                </c:pt>
                <c:pt idx="1">
                  <c:v>3.97</c:v>
                </c:pt>
                <c:pt idx="2">
                  <c:v>4.64</c:v>
                </c:pt>
                <c:pt idx="3">
                  <c:v>5.11</c:v>
                </c:pt>
              </c:numCache>
            </c:numRef>
          </c:val>
        </c:ser>
        <c:dLbls>
          <c:txPr>
            <a:bodyPr/>
            <a:lstStyle/>
            <a:p>
              <a:pPr>
                <a:defRPr sz="1000" b="1">
                  <a:solidFill>
                    <a:srgbClr val="20288F"/>
                  </a:solidFill>
                  <a:latin typeface="Aria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850">
                <a:latin typeface="Arial"/>
              </a:defRPr>
            </a:pPr>
          </a:p>
        </c:txPr>
        <c:crossAx val="-2113994440"/>
        <c:crosses val="autoZero"/>
        <c:auto val="1"/>
        <c:lblAlgn val="ctr"/>
        <c:lblOffset val="100"/>
        <c:noMultiLvlLbl val="0"/>
      </c:catAx>
      <c:valAx>
        <c:axId val="-2113994440"/>
        <c:scaling>
          <c:max val="6.0"/>
          <c:min val="0.0"/>
        </c:scaling>
        <c:delete val="0"/>
        <c:axPos val="l"/>
        <c:majorGridlines/>
        <c:majorTickMark val="out"/>
        <c:minorTickMark val="none"/>
        <c:tickLblPos val="nextTo"/>
        <c:txPr>
          <a:bodyPr/>
          <a:lstStyle/>
          <a:p>
            <a:pPr>
              <a:defRPr sz="850">
                <a:latin typeface="Aria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Inschiet (%)</c:v>
                </c:pt>
              </c:strCache>
            </c:strRef>
          </c:tx>
          <c:spPr>
            <a:solidFill>
              <a:srgbClr val="6A2CC9"/>
            </a:solidFill>
          </c:spPr>
          <c:cat>
            <c:strRef>
              <c:f>Sheet1!$A$2:$A$5</c:f>
              <c:strCache>
                <c:ptCount val="4"/>
                <c:pt idx="0">
                  <c:v>Q1 2025</c:v>
                </c:pt>
                <c:pt idx="1">
                  <c:v>Q2 2025</c:v>
                </c:pt>
                <c:pt idx="2">
                  <c:v>Q3 2025</c:v>
                </c:pt>
                <c:pt idx="3">
                  <c:v>Q4 2025</c:v>
                </c:pt>
              </c:strCache>
            </c:strRef>
          </c:cat>
          <c:val>
            <c:numRef>
              <c:f>Sheet1!$B$2:$B$5</c:f>
              <c:numCache>
                <c:formatCode>General</c:formatCode>
                <c:ptCount val="4"/>
                <c:pt idx="0">
                  <c:v>4.72</c:v>
                </c:pt>
                <c:pt idx="1">
                  <c:v>3.97</c:v>
                </c:pt>
                <c:pt idx="2">
                  <c:v>4.64</c:v>
                </c:pt>
                <c:pt idx="3">
                  <c:v>5.11</c:v>
                </c:pt>
              </c:numCache>
            </c:numRef>
          </c:val>
        </c:ser>
        <c:dLbls>
          <c:txPr>
            <a:bodyPr/>
            <a:lstStyle/>
            <a:p>
              <a:pPr>
                <a:defRPr sz="900" b="1">
                  <a:solidFill>
                    <a:srgbClr val="20288F"/>
                  </a:solidFill>
                  <a:latin typeface="Aria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850" b="1">
                <a:latin typeface="Arial"/>
              </a:defRPr>
            </a:pPr>
          </a:p>
        </c:txPr>
        <c:crossAx val="-2113994440"/>
        <c:crosses val="autoZero"/>
        <c:auto val="1"/>
        <c:lblAlgn val="ctr"/>
        <c:lblOffset val="100"/>
        <c:noMultiLvlLbl val="0"/>
      </c:catAx>
      <c:valAx>
        <c:axId val="-2113994440"/>
        <c:scaling>
          <c:max val="6.0"/>
          <c:min val="0.0"/>
        </c:scaling>
        <c:delete val="0"/>
        <c:axPos val="l"/>
        <c:majorGridlines/>
        <c:majorTickMark val="out"/>
        <c:minorTickMark val="none"/>
        <c:tickLblPos val="nextTo"/>
        <c:txPr>
          <a:bodyPr/>
          <a:lstStyle/>
          <a:p>
            <a:pPr>
              <a:defRPr sz="800">
                <a:latin typeface="Arial"/>
              </a:defRPr>
            </a:pPr>
          </a:p>
        </c:txPr>
        <c:crossAx val="-2068027336"/>
        <c:crosses val="autoZero"/>
        <c:majorUnit val="1.0"/>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Inschiet (%)</c:v>
                </c:pt>
              </c:strCache>
            </c:strRef>
          </c:tx>
          <c:spPr>
            <a:solidFill>
              <a:srgbClr val="6A2CC9"/>
            </a:solidFill>
          </c:spPr>
          <c:cat>
            <c:strRef>
              <c:f>Sheet1!$A$2:$A$5</c:f>
              <c:strCache>
                <c:ptCount val="4"/>
                <c:pt idx="0">
                  <c:v>Q1 2025</c:v>
                </c:pt>
                <c:pt idx="1">
                  <c:v>Q2 2025</c:v>
                </c:pt>
                <c:pt idx="2">
                  <c:v>Q3 2025</c:v>
                </c:pt>
                <c:pt idx="3">
                  <c:v>Q4 2025</c:v>
                </c:pt>
              </c:strCache>
            </c:strRef>
          </c:cat>
          <c:val>
            <c:numRef>
              <c:f>Sheet1!$B$2:$B$5</c:f>
              <c:numCache>
                <c:formatCode>General</c:formatCode>
                <c:ptCount val="4"/>
                <c:pt idx="0">
                  <c:v>4.72</c:v>
                </c:pt>
                <c:pt idx="1">
                  <c:v>3.97</c:v>
                </c:pt>
                <c:pt idx="2">
                  <c:v>4.64</c:v>
                </c:pt>
                <c:pt idx="3">
                  <c:v>5.11</c:v>
                </c:pt>
              </c:numCache>
            </c:numRef>
          </c:val>
        </c:ser>
        <c:dLbls>
          <c:txPr>
            <a:bodyPr/>
            <a:lstStyle/>
            <a:p>
              <a:pPr>
                <a:defRPr sz="850" b="1">
                  <a:solidFill>
                    <a:srgbClr val="20288F"/>
                  </a:solidFill>
                  <a:latin typeface="Aria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800" b="1">
                <a:latin typeface="Arial"/>
              </a:defRPr>
            </a:pPr>
          </a:p>
        </c:txPr>
        <c:crossAx val="-2113994440"/>
        <c:crosses val="autoZero"/>
        <c:auto val="1"/>
        <c:lblAlgn val="ctr"/>
        <c:lblOffset val="100"/>
        <c:noMultiLvlLbl val="0"/>
      </c:catAx>
      <c:valAx>
        <c:axId val="-2113994440"/>
        <c:scaling>
          <c:max val="6.0"/>
          <c:min val="0.0"/>
        </c:scaling>
        <c:delete val="0"/>
        <c:axPos val="l"/>
        <c:majorGridlines/>
        <c:majorTickMark val="out"/>
        <c:minorTickMark val="none"/>
        <c:tickLblPos val="nextTo"/>
        <c:txPr>
          <a:bodyPr/>
          <a:lstStyle/>
          <a:p>
            <a:pPr>
              <a:defRPr sz="750">
                <a:latin typeface="Arial"/>
              </a:defRPr>
            </a:pPr>
          </a:p>
        </c:txPr>
        <c:crossAx val="-2068027336"/>
        <c:crosses val="autoZero"/>
        <c:majorUnit val="1.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8512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Template presentasi untuk peserta IAKA 2026. Sesuaikan bagian yang dibawakan dengan fase yang sedang dipresentasikan (lihat slide Alur).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tidak selalu dibawakan sekaligus. Pitching Fase 1 fokus pada bagian 1–4; bagian berikutnya menyusul sesuai kemajuan proyek di tiap fase.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Isi wajib (Panduan BAB 1): kondisi saat ini, alasan penting, data awal. Setiap angka harus punya satuan, periode, dan sumber — tanpa itu dianggap belum terverifikasi.</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Masalah harus spesifik dan terukur. Cantumkan baseline dengan satuan jelas dan sumbernya (log produksi, laporan QC, tiket helpdesk, catatan keuangan) beserta periode pengambilan data.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Isi wajib (BAB 3–4): mekanisme kerja, keunggulan, kebaruan, alur before/after, target &amp; estimasi. Untuk Kaizen sebut SOP yang diperbaiki; untuk Inovasi sebut potensi standar baru / sumber pendapatan. Cantumkan rencana uji coba (MVP) dan calon Fasilitator min. Kadep.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Isi wajib (BAB 6–7): laporan uji coba (PIC, lokasi, waktu, sumber daya), kendala &amp; problem solving, tabel Before/After dengan n dan grafik tren, dibandingkan target Fase 1. Lampirkan data mentah yang dapat diolah dan bukti bertanggal.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Isi wajib (BAB 8–9): perhitungan business impact dengan kertas kerja terbuka (rumus dapat diperiksa), plus People/Customer/ESG impact. Setiap klaim non-finansial harus berbukti, sama seperti klaim finansial.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Isi wajib (BAB 10): mekanisme keberlanjutan — pengesahan &amp; registrasi dokumen, dokumen turunan diperbarui, bukti sosialisasi, penutupan resmi sistem lama, transfer knowledge, jadwal audit keberlanjutan, dan roadmap.</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Isi wajib (BAB 11–12): tantangan, mitigasi, pembelajaran, kesimpulan &amp; rekomendasi pengembangan.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Tutup dengan pesan utama proyek dalam satu kalimat. Ingatkan penilaian IAKA 2026 berbasis bukti nyata di unit kerja.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2.png"/><Relationship Id="rId6"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chart" Target="../charts/chart1.xml"/><Relationship Id="rId5" Type="http://schemas.openxmlformats.org/officeDocument/2006/relationships/image" Target="../media/image2.png"/><Relationship Id="rId6"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2.png"/><Relationship Id="rId6" Type="http://schemas.openxmlformats.org/officeDocument/2006/relationships/image" Target="../media/image1.png"/><Relationship Id="rId7" Type="http://schemas.openxmlformats.org/officeDocument/2006/relationships/chart" Target="../charts/chart2.xml"/><Relationship Id="rId8" Type="http://schemas.openxmlformats.org/officeDocument/2006/relationships/chart" Target="../charts/char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A1F9E"/>
        </a:solidFill>
        <a:effectLst/>
      </p:bgPr>
    </p:bg>
    <p:spTree>
      <p:nvGrpSpPr>
        <p:cNvPr id="1" name=""/>
        <p:cNvGrpSpPr/>
        <p:nvPr/>
      </p:nvGrpSpPr>
      <p:grpSpPr>
        <a:xfrm>
          <a:off x="0" y="0"/>
          <a:ext cx="0" cy="0"/>
          <a:chOff x="0" y="0"/>
          <a:chExt cx="0" cy="0"/>
        </a:xfrm>
      </p:grpSpPr>
      <p:sp>
        <p:nvSpPr>
          <p:cNvPr id="2" name="Shape 0"/>
          <p:cNvSpPr/>
          <p:nvPr/>
        </p:nvSpPr>
        <p:spPr>
          <a:xfrm>
            <a:off x="8778240" y="-1463040"/>
            <a:ext cx="4754880" cy="4754880"/>
          </a:xfrm>
          <a:prstGeom prst="ellipse">
            <a:avLst/>
          </a:prstGeom>
          <a:solidFill>
            <a:srgbClr val="FFFFFF">
              <a:alpha val="8000"/>
            </a:srgbClr>
          </a:solidFill>
          <a:ln/>
        </p:spPr>
      </p:sp>
      <p:sp>
        <p:nvSpPr>
          <p:cNvPr id="3" name="Shape 1"/>
          <p:cNvSpPr/>
          <p:nvPr/>
        </p:nvSpPr>
        <p:spPr>
          <a:xfrm>
            <a:off x="9875520" y="3840480"/>
            <a:ext cx="4206240" cy="4206240"/>
          </a:xfrm>
          <a:prstGeom prst="ellipse">
            <a:avLst/>
          </a:prstGeom>
          <a:solidFill>
            <a:srgbClr val="CB69FF">
              <a:alpha val="18000"/>
            </a:srgbClr>
          </a:solidFill>
          <a:ln/>
        </p:spPr>
      </p:sp>
      <p:sp>
        <p:nvSpPr>
          <p:cNvPr id="4" name="Text 2"/>
          <p:cNvSpPr/>
          <p:nvPr/>
        </p:nvSpPr>
        <p:spPr>
          <a:xfrm>
            <a:off x="548640" y="1371600"/>
            <a:ext cx="8229600" cy="365760"/>
          </a:xfrm>
          <a:prstGeom prst="rect">
            <a:avLst/>
          </a:prstGeom>
          <a:noFill/>
          <a:ln/>
        </p:spPr>
        <p:txBody>
          <a:bodyPr wrap="square" lIns="0" tIns="0" rIns="0" bIns="0" rtlCol="0" anchor="ctr"/>
          <a:lstStyle/>
          <a:p>
            <a:pPr marL="0" indent="0">
              <a:buNone/>
            </a:pPr>
            <a:r>
              <a:rPr lang="en-US" sz="1300" b="1" kern="0" spc="200" dirty="0">
                <a:solidFill>
                  <a:schemeClr val="bg2"/>
                </a:solidFill>
                <a:latin typeface="Arial" pitchFamily="34" charset="0"/>
                <a:ea typeface="Arial" pitchFamily="34" charset="-122"/>
                <a:cs typeface="Arial" pitchFamily="34" charset="-120"/>
              </a:rPr>
              <a:t>PERURI  ·  INNOVATION AWARD &amp; KAIZEN AWARD</a:t>
            </a:r>
            <a:endParaRPr lang="en-US" sz="1300" dirty="0">
              <a:solidFill>
                <a:schemeClr val="bg2"/>
              </a:solidFill>
            </a:endParaRPr>
          </a:p>
        </p:txBody>
      </p:sp>
      <p:sp>
        <p:nvSpPr>
          <p:cNvPr id="5" name="Text 3"/>
          <p:cNvSpPr/>
          <p:nvPr/>
        </p:nvSpPr>
        <p:spPr>
          <a:xfrm>
            <a:off x="548640" y="1874520"/>
            <a:ext cx="10058400" cy="822960"/>
          </a:xfrm>
          <a:prstGeom prst="rect">
            <a:avLst/>
          </a:prstGeom>
          <a:noFill/>
          <a:ln/>
        </p:spPr>
        <p:txBody>
          <a:bodyPr wrap="square" lIns="0" tIns="0" rIns="0" bIns="0" rtlCol="0" anchor="ctr"/>
          <a:lstStyle/>
          <a:p>
            <a:pPr marL="0" indent="0">
              <a:buNone/>
            </a:pPr>
            <a:r>
              <a:rPr lang="en-US" sz="4000" b="1" dirty="0">
                <a:solidFill>
                  <a:srgbClr val="FFFFFF"/>
                </a:solidFill>
                <a:latin typeface="Arial" pitchFamily="34" charset="0"/>
                <a:ea typeface="Arial" pitchFamily="34" charset="-122"/>
                <a:cs typeface="Arial" pitchFamily="34" charset="-120"/>
              </a:rPr>
              <a:t>Kerangka Presentasi Peserta</a:t>
            </a:r>
            <a:endParaRPr lang="en-US" sz="4000" dirty="0"/>
          </a:p>
        </p:txBody>
      </p:sp>
      <p:sp>
        <p:nvSpPr>
          <p:cNvPr id="6" name="Text 4"/>
          <p:cNvSpPr/>
          <p:nvPr/>
        </p:nvSpPr>
        <p:spPr>
          <a:xfrm>
            <a:off x="548640" y="2697480"/>
            <a:ext cx="10058400" cy="822960"/>
          </a:xfrm>
          <a:prstGeom prst="rect">
            <a:avLst/>
          </a:prstGeom>
          <a:noFill/>
          <a:ln/>
        </p:spPr>
        <p:txBody>
          <a:bodyPr wrap="square" lIns="0" tIns="0" rIns="0" bIns="0" rtlCol="0" anchor="ctr"/>
          <a:lstStyle/>
          <a:p>
            <a:pPr marL="0" indent="0">
              <a:buNone/>
            </a:pPr>
            <a:r>
              <a:rPr lang="en-US" sz="4400" b="1" dirty="0">
                <a:solidFill>
                  <a:schemeClr val="bg1"/>
                </a:solidFill>
                <a:latin typeface="Arial" pitchFamily="34" charset="0"/>
                <a:ea typeface="Arial" pitchFamily="34" charset="-122"/>
                <a:cs typeface="Arial" pitchFamily="34" charset="-120"/>
              </a:rPr>
              <a:t>IAKA 2026</a:t>
            </a:r>
            <a:endParaRPr lang="en-US" sz="4400" dirty="0">
              <a:solidFill>
                <a:schemeClr val="bg1"/>
              </a:solidFill>
            </a:endParaRPr>
          </a:p>
        </p:txBody>
      </p:sp>
      <p:sp>
        <p:nvSpPr>
          <p:cNvPr id="9" name="Shape 7"/>
          <p:cNvSpPr/>
          <p:nvPr/>
        </p:nvSpPr>
        <p:spPr>
          <a:xfrm>
            <a:off x="548640" y="4892040"/>
            <a:ext cx="3200400" cy="502920"/>
          </a:xfrm>
          <a:prstGeom prst="roundRect">
            <a:avLst>
              <a:gd name="adj" fmla="val 49091"/>
            </a:avLst>
          </a:prstGeom>
          <a:solidFill>
            <a:srgbClr val="6A2CC9"/>
          </a:solidFill>
          <a:ln/>
        </p:spPr>
      </p:sp>
      <p:sp>
        <p:nvSpPr>
          <p:cNvPr id="10" name="Text 8"/>
          <p:cNvSpPr/>
          <p:nvPr/>
        </p:nvSpPr>
        <p:spPr>
          <a:xfrm>
            <a:off x="548640" y="4892040"/>
            <a:ext cx="320040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Divisi SDM · 2026</a:t>
            </a:r>
            <a:endParaRPr lang="en-US" sz="1300" dirty="0"/>
          </a:p>
        </p:txBody>
      </p:sp>
      <p:pic>
        <p:nvPicPr>
          <p:cNvPr id="12" name="Picture 11">
            <a:extLst>
              <a:ext uri="{FF2B5EF4-FFF2-40B4-BE49-F238E27FC236}">
                <a16:creationId xmlns:a16="http://schemas.microsoft.com/office/drawing/2014/main" id="{B2BD31F3-DBAE-CDA4-F47C-1AFBAA269268}"/>
              </a:ext>
            </a:extLst>
          </p:cNvPr>
          <p:cNvPicPr>
            <a:picLocks noChangeAspect="1"/>
          </p:cNvPicPr>
          <p:nvPr/>
        </p:nvPicPr>
        <p:blipFill>
          <a:blip r:embed="rId3"/>
          <a:stretch>
            <a:fillRect/>
          </a:stretch>
        </p:blipFill>
        <p:spPr>
          <a:xfrm>
            <a:off x="10670874" y="89912"/>
            <a:ext cx="1454649" cy="809702"/>
          </a:xfrm>
          <a:prstGeom prst="rect">
            <a:avLst/>
          </a:prstGeom>
        </p:spPr>
      </p:pic>
      <p:pic>
        <p:nvPicPr>
          <p:cNvPr id="14" name="Picture 13">
            <a:extLst>
              <a:ext uri="{FF2B5EF4-FFF2-40B4-BE49-F238E27FC236}">
                <a16:creationId xmlns:a16="http://schemas.microsoft.com/office/drawing/2014/main" id="{077B2836-D742-3AD4-8792-B1432173121B}"/>
              </a:ext>
            </a:extLst>
          </p:cNvPr>
          <p:cNvPicPr>
            <a:picLocks noChangeAspect="1"/>
          </p:cNvPicPr>
          <p:nvPr/>
        </p:nvPicPr>
        <p:blipFill>
          <a:blip r:embed="rId4"/>
          <a:stretch>
            <a:fillRect/>
          </a:stretch>
        </p:blipFill>
        <p:spPr>
          <a:xfrm>
            <a:off x="-217170" y="-139700"/>
            <a:ext cx="2339340" cy="15595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646300"/>
            <a:ext cx="640080" cy="640080"/>
          </a:xfrm>
          <a:prstGeom prst="ellipse">
            <a:avLst/>
          </a:prstGeom>
          <a:solidFill>
            <a:srgbClr val="6A2CC9"/>
          </a:solidFill>
          <a:ln/>
          <a:effectLst>
            <a:outerShdw blurRad="101600" dist="25400" dir="5400000" algn="bl" rotWithShape="0">
              <a:srgbClr val="6A2CC9">
                <a:alpha val="28000"/>
              </a:srgbClr>
            </a:outerShdw>
          </a:effectLst>
        </p:spPr>
      </p:sp>
      <p:sp>
        <p:nvSpPr>
          <p:cNvPr id="3" name="Text 1"/>
          <p:cNvSpPr/>
          <p:nvPr/>
        </p:nvSpPr>
        <p:spPr>
          <a:xfrm>
            <a:off x="548640" y="635093"/>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i</a:t>
            </a:r>
            <a:endParaRPr lang="en-US" sz="2200" dirty="0"/>
          </a:p>
        </p:txBody>
      </p:sp>
      <p:sp>
        <p:nvSpPr>
          <p:cNvPr id="4" name="Text 2"/>
          <p:cNvSpPr/>
          <p:nvPr/>
        </p:nvSpPr>
        <p:spPr>
          <a:xfrm>
            <a:off x="1340193" y="600580"/>
            <a:ext cx="8686800" cy="731520"/>
          </a:xfrm>
          <a:prstGeom prst="rect">
            <a:avLst/>
          </a:prstGeom>
          <a:noFill/>
          <a:ln/>
        </p:spPr>
        <p:txBody>
          <a:bodyPr wrap="square" lIns="0" tIns="0" rIns="0" bIns="0" rtlCol="0" anchor="ctr"/>
          <a:lstStyle/>
          <a:p>
            <a:pPr marL="0" indent="0">
              <a:buNone/>
            </a:pPr>
            <a:r>
              <a:rPr lang="en-US" sz="3200" b="1" dirty="0">
                <a:solidFill>
                  <a:srgbClr val="20288F"/>
                </a:solidFill>
                <a:latin typeface="Arial" pitchFamily="34" charset="0"/>
                <a:ea typeface="Arial" pitchFamily="34" charset="-122"/>
                <a:cs typeface="Arial" pitchFamily="34" charset="-120"/>
              </a:rPr>
              <a:t>Alur 8 bagian presentasi</a:t>
            </a:r>
            <a:endParaRPr lang="en-US" sz="3200" dirty="0"/>
          </a:p>
        </p:txBody>
      </p:sp>
      <p:sp>
        <p:nvSpPr>
          <p:cNvPr id="6" name="Shape 4"/>
          <p:cNvSpPr/>
          <p:nvPr/>
        </p:nvSpPr>
        <p:spPr>
          <a:xfrm>
            <a:off x="548640" y="1874520"/>
            <a:ext cx="2581580" cy="1417320"/>
          </a:xfrm>
          <a:prstGeom prst="roundRect">
            <a:avLst>
              <a:gd name="adj" fmla="val 6452"/>
            </a:avLst>
          </a:prstGeom>
          <a:solidFill>
            <a:srgbClr val="F5F1FF"/>
          </a:solidFill>
          <a:ln w="12700">
            <a:solidFill>
              <a:srgbClr val="EFE7FF"/>
            </a:solidFill>
            <a:prstDash val="solid"/>
          </a:ln>
          <a:effectLst>
            <a:outerShdw blurRad="76200" dist="25400" dir="5400000" algn="bl" rotWithShape="0">
              <a:srgbClr val="C9BEE8">
                <a:alpha val="35000"/>
              </a:srgbClr>
            </a:outerShdw>
          </a:effectLst>
        </p:spPr>
      </p:sp>
      <p:sp>
        <p:nvSpPr>
          <p:cNvPr id="7" name="Shape 5"/>
          <p:cNvSpPr/>
          <p:nvPr/>
        </p:nvSpPr>
        <p:spPr>
          <a:xfrm>
            <a:off x="749808" y="2075688"/>
            <a:ext cx="502920" cy="502920"/>
          </a:xfrm>
          <a:prstGeom prst="ellipse">
            <a:avLst/>
          </a:prstGeom>
          <a:solidFill>
            <a:srgbClr val="6A2CC9"/>
          </a:solidFill>
          <a:ln/>
        </p:spPr>
      </p:sp>
      <p:sp>
        <p:nvSpPr>
          <p:cNvPr id="8" name="Text 6"/>
          <p:cNvSpPr/>
          <p:nvPr/>
        </p:nvSpPr>
        <p:spPr>
          <a:xfrm>
            <a:off x="749808" y="2075688"/>
            <a:ext cx="50292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01</a:t>
            </a:r>
            <a:endParaRPr lang="en-US" sz="1500" dirty="0"/>
          </a:p>
        </p:txBody>
      </p:sp>
      <p:sp>
        <p:nvSpPr>
          <p:cNvPr id="9" name="Text 7"/>
          <p:cNvSpPr/>
          <p:nvPr/>
        </p:nvSpPr>
        <p:spPr>
          <a:xfrm>
            <a:off x="731520" y="2651760"/>
            <a:ext cx="2215820" cy="411480"/>
          </a:xfrm>
          <a:prstGeom prst="rect">
            <a:avLst/>
          </a:prstGeom>
          <a:noFill/>
          <a:ln/>
        </p:spPr>
        <p:txBody>
          <a:bodyPr wrap="square" lIns="0" tIns="0" rIns="0" bIns="0" rtlCol="0" anchor="t"/>
          <a:lstStyle/>
          <a:p>
            <a:pPr marL="0" indent="0">
              <a:buNone/>
            </a:pPr>
            <a:r>
              <a:rPr lang="en-US" sz="1450" b="1" dirty="0">
                <a:solidFill>
                  <a:srgbClr val="20288F"/>
                </a:solidFill>
                <a:latin typeface="Arial" pitchFamily="34" charset="0"/>
                <a:ea typeface="Arial" pitchFamily="34" charset="-122"/>
                <a:cs typeface="Arial" pitchFamily="34" charset="-120"/>
              </a:rPr>
              <a:t>Latar Belakang</a:t>
            </a:r>
            <a:endParaRPr lang="en-US" sz="1450" dirty="0"/>
          </a:p>
        </p:txBody>
      </p:sp>
      <p:sp>
        <p:nvSpPr>
          <p:cNvPr id="11" name="Shape 9"/>
          <p:cNvSpPr/>
          <p:nvPr/>
        </p:nvSpPr>
        <p:spPr>
          <a:xfrm>
            <a:off x="3386252" y="1874520"/>
            <a:ext cx="2581580" cy="1417320"/>
          </a:xfrm>
          <a:prstGeom prst="roundRect">
            <a:avLst>
              <a:gd name="adj" fmla="val 6452"/>
            </a:avLst>
          </a:prstGeom>
          <a:solidFill>
            <a:srgbClr val="F5F1FF"/>
          </a:solidFill>
          <a:ln w="12700">
            <a:solidFill>
              <a:srgbClr val="EFE7FF"/>
            </a:solidFill>
            <a:prstDash val="solid"/>
          </a:ln>
          <a:effectLst>
            <a:outerShdw blurRad="76200" dist="25400" dir="5400000" algn="bl" rotWithShape="0">
              <a:srgbClr val="C9BEE8">
                <a:alpha val="35000"/>
              </a:srgbClr>
            </a:outerShdw>
          </a:effectLst>
        </p:spPr>
      </p:sp>
      <p:sp>
        <p:nvSpPr>
          <p:cNvPr id="12" name="Shape 10"/>
          <p:cNvSpPr/>
          <p:nvPr/>
        </p:nvSpPr>
        <p:spPr>
          <a:xfrm>
            <a:off x="3587420" y="2075688"/>
            <a:ext cx="502920" cy="502920"/>
          </a:xfrm>
          <a:prstGeom prst="ellipse">
            <a:avLst/>
          </a:prstGeom>
          <a:solidFill>
            <a:srgbClr val="6A2CC9"/>
          </a:solidFill>
          <a:ln/>
        </p:spPr>
      </p:sp>
      <p:sp>
        <p:nvSpPr>
          <p:cNvPr id="13" name="Text 11"/>
          <p:cNvSpPr/>
          <p:nvPr/>
        </p:nvSpPr>
        <p:spPr>
          <a:xfrm>
            <a:off x="3587420" y="2075688"/>
            <a:ext cx="50292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02</a:t>
            </a:r>
            <a:endParaRPr lang="en-US" sz="1500" dirty="0"/>
          </a:p>
        </p:txBody>
      </p:sp>
      <p:sp>
        <p:nvSpPr>
          <p:cNvPr id="14" name="Text 12"/>
          <p:cNvSpPr/>
          <p:nvPr/>
        </p:nvSpPr>
        <p:spPr>
          <a:xfrm>
            <a:off x="3569132" y="2651760"/>
            <a:ext cx="2215820" cy="411480"/>
          </a:xfrm>
          <a:prstGeom prst="rect">
            <a:avLst/>
          </a:prstGeom>
          <a:noFill/>
          <a:ln/>
        </p:spPr>
        <p:txBody>
          <a:bodyPr wrap="square" lIns="0" tIns="0" rIns="0" bIns="0" rtlCol="0" anchor="t"/>
          <a:lstStyle/>
          <a:p>
            <a:pPr marL="0" indent="0">
              <a:buNone/>
            </a:pPr>
            <a:r>
              <a:rPr lang="en-US" sz="1450" b="1" dirty="0">
                <a:solidFill>
                  <a:srgbClr val="20288F"/>
                </a:solidFill>
                <a:latin typeface="Arial" pitchFamily="34" charset="0"/>
                <a:ea typeface="Arial" pitchFamily="34" charset="-122"/>
                <a:cs typeface="Arial" pitchFamily="34" charset="-120"/>
              </a:rPr>
              <a:t>Masalah</a:t>
            </a:r>
            <a:endParaRPr lang="en-US" sz="1450" dirty="0"/>
          </a:p>
        </p:txBody>
      </p:sp>
      <p:sp>
        <p:nvSpPr>
          <p:cNvPr id="16" name="Shape 14"/>
          <p:cNvSpPr/>
          <p:nvPr/>
        </p:nvSpPr>
        <p:spPr>
          <a:xfrm>
            <a:off x="6223864" y="1874520"/>
            <a:ext cx="2581580" cy="1417320"/>
          </a:xfrm>
          <a:prstGeom prst="roundRect">
            <a:avLst>
              <a:gd name="adj" fmla="val 6452"/>
            </a:avLst>
          </a:prstGeom>
          <a:solidFill>
            <a:srgbClr val="F5F1FF"/>
          </a:solidFill>
          <a:ln w="12700">
            <a:solidFill>
              <a:srgbClr val="EFE7FF"/>
            </a:solidFill>
            <a:prstDash val="solid"/>
          </a:ln>
          <a:effectLst>
            <a:outerShdw blurRad="76200" dist="25400" dir="5400000" algn="bl" rotWithShape="0">
              <a:srgbClr val="C9BEE8">
                <a:alpha val="35000"/>
              </a:srgbClr>
            </a:outerShdw>
          </a:effectLst>
        </p:spPr>
      </p:sp>
      <p:sp>
        <p:nvSpPr>
          <p:cNvPr id="17" name="Shape 15"/>
          <p:cNvSpPr/>
          <p:nvPr/>
        </p:nvSpPr>
        <p:spPr>
          <a:xfrm>
            <a:off x="6425032" y="2075688"/>
            <a:ext cx="502920" cy="502920"/>
          </a:xfrm>
          <a:prstGeom prst="ellipse">
            <a:avLst/>
          </a:prstGeom>
          <a:solidFill>
            <a:srgbClr val="6A2CC9"/>
          </a:solidFill>
          <a:ln/>
        </p:spPr>
      </p:sp>
      <p:sp>
        <p:nvSpPr>
          <p:cNvPr id="18" name="Text 16"/>
          <p:cNvSpPr/>
          <p:nvPr/>
        </p:nvSpPr>
        <p:spPr>
          <a:xfrm>
            <a:off x="6425032" y="2075688"/>
            <a:ext cx="50292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03</a:t>
            </a:r>
            <a:endParaRPr lang="en-US" sz="1500" dirty="0"/>
          </a:p>
        </p:txBody>
      </p:sp>
      <p:sp>
        <p:nvSpPr>
          <p:cNvPr id="19" name="Text 17"/>
          <p:cNvSpPr/>
          <p:nvPr/>
        </p:nvSpPr>
        <p:spPr>
          <a:xfrm>
            <a:off x="6406744" y="2651760"/>
            <a:ext cx="2215820" cy="411480"/>
          </a:xfrm>
          <a:prstGeom prst="rect">
            <a:avLst/>
          </a:prstGeom>
          <a:noFill/>
          <a:ln/>
        </p:spPr>
        <p:txBody>
          <a:bodyPr wrap="square" lIns="0" tIns="0" rIns="0" bIns="0" rtlCol="0" anchor="t"/>
          <a:lstStyle/>
          <a:p>
            <a:pPr marL="0" indent="0">
              <a:buNone/>
            </a:pPr>
            <a:r>
              <a:rPr lang="en-US" sz="1450" b="1" dirty="0">
                <a:solidFill>
                  <a:srgbClr val="20288F"/>
                </a:solidFill>
                <a:latin typeface="Arial" pitchFamily="34" charset="0"/>
                <a:ea typeface="Arial" pitchFamily="34" charset="-122"/>
                <a:cs typeface="Arial" pitchFamily="34" charset="-120"/>
              </a:rPr>
              <a:t>Analisis Penyebab</a:t>
            </a:r>
            <a:endParaRPr lang="en-US" sz="1450" dirty="0"/>
          </a:p>
        </p:txBody>
      </p:sp>
      <p:sp>
        <p:nvSpPr>
          <p:cNvPr id="21" name="Shape 19"/>
          <p:cNvSpPr/>
          <p:nvPr/>
        </p:nvSpPr>
        <p:spPr>
          <a:xfrm>
            <a:off x="9061475" y="1874520"/>
            <a:ext cx="2581580" cy="1417320"/>
          </a:xfrm>
          <a:prstGeom prst="roundRect">
            <a:avLst>
              <a:gd name="adj" fmla="val 6452"/>
            </a:avLst>
          </a:prstGeom>
          <a:solidFill>
            <a:srgbClr val="F5F1FF"/>
          </a:solidFill>
          <a:ln w="12700">
            <a:solidFill>
              <a:srgbClr val="EFE7FF"/>
            </a:solidFill>
            <a:prstDash val="solid"/>
          </a:ln>
          <a:effectLst>
            <a:outerShdw blurRad="76200" dist="25400" dir="5400000" algn="bl" rotWithShape="0">
              <a:srgbClr val="C9BEE8">
                <a:alpha val="35000"/>
              </a:srgbClr>
            </a:outerShdw>
          </a:effectLst>
        </p:spPr>
      </p:sp>
      <p:sp>
        <p:nvSpPr>
          <p:cNvPr id="22" name="Shape 20"/>
          <p:cNvSpPr/>
          <p:nvPr/>
        </p:nvSpPr>
        <p:spPr>
          <a:xfrm>
            <a:off x="9262643" y="2075688"/>
            <a:ext cx="502920" cy="502920"/>
          </a:xfrm>
          <a:prstGeom prst="ellipse">
            <a:avLst/>
          </a:prstGeom>
          <a:solidFill>
            <a:srgbClr val="6A2CC9"/>
          </a:solidFill>
          <a:ln/>
        </p:spPr>
      </p:sp>
      <p:sp>
        <p:nvSpPr>
          <p:cNvPr id="23" name="Text 21"/>
          <p:cNvSpPr/>
          <p:nvPr/>
        </p:nvSpPr>
        <p:spPr>
          <a:xfrm>
            <a:off x="9262643" y="2075688"/>
            <a:ext cx="50292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04</a:t>
            </a:r>
            <a:endParaRPr lang="en-US" sz="1500" dirty="0"/>
          </a:p>
        </p:txBody>
      </p:sp>
      <p:sp>
        <p:nvSpPr>
          <p:cNvPr id="24" name="Text 22"/>
          <p:cNvSpPr/>
          <p:nvPr/>
        </p:nvSpPr>
        <p:spPr>
          <a:xfrm>
            <a:off x="9244355" y="2651760"/>
            <a:ext cx="2215820" cy="411480"/>
          </a:xfrm>
          <a:prstGeom prst="rect">
            <a:avLst/>
          </a:prstGeom>
          <a:noFill/>
          <a:ln/>
        </p:spPr>
        <p:txBody>
          <a:bodyPr wrap="square" lIns="0" tIns="0" rIns="0" bIns="0" rtlCol="0" anchor="t"/>
          <a:lstStyle/>
          <a:p>
            <a:pPr marL="0" indent="0">
              <a:buNone/>
            </a:pPr>
            <a:r>
              <a:rPr lang="en-US" sz="1450" b="1" dirty="0">
                <a:solidFill>
                  <a:srgbClr val="20288F"/>
                </a:solidFill>
                <a:latin typeface="Arial" pitchFamily="34" charset="0"/>
                <a:ea typeface="Arial" pitchFamily="34" charset="-122"/>
                <a:cs typeface="Arial" pitchFamily="34" charset="-120"/>
              </a:rPr>
              <a:t>Solusi</a:t>
            </a:r>
            <a:endParaRPr lang="en-US" sz="1450" dirty="0"/>
          </a:p>
        </p:txBody>
      </p:sp>
      <p:sp>
        <p:nvSpPr>
          <p:cNvPr id="26" name="Shape 24"/>
          <p:cNvSpPr/>
          <p:nvPr/>
        </p:nvSpPr>
        <p:spPr>
          <a:xfrm>
            <a:off x="548640" y="3566160"/>
            <a:ext cx="2581580" cy="1417320"/>
          </a:xfrm>
          <a:prstGeom prst="roundRect">
            <a:avLst>
              <a:gd name="adj" fmla="val 6452"/>
            </a:avLst>
          </a:prstGeom>
          <a:solidFill>
            <a:srgbClr val="F5F1FF"/>
          </a:solidFill>
          <a:ln w="12700">
            <a:solidFill>
              <a:srgbClr val="EFE7FF"/>
            </a:solidFill>
            <a:prstDash val="solid"/>
          </a:ln>
          <a:effectLst>
            <a:outerShdw blurRad="76200" dist="25400" dir="5400000" algn="bl" rotWithShape="0">
              <a:srgbClr val="C9BEE8">
                <a:alpha val="35000"/>
              </a:srgbClr>
            </a:outerShdw>
          </a:effectLst>
        </p:spPr>
      </p:sp>
      <p:sp>
        <p:nvSpPr>
          <p:cNvPr id="27" name="Shape 25"/>
          <p:cNvSpPr/>
          <p:nvPr/>
        </p:nvSpPr>
        <p:spPr>
          <a:xfrm>
            <a:off x="749808" y="3767328"/>
            <a:ext cx="502920" cy="502920"/>
          </a:xfrm>
          <a:prstGeom prst="ellipse">
            <a:avLst/>
          </a:prstGeom>
          <a:solidFill>
            <a:srgbClr val="6A2CC9"/>
          </a:solidFill>
          <a:ln/>
        </p:spPr>
      </p:sp>
      <p:sp>
        <p:nvSpPr>
          <p:cNvPr id="28" name="Text 26"/>
          <p:cNvSpPr/>
          <p:nvPr/>
        </p:nvSpPr>
        <p:spPr>
          <a:xfrm>
            <a:off x="749808" y="3767328"/>
            <a:ext cx="50292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05</a:t>
            </a:r>
            <a:endParaRPr lang="en-US" sz="1500" dirty="0"/>
          </a:p>
        </p:txBody>
      </p:sp>
      <p:sp>
        <p:nvSpPr>
          <p:cNvPr id="29" name="Text 27"/>
          <p:cNvSpPr/>
          <p:nvPr/>
        </p:nvSpPr>
        <p:spPr>
          <a:xfrm>
            <a:off x="731520" y="4343400"/>
            <a:ext cx="2215820" cy="411480"/>
          </a:xfrm>
          <a:prstGeom prst="rect">
            <a:avLst/>
          </a:prstGeom>
          <a:noFill/>
          <a:ln/>
        </p:spPr>
        <p:txBody>
          <a:bodyPr wrap="square" lIns="0" tIns="0" rIns="0" bIns="0" rtlCol="0" anchor="t"/>
          <a:lstStyle/>
          <a:p>
            <a:pPr marL="0" indent="0">
              <a:buNone/>
            </a:pPr>
            <a:r>
              <a:rPr lang="en-US" sz="1450" b="1" dirty="0">
                <a:solidFill>
                  <a:srgbClr val="20288F"/>
                </a:solidFill>
                <a:latin typeface="Arial" pitchFamily="34" charset="0"/>
                <a:ea typeface="Arial" pitchFamily="34" charset="-122"/>
                <a:cs typeface="Arial" pitchFamily="34" charset="-120"/>
              </a:rPr>
              <a:t>Implementasi</a:t>
            </a:r>
            <a:endParaRPr lang="en-US" sz="1450" dirty="0"/>
          </a:p>
        </p:txBody>
      </p:sp>
      <p:sp>
        <p:nvSpPr>
          <p:cNvPr id="31" name="Shape 29"/>
          <p:cNvSpPr/>
          <p:nvPr/>
        </p:nvSpPr>
        <p:spPr>
          <a:xfrm>
            <a:off x="3386252" y="3566160"/>
            <a:ext cx="2581580" cy="1417320"/>
          </a:xfrm>
          <a:prstGeom prst="roundRect">
            <a:avLst>
              <a:gd name="adj" fmla="val 6452"/>
            </a:avLst>
          </a:prstGeom>
          <a:solidFill>
            <a:srgbClr val="F5F1FF"/>
          </a:solidFill>
          <a:ln w="12700">
            <a:solidFill>
              <a:srgbClr val="EFE7FF"/>
            </a:solidFill>
            <a:prstDash val="solid"/>
          </a:ln>
          <a:effectLst>
            <a:outerShdw blurRad="76200" dist="25400" dir="5400000" algn="bl" rotWithShape="0">
              <a:srgbClr val="C9BEE8">
                <a:alpha val="35000"/>
              </a:srgbClr>
            </a:outerShdw>
          </a:effectLst>
        </p:spPr>
      </p:sp>
      <p:sp>
        <p:nvSpPr>
          <p:cNvPr id="32" name="Shape 30"/>
          <p:cNvSpPr/>
          <p:nvPr/>
        </p:nvSpPr>
        <p:spPr>
          <a:xfrm>
            <a:off x="3587420" y="3767328"/>
            <a:ext cx="502920" cy="502920"/>
          </a:xfrm>
          <a:prstGeom prst="ellipse">
            <a:avLst/>
          </a:prstGeom>
          <a:solidFill>
            <a:srgbClr val="6A2CC9"/>
          </a:solidFill>
          <a:ln/>
        </p:spPr>
      </p:sp>
      <p:sp>
        <p:nvSpPr>
          <p:cNvPr id="33" name="Text 31"/>
          <p:cNvSpPr/>
          <p:nvPr/>
        </p:nvSpPr>
        <p:spPr>
          <a:xfrm>
            <a:off x="3587420" y="3767328"/>
            <a:ext cx="50292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06</a:t>
            </a:r>
            <a:endParaRPr lang="en-US" sz="1500" dirty="0"/>
          </a:p>
        </p:txBody>
      </p:sp>
      <p:sp>
        <p:nvSpPr>
          <p:cNvPr id="34" name="Text 32"/>
          <p:cNvSpPr/>
          <p:nvPr/>
        </p:nvSpPr>
        <p:spPr>
          <a:xfrm>
            <a:off x="3569132" y="4343400"/>
            <a:ext cx="2215820" cy="411480"/>
          </a:xfrm>
          <a:prstGeom prst="rect">
            <a:avLst/>
          </a:prstGeom>
          <a:noFill/>
          <a:ln/>
        </p:spPr>
        <p:txBody>
          <a:bodyPr wrap="square" lIns="0" tIns="0" rIns="0" bIns="0" rtlCol="0" anchor="t"/>
          <a:lstStyle/>
          <a:p>
            <a:pPr marL="0" indent="0">
              <a:buNone/>
            </a:pPr>
            <a:r>
              <a:rPr lang="en-US" sz="1450" b="1" dirty="0">
                <a:solidFill>
                  <a:srgbClr val="20288F"/>
                </a:solidFill>
                <a:latin typeface="Arial" pitchFamily="34" charset="0"/>
                <a:ea typeface="Arial" pitchFamily="34" charset="-122"/>
                <a:cs typeface="Arial" pitchFamily="34" charset="-120"/>
              </a:rPr>
              <a:t>Dampak</a:t>
            </a:r>
            <a:endParaRPr lang="en-US" sz="1450" dirty="0"/>
          </a:p>
        </p:txBody>
      </p:sp>
      <p:sp>
        <p:nvSpPr>
          <p:cNvPr id="36" name="Shape 34"/>
          <p:cNvSpPr/>
          <p:nvPr/>
        </p:nvSpPr>
        <p:spPr>
          <a:xfrm>
            <a:off x="6223864" y="3566160"/>
            <a:ext cx="2581580" cy="1417320"/>
          </a:xfrm>
          <a:prstGeom prst="roundRect">
            <a:avLst>
              <a:gd name="adj" fmla="val 6452"/>
            </a:avLst>
          </a:prstGeom>
          <a:solidFill>
            <a:srgbClr val="F5F1FF"/>
          </a:solidFill>
          <a:ln w="12700">
            <a:solidFill>
              <a:srgbClr val="EFE7FF"/>
            </a:solidFill>
            <a:prstDash val="solid"/>
          </a:ln>
          <a:effectLst>
            <a:outerShdw blurRad="76200" dist="25400" dir="5400000" algn="bl" rotWithShape="0">
              <a:srgbClr val="C9BEE8">
                <a:alpha val="35000"/>
              </a:srgbClr>
            </a:outerShdw>
          </a:effectLst>
        </p:spPr>
      </p:sp>
      <p:sp>
        <p:nvSpPr>
          <p:cNvPr id="37" name="Shape 35"/>
          <p:cNvSpPr/>
          <p:nvPr/>
        </p:nvSpPr>
        <p:spPr>
          <a:xfrm>
            <a:off x="6425032" y="3767328"/>
            <a:ext cx="502920" cy="502920"/>
          </a:xfrm>
          <a:prstGeom prst="ellipse">
            <a:avLst/>
          </a:prstGeom>
          <a:solidFill>
            <a:srgbClr val="6A2CC9"/>
          </a:solidFill>
          <a:ln/>
        </p:spPr>
      </p:sp>
      <p:sp>
        <p:nvSpPr>
          <p:cNvPr id="38" name="Text 36"/>
          <p:cNvSpPr/>
          <p:nvPr/>
        </p:nvSpPr>
        <p:spPr>
          <a:xfrm>
            <a:off x="6425032" y="3767328"/>
            <a:ext cx="50292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07</a:t>
            </a:r>
            <a:endParaRPr lang="en-US" sz="1500" dirty="0"/>
          </a:p>
        </p:txBody>
      </p:sp>
      <p:sp>
        <p:nvSpPr>
          <p:cNvPr id="39" name="Text 37"/>
          <p:cNvSpPr/>
          <p:nvPr/>
        </p:nvSpPr>
        <p:spPr>
          <a:xfrm>
            <a:off x="6406744" y="4343400"/>
            <a:ext cx="2215820" cy="411480"/>
          </a:xfrm>
          <a:prstGeom prst="rect">
            <a:avLst/>
          </a:prstGeom>
          <a:noFill/>
          <a:ln/>
        </p:spPr>
        <p:txBody>
          <a:bodyPr wrap="square" lIns="0" tIns="0" rIns="0" bIns="0" rtlCol="0" anchor="t"/>
          <a:lstStyle/>
          <a:p>
            <a:pPr marL="0" indent="0">
              <a:buNone/>
            </a:pPr>
            <a:r>
              <a:rPr lang="en-US" sz="1450" b="1" dirty="0">
                <a:solidFill>
                  <a:srgbClr val="20288F"/>
                </a:solidFill>
                <a:latin typeface="Arial" pitchFamily="34" charset="0"/>
                <a:ea typeface="Arial" pitchFamily="34" charset="-122"/>
                <a:cs typeface="Arial" pitchFamily="34" charset="-120"/>
              </a:rPr>
              <a:t>Sustainability</a:t>
            </a:r>
            <a:endParaRPr lang="en-US" sz="1450" dirty="0"/>
          </a:p>
        </p:txBody>
      </p:sp>
      <p:sp>
        <p:nvSpPr>
          <p:cNvPr id="41" name="Shape 39"/>
          <p:cNvSpPr/>
          <p:nvPr/>
        </p:nvSpPr>
        <p:spPr>
          <a:xfrm>
            <a:off x="9061475" y="3566160"/>
            <a:ext cx="2581580" cy="1417320"/>
          </a:xfrm>
          <a:prstGeom prst="roundRect">
            <a:avLst>
              <a:gd name="adj" fmla="val 6452"/>
            </a:avLst>
          </a:prstGeom>
          <a:solidFill>
            <a:srgbClr val="F5F1FF"/>
          </a:solidFill>
          <a:ln w="12700">
            <a:solidFill>
              <a:srgbClr val="EFE7FF"/>
            </a:solidFill>
            <a:prstDash val="solid"/>
          </a:ln>
          <a:effectLst>
            <a:outerShdw blurRad="76200" dist="25400" dir="5400000" algn="bl" rotWithShape="0">
              <a:srgbClr val="C9BEE8">
                <a:alpha val="35000"/>
              </a:srgbClr>
            </a:outerShdw>
          </a:effectLst>
        </p:spPr>
      </p:sp>
      <p:sp>
        <p:nvSpPr>
          <p:cNvPr id="42" name="Shape 40"/>
          <p:cNvSpPr/>
          <p:nvPr/>
        </p:nvSpPr>
        <p:spPr>
          <a:xfrm>
            <a:off x="9262643" y="3767328"/>
            <a:ext cx="502920" cy="502920"/>
          </a:xfrm>
          <a:prstGeom prst="ellipse">
            <a:avLst/>
          </a:prstGeom>
          <a:solidFill>
            <a:srgbClr val="6A2CC9"/>
          </a:solidFill>
          <a:ln/>
        </p:spPr>
      </p:sp>
      <p:sp>
        <p:nvSpPr>
          <p:cNvPr id="43" name="Text 41"/>
          <p:cNvSpPr/>
          <p:nvPr/>
        </p:nvSpPr>
        <p:spPr>
          <a:xfrm>
            <a:off x="9262643" y="3767328"/>
            <a:ext cx="50292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08</a:t>
            </a:r>
            <a:endParaRPr lang="en-US" sz="1500" dirty="0"/>
          </a:p>
        </p:txBody>
      </p:sp>
      <p:sp>
        <p:nvSpPr>
          <p:cNvPr id="44" name="Text 42"/>
          <p:cNvSpPr/>
          <p:nvPr/>
        </p:nvSpPr>
        <p:spPr>
          <a:xfrm>
            <a:off x="9244355" y="4343400"/>
            <a:ext cx="2215820" cy="411480"/>
          </a:xfrm>
          <a:prstGeom prst="rect">
            <a:avLst/>
          </a:prstGeom>
          <a:noFill/>
          <a:ln/>
        </p:spPr>
        <p:txBody>
          <a:bodyPr wrap="square" lIns="0" tIns="0" rIns="0" bIns="0" rtlCol="0" anchor="t"/>
          <a:lstStyle/>
          <a:p>
            <a:pPr marL="0" indent="0">
              <a:buNone/>
            </a:pPr>
            <a:r>
              <a:rPr lang="en-US" sz="1450" b="1" dirty="0">
                <a:solidFill>
                  <a:srgbClr val="20288F"/>
                </a:solidFill>
                <a:latin typeface="Arial" pitchFamily="34" charset="0"/>
                <a:ea typeface="Arial" pitchFamily="34" charset="-122"/>
                <a:cs typeface="Arial" pitchFamily="34" charset="-120"/>
              </a:rPr>
              <a:t>Lesson Learned</a:t>
            </a:r>
            <a:endParaRPr lang="en-US" sz="1450" dirty="0"/>
          </a:p>
        </p:txBody>
      </p:sp>
      <p:pic>
        <p:nvPicPr>
          <p:cNvPr id="49" name="Picture 48">
            <a:extLst>
              <a:ext uri="{FF2B5EF4-FFF2-40B4-BE49-F238E27FC236}">
                <a16:creationId xmlns:a16="http://schemas.microsoft.com/office/drawing/2014/main" id="{10B45A6D-F217-584F-7BD7-6C89F238B555}"/>
              </a:ext>
            </a:extLst>
          </p:cNvPr>
          <p:cNvPicPr>
            <a:picLocks noChangeAspect="1"/>
          </p:cNvPicPr>
          <p:nvPr/>
        </p:nvPicPr>
        <p:blipFill>
          <a:blip r:embed="rId3"/>
          <a:stretch>
            <a:fillRect/>
          </a:stretch>
        </p:blipFill>
        <p:spPr>
          <a:xfrm>
            <a:off x="11056239" y="11533"/>
            <a:ext cx="1140374" cy="634767"/>
          </a:xfrm>
          <a:prstGeom prst="rect">
            <a:avLst/>
          </a:prstGeom>
        </p:spPr>
      </p:pic>
      <p:pic>
        <p:nvPicPr>
          <p:cNvPr id="51" name="Picture 50">
            <a:extLst>
              <a:ext uri="{FF2B5EF4-FFF2-40B4-BE49-F238E27FC236}">
                <a16:creationId xmlns:a16="http://schemas.microsoft.com/office/drawing/2014/main" id="{27D9AC1A-9783-8729-85B1-5CDC0A33A16B}"/>
              </a:ext>
            </a:extLst>
          </p:cNvPr>
          <p:cNvPicPr>
            <a:picLocks noChangeAspect="1"/>
          </p:cNvPicPr>
          <p:nvPr/>
        </p:nvPicPr>
        <p:blipFill>
          <a:blip r:embed="rId4"/>
          <a:stretch>
            <a:fillRect/>
          </a:stretch>
        </p:blipFill>
        <p:spPr>
          <a:xfrm>
            <a:off x="-108068" y="-179554"/>
            <a:ext cx="1448261" cy="81464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5"/>
          <a:stretch>
            <a:fillRect/>
          </a:stretch>
        </p:blipFill>
        <p:spPr>
          <a:xfrm>
            <a:off x="-107899" y="-179222"/>
            <a:ext cx="1448409" cy="814730"/>
          </a:xfrm>
          <a:prstGeom prst="rect">
            <a:avLst/>
          </a:prstGeom>
        </p:spPr>
      </p:pic>
      <p:pic>
        <p:nvPicPr>
          <p:cNvPr id="3" name="Picture 2" descr="image.png"/>
          <p:cNvPicPr>
            <a:picLocks noChangeAspect="1"/>
          </p:cNvPicPr>
          <p:nvPr/>
        </p:nvPicPr>
        <p:blipFill>
          <a:blip r:embed="rId6"/>
          <a:stretch>
            <a:fillRect/>
          </a:stretch>
        </p:blipFill>
        <p:spPr>
          <a:xfrm>
            <a:off x="11055096" y="11887"/>
            <a:ext cx="1140256" cy="634593"/>
          </a:xfrm>
          <a:prstGeom prst="rect">
            <a:avLst/>
          </a:prstGeom>
        </p:spPr>
      </p:pic>
      <p:sp>
        <p:nvSpPr>
          <p:cNvPr id="4" name="Rounded Rectangle 3"/>
          <p:cNvSpPr/>
          <p:nvPr/>
        </p:nvSpPr>
        <p:spPr>
          <a:xfrm>
            <a:off x="548640" y="594360"/>
            <a:ext cx="731520" cy="658368"/>
          </a:xfrm>
          <a:prstGeom prst="roundRect">
            <a:avLst/>
          </a:prstGeom>
          <a:solidFill>
            <a:srgbClr val="6A2CC9"/>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r>
              <a:rPr sz="2000" b="1">
                <a:solidFill>
                  <a:srgbClr val="FFFFFF"/>
                </a:solidFill>
                <a:latin typeface="Arial"/>
              </a:rPr>
              <a:t>01</a:t>
            </a:r>
          </a:p>
        </p:txBody>
      </p:sp>
      <p:sp>
        <p:nvSpPr>
          <p:cNvPr id="5" name="TextBox 4"/>
          <p:cNvSpPr txBox="1"/>
          <p:nvPr/>
        </p:nvSpPr>
        <p:spPr>
          <a:xfrm>
            <a:off x="1417320" y="548640"/>
            <a:ext cx="9326880" cy="731520"/>
          </a:xfrm>
          <a:prstGeom prst="rect">
            <a:avLst/>
          </a:prstGeom>
          <a:noFill/>
        </p:spPr>
        <p:txBody>
          <a:bodyPr wrap="square" lIns="0" tIns="0" rIns="0" bIns="0">
            <a:spAutoFit/>
          </a:bodyPr>
          <a:lstStyle/>
          <a:p>
            <a:pPr algn="l"/>
            <a:r>
              <a:rPr sz="2400" b="1">
                <a:solidFill>
                  <a:srgbClr val="20288F"/>
                </a:solidFill>
                <a:latin typeface="Arial"/>
              </a:rPr>
              <a:t>Latar Belakang: Urgensi Stabilitas Mutu &amp; Pencatatan Unit Cetak</a:t>
            </a:r>
          </a:p>
        </p:txBody>
      </p:sp>
      <p:sp>
        <p:nvSpPr>
          <p:cNvPr id="6" name="TextBox 5"/>
          <p:cNvSpPr txBox="1"/>
          <p:nvPr/>
        </p:nvSpPr>
        <p:spPr>
          <a:xfrm>
            <a:off x="548640" y="1353312"/>
            <a:ext cx="10789920" cy="347472"/>
          </a:xfrm>
          <a:prstGeom prst="rect">
            <a:avLst/>
          </a:prstGeom>
          <a:noFill/>
        </p:spPr>
        <p:txBody>
          <a:bodyPr wrap="square" lIns="0" tIns="0" rIns="0" bIns="0">
            <a:spAutoFit/>
          </a:bodyPr>
          <a:lstStyle/>
          <a:p>
            <a:r>
              <a:rPr sz="1150" b="1">
                <a:solidFill>
                  <a:srgbClr val="6A2CC9"/>
                </a:solidFill>
                <a:latin typeface="Arial"/>
              </a:rPr>
              <a:t>Tujuan bagian ini:  </a:t>
            </a:r>
            <a:r>
              <a:rPr sz="1150" b="0">
                <a:solidFill>
                  <a:srgbClr val="2A2A3D"/>
                </a:solidFill>
                <a:latin typeface="Arial"/>
              </a:rPr>
              <a:t>Bangun konteks: mengapa perbaikan sistem pencatatan &amp; stabilitas mutu penting bagi operasional dan perusahaan.</a:t>
            </a:r>
          </a:p>
        </p:txBody>
      </p:sp>
      <p:sp>
        <p:nvSpPr>
          <p:cNvPr id="7" name="TextBox 6"/>
          <p:cNvSpPr txBox="1"/>
          <p:nvPr/>
        </p:nvSpPr>
        <p:spPr>
          <a:xfrm>
            <a:off x="548640" y="6419088"/>
            <a:ext cx="11091672" cy="256032"/>
          </a:xfrm>
          <a:prstGeom prst="rect">
            <a:avLst/>
          </a:prstGeom>
          <a:noFill/>
        </p:spPr>
        <p:txBody>
          <a:bodyPr wrap="square" lIns="0" tIns="0" rIns="0" bIns="0">
            <a:spAutoFit/>
          </a:bodyPr>
          <a:lstStyle/>
          <a:p>
            <a:r>
              <a:rPr sz="850">
                <a:solidFill>
                  <a:srgbClr val="6E6E82"/>
                </a:solidFill>
                <a:latin typeface="Arial"/>
              </a:rPr>
              <a:t>IAKA 2026 — Kerangka Presentasi Peserta  ·  DSS SIRINE 4.0 Unit Cetak Pita Cukai</a:t>
            </a:r>
          </a:p>
        </p:txBody>
      </p:sp>
      <p:sp>
        <p:nvSpPr>
          <p:cNvPr id="8" name="Rectangle 7"/>
          <p:cNvSpPr/>
          <p:nvPr/>
        </p:nvSpPr>
        <p:spPr>
          <a:xfrm>
            <a:off x="548640" y="1755648"/>
            <a:ext cx="3520440" cy="365760"/>
          </a:xfrm>
          <a:prstGeom prst="rect">
            <a:avLst/>
          </a:prstGeom>
          <a:solidFill>
            <a:srgbClr val="2028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rial"/>
              </a:rPr>
              <a:t>1. KONDISI SAAT INI DI UNIT CETAK</a:t>
            </a:r>
          </a:p>
        </p:txBody>
      </p:sp>
      <p:sp>
        <p:nvSpPr>
          <p:cNvPr id="9" name="Rounded Rectangle 8"/>
          <p:cNvSpPr/>
          <p:nvPr/>
        </p:nvSpPr>
        <p:spPr>
          <a:xfrm>
            <a:off x="548640" y="2121408"/>
            <a:ext cx="3520440" cy="4160520"/>
          </a:xfrm>
          <a:prstGeom prst="roundRect">
            <a:avLst/>
          </a:prstGeom>
          <a:solidFill>
            <a:srgbClr val="F4F7FE"/>
          </a:solidFill>
          <a:ln w="12700">
            <a:solidFill>
              <a:srgbClr val="D2DCF5"/>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37160"/>
          <a:lstStyle/>
          <a:p>
            <a:pPr algn="ctr">
              <a:spcAft>
                <a:spcPts val="700"/>
              </a:spcAft>
            </a:pPr>
            <a:r>
              <a:rPr sz="950" b="1">
                <a:solidFill>
                  <a:srgbClr val="20288F"/>
                </a:solidFill>
                <a:latin typeface="Arial"/>
              </a:rPr>
              <a:t>• Operasional 24 Jam Non-stop: </a:t>
            </a:r>
            <a:r>
              <a:rPr sz="950">
                <a:solidFill>
                  <a:srgbClr val="2A2A3D"/>
                </a:solidFill>
                <a:latin typeface="Arial"/>
              </a:rPr>
              <a:t>Unit Cetak Pita Cukai beroperasi 3 shift per hari dengan 6 mesin cetak offset (4 Komori: KMR 1–4, 2 Ryobi: RYB 1–2) dan didukung ±42 operator.</a:t>
            </a:r>
          </a:p>
          <a:p>
            <a:pPr>
              <a:spcAft>
                <a:spcPts val="700"/>
              </a:spcAft>
            </a:pPr>
            <a:r>
              <a:rPr sz="950" b="1">
                <a:solidFill>
                  <a:srgbClr val="20288F"/>
                </a:solidFill>
                <a:latin typeface="Arial"/>
              </a:rPr>
              <a:t>• Pencatatan Fisik di Mesin: </a:t>
            </a:r>
            <a:r>
              <a:rPr sz="950">
                <a:solidFill>
                  <a:srgbClr val="2A2A3D"/>
                </a:solidFill>
                <a:latin typeface="Arial"/>
              </a:rPr>
              <a:t>Pencatatan hasil cetak tiap mesin dan operator masih dilakukan secara manual menggunakan buku folio di meja masing-masing mesin.</a:t>
            </a:r>
          </a:p>
          <a:p>
            <a:pPr>
              <a:spcAft>
                <a:spcPts val="700"/>
              </a:spcAft>
            </a:pPr>
            <a:r>
              <a:rPr sz="950" b="1">
                <a:solidFill>
                  <a:srgbClr val="20288F"/>
                </a:solidFill>
                <a:latin typeface="Arial"/>
              </a:rPr>
              <a:t>• Rekapitulasi Manual Terpisah: </a:t>
            </a:r>
            <a:r>
              <a:rPr sz="950">
                <a:solidFill>
                  <a:srgbClr val="2A2A3D"/>
                </a:solidFill>
                <a:latin typeface="Arial"/>
              </a:rPr>
              <a:t>Catatan buku folio baru direkap saat evaluasi berkala pegawai, sementara sistem SAP di kantor hanya menyajikan tabel angka mentah.</a:t>
            </a:r>
          </a:p>
          <a:p>
            <a:pPr>
              <a:spcAft>
                <a:spcPts val="700"/>
              </a:spcAft>
            </a:pPr>
            <a:r>
              <a:rPr sz="950" b="1">
                <a:solidFill>
                  <a:srgbClr val="20288F"/>
                </a:solidFill>
                <a:latin typeface="Arial"/>
              </a:rPr>
              <a:t>• Laporan Mutu Terpusat: </a:t>
            </a:r>
            <a:r>
              <a:rPr sz="950">
                <a:solidFill>
                  <a:srgbClr val="2A2A3D"/>
                </a:solidFill>
                <a:latin typeface="Arial"/>
              </a:rPr>
              <a:t>Laporan kerusakan dari modul Verifikasi QC hanya menampilkan total kerusakan general di level unit tanpa rincian mesin maupun shift.</a:t>
            </a:r>
          </a:p>
        </p:txBody>
      </p:sp>
      <p:sp>
        <p:nvSpPr>
          <p:cNvPr id="10" name="Rectangle 9"/>
          <p:cNvSpPr/>
          <p:nvPr/>
        </p:nvSpPr>
        <p:spPr>
          <a:xfrm>
            <a:off x="4325112" y="1755648"/>
            <a:ext cx="3520440" cy="365760"/>
          </a:xfrm>
          <a:prstGeom prst="rect">
            <a:avLst/>
          </a:prstGeom>
          <a:solidFill>
            <a:srgbClr val="6A2C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rial"/>
              </a:rPr>
              <a:t>2. MENGAPA INI PENTING BAGI PERUSAHAAN</a:t>
            </a:r>
          </a:p>
        </p:txBody>
      </p:sp>
      <p:sp>
        <p:nvSpPr>
          <p:cNvPr id="11" name="Rounded Rectangle 10"/>
          <p:cNvSpPr/>
          <p:nvPr/>
        </p:nvSpPr>
        <p:spPr>
          <a:xfrm>
            <a:off x="4325112" y="2121408"/>
            <a:ext cx="3520440" cy="4160520"/>
          </a:xfrm>
          <a:prstGeom prst="roundRect">
            <a:avLst/>
          </a:prstGeom>
          <a:solidFill>
            <a:srgbClr val="F8F6FE"/>
          </a:solidFill>
          <a:ln w="12700">
            <a:solidFill>
              <a:srgbClr val="D9CEF7"/>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37160"/>
          <a:lstStyle/>
          <a:p>
            <a:pPr algn="ctr">
              <a:spcAft>
                <a:spcPts val="700"/>
              </a:spcAft>
            </a:pPr>
            <a:r>
              <a:rPr sz="950" b="1">
                <a:solidFill>
                  <a:srgbClr val="6A2CC9"/>
                </a:solidFill>
                <a:latin typeface="Arial"/>
              </a:rPr>
              <a:t>• Produk Strategis Negara: </a:t>
            </a:r>
            <a:r>
              <a:rPr sz="950">
                <a:solidFill>
                  <a:srgbClr val="2A2A3D"/>
                </a:solidFill>
                <a:latin typeface="Arial"/>
              </a:rPr>
              <a:t>Mencetak dokumen sekuriti Pita Cukai (PCHT &amp; MMEA) di bawah mandat DJBC Kemenkeu RI dengan fitur kertas sekuriti, tinta khusus, dan hologram.</a:t>
            </a:r>
          </a:p>
          <a:p>
            <a:pPr>
              <a:spcAft>
                <a:spcPts val="700"/>
              </a:spcAft>
            </a:pPr>
            <a:r>
              <a:rPr sz="950" b="1">
                <a:solidFill>
                  <a:srgbClr val="6A2CC9"/>
                </a:solidFill>
                <a:latin typeface="Arial"/>
              </a:rPr>
              <a:t>• Skala Order Masif: </a:t>
            </a:r>
            <a:r>
              <a:rPr sz="950">
                <a:solidFill>
                  <a:srgbClr val="2A2A3D"/>
                </a:solidFill>
                <a:latin typeface="Arial"/>
              </a:rPr>
              <a:t>Volume order sangat besar dengan rata-rata 160 Juta Lembar per tahun (Realisasi 2025: 177.636.930 Lembar Cetak — SAP ZPPRSIPPC0012).</a:t>
            </a:r>
          </a:p>
          <a:p>
            <a:pPr>
              <a:spcAft>
                <a:spcPts val="700"/>
              </a:spcAft>
            </a:pPr>
            <a:r>
              <a:rPr sz="950" b="1">
                <a:solidFill>
                  <a:srgbClr val="6A2CC9"/>
                </a:solidFill>
                <a:latin typeface="Arial"/>
              </a:rPr>
              <a:t>• Komitmen SLA &amp; Reputasi: </a:t>
            </a:r>
            <a:r>
              <a:rPr sz="950">
                <a:solidFill>
                  <a:srgbClr val="2A2A3D"/>
                </a:solidFill>
                <a:latin typeface="Arial"/>
              </a:rPr>
              <a:t>Ketepatan jadwal pengiriman dan kesempurnaan cetak adalah kunci menjaga kepercayaan Bea Cukai serta mengamankan penerimaan cukai negara.</a:t>
            </a:r>
          </a:p>
          <a:p>
            <a:pPr>
              <a:spcAft>
                <a:spcPts val="700"/>
              </a:spcAft>
            </a:pPr>
            <a:r>
              <a:rPr sz="950" b="1">
                <a:solidFill>
                  <a:srgbClr val="6A2CC9"/>
                </a:solidFill>
                <a:latin typeface="Arial"/>
              </a:rPr>
              <a:t>• Nilai Bahan Baku Tinggi: </a:t>
            </a:r>
            <a:r>
              <a:rPr sz="950">
                <a:solidFill>
                  <a:srgbClr val="2A2A3D"/>
                </a:solidFill>
                <a:latin typeface="Arial"/>
              </a:rPr>
              <a:t>Tingginya harga kertas sekuriti dan tinta khusus menuntut efisiensi maksimal agar tidak terjadi pemborosan biaya cetak ulang.</a:t>
            </a:r>
          </a:p>
        </p:txBody>
      </p:sp>
      <p:sp>
        <p:nvSpPr>
          <p:cNvPr id="12" name="Rectangle 11"/>
          <p:cNvSpPr/>
          <p:nvPr/>
        </p:nvSpPr>
        <p:spPr>
          <a:xfrm>
            <a:off x="8101584" y="1755648"/>
            <a:ext cx="3520440" cy="365760"/>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rial"/>
              </a:rPr>
              <a:t>3. DATA AWAL PEMICU INOVASI</a:t>
            </a:r>
          </a:p>
        </p:txBody>
      </p:sp>
      <p:sp>
        <p:nvSpPr>
          <p:cNvPr id="13" name="Rounded Rectangle 12"/>
          <p:cNvSpPr/>
          <p:nvPr/>
        </p:nvSpPr>
        <p:spPr>
          <a:xfrm>
            <a:off x="8101584" y="2121408"/>
            <a:ext cx="3520440" cy="4160520"/>
          </a:xfrm>
          <a:prstGeom prst="roundRect">
            <a:avLst/>
          </a:prstGeom>
          <a:solidFill>
            <a:srgbClr val="FFF9E6"/>
          </a:solidFill>
          <a:ln w="12700">
            <a:solidFill>
              <a:srgbClr val="FFE082"/>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37160"/>
          <a:lstStyle/>
          <a:p>
            <a:pPr algn="ctr">
              <a:spcAft>
                <a:spcPts val="700"/>
              </a:spcAft>
            </a:pPr>
            <a:r>
              <a:rPr sz="950" b="1">
                <a:solidFill>
                  <a:srgbClr val="E65100"/>
                </a:solidFill>
                <a:latin typeface="Arial"/>
              </a:rPr>
              <a:t>• Pencapaian SIRINE 2024: </a:t>
            </a:r>
            <a:r>
              <a:rPr sz="950">
                <a:solidFill>
                  <a:srgbClr val="2A2A3D"/>
                </a:solidFill>
                <a:latin typeface="Arial"/>
              </a:rPr>
              <a:t>Berhasil menurunkan inschiet tahunan dari 5,61% ke 4,06% dengan menyajikan data jenis kerusakan umum.</a:t>
            </a:r>
          </a:p>
          <a:p>
            <a:pPr>
              <a:spcAft>
                <a:spcPts val="700"/>
              </a:spcAft>
            </a:pPr>
            <a:r>
              <a:rPr sz="950" b="1">
                <a:solidFill>
                  <a:srgbClr val="E65100"/>
                </a:solidFill>
                <a:latin typeface="Arial"/>
              </a:rPr>
              <a:t>• Titik Jenuh &amp; Fluktuasi 2025: </a:t>
            </a:r>
            <a:r>
              <a:rPr sz="950">
                <a:solidFill>
                  <a:srgbClr val="2A2A3D"/>
                </a:solidFill>
                <a:latin typeface="Arial"/>
              </a:rPr>
              <a:t>Sepanjang 2025 inschiet kembali berfluktuasi dengan rata-rata 4,61% dan puncaknya di Q4 mencapai 5,11% (Sumber: SAP ZPPRSIPPC0012).</a:t>
            </a:r>
          </a:p>
          <a:p>
            <a:pPr>
              <a:spcAft>
                <a:spcPts val="700"/>
              </a:spcAft>
            </a:pPr>
            <a:r>
              <a:rPr sz="950" b="1">
                <a:solidFill>
                  <a:srgbClr val="E65100"/>
                </a:solidFill>
                <a:latin typeface="Arial"/>
              </a:rPr>
              <a:t>• Tantangan Volume Baru: </a:t>
            </a:r>
            <a:r>
              <a:rPr sz="950">
                <a:solidFill>
                  <a:srgbClr val="2A2A3D"/>
                </a:solidFill>
                <a:latin typeface="Arial"/>
              </a:rPr>
              <a:t>Saat order melonjak di Q4, sistem SIRINE 2024 tidak mampu mendeteksi mesin mana yang menjadi pemicu utama kenaikan kerusakan.</a:t>
            </a:r>
          </a:p>
          <a:p>
            <a:pPr>
              <a:spcAft>
                <a:spcPts val="700"/>
              </a:spcAft>
            </a:pPr>
            <a:r>
              <a:rPr sz="950" b="1">
                <a:solidFill>
                  <a:srgbClr val="E65100"/>
                </a:solidFill>
                <a:latin typeface="Arial"/>
              </a:rPr>
              <a:t>• Pemicu Kebutuhan DSS: </a:t>
            </a:r>
            <a:r>
              <a:rPr sz="950">
                <a:solidFill>
                  <a:srgbClr val="2A2A3D"/>
                </a:solidFill>
                <a:latin typeface="Arial"/>
              </a:rPr>
              <a:t>Diperlukan sistem cerdas yang mampu menghubungkan data kerusakan QC dengan data mesin dan shift operasional secara real-time.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5"/>
          <a:stretch>
            <a:fillRect/>
          </a:stretch>
        </p:blipFill>
        <p:spPr>
          <a:xfrm>
            <a:off x="-107899" y="-179222"/>
            <a:ext cx="1448409" cy="814730"/>
          </a:xfrm>
          <a:prstGeom prst="rect">
            <a:avLst/>
          </a:prstGeom>
        </p:spPr>
      </p:pic>
      <p:pic>
        <p:nvPicPr>
          <p:cNvPr id="3" name="Picture 2" descr="image.png"/>
          <p:cNvPicPr>
            <a:picLocks noChangeAspect="1"/>
          </p:cNvPicPr>
          <p:nvPr/>
        </p:nvPicPr>
        <p:blipFill>
          <a:blip r:embed="rId6"/>
          <a:stretch>
            <a:fillRect/>
          </a:stretch>
        </p:blipFill>
        <p:spPr>
          <a:xfrm>
            <a:off x="11055096" y="11887"/>
            <a:ext cx="1140256" cy="634593"/>
          </a:xfrm>
          <a:prstGeom prst="rect">
            <a:avLst/>
          </a:prstGeom>
        </p:spPr>
      </p:pic>
      <p:sp>
        <p:nvSpPr>
          <p:cNvPr id="4" name="Rounded Rectangle 3"/>
          <p:cNvSpPr/>
          <p:nvPr/>
        </p:nvSpPr>
        <p:spPr>
          <a:xfrm>
            <a:off x="548640" y="594360"/>
            <a:ext cx="731520" cy="658368"/>
          </a:xfrm>
          <a:prstGeom prst="roundRect">
            <a:avLst/>
          </a:prstGeom>
          <a:solidFill>
            <a:srgbClr val="6A2CC9"/>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r>
              <a:rPr sz="2000" b="1">
                <a:solidFill>
                  <a:srgbClr val="FFFFFF"/>
                </a:solidFill>
                <a:latin typeface="Arial"/>
              </a:rPr>
              <a:t>02.1</a:t>
            </a:r>
          </a:p>
        </p:txBody>
      </p:sp>
      <p:sp>
        <p:nvSpPr>
          <p:cNvPr id="5" name="TextBox 4"/>
          <p:cNvSpPr txBox="1"/>
          <p:nvPr/>
        </p:nvSpPr>
        <p:spPr>
          <a:xfrm>
            <a:off x="1417320" y="548640"/>
            <a:ext cx="9326880" cy="731520"/>
          </a:xfrm>
          <a:prstGeom prst="rect">
            <a:avLst/>
          </a:prstGeom>
          <a:noFill/>
        </p:spPr>
        <p:txBody>
          <a:bodyPr wrap="square" lIns="0" tIns="0" rIns="0" bIns="0">
            <a:spAutoFit/>
          </a:bodyPr>
          <a:lstStyle/>
          <a:p>
            <a:pPr algn="l"/>
            <a:r>
              <a:rPr sz="2400" b="1">
                <a:solidFill>
                  <a:srgbClr val="20288F"/>
                </a:solidFill>
                <a:latin typeface="Arial"/>
              </a:rPr>
              <a:t>Masalah: Keterbatasan Data Granular &amp; Titik Buta Operasional</a:t>
            </a:r>
          </a:p>
        </p:txBody>
      </p:sp>
      <p:sp>
        <p:nvSpPr>
          <p:cNvPr id="6" name="TextBox 5"/>
          <p:cNvSpPr txBox="1"/>
          <p:nvPr/>
        </p:nvSpPr>
        <p:spPr>
          <a:xfrm>
            <a:off x="548640" y="1353312"/>
            <a:ext cx="10789920" cy="347472"/>
          </a:xfrm>
          <a:prstGeom prst="rect">
            <a:avLst/>
          </a:prstGeom>
          <a:noFill/>
        </p:spPr>
        <p:txBody>
          <a:bodyPr wrap="square" lIns="0" tIns="0" rIns="0" bIns="0">
            <a:spAutoFit/>
          </a:bodyPr>
          <a:lstStyle/>
          <a:p>
            <a:r>
              <a:rPr sz="1150" b="1">
                <a:solidFill>
                  <a:srgbClr val="6A2CC9"/>
                </a:solidFill>
                <a:latin typeface="Arial"/>
              </a:rPr>
              <a:t>Tujuan bagian ini:  </a:t>
            </a:r>
            <a:r>
              <a:rPr sz="1150" b="0">
                <a:solidFill>
                  <a:srgbClr val="2A2A3D"/>
                </a:solidFill>
                <a:latin typeface="Arial"/>
              </a:rPr>
              <a:t>Nyatakan masalah operasional nyata dan terukur — apa yang terjadi, di unit mana, sejak kapan, dan siapa terdampak.</a:t>
            </a:r>
          </a:p>
        </p:txBody>
      </p:sp>
      <p:sp>
        <p:nvSpPr>
          <p:cNvPr id="7" name="TextBox 6"/>
          <p:cNvSpPr txBox="1"/>
          <p:nvPr/>
        </p:nvSpPr>
        <p:spPr>
          <a:xfrm>
            <a:off x="548640" y="6419088"/>
            <a:ext cx="11091672" cy="256032"/>
          </a:xfrm>
          <a:prstGeom prst="rect">
            <a:avLst/>
          </a:prstGeom>
          <a:noFill/>
        </p:spPr>
        <p:txBody>
          <a:bodyPr wrap="square" lIns="0" tIns="0" rIns="0" bIns="0">
            <a:spAutoFit/>
          </a:bodyPr>
          <a:lstStyle/>
          <a:p>
            <a:r>
              <a:rPr sz="850">
                <a:solidFill>
                  <a:srgbClr val="6E6E82"/>
                </a:solidFill>
                <a:latin typeface="Arial"/>
              </a:rPr>
              <a:t>IAKA 2026 — Kerangka Presentasi Peserta  ·  DSS SIRINE 4.0 Unit Cetak Pita Cukai</a:t>
            </a:r>
          </a:p>
        </p:txBody>
      </p:sp>
      <p:sp>
        <p:nvSpPr>
          <p:cNvPr id="8" name="Rectangle 7"/>
          <p:cNvSpPr/>
          <p:nvPr/>
        </p:nvSpPr>
        <p:spPr>
          <a:xfrm>
            <a:off x="548640" y="1755648"/>
            <a:ext cx="3520440" cy="365760"/>
          </a:xfrm>
          <a:prstGeom prst="rect">
            <a:avLst/>
          </a:prstGeom>
          <a:solidFill>
            <a:srgbClr val="2028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rial"/>
              </a:rPr>
              <a:t>1. TITIK BUTA PASCA-SIRINE 2024</a:t>
            </a:r>
          </a:p>
        </p:txBody>
      </p:sp>
      <p:sp>
        <p:nvSpPr>
          <p:cNvPr id="9" name="Rounded Rectangle 8"/>
          <p:cNvSpPr/>
          <p:nvPr/>
        </p:nvSpPr>
        <p:spPr>
          <a:xfrm>
            <a:off x="548640" y="2121408"/>
            <a:ext cx="3520440" cy="4160520"/>
          </a:xfrm>
          <a:prstGeom prst="roundRect">
            <a:avLst/>
          </a:prstGeom>
          <a:solidFill>
            <a:srgbClr val="F4F7FE"/>
          </a:solidFill>
          <a:ln w="12700">
            <a:solidFill>
              <a:srgbClr val="D2DCF5"/>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37160"/>
          <a:lstStyle/>
          <a:p>
            <a:pPr algn="ctr">
              <a:spcAft>
                <a:spcPts val="700"/>
              </a:spcAft>
            </a:pPr>
            <a:r>
              <a:rPr sz="950" b="1">
                <a:solidFill>
                  <a:srgbClr val="20288F"/>
                </a:solidFill>
                <a:latin typeface="Arial"/>
              </a:rPr>
              <a:t>• Capaian SIRINE 3.5 (2024): </a:t>
            </a:r>
            <a:r>
              <a:rPr sz="950">
                <a:solidFill>
                  <a:srgbClr val="2A2A3D"/>
                </a:solidFill>
                <a:latin typeface="Arial"/>
              </a:rPr>
              <a:t>Berhasil menjawab 'jenis kerusakan apa' yang mendominasi dan menekan inschiet ke 4,06% di akhir 2024.</a:t>
            </a:r>
          </a:p>
          <a:p>
            <a:pPr>
              <a:spcAft>
                <a:spcPts val="700"/>
              </a:spcAft>
            </a:pPr>
            <a:r>
              <a:rPr sz="950" b="1">
                <a:solidFill>
                  <a:srgbClr val="20288F"/>
                </a:solidFill>
                <a:latin typeface="Arial"/>
              </a:rPr>
              <a:t>• Kesenjangan Baru di 2025: </a:t>
            </a:r>
            <a:r>
              <a:rPr sz="950">
                <a:solidFill>
                  <a:srgbClr val="2A2A3D"/>
                </a:solidFill>
                <a:latin typeface="Arial"/>
              </a:rPr>
              <a:t>Data jenis kerusakan sudah ada, tetapi dengan 6 mesin cetak, belum ada data untuk tahu mesin mana yang menjadi sumber masalah utama.</a:t>
            </a:r>
          </a:p>
          <a:p>
            <a:pPr>
              <a:spcAft>
                <a:spcPts val="700"/>
              </a:spcAft>
            </a:pPr>
            <a:r>
              <a:rPr sz="950" b="1">
                <a:solidFill>
                  <a:srgbClr val="20288F"/>
                </a:solidFill>
                <a:latin typeface="Arial"/>
              </a:rPr>
              <a:t>• Ketiadaan Data Kondisi Kerja: </a:t>
            </a:r>
            <a:r>
              <a:rPr sz="950">
                <a:solidFill>
                  <a:srgbClr val="2A2A3D"/>
                </a:solidFill>
                <a:latin typeface="Arial"/>
              </a:rPr>
              <a:t>Belum dapat diketahui apakah tingginya inschiet lebih dipengaruhi oleh faktor teknis mesin atau faktor kondisi kerja (shift, SOP, kelelahan).</a:t>
            </a:r>
          </a:p>
          <a:p>
            <a:pPr>
              <a:spcAft>
                <a:spcPts val="700"/>
              </a:spcAft>
            </a:pPr>
            <a:r>
              <a:rPr sz="950" b="1">
                <a:solidFill>
                  <a:srgbClr val="20288F"/>
                </a:solidFill>
                <a:latin typeface="Arial"/>
              </a:rPr>
              <a:t>• Lokasi &amp; Periode Masalah: </a:t>
            </a:r>
            <a:r>
              <a:rPr sz="950">
                <a:solidFill>
                  <a:srgbClr val="2A2A3D"/>
                </a:solidFill>
                <a:latin typeface="Arial"/>
              </a:rPr>
              <a:t>Berpusat pada proses cetak sheet-fed offset di Unit Cetak Pita Cukai sejak Januari 2025.</a:t>
            </a:r>
          </a:p>
        </p:txBody>
      </p:sp>
      <p:sp>
        <p:nvSpPr>
          <p:cNvPr id="10" name="Rectangle 9"/>
          <p:cNvSpPr/>
          <p:nvPr/>
        </p:nvSpPr>
        <p:spPr>
          <a:xfrm>
            <a:off x="4325112" y="1755648"/>
            <a:ext cx="3520440" cy="365760"/>
          </a:xfrm>
          <a:prstGeom prst="rect">
            <a:avLst/>
          </a:prstGeom>
          <a:solidFill>
            <a:srgbClr val="6A2C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rial"/>
              </a:rPr>
              <a:t>2. DUA KASUS NYATA DI LAPANGAN</a:t>
            </a:r>
          </a:p>
        </p:txBody>
      </p:sp>
      <p:sp>
        <p:nvSpPr>
          <p:cNvPr id="11" name="Rounded Rectangle 10"/>
          <p:cNvSpPr/>
          <p:nvPr/>
        </p:nvSpPr>
        <p:spPr>
          <a:xfrm>
            <a:off x="4325112" y="2121408"/>
            <a:ext cx="3520440" cy="4160520"/>
          </a:xfrm>
          <a:prstGeom prst="roundRect">
            <a:avLst/>
          </a:prstGeom>
          <a:solidFill>
            <a:srgbClr val="F8F6FE"/>
          </a:solidFill>
          <a:ln w="12700">
            <a:solidFill>
              <a:srgbClr val="D9CEF7"/>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37160"/>
          <a:lstStyle/>
          <a:p>
            <a:pPr algn="ctr">
              <a:spcAft>
                <a:spcPts val="700"/>
              </a:spcAft>
            </a:pPr>
            <a:r>
              <a:rPr sz="950" b="1">
                <a:solidFill>
                  <a:srgbClr val="6A2CC9"/>
                </a:solidFill>
                <a:latin typeface="Arial"/>
              </a:rPr>
              <a:t>• Kasus 1 – Penelusuran Spekulatif: </a:t>
            </a:r>
            <a:r>
              <a:rPr sz="950">
                <a:solidFill>
                  <a:srgbClr val="2A2A3D"/>
                </a:solidFill>
                <a:latin typeface="Arial"/>
              </a:rPr>
              <a:t>Bulan Juni 2025 kerusakan blobor mendominasi. Tanpa data per-mesin, teknisi memeriksa 6 mesin bergilir (trial-and-error).</a:t>
            </a:r>
          </a:p>
          <a:p>
            <a:pPr>
              <a:spcAft>
                <a:spcPts val="700"/>
              </a:spcAft>
            </a:pPr>
            <a:r>
              <a:rPr sz="950" b="1">
                <a:solidFill>
                  <a:srgbClr val="6A2CC9"/>
                </a:solidFill>
                <a:latin typeface="Arial"/>
              </a:rPr>
              <a:t>• Dampak Downtime Kasus 1: </a:t>
            </a:r>
            <a:r>
              <a:rPr sz="950">
                <a:solidFill>
                  <a:srgbClr val="2A2A3D"/>
                </a:solidFill>
                <a:latin typeface="Arial"/>
              </a:rPr>
              <a:t>Sumber masalah ternyata di Komori 3 (KMR3). Diperiksa terakhir, timbul downtime &gt; 8 jam dan mesin terus mencetak lembar rusak.</a:t>
            </a:r>
          </a:p>
          <a:p>
            <a:pPr>
              <a:spcAft>
                <a:spcPts val="700"/>
              </a:spcAft>
            </a:pPr>
            <a:r>
              <a:rPr sz="950" b="1">
                <a:solidFill>
                  <a:srgbClr val="6A2CC9"/>
                </a:solidFill>
                <a:latin typeface="Arial"/>
              </a:rPr>
              <a:t>• Kasus 2 – Dilema Mesin vs Shift: </a:t>
            </a:r>
            <a:r>
              <a:rPr sz="950">
                <a:solidFill>
                  <a:srgbClr val="2A2A3D"/>
                </a:solidFill>
                <a:latin typeface="Arial"/>
              </a:rPr>
              <a:t>Mesin KMR3 pada shift malam mencatat inschiet 8,5%, sedangkan shift pagi di mesin yang sama hanya 2,5%.</a:t>
            </a:r>
          </a:p>
          <a:p>
            <a:pPr>
              <a:spcAft>
                <a:spcPts val="700"/>
              </a:spcAft>
            </a:pPr>
            <a:r>
              <a:rPr sz="950" b="1">
                <a:solidFill>
                  <a:srgbClr val="6A2CC9"/>
                </a:solidFill>
                <a:latin typeface="Arial"/>
              </a:rPr>
              <a:t>• Salah Diagnosa Kasus 2: </a:t>
            </a:r>
            <a:r>
              <a:rPr sz="950">
                <a:solidFill>
                  <a:srgbClr val="2A2A3D"/>
                </a:solidFill>
                <a:latin typeface="Arial"/>
              </a:rPr>
              <a:t>Tanpa data per-shift, perbaikan selalu fokus mengutak-atik mesin, padahal masalahnya ada pada variasi shift atau SOP penyetelan tinta.</a:t>
            </a:r>
          </a:p>
        </p:txBody>
      </p:sp>
      <p:sp>
        <p:nvSpPr>
          <p:cNvPr id="12" name="Rectangle 11"/>
          <p:cNvSpPr/>
          <p:nvPr/>
        </p:nvSpPr>
        <p:spPr>
          <a:xfrm>
            <a:off x="8101584" y="1755648"/>
            <a:ext cx="3520440" cy="36576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rial"/>
              </a:rPr>
              <a:t>3. PIHAK TERDAMPAK LANGSUNG</a:t>
            </a:r>
          </a:p>
        </p:txBody>
      </p:sp>
      <p:sp>
        <p:nvSpPr>
          <p:cNvPr id="13" name="Rounded Rectangle 12"/>
          <p:cNvSpPr/>
          <p:nvPr/>
        </p:nvSpPr>
        <p:spPr>
          <a:xfrm>
            <a:off x="8101584" y="2121408"/>
            <a:ext cx="3520440" cy="4160520"/>
          </a:xfrm>
          <a:prstGeom prst="roundRect">
            <a:avLst/>
          </a:prstGeom>
          <a:solidFill>
            <a:srgbClr val="FFF5F5"/>
          </a:solidFill>
          <a:ln w="12700">
            <a:solidFill>
              <a:srgbClr val="F5C2C2"/>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37160"/>
          <a:lstStyle/>
          <a:p>
            <a:pPr algn="ctr">
              <a:spcAft>
                <a:spcPts val="600"/>
              </a:spcAft>
            </a:pPr>
            <a:r>
              <a:rPr sz="950" b="1">
                <a:solidFill>
                  <a:srgbClr val="C62828"/>
                </a:solidFill>
                <a:latin typeface="Arial"/>
              </a:rPr>
              <a:t>• Operator Cetak (±42 Orang): </a:t>
            </a:r>
            <a:r>
              <a:rPr sz="950">
                <a:solidFill>
                  <a:srgbClr val="2A2A3D"/>
                </a:solidFill>
                <a:latin typeface="Arial"/>
              </a:rPr>
              <a:t>Sulit memantau hasil mutu hariannya secara mandiri dan kehilangan kesempatan memperoleh pembinaan (coaching) objektif.</a:t>
            </a:r>
          </a:p>
          <a:p>
            <a:pPr>
              <a:spcAft>
                <a:spcPts val="600"/>
              </a:spcAft>
            </a:pPr>
            <a:r>
              <a:rPr sz="950" b="1">
                <a:solidFill>
                  <a:srgbClr val="C62828"/>
                </a:solidFill>
                <a:latin typeface="Arial"/>
              </a:rPr>
              <a:t>• Kepala Kelompok &amp; Kepala Unit: </a:t>
            </a:r>
            <a:r>
              <a:rPr sz="950">
                <a:solidFill>
                  <a:srgbClr val="2A2A3D"/>
                </a:solidFill>
                <a:latin typeface="Arial"/>
              </a:rPr>
              <a:t>Menanggung beban rekap manual buku folio dan kesulitan memberi feedback terarah kepada tim kerja.</a:t>
            </a:r>
          </a:p>
          <a:p>
            <a:pPr>
              <a:spcAft>
                <a:spcPts val="600"/>
              </a:spcAft>
            </a:pPr>
            <a:r>
              <a:rPr sz="950" b="1">
                <a:solidFill>
                  <a:srgbClr val="C62828"/>
                </a:solidFill>
                <a:latin typeface="Arial"/>
              </a:rPr>
              <a:t>• Teknisi Pemeliharaan (Maintenance): </a:t>
            </a:r>
            <a:r>
              <a:rPr sz="950">
                <a:solidFill>
                  <a:srgbClr val="2A2A3D"/>
                </a:solidFill>
                <a:latin typeface="Arial"/>
              </a:rPr>
              <a:t>Kehilangan jam produktif (&gt; 8 jam per mesin) akibat mencari sumber masalah secara acak.</a:t>
            </a:r>
          </a:p>
          <a:p>
            <a:pPr>
              <a:spcAft>
                <a:spcPts val="600"/>
              </a:spcAft>
            </a:pPr>
            <a:r>
              <a:rPr sz="950" b="1">
                <a:solidFill>
                  <a:srgbClr val="C62828"/>
                </a:solidFill>
                <a:latin typeface="Arial"/>
              </a:rPr>
              <a:t>• PPIC &amp; Manajemen: </a:t>
            </a:r>
            <a:r>
              <a:rPr sz="950">
                <a:solidFill>
                  <a:srgbClr val="2A2A3D"/>
                </a:solidFill>
                <a:latin typeface="Arial"/>
              </a:rPr>
              <a:t>Sulit merencanakan alokasi mesin dan jadwal cetak presisi karena profil performa riil mesin tidak tersedia.</a:t>
            </a:r>
          </a:p>
          <a:p>
            <a:pPr>
              <a:spcAft>
                <a:spcPts val="600"/>
              </a:spcAft>
            </a:pPr>
            <a:r>
              <a:rPr sz="950" b="1">
                <a:solidFill>
                  <a:srgbClr val="C62828"/>
                </a:solidFill>
                <a:latin typeface="Arial"/>
              </a:rPr>
              <a:t>• Pelanggan Utama (DJBC Kemenkeu): </a:t>
            </a:r>
            <a:r>
              <a:rPr sz="950">
                <a:solidFill>
                  <a:srgbClr val="2A2A3D"/>
                </a:solidFill>
                <a:latin typeface="Arial"/>
              </a:rPr>
              <a:t>Menghadapi risiko keterlambatan pengiriman pita cukai akibat siklus cetak ulang lembar rusak.</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5"/>
          <a:stretch>
            <a:fillRect/>
          </a:stretch>
        </p:blipFill>
        <p:spPr>
          <a:xfrm>
            <a:off x="-107899" y="-179222"/>
            <a:ext cx="1448409" cy="814730"/>
          </a:xfrm>
          <a:prstGeom prst="rect">
            <a:avLst/>
          </a:prstGeom>
        </p:spPr>
      </p:pic>
      <p:pic>
        <p:nvPicPr>
          <p:cNvPr id="3" name="Picture 2" descr="image.png"/>
          <p:cNvPicPr>
            <a:picLocks noChangeAspect="1"/>
          </p:cNvPicPr>
          <p:nvPr/>
        </p:nvPicPr>
        <p:blipFill>
          <a:blip r:embed="rId6"/>
          <a:stretch>
            <a:fillRect/>
          </a:stretch>
        </p:blipFill>
        <p:spPr>
          <a:xfrm>
            <a:off x="11055096" y="11887"/>
            <a:ext cx="1140256" cy="634593"/>
          </a:xfrm>
          <a:prstGeom prst="rect">
            <a:avLst/>
          </a:prstGeom>
        </p:spPr>
      </p:pic>
      <p:sp>
        <p:nvSpPr>
          <p:cNvPr id="4" name="Rounded Rectangle 3"/>
          <p:cNvSpPr/>
          <p:nvPr/>
        </p:nvSpPr>
        <p:spPr>
          <a:xfrm>
            <a:off x="548640" y="594360"/>
            <a:ext cx="731520" cy="658368"/>
          </a:xfrm>
          <a:prstGeom prst="roundRect">
            <a:avLst/>
          </a:prstGeom>
          <a:solidFill>
            <a:srgbClr val="6A2CC9"/>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r>
              <a:rPr sz="2000" b="1">
                <a:solidFill>
                  <a:srgbClr val="FFFFFF"/>
                </a:solidFill>
                <a:latin typeface="Arial"/>
              </a:rPr>
              <a:t>02.2</a:t>
            </a:r>
          </a:p>
        </p:txBody>
      </p:sp>
      <p:sp>
        <p:nvSpPr>
          <p:cNvPr id="5" name="TextBox 4"/>
          <p:cNvSpPr txBox="1"/>
          <p:nvPr/>
        </p:nvSpPr>
        <p:spPr>
          <a:xfrm>
            <a:off x="1417320" y="548640"/>
            <a:ext cx="9326880" cy="731520"/>
          </a:xfrm>
          <a:prstGeom prst="rect">
            <a:avLst/>
          </a:prstGeom>
          <a:noFill/>
        </p:spPr>
        <p:txBody>
          <a:bodyPr wrap="square" lIns="0" tIns="0" rIns="0" bIns="0">
            <a:spAutoFit/>
          </a:bodyPr>
          <a:lstStyle/>
          <a:p>
            <a:pPr algn="l"/>
            <a:r>
              <a:rPr sz="2400" b="1">
                <a:solidFill>
                  <a:srgbClr val="20288F"/>
                </a:solidFill>
                <a:latin typeface="Arial"/>
              </a:rPr>
              <a:t>Masalah: Baseline Permasalahan &amp; Risiko Bila Dibiarkan</a:t>
            </a:r>
          </a:p>
        </p:txBody>
      </p:sp>
      <p:sp>
        <p:nvSpPr>
          <p:cNvPr id="6" name="TextBox 5"/>
          <p:cNvSpPr txBox="1"/>
          <p:nvPr/>
        </p:nvSpPr>
        <p:spPr>
          <a:xfrm>
            <a:off x="548640" y="1353312"/>
            <a:ext cx="10789920" cy="347472"/>
          </a:xfrm>
          <a:prstGeom prst="rect">
            <a:avLst/>
          </a:prstGeom>
          <a:noFill/>
        </p:spPr>
        <p:txBody>
          <a:bodyPr wrap="square" lIns="0" tIns="0" rIns="0" bIns="0">
            <a:spAutoFit/>
          </a:bodyPr>
          <a:lstStyle/>
          <a:p>
            <a:r>
              <a:rPr sz="1150" b="1">
                <a:solidFill>
                  <a:srgbClr val="6A2CC9"/>
                </a:solidFill>
                <a:latin typeface="Arial"/>
              </a:rPr>
              <a:t>Tujuan bagian ini:  </a:t>
            </a:r>
            <a:r>
              <a:rPr sz="1150" b="0">
                <a:solidFill>
                  <a:srgbClr val="2A2A3D"/>
                </a:solidFill>
                <a:latin typeface="Arial"/>
              </a:rPr>
              <a:t>Tunjukkan baseline permasalahan operasional terukur dan dampak multidimensi jika kondisi dibiarkan tanpa intervensi.</a:t>
            </a:r>
          </a:p>
        </p:txBody>
      </p:sp>
      <p:sp>
        <p:nvSpPr>
          <p:cNvPr id="7" name="Rounded Rectangle 6"/>
          <p:cNvSpPr/>
          <p:nvPr/>
        </p:nvSpPr>
        <p:spPr>
          <a:xfrm>
            <a:off x="548640" y="1737360"/>
            <a:ext cx="2615184" cy="987552"/>
          </a:xfrm>
          <a:prstGeom prst="roundRect">
            <a:avLst/>
          </a:prstGeom>
          <a:solidFill>
            <a:srgbClr val="FFF9E6"/>
          </a:solidFill>
          <a:ln w="19050">
            <a:solidFill>
              <a:srgbClr val="FFE082"/>
            </a:solidFill>
          </a:ln>
        </p:spPr>
        <p:style>
          <a:lnRef idx="1">
            <a:schemeClr val="accent1"/>
          </a:lnRef>
          <a:fillRef idx="3">
            <a:schemeClr val="accent1"/>
          </a:fillRef>
          <a:effectRef idx="2">
            <a:schemeClr val="accent1"/>
          </a:effectRef>
          <a:fontRef idx="minor">
            <a:schemeClr val="lt1"/>
          </a:fontRef>
        </p:style>
        <p:txBody>
          <a:bodyPr rtlCol="0" anchor="ctr" wrap="square" tIns="73152" bIns="36576"/>
          <a:lstStyle/>
          <a:p>
            <a:pPr algn="ctr"/>
            <a:r>
              <a:rPr sz="850" b="1">
                <a:solidFill>
                  <a:srgbClr val="E65100"/>
                </a:solidFill>
                <a:latin typeface="Arial"/>
              </a:rPr>
              <a:t>BASELINE INSCHIET 2025</a:t>
            </a:r>
          </a:p>
          <a:p>
            <a:pPr algn="ctr"/>
            <a:r>
              <a:rPr sz="1550" b="1">
                <a:solidFill>
                  <a:srgbClr val="E65100"/>
                </a:solidFill>
                <a:latin typeface="Arial"/>
              </a:rPr>
              <a:t>4,61%</a:t>
            </a:r>
          </a:p>
          <a:p>
            <a:pPr algn="ctr"/>
            <a:r>
              <a:rPr sz="750">
                <a:solidFill>
                  <a:srgbClr val="2A2A3D"/>
                </a:solidFill>
                <a:latin typeface="Arial"/>
              </a:rPr>
              <a:t>Puncak Q4: 5,11% (SAP ZPPRSIPPC0012)</a:t>
            </a:r>
          </a:p>
        </p:txBody>
      </p:sp>
      <p:sp>
        <p:nvSpPr>
          <p:cNvPr id="8" name="Rectangle 7"/>
          <p:cNvSpPr/>
          <p:nvPr/>
        </p:nvSpPr>
        <p:spPr>
          <a:xfrm>
            <a:off x="548640" y="1737360"/>
            <a:ext cx="2615184" cy="54864"/>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374136" y="1737360"/>
            <a:ext cx="2615184" cy="987552"/>
          </a:xfrm>
          <a:prstGeom prst="roundRect">
            <a:avLst/>
          </a:prstGeom>
          <a:solidFill>
            <a:srgbClr val="FFF5F5"/>
          </a:solidFill>
          <a:ln w="19050">
            <a:solidFill>
              <a:srgbClr val="F5C2C2"/>
            </a:solidFill>
          </a:ln>
        </p:spPr>
        <p:style>
          <a:lnRef idx="1">
            <a:schemeClr val="accent1"/>
          </a:lnRef>
          <a:fillRef idx="3">
            <a:schemeClr val="accent1"/>
          </a:fillRef>
          <a:effectRef idx="2">
            <a:schemeClr val="accent1"/>
          </a:effectRef>
          <a:fontRef idx="minor">
            <a:schemeClr val="lt1"/>
          </a:fontRef>
        </p:style>
        <p:txBody>
          <a:bodyPr rtlCol="0" anchor="ctr" wrap="square" tIns="73152" bIns="36576"/>
          <a:lstStyle/>
          <a:p>
            <a:pPr algn="ctr"/>
            <a:r>
              <a:rPr sz="850" b="1">
                <a:solidFill>
                  <a:srgbClr val="C62828"/>
                </a:solidFill>
                <a:latin typeface="Arial"/>
              </a:rPr>
              <a:t>JUMLAH LEMBAR RUSAK</a:t>
            </a:r>
          </a:p>
          <a:p>
            <a:pPr algn="ctr"/>
            <a:r>
              <a:rPr sz="1550" b="1">
                <a:solidFill>
                  <a:srgbClr val="C62828"/>
                </a:solidFill>
                <a:latin typeface="Arial"/>
              </a:rPr>
              <a:t>8.189.062 LK</a:t>
            </a:r>
          </a:p>
          <a:p>
            <a:pPr algn="ctr"/>
            <a:r>
              <a:rPr sz="750">
                <a:solidFill>
                  <a:srgbClr val="2A2A3D"/>
                </a:solidFill>
                <a:latin typeface="Arial"/>
              </a:rPr>
              <a:t>Total order: 177.636.930 Lembar Cetak</a:t>
            </a:r>
          </a:p>
        </p:txBody>
      </p:sp>
      <p:sp>
        <p:nvSpPr>
          <p:cNvPr id="10" name="Rectangle 9"/>
          <p:cNvSpPr/>
          <p:nvPr/>
        </p:nvSpPr>
        <p:spPr>
          <a:xfrm>
            <a:off x="3374136" y="1737360"/>
            <a:ext cx="2615184" cy="54864"/>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199632" y="1737360"/>
            <a:ext cx="2615184" cy="987552"/>
          </a:xfrm>
          <a:prstGeom prst="roundRect">
            <a:avLst/>
          </a:prstGeom>
          <a:solidFill>
            <a:srgbClr val="F8F6FE"/>
          </a:solidFill>
          <a:ln w="19050">
            <a:solidFill>
              <a:srgbClr val="D9CEF7"/>
            </a:solidFill>
          </a:ln>
        </p:spPr>
        <p:style>
          <a:lnRef idx="1">
            <a:schemeClr val="accent1"/>
          </a:lnRef>
          <a:fillRef idx="3">
            <a:schemeClr val="accent1"/>
          </a:fillRef>
          <a:effectRef idx="2">
            <a:schemeClr val="accent1"/>
          </a:effectRef>
          <a:fontRef idx="minor">
            <a:schemeClr val="lt1"/>
          </a:fontRef>
        </p:style>
        <p:txBody>
          <a:bodyPr rtlCol="0" anchor="ctr" wrap="square" tIns="73152" bIns="36576"/>
          <a:lstStyle/>
          <a:p>
            <a:pPr algn="ctr"/>
            <a:r>
              <a:rPr sz="850" b="1">
                <a:solidFill>
                  <a:srgbClr val="6A2CC9"/>
                </a:solidFill>
                <a:latin typeface="Arial"/>
              </a:rPr>
              <a:t>POTENSI BIAYA TERBUANG*</a:t>
            </a:r>
          </a:p>
          <a:p>
            <a:pPr algn="ctr"/>
            <a:r>
              <a:rPr sz="1550" b="1">
                <a:solidFill>
                  <a:srgbClr val="6A2CC9"/>
                </a:solidFill>
                <a:latin typeface="Arial"/>
              </a:rPr>
              <a:t>Rp 24,56 Miliar*</a:t>
            </a:r>
          </a:p>
          <a:p>
            <a:pPr algn="ctr"/>
            <a:r>
              <a:rPr sz="750">
                <a:solidFill>
                  <a:srgbClr val="2A2A3D"/>
                </a:solidFill>
                <a:latin typeface="Arial"/>
              </a:rPr>
              <a:t>*Simulasi estimasi @ Rp 3.000 / LK</a:t>
            </a:r>
          </a:p>
        </p:txBody>
      </p:sp>
      <p:sp>
        <p:nvSpPr>
          <p:cNvPr id="12" name="Rectangle 11"/>
          <p:cNvSpPr/>
          <p:nvPr/>
        </p:nvSpPr>
        <p:spPr>
          <a:xfrm>
            <a:off x="6199632" y="1737360"/>
            <a:ext cx="2615184" cy="54864"/>
          </a:xfrm>
          <a:prstGeom prst="rect">
            <a:avLst/>
          </a:prstGeom>
          <a:solidFill>
            <a:srgbClr val="6A2C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025128" y="1737360"/>
            <a:ext cx="2615184" cy="987552"/>
          </a:xfrm>
          <a:prstGeom prst="roundRect">
            <a:avLst/>
          </a:prstGeom>
          <a:solidFill>
            <a:srgbClr val="F4F7FE"/>
          </a:solidFill>
          <a:ln w="19050">
            <a:solidFill>
              <a:srgbClr val="D2DCF5"/>
            </a:solidFill>
          </a:ln>
        </p:spPr>
        <p:style>
          <a:lnRef idx="1">
            <a:schemeClr val="accent1"/>
          </a:lnRef>
          <a:fillRef idx="3">
            <a:schemeClr val="accent1"/>
          </a:fillRef>
          <a:effectRef idx="2">
            <a:schemeClr val="accent1"/>
          </a:effectRef>
          <a:fontRef idx="minor">
            <a:schemeClr val="lt1"/>
          </a:fontRef>
        </p:style>
        <p:txBody>
          <a:bodyPr rtlCol="0" anchor="ctr" wrap="square" tIns="73152" bIns="36576"/>
          <a:lstStyle/>
          <a:p>
            <a:pPr algn="ctr"/>
            <a:r>
              <a:rPr sz="850" b="1">
                <a:solidFill>
                  <a:srgbClr val="20288F"/>
                </a:solidFill>
                <a:latin typeface="Arial"/>
              </a:rPr>
              <a:t>DOWNTIME PERBAIKAN</a:t>
            </a:r>
          </a:p>
          <a:p>
            <a:pPr algn="ctr"/>
            <a:r>
              <a:rPr sz="1550" b="1">
                <a:solidFill>
                  <a:srgbClr val="20288F"/>
                </a:solidFill>
                <a:latin typeface="Arial"/>
              </a:rPr>
              <a:t>&gt; 8 Jam / Mesin</a:t>
            </a:r>
          </a:p>
          <a:p>
            <a:pPr algn="ctr"/>
            <a:r>
              <a:rPr sz="750">
                <a:solidFill>
                  <a:srgbClr val="2A2A3D"/>
                </a:solidFill>
                <a:latin typeface="Arial"/>
              </a:rPr>
              <a:t>Pemeriksaan spekulatif bergilir (&gt; 1 shift)</a:t>
            </a:r>
          </a:p>
        </p:txBody>
      </p:sp>
      <p:sp>
        <p:nvSpPr>
          <p:cNvPr id="14" name="Rectangle 13"/>
          <p:cNvSpPr/>
          <p:nvPr/>
        </p:nvSpPr>
        <p:spPr>
          <a:xfrm>
            <a:off x="9025128" y="1737360"/>
            <a:ext cx="2615184" cy="54864"/>
          </a:xfrm>
          <a:prstGeom prst="rect">
            <a:avLst/>
          </a:prstGeom>
          <a:solidFill>
            <a:srgbClr val="2028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816352"/>
            <a:ext cx="5440680" cy="329184"/>
          </a:xfrm>
          <a:prstGeom prst="rect">
            <a:avLst/>
          </a:prstGeom>
          <a:solidFill>
            <a:srgbClr val="2028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Arial"/>
              </a:rPr>
              <a:t>TREN INSCHIET BASELINE PER KUARTAL 2025</a:t>
            </a:r>
          </a:p>
        </p:txBody>
      </p:sp>
      <p:sp>
        <p:nvSpPr>
          <p:cNvPr id="16" name="Rounded Rectangle 15"/>
          <p:cNvSpPr/>
          <p:nvPr/>
        </p:nvSpPr>
        <p:spPr>
          <a:xfrm>
            <a:off x="548640" y="3145536"/>
            <a:ext cx="5440680" cy="2761488"/>
          </a:xfrm>
          <a:prstGeom prst="roundRect">
            <a:avLst/>
          </a:prstGeom>
          <a:solidFill>
            <a:srgbClr val="F4F7FE"/>
          </a:solidFill>
          <a:ln w="12700">
            <a:solidFill>
              <a:srgbClr val="D2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7" name="Chart 16"/>
          <p:cNvGraphicFramePr>
            <a:graphicFrameLocks noGrp="1"/>
          </p:cNvGraphicFramePr>
          <p:nvPr/>
        </p:nvGraphicFramePr>
        <p:xfrm>
          <a:off x="685800" y="3200400"/>
          <a:ext cx="5166360" cy="1691640"/>
        </p:xfrm>
        <a:graphic>
          <a:graphicData uri="http://schemas.openxmlformats.org/drawingml/2006/chart">
            <c:chart xmlns:c="http://schemas.openxmlformats.org/drawingml/2006/chart" r:id="rId8"/>
          </a:graphicData>
        </a:graphic>
      </p:graphicFrame>
      <p:sp>
        <p:nvSpPr>
          <p:cNvPr id="18" name="TextBox 17"/>
          <p:cNvSpPr txBox="1"/>
          <p:nvPr/>
        </p:nvSpPr>
        <p:spPr>
          <a:xfrm>
            <a:off x="713232" y="4965192"/>
            <a:ext cx="5111496" cy="914400"/>
          </a:xfrm>
          <a:prstGeom prst="rect">
            <a:avLst/>
          </a:prstGeom>
          <a:noFill/>
        </p:spPr>
        <p:txBody>
          <a:bodyPr wrap="square" lIns="0" rIns="0" tIns="0" bIns="0">
            <a:spAutoFit/>
          </a:bodyPr>
          <a:lstStyle/>
          <a:p>
            <a:r>
              <a:rPr sz="800" b="1">
                <a:solidFill>
                  <a:srgbClr val="20288F"/>
                </a:solidFill>
                <a:latin typeface="Arial"/>
              </a:rPr>
              <a:t>Rata-rata Tahunan: 4,61%  |  Sumber: SAP ZPPRSIPPC0012 &amp; QC Verifikasi</a:t>
            </a:r>
          </a:p>
          <a:p>
            <a:pPr>
              <a:spcBef>
                <a:spcPts val="200"/>
              </a:spcBef>
            </a:pPr>
            <a:r>
              <a:rPr sz="750">
                <a:solidFill>
                  <a:srgbClr val="2A2A3D"/>
                </a:solidFill>
                <a:latin typeface="Arial"/>
              </a:rPr>
              <a:t>• Q2 (3,97%): Bukti lini cetak mampu mencapai target &lt; 4,00%.
• Q4 (5,11%): Lonjakan saat order desain baru masuk. Ketiadaan data mesin &amp; shift membuat lonjakan order selalu diiringi naiknya lembar rusak.</a:t>
            </a:r>
          </a:p>
        </p:txBody>
      </p:sp>
      <p:sp>
        <p:nvSpPr>
          <p:cNvPr id="19" name="Rectangle 18"/>
          <p:cNvSpPr/>
          <p:nvPr/>
        </p:nvSpPr>
        <p:spPr>
          <a:xfrm>
            <a:off x="6199632" y="2816352"/>
            <a:ext cx="5440680" cy="329184"/>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Arial"/>
              </a:rPr>
              <a:t>DAMPAK RISIKO BILA DIBIARKAN (5 PILAR)</a:t>
            </a:r>
          </a:p>
        </p:txBody>
      </p:sp>
      <p:sp>
        <p:nvSpPr>
          <p:cNvPr id="20" name="Rounded Rectangle 19"/>
          <p:cNvSpPr/>
          <p:nvPr/>
        </p:nvSpPr>
        <p:spPr>
          <a:xfrm>
            <a:off x="6199632" y="3145536"/>
            <a:ext cx="5440680" cy="2761488"/>
          </a:xfrm>
          <a:prstGeom prst="roundRect">
            <a:avLst/>
          </a:prstGeom>
          <a:solidFill>
            <a:srgbClr val="FFF5F5"/>
          </a:solidFill>
          <a:ln w="12700">
            <a:solidFill>
              <a:srgbClr val="F5C2C2"/>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73152"/>
          <a:lstStyle/>
          <a:p>
            <a:pPr algn="ctr">
              <a:spcAft>
                <a:spcPts val="350"/>
              </a:spcAft>
            </a:pPr>
            <a:r>
              <a:rPr sz="850" b="1">
                <a:solidFill>
                  <a:srgbClr val="C62828"/>
                </a:solidFill>
                <a:latin typeface="Arial"/>
              </a:rPr>
              <a:t>• 1. Biaya (Cost): </a:t>
            </a:r>
            <a:r>
              <a:rPr sz="800">
                <a:solidFill>
                  <a:srgbClr val="2A2A3D"/>
                </a:solidFill>
                <a:latin typeface="Arial"/>
              </a:rPr>
              <a:t>Akumulasi pemborosan biaya cetak mencapai Rp 24,56 Miliar/tahun (8.189.062 LK × asumsi Rp 3.000*) dan potensi saving Rp 5,33 Miliar per tiap 1% penurunan inschiet.</a:t>
            </a:r>
          </a:p>
          <a:p>
            <a:pPr>
              <a:spcAft>
                <a:spcPts val="350"/>
              </a:spcAft>
            </a:pPr>
            <a:r>
              <a:rPr sz="850" b="1">
                <a:solidFill>
                  <a:srgbClr val="C62828"/>
                </a:solidFill>
                <a:latin typeface="Arial"/>
              </a:rPr>
              <a:t>• 2. Mutu (Quality): </a:t>
            </a:r>
            <a:r>
              <a:rPr sz="800">
                <a:solidFill>
                  <a:srgbClr val="2A2A3D"/>
                </a:solidFill>
                <a:latin typeface="Arial"/>
              </a:rPr>
              <a:t>Inschiet berfluktuasi tanpa kendali (puncak 5,11%). Penanganan mesin bersifat sementara karena tidak menyentuh akar masalah per-mesin.</a:t>
            </a:r>
          </a:p>
          <a:p>
            <a:pPr>
              <a:spcAft>
                <a:spcPts val="350"/>
              </a:spcAft>
            </a:pPr>
            <a:r>
              <a:rPr sz="850" b="1">
                <a:solidFill>
                  <a:srgbClr val="C62828"/>
                </a:solidFill>
                <a:latin typeface="Arial"/>
              </a:rPr>
              <a:t>• 3. Kepatuhan (Compliance): </a:t>
            </a:r>
            <a:r>
              <a:rPr sz="800">
                <a:solidFill>
                  <a:srgbClr val="2A2A3D"/>
                </a:solidFill>
                <a:latin typeface="Arial"/>
              </a:rPr>
              <a:t>Akuntabilitas pelacakan (traceability) dokumen negara terhambat karena pencatatan manual di buku folio tidak dapat diaudit digital (ISO 9001).</a:t>
            </a:r>
          </a:p>
          <a:p>
            <a:pPr>
              <a:spcAft>
                <a:spcPts val="350"/>
              </a:spcAft>
            </a:pPr>
            <a:r>
              <a:rPr sz="850" b="1">
                <a:solidFill>
                  <a:srgbClr val="C62828"/>
                </a:solidFill>
                <a:latin typeface="Arial"/>
              </a:rPr>
              <a:t>• 4. K3L &amp; Lingkungan (ESG): </a:t>
            </a:r>
            <a:r>
              <a:rPr sz="800">
                <a:solidFill>
                  <a:srgbClr val="2A2A3D"/>
                </a:solidFill>
                <a:latin typeface="Arial"/>
              </a:rPr>
              <a:t>Timbulan limbah padat kertas sekuriti mencapai 8,18 Juta LK/tahun (±60–65 ton kertas terbuang) dan peningkatan kelelahan operator di shift malam.</a:t>
            </a:r>
          </a:p>
          <a:p>
            <a:pPr>
              <a:spcAft>
                <a:spcPts val="350"/>
              </a:spcAft>
            </a:pPr>
            <a:r>
              <a:rPr sz="850" b="1">
                <a:solidFill>
                  <a:srgbClr val="C62828"/>
                </a:solidFill>
                <a:latin typeface="Arial"/>
              </a:rPr>
              <a:t>• 5. Layanan (Service SLA): </a:t>
            </a:r>
            <a:r>
              <a:rPr sz="800">
                <a:solidFill>
                  <a:srgbClr val="2A2A3D"/>
                </a:solidFill>
                <a:latin typeface="Arial"/>
              </a:rPr>
              <a:t>Risiko keterlambatan serah terima pesanan ke DJBC akibat antrean cetak ulang lembar rusak yang mengancam reputasi SLA perusahaan.</a:t>
            </a:r>
          </a:p>
        </p:txBody>
      </p:sp>
      <p:sp>
        <p:nvSpPr>
          <p:cNvPr id="21" name="Rounded Rectangle 20"/>
          <p:cNvSpPr/>
          <p:nvPr/>
        </p:nvSpPr>
        <p:spPr>
          <a:xfrm>
            <a:off x="548640" y="5961888"/>
            <a:ext cx="11091672" cy="402336"/>
          </a:xfrm>
          <a:prstGeom prst="roundRect">
            <a:avLst/>
          </a:prstGeom>
          <a:solidFill>
            <a:srgbClr val="FFF9E6"/>
          </a:solidFill>
          <a:ln w="12700">
            <a:solidFill>
              <a:srgbClr val="FFE082"/>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r>
              <a:rPr sz="750" b="1">
                <a:solidFill>
                  <a:srgbClr val="E65100"/>
                </a:solidFill>
                <a:latin typeface="Arial"/>
              </a:rPr>
              <a:t>*Catatan Asumsi Finansial (Confidentiality Protection): </a:t>
            </a:r>
            <a:r>
              <a:rPr sz="750" i="1">
                <a:solidFill>
                  <a:srgbClr val="2A2A3D"/>
                </a:solidFill>
                <a:latin typeface="Arial"/>
              </a:rPr>
              <a:t>Nilai Rp 3.000/lembar adalah estimasi internal (kertas sekuriti, tinta khusus, depresiasi &amp; operasional mesin, tenaga kerja) semata-mata untuk simulasi dampak inovasi (cost avoidance), BUKAN harga jual resmi atau rincian biaya pokok produksi resmi dari Perum Peruri yang bersifat rahasia perusahaan.</a:t>
            </a:r>
          </a:p>
        </p:txBody>
      </p:sp>
      <p:sp>
        <p:nvSpPr>
          <p:cNvPr id="22" name="TextBox 21"/>
          <p:cNvSpPr txBox="1"/>
          <p:nvPr/>
        </p:nvSpPr>
        <p:spPr>
          <a:xfrm>
            <a:off x="548640" y="6419088"/>
            <a:ext cx="11091672" cy="219456"/>
          </a:xfrm>
          <a:prstGeom prst="rect">
            <a:avLst/>
          </a:prstGeom>
          <a:noFill/>
        </p:spPr>
        <p:txBody>
          <a:bodyPr wrap="square" lIns="0" tIns="0" rIns="0" bIns="0">
            <a:spAutoFit/>
          </a:bodyPr>
          <a:lstStyle/>
          <a:p>
            <a:r>
              <a:rPr sz="850">
                <a:solidFill>
                  <a:srgbClr val="6E6E82"/>
                </a:solidFill>
                <a:latin typeface="Arial"/>
              </a:rPr>
              <a:t>IAKA 2026 — Kerangka Presentasi Peserta  ·  DSS SIRINE 4.0 Unit Cetak Pita Cukai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07899" y="-179222"/>
            <a:ext cx="1448409" cy="814730"/>
          </a:xfrm>
          <a:prstGeom prst="rect">
            <a:avLst/>
          </a:prstGeom>
        </p:spPr>
      </p:pic>
      <p:pic>
        <p:nvPicPr>
          <p:cNvPr id="3" name="Picture 2" descr="image.png"/>
          <p:cNvPicPr>
            <a:picLocks noChangeAspect="1"/>
          </p:cNvPicPr>
          <p:nvPr/>
        </p:nvPicPr>
        <p:blipFill>
          <a:blip r:embed="rId3"/>
          <a:stretch>
            <a:fillRect/>
          </a:stretch>
        </p:blipFill>
        <p:spPr>
          <a:xfrm>
            <a:off x="11055096" y="11887"/>
            <a:ext cx="1140256" cy="634593"/>
          </a:xfrm>
          <a:prstGeom prst="rect">
            <a:avLst/>
          </a:prstGeom>
        </p:spPr>
      </p:pic>
      <p:sp>
        <p:nvSpPr>
          <p:cNvPr id="4" name="Rounded Rectangle 3"/>
          <p:cNvSpPr/>
          <p:nvPr/>
        </p:nvSpPr>
        <p:spPr>
          <a:xfrm>
            <a:off x="548640" y="594360"/>
            <a:ext cx="731520" cy="658368"/>
          </a:xfrm>
          <a:prstGeom prst="roundRect">
            <a:avLst/>
          </a:prstGeom>
          <a:solidFill>
            <a:srgbClr val="6A2CC9"/>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r>
              <a:rPr sz="2000" b="1">
                <a:solidFill>
                  <a:srgbClr val="FFFFFF"/>
                </a:solidFill>
                <a:latin typeface="Arial"/>
              </a:rPr>
              <a:t>03.1</a:t>
            </a:r>
          </a:p>
        </p:txBody>
      </p:sp>
      <p:sp>
        <p:nvSpPr>
          <p:cNvPr id="5" name="TextBox 4"/>
          <p:cNvSpPr txBox="1"/>
          <p:nvPr/>
        </p:nvSpPr>
        <p:spPr>
          <a:xfrm>
            <a:off x="1417320" y="548640"/>
            <a:ext cx="9326880" cy="731520"/>
          </a:xfrm>
          <a:prstGeom prst="rect">
            <a:avLst/>
          </a:prstGeom>
          <a:noFill/>
        </p:spPr>
        <p:txBody>
          <a:bodyPr wrap="square" lIns="0" tIns="0" rIns="0" bIns="0">
            <a:spAutoFit/>
          </a:bodyPr>
          <a:lstStyle/>
          <a:p>
            <a:pPr algn="l"/>
            <a:r>
              <a:rPr sz="2400" b="1">
                <a:solidFill>
                  <a:srgbClr val="20288F"/>
                </a:solidFill>
                <a:latin typeface="Arial"/>
              </a:rPr>
              <a:t>Analisis Penyebab: Diagram Fishbone 4M &amp; Bukti Data Silo</a:t>
            </a:r>
          </a:p>
        </p:txBody>
      </p:sp>
      <p:sp>
        <p:nvSpPr>
          <p:cNvPr id="6" name="TextBox 5"/>
          <p:cNvSpPr txBox="1"/>
          <p:nvPr/>
        </p:nvSpPr>
        <p:spPr>
          <a:xfrm>
            <a:off x="548640" y="1353312"/>
            <a:ext cx="10789920" cy="347472"/>
          </a:xfrm>
          <a:prstGeom prst="rect">
            <a:avLst/>
          </a:prstGeom>
          <a:noFill/>
        </p:spPr>
        <p:txBody>
          <a:bodyPr wrap="square" lIns="0" tIns="0" rIns="0" bIns="0">
            <a:spAutoFit/>
          </a:bodyPr>
          <a:lstStyle/>
          <a:p>
            <a:r>
              <a:rPr sz="1150" b="1">
                <a:solidFill>
                  <a:srgbClr val="6A2CC9"/>
                </a:solidFill>
                <a:latin typeface="Arial"/>
              </a:rPr>
              <a:t>Tujuan bagian ini:  </a:t>
            </a:r>
            <a:r>
              <a:rPr sz="1150" b="0">
                <a:solidFill>
                  <a:srgbClr val="2A2A3D"/>
                </a:solidFill>
                <a:latin typeface="Arial"/>
              </a:rPr>
              <a:t>Tunjukkan dekonstruksi variabel penyebab lintas 4M dan buktikan temuan empiris keterpisahan data (data silo) di lapangan.</a:t>
            </a:r>
          </a:p>
        </p:txBody>
      </p:sp>
      <p:sp>
        <p:nvSpPr>
          <p:cNvPr id="7" name="TextBox 6"/>
          <p:cNvSpPr txBox="1"/>
          <p:nvPr/>
        </p:nvSpPr>
        <p:spPr>
          <a:xfrm>
            <a:off x="548640" y="6419088"/>
            <a:ext cx="11091672" cy="219456"/>
          </a:xfrm>
          <a:prstGeom prst="rect">
            <a:avLst/>
          </a:prstGeom>
          <a:noFill/>
        </p:spPr>
        <p:txBody>
          <a:bodyPr wrap="square" lIns="0" tIns="0" rIns="0" bIns="0">
            <a:spAutoFit/>
          </a:bodyPr>
          <a:lstStyle/>
          <a:p>
            <a:r>
              <a:rPr sz="850">
                <a:solidFill>
                  <a:srgbClr val="6E6E82"/>
                </a:solidFill>
                <a:latin typeface="Arial"/>
              </a:rPr>
              <a:t>IAKA 2026 — Kerangka Presentasi Peserta  ·  DSS SIRINE 4.0 Unit Cetak Pita Cukai</a:t>
            </a:r>
          </a:p>
        </p:txBody>
      </p:sp>
      <p:sp>
        <p:nvSpPr>
          <p:cNvPr id="8" name="Rectangle 7"/>
          <p:cNvSpPr/>
          <p:nvPr/>
        </p:nvSpPr>
        <p:spPr>
          <a:xfrm>
            <a:off x="548640" y="1755648"/>
            <a:ext cx="5394960" cy="329184"/>
          </a:xfrm>
          <a:prstGeom prst="rect">
            <a:avLst/>
          </a:prstGeom>
          <a:solidFill>
            <a:srgbClr val="20288F"/>
          </a:solidFill>
          <a:ln>
            <a:noFill/>
          </a:ln>
        </p:spPr>
        <p:style>
          <a:lnRef idx="1">
            <a:schemeClr val="accent1"/>
          </a:lnRef>
          <a:fillRef idx="3">
            <a:schemeClr val="accent1"/>
          </a:fillRef>
          <a:effectRef idx="2">
            <a:schemeClr val="accent1"/>
          </a:effectRef>
          <a:fontRef idx="minor">
            <a:schemeClr val="lt1"/>
          </a:fontRef>
        </p:style>
        <p:txBody>
          <a:bodyPr rtlCol="0" anchor="ctr" tIns="36576" bIns="36576"/>
          <a:lstStyle/>
          <a:p>
            <a:pPr algn="ctr"/>
            <a:r>
              <a:rPr sz="1050" b="1">
                <a:solidFill>
                  <a:srgbClr val="FFFFFF"/>
                </a:solidFill>
                <a:latin typeface="Arial"/>
              </a:rPr>
              <a:t>1. METODE ANALISIS: DIAGRAM TULANG IKAN (FISHBONE 4M)</a:t>
            </a:r>
          </a:p>
        </p:txBody>
      </p:sp>
      <p:sp>
        <p:nvSpPr>
          <p:cNvPr id="9" name="Rounded Rectangle 8"/>
          <p:cNvSpPr/>
          <p:nvPr/>
        </p:nvSpPr>
        <p:spPr>
          <a:xfrm>
            <a:off x="548640" y="2084831"/>
            <a:ext cx="5394960" cy="3730752"/>
          </a:xfrm>
          <a:prstGeom prst="roundRect">
            <a:avLst/>
          </a:prstGeom>
          <a:solidFill>
            <a:srgbClr val="F4F7FE"/>
          </a:solidFill>
          <a:ln>
            <a:solidFill>
              <a:srgbClr val="D2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58368" y="2157984"/>
            <a:ext cx="5175504" cy="1874519"/>
          </a:xfrm>
          <a:prstGeom prst="roundRect">
            <a:avLst/>
          </a:prstGeom>
          <a:solidFill>
            <a:srgbClr val="FFFFFF"/>
          </a:solidFill>
          <a:ln>
            <a:solidFill>
              <a:srgbClr val="D2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4"/>
          <a:stretch>
            <a:fillRect/>
          </a:stretch>
        </p:blipFill>
        <p:spPr>
          <a:xfrm>
            <a:off x="731520" y="2212848"/>
            <a:ext cx="5029200" cy="1755648"/>
          </a:xfrm>
          <a:prstGeom prst="rect">
            <a:avLst/>
          </a:prstGeom>
        </p:spPr>
      </p:pic>
      <p:sp>
        <p:nvSpPr>
          <p:cNvPr id="12" name="Rounded Rectangle 11"/>
          <p:cNvSpPr/>
          <p:nvPr/>
        </p:nvSpPr>
        <p:spPr>
          <a:xfrm>
            <a:off x="658368" y="4096512"/>
            <a:ext cx="5175504" cy="1627632"/>
          </a:xfrm>
          <a:prstGeom prst="roundRect">
            <a:avLst/>
          </a:prstGeom>
          <a:solidFill>
            <a:srgbClr val="FFFFFF"/>
          </a:solidFill>
          <a:ln>
            <a:solidFill>
              <a:srgbClr val="D9CEF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pPr>
            <a:r>
              <a:rPr sz="850" b="1">
                <a:solidFill>
                  <a:srgbClr val="20288F"/>
                </a:solidFill>
                <a:latin typeface="Arial"/>
              </a:rPr>
              <a:t>RINGKASAN DEKONSTRUKSI 4 PILAR FISHBONE DI LAPANGAN:</a:t>
            </a:r>
          </a:p>
          <a:p>
            <a:pPr>
              <a:spcAft>
                <a:spcPts val="150"/>
              </a:spcAft>
            </a:pPr>
            <a:r>
              <a:rPr sz="780" b="1">
                <a:solidFill>
                  <a:srgbClr val="6A2CC9"/>
                </a:solidFill>
                <a:latin typeface="Arial"/>
              </a:rPr>
              <a:t>• MAN &amp; METHOD: </a:t>
            </a:r>
            <a:r>
              <a:rPr sz="780" b="0">
                <a:solidFill>
                  <a:srgbClr val="2A2A3D"/>
                </a:solidFill>
                <a:latin typeface="Arial"/>
              </a:rPr>
              <a:t>Kelelahan visual shift malam (23–07) &amp; belum ada standar digital setting awal (make-ready) -&gt; afval awal tinggi per PO.</a:t>
            </a:r>
          </a:p>
          <a:p>
            <a:pPr>
              <a:spcAft>
                <a:spcPts val="150"/>
              </a:spcAft>
            </a:pPr>
            <a:r>
              <a:rPr sz="780" b="1">
                <a:solidFill>
                  <a:srgbClr val="C62828"/>
                </a:solidFill>
                <a:latin typeface="Arial"/>
              </a:rPr>
              <a:t>• MACHINE &amp; MATERIAL: </a:t>
            </a:r>
            <a:r>
              <a:rPr sz="780" b="0">
                <a:solidFill>
                  <a:srgbClr val="2A2A3D"/>
                </a:solidFill>
                <a:latin typeface="Arial"/>
              </a:rPr>
              <a:t>Penurunan performa rol karet mengeras/licin, blanket fatigue, penjepit silinder melemah, &amp; kertas higroskopis rentan gelombang (plooi).</a:t>
            </a:r>
          </a:p>
          <a:p>
            <a:pPr>
              <a:spcAft>
                <a:spcPts val="150"/>
              </a:spcAft>
            </a:pPr>
            <a:r>
              <a:rPr sz="780" b="1">
                <a:solidFill>
                  <a:srgbClr val="20288F"/>
                </a:solidFill>
                <a:latin typeface="Arial"/>
              </a:rPr>
              <a:t>• AKIBAT OPERASIONAL: </a:t>
            </a:r>
            <a:r>
              <a:rPr sz="780" b="1">
                <a:solidFill>
                  <a:srgbClr val="C62828"/>
                </a:solidFill>
                <a:latin typeface="Arial"/>
              </a:rPr>
              <a:t>Inschiet rata-rata 4,61% (Puncak Q4: 5,11% | Kerugian Rp 24,56 Miliar/Tahun | Downtime &gt; 8 jam akibat inspeksi acak bergilir).</a:t>
            </a:r>
          </a:p>
        </p:txBody>
      </p:sp>
      <p:sp>
        <p:nvSpPr>
          <p:cNvPr id="13" name="Rectangle 12"/>
          <p:cNvSpPr/>
          <p:nvPr/>
        </p:nvSpPr>
        <p:spPr>
          <a:xfrm>
            <a:off x="6199632" y="1755648"/>
            <a:ext cx="5440680" cy="329184"/>
          </a:xfrm>
          <a:prstGeom prst="rect">
            <a:avLst/>
          </a:prstGeom>
          <a:solidFill>
            <a:srgbClr val="6A2CC9"/>
          </a:solidFill>
          <a:ln>
            <a:noFill/>
          </a:ln>
        </p:spPr>
        <p:style>
          <a:lnRef idx="1">
            <a:schemeClr val="accent1"/>
          </a:lnRef>
          <a:fillRef idx="3">
            <a:schemeClr val="accent1"/>
          </a:fillRef>
          <a:effectRef idx="2">
            <a:schemeClr val="accent1"/>
          </a:effectRef>
          <a:fontRef idx="minor">
            <a:schemeClr val="lt1"/>
          </a:fontRef>
        </p:style>
        <p:txBody>
          <a:bodyPr rtlCol="0" anchor="ctr" tIns="36576" bIns="36576"/>
          <a:lstStyle/>
          <a:p>
            <a:pPr algn="ctr"/>
            <a:r>
              <a:rPr sz="1050" b="1">
                <a:solidFill>
                  <a:srgbClr val="FFFFFF"/>
                </a:solidFill>
                <a:latin typeface="Arial"/>
              </a:rPr>
              <a:t>2. TEMUAN FAKTA &amp; BUKTI EMPIRIS LAPANGAN (DATA SILO)</a:t>
            </a:r>
          </a:p>
        </p:txBody>
      </p:sp>
      <p:sp>
        <p:nvSpPr>
          <p:cNvPr id="14" name="Rounded Rectangle 13"/>
          <p:cNvSpPr/>
          <p:nvPr/>
        </p:nvSpPr>
        <p:spPr>
          <a:xfrm>
            <a:off x="6199632" y="2084831"/>
            <a:ext cx="5440680" cy="3730752"/>
          </a:xfrm>
          <a:prstGeom prst="roundRect">
            <a:avLst/>
          </a:prstGeom>
          <a:solidFill>
            <a:srgbClr val="F8F6FE"/>
          </a:solidFill>
          <a:ln>
            <a:solidFill>
              <a:srgbClr val="D9CE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327648" y="2157984"/>
            <a:ext cx="5184648" cy="1078992"/>
          </a:xfrm>
          <a:prstGeom prst="roundRect">
            <a:avLst/>
          </a:prstGeom>
          <a:solidFill>
            <a:srgbClr val="FFFFFF"/>
          </a:solidFill>
          <a:ln>
            <a:solidFill>
              <a:srgbClr val="D2DCF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pPr>
            <a:r>
              <a:rPr sz="900" b="1">
                <a:solidFill>
                  <a:srgbClr val="20288F"/>
                </a:solidFill>
                <a:latin typeface="Arial"/>
              </a:rPr>
              <a:t>BUKTI 1: Data Transaksi SAP Terkunci Mentah (Dormant Data)</a:t>
            </a:r>
          </a:p>
          <a:p>
            <a:pPr>
              <a:spcAft>
                <a:spcPts val="200"/>
              </a:spcAft>
            </a:pPr>
            <a:r>
              <a:rPr sz="800" b="1">
                <a:solidFill>
                  <a:srgbClr val="20288F"/>
                </a:solidFill>
                <a:latin typeface="Arial"/>
              </a:rPr>
              <a:t>• Kondisi Sistem: </a:t>
            </a:r>
            <a:r>
              <a:rPr sz="800">
                <a:solidFill>
                  <a:srgbClr val="2A2A3D"/>
                </a:solidFill>
                <a:latin typeface="Arial"/>
              </a:rPr>
              <a:t>Modul SAP ZPPRSIPPC0012 memuat data PO &amp; hasil cetak, tetapi tersaji dalam tabel CSV mentah puluhan kolom di PC kantor.</a:t>
            </a:r>
          </a:p>
          <a:p>
            <a:r>
              <a:rPr sz="800" b="1">
                <a:solidFill>
                  <a:srgbClr val="20288F"/>
                </a:solidFill>
                <a:latin typeface="Arial"/>
              </a:rPr>
              <a:t>• Fakta Lapangan: </a:t>
            </a:r>
            <a:r>
              <a:rPr sz="800">
                <a:solidFill>
                  <a:srgbClr val="2A2A3D"/>
                </a:solidFill>
                <a:latin typeface="Arial"/>
              </a:rPr>
              <a:t>Data pasif dan tidak bisa diolah langsung di meja mesin; pengawas tidak memiliki visualisasi tren performa harian per mesin.</a:t>
            </a:r>
          </a:p>
        </p:txBody>
      </p:sp>
      <p:sp>
        <p:nvSpPr>
          <p:cNvPr id="16" name="Rounded Rectangle 15"/>
          <p:cNvSpPr/>
          <p:nvPr/>
        </p:nvSpPr>
        <p:spPr>
          <a:xfrm>
            <a:off x="6327648" y="3291840"/>
            <a:ext cx="5184648" cy="1078992"/>
          </a:xfrm>
          <a:prstGeom prst="roundRect">
            <a:avLst/>
          </a:prstGeom>
          <a:solidFill>
            <a:srgbClr val="FFFFFF"/>
          </a:solidFill>
          <a:ln>
            <a:solidFill>
              <a:srgbClr val="D9CEF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pPr>
            <a:r>
              <a:rPr sz="900" b="1">
                <a:solidFill>
                  <a:srgbClr val="6A2CC9"/>
                </a:solidFill>
                <a:latin typeface="Arial"/>
              </a:rPr>
              <a:t>BUKTI 2: Data Mutu QC Hanya Ringkasan Global (Attribution Blindness)</a:t>
            </a:r>
          </a:p>
          <a:p>
            <a:pPr>
              <a:spcAft>
                <a:spcPts val="200"/>
              </a:spcAft>
            </a:pPr>
            <a:r>
              <a:rPr sz="800" b="1">
                <a:solidFill>
                  <a:srgbClr val="6A2CC9"/>
                </a:solidFill>
                <a:latin typeface="Arial"/>
              </a:rPr>
              <a:t>• Kondisi Sistem: </a:t>
            </a:r>
            <a:r>
              <a:rPr sz="800">
                <a:solidFill>
                  <a:srgbClr val="2A2A3D"/>
                </a:solidFill>
                <a:latin typeface="Arial"/>
              </a:rPr>
              <a:t>Laporan QC Verifikasi mencatat lembar cacat per jenis (blobor, noda, dll), namun hanya sebagai total akumulasi unit global.</a:t>
            </a:r>
          </a:p>
          <a:p>
            <a:r>
              <a:rPr sz="800" b="1">
                <a:solidFill>
                  <a:srgbClr val="6A2CC9"/>
                </a:solidFill>
                <a:latin typeface="Arial"/>
              </a:rPr>
              <a:t>• Fakta Lapangan: </a:t>
            </a:r>
            <a:r>
              <a:rPr sz="800">
                <a:solidFill>
                  <a:srgbClr val="2A2A3D"/>
                </a:solidFill>
                <a:latin typeface="Arial"/>
              </a:rPr>
              <a:t>Ketiadaan nomor mesin, PO, &amp; shift -&gt; Kebutaan atribusi: teknisi tidak tahu mesin target dan pembinaan operator bias.</a:t>
            </a:r>
          </a:p>
        </p:txBody>
      </p:sp>
      <p:sp>
        <p:nvSpPr>
          <p:cNvPr id="17" name="Rounded Rectangle 16"/>
          <p:cNvSpPr/>
          <p:nvPr/>
        </p:nvSpPr>
        <p:spPr>
          <a:xfrm>
            <a:off x="6327648" y="4425696"/>
            <a:ext cx="5184648" cy="1298448"/>
          </a:xfrm>
          <a:prstGeom prst="roundRect">
            <a:avLst/>
          </a:prstGeom>
          <a:solidFill>
            <a:srgbClr val="FFFFFF"/>
          </a:solidFill>
          <a:ln>
            <a:solidFill>
              <a:srgbClr val="F5C2C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pPr>
            <a:r>
              <a:rPr sz="900" b="1">
                <a:solidFill>
                  <a:srgbClr val="C62828"/>
                </a:solidFill>
                <a:latin typeface="Arial"/>
              </a:rPr>
              <a:t>BUKTI 3: Data Penugasan Terperangkap di Kertas (The Paper Trap)</a:t>
            </a:r>
          </a:p>
          <a:p>
            <a:pPr>
              <a:spcAft>
                <a:spcPts val="200"/>
              </a:spcAft>
            </a:pPr>
            <a:r>
              <a:rPr sz="800" b="1">
                <a:solidFill>
                  <a:srgbClr val="C62828"/>
                </a:solidFill>
                <a:latin typeface="Arial"/>
              </a:rPr>
              <a:t>• Kondisi Sistem: </a:t>
            </a:r>
            <a:r>
              <a:rPr sz="800">
                <a:solidFill>
                  <a:srgbClr val="2A2A3D"/>
                </a:solidFill>
                <a:latin typeface="Arial"/>
              </a:rPr>
              <a:t>Nomor mesin, PO, shift, nama operator, &amp; hasil cetak (LK) ditulis manual dengan pulpen pada buku folio fisik di meja mesin.</a:t>
            </a:r>
          </a:p>
          <a:p>
            <a:r>
              <a:rPr sz="800" b="1">
                <a:solidFill>
                  <a:srgbClr val="C62828"/>
                </a:solidFill>
                <a:latin typeface="Arial"/>
              </a:rPr>
              <a:t>• Fakta Lapangan: </a:t>
            </a:r>
            <a:r>
              <a:rPr sz="800">
                <a:solidFill>
                  <a:srgbClr val="2A2A3D"/>
                </a:solidFill>
                <a:latin typeface="Arial"/>
              </a:rPr>
              <a:t>Buku fisik terisolasi &amp; baru direkap kuartalan saat penilaian pegawai; data rawan hilang/rusak terkena tinta/air, dan feedback kinerja tertunda berbulan-bulan.</a:t>
            </a:r>
          </a:p>
        </p:txBody>
      </p:sp>
      <p:sp>
        <p:nvSpPr>
          <p:cNvPr id="18" name="Rounded Rectangle 17"/>
          <p:cNvSpPr/>
          <p:nvPr/>
        </p:nvSpPr>
        <p:spPr>
          <a:xfrm>
            <a:off x="548640" y="5888736"/>
            <a:ext cx="11091672" cy="457200"/>
          </a:xfrm>
          <a:prstGeom prst="roundRect">
            <a:avLst/>
          </a:prstGeom>
          <a:solidFill>
            <a:srgbClr val="F4F7FE"/>
          </a:solidFill>
          <a:ln>
            <a:solidFill>
              <a:srgbClr val="20288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lstStyle/>
          <a:p>
            <a:pPr algn="ctr"/>
            <a:r>
              <a:rPr sz="880" b="1">
                <a:solidFill>
                  <a:srgbClr val="20288F"/>
                </a:solidFill>
                <a:latin typeface="Arial"/>
              </a:rPr>
              <a:t>• Business Insight:  </a:t>
            </a:r>
            <a:r>
              <a:rPr sz="880">
                <a:solidFill>
                  <a:srgbClr val="2A2A3D"/>
                </a:solidFill>
                <a:latin typeface="Arial"/>
              </a:rPr>
              <a:t>Penyebab utama tingginya inschiet bukan ketiadaan SOP, melainkan terputusnya aliran data (Data Silo) antara SAP di kantor, modul QC Verifikasi, dan buku folio di meja mesin. Tanpa integrasi data, perbaikan mesin tetap spekulatif (&gt; 8 jam) dan pembinaan operator terhambat.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07899" y="-179222"/>
            <a:ext cx="1448409" cy="814730"/>
          </a:xfrm>
          <a:prstGeom prst="rect">
            <a:avLst/>
          </a:prstGeom>
        </p:spPr>
      </p:pic>
      <p:pic>
        <p:nvPicPr>
          <p:cNvPr id="3" name="Picture 2" descr="image.png"/>
          <p:cNvPicPr>
            <a:picLocks noChangeAspect="1"/>
          </p:cNvPicPr>
          <p:nvPr/>
        </p:nvPicPr>
        <p:blipFill>
          <a:blip r:embed="rId3"/>
          <a:stretch>
            <a:fillRect/>
          </a:stretch>
        </p:blipFill>
        <p:spPr>
          <a:xfrm>
            <a:off x="11055096" y="11887"/>
            <a:ext cx="1140256" cy="634593"/>
          </a:xfrm>
          <a:prstGeom prst="rect">
            <a:avLst/>
          </a:prstGeom>
        </p:spPr>
      </p:pic>
      <p:sp>
        <p:nvSpPr>
          <p:cNvPr id="4" name="Rounded Rectangle 3"/>
          <p:cNvSpPr/>
          <p:nvPr/>
        </p:nvSpPr>
        <p:spPr>
          <a:xfrm>
            <a:off x="548640" y="594360"/>
            <a:ext cx="731520" cy="658368"/>
          </a:xfrm>
          <a:prstGeom prst="roundRect">
            <a:avLst/>
          </a:prstGeom>
          <a:solidFill>
            <a:srgbClr val="6A2CC9"/>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r>
              <a:rPr sz="2000" b="1">
                <a:solidFill>
                  <a:srgbClr val="FFFFFF"/>
                </a:solidFill>
                <a:latin typeface="Arial"/>
              </a:rPr>
              <a:t>03.2</a:t>
            </a:r>
          </a:p>
        </p:txBody>
      </p:sp>
      <p:sp>
        <p:nvSpPr>
          <p:cNvPr id="5" name="TextBox 4"/>
          <p:cNvSpPr txBox="1"/>
          <p:nvPr/>
        </p:nvSpPr>
        <p:spPr>
          <a:xfrm>
            <a:off x="1417320" y="548640"/>
            <a:ext cx="9326880" cy="731520"/>
          </a:xfrm>
          <a:prstGeom prst="rect">
            <a:avLst/>
          </a:prstGeom>
          <a:noFill/>
        </p:spPr>
        <p:txBody>
          <a:bodyPr wrap="square" lIns="0" tIns="0" rIns="0" bIns="0">
            <a:spAutoFit/>
          </a:bodyPr>
          <a:lstStyle/>
          <a:p>
            <a:pPr algn="l"/>
            <a:r>
              <a:rPr sz="2400" b="1">
                <a:solidFill>
                  <a:srgbClr val="20288F"/>
                </a:solidFill>
                <a:latin typeface="Arial"/>
              </a:rPr>
              <a:t>Analisis Penyebab: Rantai Kausalitas 5-Why &amp; Akar Masalah</a:t>
            </a:r>
          </a:p>
        </p:txBody>
      </p:sp>
      <p:sp>
        <p:nvSpPr>
          <p:cNvPr id="6" name="TextBox 5"/>
          <p:cNvSpPr txBox="1"/>
          <p:nvPr/>
        </p:nvSpPr>
        <p:spPr>
          <a:xfrm>
            <a:off x="548640" y="1353312"/>
            <a:ext cx="10789920" cy="347472"/>
          </a:xfrm>
          <a:prstGeom prst="rect">
            <a:avLst/>
          </a:prstGeom>
          <a:noFill/>
        </p:spPr>
        <p:txBody>
          <a:bodyPr wrap="square" lIns="0" tIns="0" rIns="0" bIns="0">
            <a:spAutoFit/>
          </a:bodyPr>
          <a:lstStyle/>
          <a:p>
            <a:r>
              <a:rPr sz="1150" b="1">
                <a:solidFill>
                  <a:srgbClr val="6A2CC9"/>
                </a:solidFill>
                <a:latin typeface="Arial"/>
              </a:rPr>
              <a:t>Tujuan bagian ini:  </a:t>
            </a:r>
            <a:r>
              <a:rPr sz="1150" b="0">
                <a:solidFill>
                  <a:srgbClr val="2A2A3D"/>
                </a:solidFill>
                <a:latin typeface="Arial"/>
              </a:rPr>
              <a:t>Buktikan penelusuran kausalitas berjenjang (5-Why) dan rumuskan akar masalah utama yang akan diserang oleh solusi.</a:t>
            </a:r>
          </a:p>
        </p:txBody>
      </p:sp>
      <p:sp>
        <p:nvSpPr>
          <p:cNvPr id="7" name="TextBox 6"/>
          <p:cNvSpPr txBox="1"/>
          <p:nvPr/>
        </p:nvSpPr>
        <p:spPr>
          <a:xfrm>
            <a:off x="548640" y="6419088"/>
            <a:ext cx="11091672" cy="219456"/>
          </a:xfrm>
          <a:prstGeom prst="rect">
            <a:avLst/>
          </a:prstGeom>
          <a:noFill/>
        </p:spPr>
        <p:txBody>
          <a:bodyPr wrap="square" lIns="0" tIns="0" rIns="0" bIns="0">
            <a:spAutoFit/>
          </a:bodyPr>
          <a:lstStyle/>
          <a:p>
            <a:r>
              <a:rPr sz="850">
                <a:solidFill>
                  <a:srgbClr val="6E6E82"/>
                </a:solidFill>
                <a:latin typeface="Arial"/>
              </a:rPr>
              <a:t>IAKA 2026 — Kerangka Presentasi Peserta  ·  DSS SIRINE 4.0 Unit Cetak Pita Cukai</a:t>
            </a:r>
          </a:p>
        </p:txBody>
      </p:sp>
      <p:sp>
        <p:nvSpPr>
          <p:cNvPr id="8" name="Rectangle 7"/>
          <p:cNvSpPr/>
          <p:nvPr/>
        </p:nvSpPr>
        <p:spPr>
          <a:xfrm>
            <a:off x="548640" y="1755648"/>
            <a:ext cx="5577840" cy="329184"/>
          </a:xfrm>
          <a:prstGeom prst="rect">
            <a:avLst/>
          </a:prstGeom>
          <a:solidFill>
            <a:srgbClr val="20288F"/>
          </a:solidFill>
          <a:ln>
            <a:noFill/>
          </a:ln>
        </p:spPr>
        <p:style>
          <a:lnRef idx="1">
            <a:schemeClr val="accent1"/>
          </a:lnRef>
          <a:fillRef idx="3">
            <a:schemeClr val="accent1"/>
          </a:fillRef>
          <a:effectRef idx="2">
            <a:schemeClr val="accent1"/>
          </a:effectRef>
          <a:fontRef idx="minor">
            <a:schemeClr val="lt1"/>
          </a:fontRef>
        </p:style>
        <p:txBody>
          <a:bodyPr rtlCol="0" anchor="ctr" tIns="36576" bIns="36576"/>
          <a:lstStyle/>
          <a:p>
            <a:pPr algn="ctr"/>
            <a:r>
              <a:rPr sz="1050" b="1">
                <a:solidFill>
                  <a:srgbClr val="FFFFFF"/>
                </a:solidFill>
                <a:latin typeface="Arial"/>
              </a:rPr>
              <a:t>1. METODE ANALISIS: PENELUSURAN KAUSALITAS 5-WHY</a:t>
            </a:r>
          </a:p>
        </p:txBody>
      </p:sp>
      <p:sp>
        <p:nvSpPr>
          <p:cNvPr id="9" name="Rounded Rectangle 8"/>
          <p:cNvSpPr/>
          <p:nvPr/>
        </p:nvSpPr>
        <p:spPr>
          <a:xfrm>
            <a:off x="548640" y="2084831"/>
            <a:ext cx="5577840" cy="3730752"/>
          </a:xfrm>
          <a:prstGeom prst="roundRect">
            <a:avLst/>
          </a:prstGeom>
          <a:solidFill>
            <a:srgbClr val="F4F7FE"/>
          </a:solidFill>
          <a:ln>
            <a:solidFill>
              <a:srgbClr val="D2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58368" y="2157984"/>
            <a:ext cx="5358384" cy="658368"/>
          </a:xfrm>
          <a:prstGeom prst="roundRect">
            <a:avLst/>
          </a:prstGeom>
          <a:solidFill>
            <a:srgbClr val="FFFFFF"/>
          </a:solidFill>
          <a:ln>
            <a:solidFill>
              <a:srgbClr val="D2DCF5"/>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150"/>
              </a:spcAft>
            </a:pPr>
            <a:r>
              <a:rPr sz="780" b="1">
                <a:solidFill>
                  <a:srgbClr val="20288F"/>
                </a:solidFill>
                <a:latin typeface="Arial"/>
              </a:rPr>
              <a:t>[WHY 1] </a:t>
            </a:r>
            <a:r>
              <a:rPr sz="780" b="1">
                <a:solidFill>
                  <a:srgbClr val="2A2A3D"/>
                </a:solidFill>
                <a:latin typeface="Arial"/>
              </a:rPr>
              <a:t>Mengapa inschiet berfluktuasi tinggi pada rata-rata 4,61% (puncak 5,11%)?</a:t>
            </a:r>
          </a:p>
          <a:p>
            <a:pPr>
              <a:spcAft>
                <a:spcPts val="150"/>
              </a:spcAft>
            </a:pPr>
            <a:r>
              <a:rPr sz="780" b="1">
                <a:solidFill>
                  <a:srgbClr val="20288F"/>
                </a:solidFill>
                <a:latin typeface="Arial"/>
              </a:rPr>
              <a:t>➔ </a:t>
            </a:r>
            <a:r>
              <a:rPr sz="780" b="0">
                <a:solidFill>
                  <a:srgbClr val="2A2A3D"/>
                </a:solidFill>
                <a:latin typeface="Arial"/>
              </a:rPr>
              <a:t>Tindakan servis mesin &amp; coaching operator sering terlambat dan tidak tepat sasaran.</a:t>
            </a:r>
          </a:p>
          <a:p>
            <a:r>
              <a:rPr sz="700" i="1">
                <a:solidFill>
                  <a:srgbClr val="6E6E82"/>
                </a:solidFill>
                <a:latin typeface="Arial"/>
              </a:rPr>
              <a:t>   [Bukti: Fluktuasi kuartalan Q1 (4,72%) s.d. Q4 (5,11%) — Sumber: SAP ZPPRSIPPC0012]</a:t>
            </a:r>
          </a:p>
        </p:txBody>
      </p:sp>
      <p:sp>
        <p:nvSpPr>
          <p:cNvPr id="11" name="Rounded Rectangle 10"/>
          <p:cNvSpPr/>
          <p:nvPr/>
        </p:nvSpPr>
        <p:spPr>
          <a:xfrm>
            <a:off x="658368" y="2843784"/>
            <a:ext cx="5358384" cy="658368"/>
          </a:xfrm>
          <a:prstGeom prst="roundRect">
            <a:avLst/>
          </a:prstGeom>
          <a:solidFill>
            <a:srgbClr val="FFFFFF"/>
          </a:solidFill>
          <a:ln>
            <a:solidFill>
              <a:srgbClr val="D2DCF5"/>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150"/>
              </a:spcAft>
            </a:pPr>
            <a:r>
              <a:rPr sz="780" b="1">
                <a:solidFill>
                  <a:srgbClr val="20288F"/>
                </a:solidFill>
                <a:latin typeface="Arial"/>
              </a:rPr>
              <a:t>[WHY 2] </a:t>
            </a:r>
            <a:r>
              <a:rPr sz="780" b="1">
                <a:solidFill>
                  <a:srgbClr val="2A2A3D"/>
                </a:solidFill>
                <a:latin typeface="Arial"/>
              </a:rPr>
              <a:t>Mengapa perbaikan mesin &amp; pembinaan operator tidak tepat sasaran?</a:t>
            </a:r>
          </a:p>
          <a:p>
            <a:pPr>
              <a:spcAft>
                <a:spcPts val="150"/>
              </a:spcAft>
            </a:pPr>
            <a:r>
              <a:rPr sz="780" b="1">
                <a:solidFill>
                  <a:srgbClr val="20288F"/>
                </a:solidFill>
                <a:latin typeface="Arial"/>
              </a:rPr>
              <a:t>➔ </a:t>
            </a:r>
            <a:r>
              <a:rPr sz="780" b="0">
                <a:solidFill>
                  <a:srgbClr val="2A2A3D"/>
                </a:solidFill>
                <a:latin typeface="Arial"/>
              </a:rPr>
              <a:t>Teknisi &amp; pengawas tidak tahu pasti mesin mana sumber masalah &amp; apakah faktor mesin/shift.</a:t>
            </a:r>
          </a:p>
          <a:p>
            <a:r>
              <a:rPr sz="700" i="1">
                <a:solidFill>
                  <a:srgbClr val="6E6E82"/>
                </a:solidFill>
                <a:latin typeface="Arial"/>
              </a:rPr>
              <a:t>   [Bukti: Kasus penelusuran blobor acak ke 6 mesin pada Juni 2025 dengan downtime &gt; 8 jam]</a:t>
            </a:r>
          </a:p>
        </p:txBody>
      </p:sp>
      <p:sp>
        <p:nvSpPr>
          <p:cNvPr id="12" name="Rounded Rectangle 11"/>
          <p:cNvSpPr/>
          <p:nvPr/>
        </p:nvSpPr>
        <p:spPr>
          <a:xfrm>
            <a:off x="658368" y="3529584"/>
            <a:ext cx="5358384" cy="658368"/>
          </a:xfrm>
          <a:prstGeom prst="roundRect">
            <a:avLst/>
          </a:prstGeom>
          <a:solidFill>
            <a:srgbClr val="FFFFFF"/>
          </a:solidFill>
          <a:ln>
            <a:solidFill>
              <a:srgbClr val="D9CEF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150"/>
              </a:spcAft>
            </a:pPr>
            <a:r>
              <a:rPr sz="780" b="1">
                <a:solidFill>
                  <a:srgbClr val="6A2CC9"/>
                </a:solidFill>
                <a:latin typeface="Arial"/>
              </a:rPr>
              <a:t>[WHY 3] </a:t>
            </a:r>
            <a:r>
              <a:rPr sz="780" b="1">
                <a:solidFill>
                  <a:srgbClr val="2A2A3D"/>
                </a:solidFill>
                <a:latin typeface="Arial"/>
              </a:rPr>
              <a:t>Mengapa tidak diketahui mesin mana dan shift mana yang bermasalah?</a:t>
            </a:r>
          </a:p>
          <a:p>
            <a:pPr>
              <a:spcAft>
                <a:spcPts val="150"/>
              </a:spcAft>
            </a:pPr>
            <a:r>
              <a:rPr sz="780" b="1">
                <a:solidFill>
                  <a:srgbClr val="6A2CC9"/>
                </a:solidFill>
                <a:latin typeface="Arial"/>
              </a:rPr>
              <a:t>➔ </a:t>
            </a:r>
            <a:r>
              <a:rPr sz="780" b="0">
                <a:solidFill>
                  <a:srgbClr val="2A2A3D"/>
                </a:solidFill>
                <a:latin typeface="Arial"/>
              </a:rPr>
              <a:t>Data jenis kerusakan QC tidak terhubung dengan data penugasan operasional (mesin, shift, PO).</a:t>
            </a:r>
          </a:p>
          <a:p>
            <a:r>
              <a:rPr sz="700" i="1">
                <a:solidFill>
                  <a:srgbClr val="6E6E82"/>
                </a:solidFill>
                <a:latin typeface="Arial"/>
              </a:rPr>
              <a:t>   [Bukti: Laporan QC Verifikasi hanya menyajikan total kerusakan general di level unit]</a:t>
            </a:r>
          </a:p>
        </p:txBody>
      </p:sp>
      <p:sp>
        <p:nvSpPr>
          <p:cNvPr id="13" name="Rounded Rectangle 12"/>
          <p:cNvSpPr/>
          <p:nvPr/>
        </p:nvSpPr>
        <p:spPr>
          <a:xfrm>
            <a:off x="658368" y="4215384"/>
            <a:ext cx="5358384" cy="658368"/>
          </a:xfrm>
          <a:prstGeom prst="roundRect">
            <a:avLst/>
          </a:prstGeom>
          <a:solidFill>
            <a:srgbClr val="FFFFFF"/>
          </a:solidFill>
          <a:ln>
            <a:solidFill>
              <a:srgbClr val="D9CEF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150"/>
              </a:spcAft>
            </a:pPr>
            <a:r>
              <a:rPr sz="780" b="1">
                <a:solidFill>
                  <a:srgbClr val="6A2CC9"/>
                </a:solidFill>
                <a:latin typeface="Arial"/>
              </a:rPr>
              <a:t>[WHY 4] </a:t>
            </a:r>
            <a:r>
              <a:rPr sz="780" b="1">
                <a:solidFill>
                  <a:srgbClr val="2A2A3D"/>
                </a:solidFill>
                <a:latin typeface="Arial"/>
              </a:rPr>
              <a:t>Mengapa data kerusakan dan penugasan operasional tidak terhubung?</a:t>
            </a:r>
          </a:p>
          <a:p>
            <a:pPr>
              <a:spcAft>
                <a:spcPts val="150"/>
              </a:spcAft>
            </a:pPr>
            <a:r>
              <a:rPr sz="780" b="1">
                <a:solidFill>
                  <a:srgbClr val="6A2CC9"/>
                </a:solidFill>
                <a:latin typeface="Arial"/>
              </a:rPr>
              <a:t>➔ </a:t>
            </a:r>
            <a:r>
              <a:rPr sz="780" b="0">
                <a:solidFill>
                  <a:srgbClr val="2A2A3D"/>
                </a:solidFill>
                <a:latin typeface="Arial"/>
              </a:rPr>
              <a:t>Terjadi Data Silo: data mutu di SAP/QC, penugasan dicatat manual di buku folio meja mesin.</a:t>
            </a:r>
          </a:p>
          <a:p>
            <a:r>
              <a:rPr sz="700" i="1">
                <a:solidFill>
                  <a:srgbClr val="6E6E82"/>
                </a:solidFill>
                <a:latin typeface="Arial"/>
              </a:rPr>
              <a:t>   [Bukti: Tabel CSV mentah SAP ZPPRSIPPC0012 vs Buku Folio Fisik Meja Mesin]</a:t>
            </a:r>
          </a:p>
        </p:txBody>
      </p:sp>
      <p:sp>
        <p:nvSpPr>
          <p:cNvPr id="14" name="Rounded Rectangle 13"/>
          <p:cNvSpPr/>
          <p:nvPr/>
        </p:nvSpPr>
        <p:spPr>
          <a:xfrm>
            <a:off x="658368" y="4901184"/>
            <a:ext cx="5358384" cy="841248"/>
          </a:xfrm>
          <a:prstGeom prst="roundRect">
            <a:avLst/>
          </a:prstGeom>
          <a:solidFill>
            <a:srgbClr val="FFFFFF"/>
          </a:solidFill>
          <a:ln>
            <a:solidFill>
              <a:srgbClr val="F5C2C2"/>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150"/>
              </a:spcAft>
            </a:pPr>
            <a:r>
              <a:rPr sz="780" b="1">
                <a:solidFill>
                  <a:srgbClr val="C62828"/>
                </a:solidFill>
                <a:latin typeface="Arial"/>
              </a:rPr>
              <a:t>[WHY 5 (ROOT CAUSE)] </a:t>
            </a:r>
            <a:r>
              <a:rPr sz="780" b="1">
                <a:solidFill>
                  <a:srgbClr val="2A2A3D"/>
                </a:solidFill>
                <a:latin typeface="Arial"/>
              </a:rPr>
              <a:t>Mengapa data terpisah dan dicatat secara manual di buku folio?</a:t>
            </a:r>
          </a:p>
          <a:p>
            <a:pPr>
              <a:spcAft>
                <a:spcPts val="150"/>
              </a:spcAft>
            </a:pPr>
            <a:r>
              <a:rPr sz="780" b="1">
                <a:solidFill>
                  <a:srgbClr val="C62828"/>
                </a:solidFill>
                <a:latin typeface="Arial"/>
              </a:rPr>
              <a:t>➔ </a:t>
            </a:r>
            <a:r>
              <a:rPr sz="780" b="1">
                <a:solidFill>
                  <a:srgbClr val="C62828"/>
                </a:solidFill>
                <a:latin typeface="Arial"/>
              </a:rPr>
              <a:t>Ketiadaan Decision Support System (DSS) terpadu yang mendigitalisasi input PO di lapangan &amp; menghubungkannya real-time ke data mutu per mesin &amp; shift.</a:t>
            </a:r>
          </a:p>
          <a:p>
            <a:r>
              <a:rPr sz="700" i="1">
                <a:solidFill>
                  <a:srgbClr val="C62828"/>
                </a:solidFill>
                <a:latin typeface="Arial"/>
              </a:rPr>
              <a:t>   [Status: Akar Masalah Fundamental yang Belum Pernah Diselesaikan di Unit Cetak]</a:t>
            </a:r>
          </a:p>
        </p:txBody>
      </p:sp>
      <p:sp>
        <p:nvSpPr>
          <p:cNvPr id="15" name="Rectangle 14"/>
          <p:cNvSpPr/>
          <p:nvPr/>
        </p:nvSpPr>
        <p:spPr>
          <a:xfrm>
            <a:off x="6382512" y="1755648"/>
            <a:ext cx="5257800" cy="329184"/>
          </a:xfrm>
          <a:prstGeom prst="rect">
            <a:avLst/>
          </a:prstGeom>
          <a:solidFill>
            <a:srgbClr val="6A2CC9"/>
          </a:solidFill>
          <a:ln>
            <a:noFill/>
          </a:ln>
        </p:spPr>
        <p:style>
          <a:lnRef idx="1">
            <a:schemeClr val="accent1"/>
          </a:lnRef>
          <a:fillRef idx="3">
            <a:schemeClr val="accent1"/>
          </a:fillRef>
          <a:effectRef idx="2">
            <a:schemeClr val="accent1"/>
          </a:effectRef>
          <a:fontRef idx="minor">
            <a:schemeClr val="lt1"/>
          </a:fontRef>
        </p:style>
        <p:txBody>
          <a:bodyPr rtlCol="0" anchor="ctr" tIns="36576" bIns="36576"/>
          <a:lstStyle/>
          <a:p>
            <a:pPr algn="ctr"/>
            <a:r>
              <a:rPr sz="1050" b="1">
                <a:solidFill>
                  <a:srgbClr val="FFFFFF"/>
                </a:solidFill>
                <a:latin typeface="Arial"/>
              </a:rPr>
              <a:t>2. AKAR MASALAH UTAMA &amp; JEMBATAN MENUJU SOLUSI</a:t>
            </a:r>
          </a:p>
        </p:txBody>
      </p:sp>
      <p:sp>
        <p:nvSpPr>
          <p:cNvPr id="16" name="Rounded Rectangle 15"/>
          <p:cNvSpPr/>
          <p:nvPr/>
        </p:nvSpPr>
        <p:spPr>
          <a:xfrm>
            <a:off x="6382512" y="2084831"/>
            <a:ext cx="5257800" cy="3730752"/>
          </a:xfrm>
          <a:prstGeom prst="roundRect">
            <a:avLst/>
          </a:prstGeom>
          <a:solidFill>
            <a:srgbClr val="F8F6FE"/>
          </a:solidFill>
          <a:ln>
            <a:solidFill>
              <a:srgbClr val="D9CE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492240" y="2157984"/>
            <a:ext cx="5038344" cy="1536192"/>
          </a:xfrm>
          <a:prstGeom prst="roundRect">
            <a:avLst/>
          </a:prstGeom>
          <a:solidFill>
            <a:srgbClr val="FFF5F5"/>
          </a:solidFill>
          <a:ln>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300"/>
              </a:spcAft>
            </a:pPr>
            <a:r>
              <a:rPr sz="950" b="1">
                <a:solidFill>
                  <a:srgbClr val="C62828"/>
                </a:solidFill>
                <a:latin typeface="Arial"/>
              </a:rPr>
              <a:t>RUMUSAN AKAR MASALAH UTAMA (CORE ROOT CAUSE):</a:t>
            </a:r>
          </a:p>
          <a:p>
            <a:pPr>
              <a:spcAft>
                <a:spcPts val="300"/>
              </a:spcAft>
            </a:pPr>
            <a:r>
              <a:rPr sz="860" b="1" i="1">
                <a:solidFill>
                  <a:srgbClr val="2A2A3D"/>
                </a:solidFill>
                <a:latin typeface="Arial"/>
              </a:rPr>
              <a:t>“Ketiadaan sistem pendukung keputusan (Decision Support System) yang terintegrasi secara real-time untuk mendigitalisasi rekam jejak produksi per PO di lapangan, serta menghubungkan data kuantitas dan jenis kerusakan secara spesifik ke tingkat mesin dan kondisi operasional (shift/tim kerja).”</a:t>
            </a:r>
          </a:p>
          <a:p>
            <a:r>
              <a:rPr sz="780" b="1">
                <a:solidFill>
                  <a:srgbClr val="2E7D32"/>
                </a:solidFill>
                <a:latin typeface="Arial"/>
              </a:rPr>
              <a:t>✓ Status: Tervalidasi 100% via Audit Alur Kerja Unit Cetak 2025</a:t>
            </a:r>
          </a:p>
        </p:txBody>
      </p:sp>
      <p:sp>
        <p:nvSpPr>
          <p:cNvPr id="18" name="Rounded Rectangle 17"/>
          <p:cNvSpPr/>
          <p:nvPr/>
        </p:nvSpPr>
        <p:spPr>
          <a:xfrm>
            <a:off x="6492240" y="3767328"/>
            <a:ext cx="5038344" cy="1956816"/>
          </a:xfrm>
          <a:prstGeom prst="roundRect">
            <a:avLst/>
          </a:prstGeom>
          <a:solidFill>
            <a:srgbClr val="FFFFFF"/>
          </a:solidFill>
          <a:ln>
            <a:solidFill>
              <a:srgbClr val="6A2CC9"/>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300"/>
              </a:spcAft>
            </a:pPr>
            <a:r>
              <a:rPr sz="919" b="1">
                <a:solidFill>
                  <a:srgbClr val="6A2CC9"/>
                </a:solidFill>
                <a:latin typeface="Arial"/>
              </a:rPr>
              <a:t>JEMBATAN LOGIKA SEBAB-AKIBAT MENUJU SOLUSI (POINT 04):</a:t>
            </a:r>
          </a:p>
          <a:p>
            <a:pPr>
              <a:spcAft>
                <a:spcPts val="200"/>
              </a:spcAft>
            </a:pPr>
            <a:r>
              <a:rPr sz="780" b="1">
                <a:solidFill>
                  <a:srgbClr val="6A2CC9"/>
                </a:solidFill>
                <a:latin typeface="Arial"/>
              </a:rPr>
              <a:t>• 1. Akar Masalah: </a:t>
            </a:r>
            <a:r>
              <a:rPr sz="780" b="0">
                <a:solidFill>
                  <a:srgbClr val="2A2A3D"/>
                </a:solidFill>
                <a:latin typeface="Arial"/>
              </a:rPr>
              <a:t>Ketiadaan DSS terpadu per PO, Mesin, &amp; Shift kerja.</a:t>
            </a:r>
          </a:p>
          <a:p>
            <a:pPr>
              <a:spcAft>
                <a:spcPts val="200"/>
              </a:spcAft>
            </a:pPr>
            <a:r>
              <a:rPr sz="780" b="1">
                <a:solidFill>
                  <a:srgbClr val="20288F"/>
                </a:solidFill>
                <a:latin typeface="Arial"/>
              </a:rPr>
              <a:t>• 2. Gejala Lapangan: </a:t>
            </a:r>
            <a:r>
              <a:rPr sz="780" b="0">
                <a:solidFill>
                  <a:srgbClr val="2A2A3D"/>
                </a:solidFill>
                <a:latin typeface="Arial"/>
              </a:rPr>
              <a:t>Data Silo -&gt; Maintenance spekulatif (&gt; 8 jam) &amp; evaluasi tertunda.</a:t>
            </a:r>
          </a:p>
          <a:p>
            <a:pPr>
              <a:spcAft>
                <a:spcPts val="200"/>
              </a:spcAft>
            </a:pPr>
            <a:r>
              <a:rPr sz="780" b="1">
                <a:solidFill>
                  <a:srgbClr val="C62828"/>
                </a:solidFill>
                <a:latin typeface="Arial"/>
              </a:rPr>
              <a:t>• 3. Dampak Terukur: </a:t>
            </a:r>
            <a:r>
              <a:rPr sz="780" b="0">
                <a:solidFill>
                  <a:srgbClr val="2A2A3D"/>
                </a:solidFill>
                <a:latin typeface="Arial"/>
              </a:rPr>
              <a:t>Inschiet 4,61% (Potensi pemborosan biaya Rp 24,56 Miliar/Tahun).</a:t>
            </a:r>
          </a:p>
          <a:p>
            <a:pPr>
              <a:spcAft>
                <a:spcPts val="200"/>
              </a:spcAft>
            </a:pPr>
            <a:r>
              <a:rPr sz="780" b="1">
                <a:solidFill>
                  <a:srgbClr val="2E7D32"/>
                </a:solidFill>
                <a:latin typeface="Arial"/>
              </a:rPr>
              <a:t>• 4. Sasaran Solusi DSS SIRINE 4.0: </a:t>
            </a:r>
            <a:r>
              <a:rPr sz="780" b="1">
                <a:solidFill>
                  <a:srgbClr val="2E7D32"/>
                </a:solidFill>
                <a:latin typeface="Arial"/>
              </a:rPr>
              <a:t>Menghadirkan Arsitektur Dua Lapisan (Form Input Digital &lt; 30 detik + 6 Modul Preskriptif) untuk menyerang langsung akar masalah Why 5.</a:t>
            </a:r>
          </a:p>
        </p:txBody>
      </p:sp>
      <p:sp>
        <p:nvSpPr>
          <p:cNvPr id="19" name="Rounded Rectangle 18"/>
          <p:cNvSpPr/>
          <p:nvPr/>
        </p:nvSpPr>
        <p:spPr>
          <a:xfrm>
            <a:off x="548640" y="5888736"/>
            <a:ext cx="11091672" cy="457200"/>
          </a:xfrm>
          <a:prstGeom prst="roundRect">
            <a:avLst/>
          </a:prstGeom>
          <a:solidFill>
            <a:srgbClr val="F8F6FE"/>
          </a:solidFill>
          <a:ln>
            <a:solidFill>
              <a:srgbClr val="6A2CC9"/>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lstStyle/>
          <a:p>
            <a:pPr algn="ctr"/>
            <a:r>
              <a:rPr sz="880" b="1">
                <a:solidFill>
                  <a:srgbClr val="6A2CC9"/>
                </a:solidFill>
                <a:latin typeface="Arial"/>
              </a:rPr>
              <a:t>• Keterkaitan dengan Solusi:  </a:t>
            </a:r>
            <a:r>
              <a:rPr sz="880">
                <a:solidFill>
                  <a:srgbClr val="2A2A3D"/>
                </a:solidFill>
                <a:latin typeface="Arial"/>
              </a:rPr>
              <a:t>Inovasi DSS SIRINE 4.0 pada Point 04 secara presisi menyerang akar masalah Why 5: meruntuhkan Data Silo melalui integrasi otomatis Lapisan 1 (Input Digital Lapangan) dan Lapisan 2 (Dasbor Preskriptif Per Mesin &amp; Per Shift) guna mengeliminasi spekulasi teknis.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548640" y="660861"/>
            <a:ext cx="731520" cy="731520"/>
          </a:xfrm>
          <a:prstGeom prst="ellipse">
            <a:avLst/>
          </a:prstGeom>
          <a:solidFill>
            <a:srgbClr val="6A2CC9"/>
          </a:solidFill>
          <a:ln/>
          <a:effectLst>
            <a:outerShdw blurRad="101600" dist="25400" dir="5400000" algn="bl" rotWithShape="0">
              <a:srgbClr val="6A2CC9">
                <a:alpha val="28000"/>
              </a:srgbClr>
            </a:outerShdw>
          </a:effectLst>
        </p:spPr>
      </p:sp>
      <p:sp>
        <p:nvSpPr>
          <p:cNvPr id="4" name="Text 2"/>
          <p:cNvSpPr/>
          <p:nvPr/>
        </p:nvSpPr>
        <p:spPr>
          <a:xfrm>
            <a:off x="548640" y="660861"/>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04</a:t>
            </a:r>
            <a:endParaRPr lang="en-US" sz="2200" dirty="0"/>
          </a:p>
        </p:txBody>
      </p:sp>
      <p:sp>
        <p:nvSpPr>
          <p:cNvPr id="5" name="Text 3"/>
          <p:cNvSpPr/>
          <p:nvPr/>
        </p:nvSpPr>
        <p:spPr>
          <a:xfrm>
            <a:off x="1463040" y="615144"/>
            <a:ext cx="7498080" cy="777240"/>
          </a:xfrm>
          <a:prstGeom prst="rect">
            <a:avLst/>
          </a:prstGeom>
          <a:noFill/>
          <a:ln/>
        </p:spPr>
        <p:txBody>
          <a:bodyPr wrap="square" lIns="0" tIns="0" rIns="0" bIns="0" rtlCol="0" anchor="ctr"/>
          <a:lstStyle/>
          <a:p>
            <a:pPr marL="0" indent="0">
              <a:buNone/>
            </a:pPr>
            <a:r>
              <a:rPr lang="en-US" sz="3400" b="1" dirty="0">
                <a:solidFill>
                  <a:srgbClr val="20288F"/>
                </a:solidFill>
                <a:latin typeface="Arial" pitchFamily="34" charset="0"/>
                <a:ea typeface="Arial" pitchFamily="34" charset="-122"/>
                <a:cs typeface="Arial" pitchFamily="34" charset="-120"/>
              </a:rPr>
              <a:t>Solusi</a:t>
            </a:r>
            <a:endParaRPr lang="en-US" sz="3400" dirty="0"/>
          </a:p>
        </p:txBody>
      </p:sp>
      <p:sp>
        <p:nvSpPr>
          <p:cNvPr id="8" name="Text 6"/>
          <p:cNvSpPr/>
          <p:nvPr/>
        </p:nvSpPr>
        <p:spPr>
          <a:xfrm>
            <a:off x="548640" y="1417320"/>
            <a:ext cx="8229600" cy="548640"/>
          </a:xfrm>
          <a:prstGeom prst="rect">
            <a:avLst/>
          </a:prstGeom>
          <a:noFill/>
          <a:ln/>
        </p:spPr>
        <p:txBody>
          <a:bodyPr wrap="square" lIns="0" tIns="0" rIns="0" bIns="0" rtlCol="0" anchor="ctr"/>
          <a:lstStyle/>
          <a:p>
            <a:pPr marL="0" indent="0">
              <a:buNone/>
            </a:pPr>
            <a:r>
              <a:rPr lang="en-US" sz="1450" b="1" i="1" dirty="0">
                <a:solidFill>
                  <a:srgbClr val="6A2CC9"/>
                </a:solidFill>
                <a:latin typeface="Arial" pitchFamily="34" charset="0"/>
                <a:ea typeface="Arial" pitchFamily="34" charset="-122"/>
                <a:cs typeface="Arial" pitchFamily="34" charset="-120"/>
              </a:rPr>
              <a:t>Tujuan bagian ini:  </a:t>
            </a:r>
            <a:r>
              <a:rPr lang="en-US" sz="1450" i="1" dirty="0">
                <a:solidFill>
                  <a:srgbClr val="33334D"/>
                </a:solidFill>
                <a:latin typeface="Arial" pitchFamily="34" charset="0"/>
                <a:ea typeface="Arial" pitchFamily="34" charset="-122"/>
                <a:cs typeface="Arial" pitchFamily="34" charset="-120"/>
              </a:rPr>
              <a:t>Jelaskan solusi yang logis dan cukup sederhana untuk diuji skala kecil.</a:t>
            </a:r>
            <a:endParaRPr lang="en-US" sz="1450" dirty="0"/>
          </a:p>
        </p:txBody>
      </p:sp>
      <p:sp>
        <p:nvSpPr>
          <p:cNvPr id="9" name="Shape 7"/>
          <p:cNvSpPr/>
          <p:nvPr/>
        </p:nvSpPr>
        <p:spPr>
          <a:xfrm>
            <a:off x="548640" y="2148840"/>
            <a:ext cx="7955280" cy="3703320"/>
          </a:xfrm>
          <a:prstGeom prst="roundRect">
            <a:avLst>
              <a:gd name="adj" fmla="val 2963"/>
            </a:avLst>
          </a:prstGeom>
          <a:solidFill>
            <a:srgbClr val="F5F1FF"/>
          </a:solidFill>
          <a:ln w="12700">
            <a:solidFill>
              <a:srgbClr val="EFE7FF"/>
            </a:solidFill>
            <a:prstDash val="solid"/>
          </a:ln>
          <a:effectLst>
            <a:outerShdw blurRad="101600" dist="25400" dir="5400000" algn="bl" rotWithShape="0">
              <a:srgbClr val="C9BEE8">
                <a:alpha val="30000"/>
              </a:srgbClr>
            </a:outerShdw>
          </a:effectLst>
        </p:spPr>
      </p:sp>
      <p:sp>
        <p:nvSpPr>
          <p:cNvPr id="10" name="Text 8"/>
          <p:cNvSpPr/>
          <p:nvPr/>
        </p:nvSpPr>
        <p:spPr>
          <a:xfrm>
            <a:off x="868680" y="2377440"/>
            <a:ext cx="7315200" cy="365760"/>
          </a:xfrm>
          <a:prstGeom prst="rect">
            <a:avLst/>
          </a:prstGeom>
          <a:noFill/>
          <a:ln/>
        </p:spPr>
        <p:txBody>
          <a:bodyPr wrap="square" lIns="0" tIns="0" rIns="0" bIns="0" rtlCol="0" anchor="ctr"/>
          <a:lstStyle/>
          <a:p>
            <a:pPr marL="0" indent="0">
              <a:buNone/>
            </a:pPr>
            <a:r>
              <a:rPr lang="en-US" sz="1600" b="1" dirty="0">
                <a:solidFill>
                  <a:srgbClr val="6A2CC9"/>
                </a:solidFill>
                <a:latin typeface="Arial" pitchFamily="34" charset="0"/>
                <a:ea typeface="Arial" pitchFamily="34" charset="-122"/>
                <a:cs typeface="Arial" pitchFamily="34" charset="-120"/>
              </a:rPr>
              <a:t>Yang harus disampaikan</a:t>
            </a:r>
            <a:endParaRPr lang="en-US" sz="1600" dirty="0"/>
          </a:p>
        </p:txBody>
      </p:sp>
      <p:sp>
        <p:nvSpPr>
          <p:cNvPr id="11" name="Text 9"/>
          <p:cNvSpPr/>
          <p:nvPr/>
        </p:nvSpPr>
        <p:spPr>
          <a:xfrm>
            <a:off x="914400" y="2880360"/>
            <a:ext cx="7223760" cy="2697480"/>
          </a:xfrm>
          <a:prstGeom prst="rect">
            <a:avLst/>
          </a:prstGeom>
          <a:noFill/>
          <a:ln/>
        </p:spPr>
        <p:txBody>
          <a:bodyPr wrap="square" lIns="0" tIns="0" rIns="0" bIns="0" rtlCol="0" anchor="t"/>
          <a:lstStyle/>
          <a:p>
            <a:pPr marL="203200" indent="-203200">
              <a:lnSpc>
                <a:spcPct val="105000"/>
              </a:lnSpc>
              <a:spcAft>
                <a:spcPts val="1200"/>
              </a:spcAft>
              <a:buSzPct val="100000"/>
              <a:buChar char="•"/>
            </a:pPr>
            <a:r>
              <a:rPr lang="en-US" sz="1450" dirty="0">
                <a:solidFill>
                  <a:srgbClr val="33334D"/>
                </a:solidFill>
                <a:latin typeface="Arial" pitchFamily="34" charset="0"/>
                <a:ea typeface="Arial" pitchFamily="34" charset="-122"/>
                <a:cs typeface="Arial" pitchFamily="34" charset="-120"/>
              </a:rPr>
              <a:t>Konsep &amp; mekanisme kerja: bagaimana solusi mengatasi akar masalah (sebab-akibat).</a:t>
            </a:r>
            <a:endParaRPr lang="en-US" sz="1450" dirty="0"/>
          </a:p>
          <a:p>
            <a:pPr marL="203200" indent="-203200">
              <a:lnSpc>
                <a:spcPct val="105000"/>
              </a:lnSpc>
              <a:spcAft>
                <a:spcPts val="1200"/>
              </a:spcAft>
              <a:buSzPct val="100000"/>
              <a:buChar char="•"/>
            </a:pPr>
            <a:r>
              <a:rPr lang="en-US" sz="1450" dirty="0">
                <a:solidFill>
                  <a:srgbClr val="33334D"/>
                </a:solidFill>
                <a:latin typeface="Arial" pitchFamily="34" charset="0"/>
                <a:ea typeface="Arial" pitchFamily="34" charset="-122"/>
                <a:cs typeface="Arial" pitchFamily="34" charset="-120"/>
              </a:rPr>
              <a:t>Unsur kebaruan / nilai tambah dibanding cara sekarang &amp; praktik unit lain.</a:t>
            </a:r>
            <a:endParaRPr lang="en-US" sz="1450" dirty="0"/>
          </a:p>
          <a:p>
            <a:pPr marL="203200" indent="-203200">
              <a:lnSpc>
                <a:spcPct val="105000"/>
              </a:lnSpc>
              <a:spcAft>
                <a:spcPts val="1200"/>
              </a:spcAft>
              <a:buSzPct val="100000"/>
              <a:buChar char="•"/>
            </a:pPr>
            <a:r>
              <a:rPr lang="en-US" sz="1450" dirty="0">
                <a:solidFill>
                  <a:srgbClr val="33334D"/>
                </a:solidFill>
                <a:latin typeface="Arial" pitchFamily="34" charset="0"/>
                <a:ea typeface="Arial" pitchFamily="34" charset="-122"/>
                <a:cs typeface="Arial" pitchFamily="34" charset="-120"/>
              </a:rPr>
              <a:t>Alur proses Before → After (satu gambar sederhana).</a:t>
            </a:r>
            <a:endParaRPr lang="en-US" sz="1450" dirty="0"/>
          </a:p>
          <a:p>
            <a:pPr marL="203200" indent="-203200">
              <a:lnSpc>
                <a:spcPct val="105000"/>
              </a:lnSpc>
              <a:spcAft>
                <a:spcPts val="1200"/>
              </a:spcAft>
              <a:buSzPct val="100000"/>
              <a:buChar char="•"/>
            </a:pPr>
            <a:r>
              <a:rPr lang="en-US" sz="1450" dirty="0">
                <a:solidFill>
                  <a:srgbClr val="33334D"/>
                </a:solidFill>
                <a:latin typeface="Arial" pitchFamily="34" charset="0"/>
                <a:ea typeface="Arial" pitchFamily="34" charset="-122"/>
                <a:cs typeface="Arial" pitchFamily="34" charset="-120"/>
              </a:rPr>
              <a:t>Target perbaikan + estimasi dampak, dengan asumsi ditulis eksplisit.</a:t>
            </a:r>
            <a:endParaRPr lang="en-US" sz="1450" dirty="0"/>
          </a:p>
        </p:txBody>
      </p:sp>
      <p:sp>
        <p:nvSpPr>
          <p:cNvPr id="12" name="Text 10"/>
          <p:cNvSpPr/>
          <p:nvPr/>
        </p:nvSpPr>
        <p:spPr>
          <a:xfrm>
            <a:off x="548640" y="6400800"/>
            <a:ext cx="11094415" cy="274320"/>
          </a:xfrm>
          <a:prstGeom prst="rect">
            <a:avLst/>
          </a:prstGeom>
          <a:noFill/>
          <a:ln/>
        </p:spPr>
        <p:txBody>
          <a:bodyPr wrap="square" lIns="0" tIns="0" rIns="0" bIns="0" rtlCol="0" anchor="ctr"/>
          <a:lstStyle/>
          <a:p>
            <a:pPr marL="0" indent="0" algn="l">
              <a:buNone/>
            </a:pPr>
            <a:r>
              <a:rPr lang="en-US" sz="950" i="1" dirty="0">
                <a:solidFill>
                  <a:srgbClr val="8A8A9A"/>
                </a:solidFill>
                <a:latin typeface="Arial" pitchFamily="34" charset="0"/>
                <a:ea typeface="Arial" pitchFamily="34" charset="-122"/>
                <a:cs typeface="Arial" pitchFamily="34" charset="-120"/>
              </a:rPr>
              <a:t>Ganti poin di atas dengan konten proyek Anda (grafik, tabel, foto, atau diagram).  ·  IAKA 2026 — Kerangka Presentasi Peserta</a:t>
            </a:r>
            <a:endParaRPr lang="en-US" sz="950" dirty="0"/>
          </a:p>
        </p:txBody>
      </p:sp>
      <p:pic>
        <p:nvPicPr>
          <p:cNvPr id="14" name="Picture 13">
            <a:extLst>
              <a:ext uri="{FF2B5EF4-FFF2-40B4-BE49-F238E27FC236}">
                <a16:creationId xmlns:a16="http://schemas.microsoft.com/office/drawing/2014/main" id="{6414E8F2-A5B1-3F56-0F8B-39357A339293}"/>
              </a:ext>
            </a:extLst>
          </p:cNvPr>
          <p:cNvPicPr>
            <a:picLocks noChangeAspect="1"/>
          </p:cNvPicPr>
          <p:nvPr/>
        </p:nvPicPr>
        <p:blipFill>
          <a:blip r:embed="rId3"/>
          <a:stretch>
            <a:fillRect/>
          </a:stretch>
        </p:blipFill>
        <p:spPr>
          <a:xfrm>
            <a:off x="11056239" y="11533"/>
            <a:ext cx="1140374" cy="634767"/>
          </a:xfrm>
          <a:prstGeom prst="rect">
            <a:avLst/>
          </a:prstGeom>
        </p:spPr>
      </p:pic>
      <p:pic>
        <p:nvPicPr>
          <p:cNvPr id="16" name="Picture 15">
            <a:extLst>
              <a:ext uri="{FF2B5EF4-FFF2-40B4-BE49-F238E27FC236}">
                <a16:creationId xmlns:a16="http://schemas.microsoft.com/office/drawing/2014/main" id="{77AFAF28-00EA-4613-5CBC-84951BC19A85}"/>
              </a:ext>
            </a:extLst>
          </p:cNvPr>
          <p:cNvPicPr>
            <a:picLocks noChangeAspect="1"/>
          </p:cNvPicPr>
          <p:nvPr/>
        </p:nvPicPr>
        <p:blipFill>
          <a:blip r:embed="rId4"/>
          <a:stretch>
            <a:fillRect/>
          </a:stretch>
        </p:blipFill>
        <p:spPr>
          <a:xfrm>
            <a:off x="-108068" y="-179554"/>
            <a:ext cx="1448261" cy="81464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548640" y="610986"/>
            <a:ext cx="731520" cy="731520"/>
          </a:xfrm>
          <a:prstGeom prst="ellipse">
            <a:avLst/>
          </a:prstGeom>
          <a:solidFill>
            <a:srgbClr val="6A2CC9"/>
          </a:solidFill>
          <a:ln/>
          <a:effectLst>
            <a:outerShdw blurRad="101600" dist="25400" dir="5400000" algn="bl" rotWithShape="0">
              <a:srgbClr val="6A2CC9">
                <a:alpha val="28000"/>
              </a:srgbClr>
            </a:outerShdw>
          </a:effectLst>
        </p:spPr>
      </p:sp>
      <p:sp>
        <p:nvSpPr>
          <p:cNvPr id="4" name="Text 2"/>
          <p:cNvSpPr/>
          <p:nvPr/>
        </p:nvSpPr>
        <p:spPr>
          <a:xfrm>
            <a:off x="548640" y="610986"/>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05</a:t>
            </a:r>
            <a:endParaRPr lang="en-US" sz="2200" dirty="0"/>
          </a:p>
        </p:txBody>
      </p:sp>
      <p:sp>
        <p:nvSpPr>
          <p:cNvPr id="5" name="Text 3"/>
          <p:cNvSpPr/>
          <p:nvPr/>
        </p:nvSpPr>
        <p:spPr>
          <a:xfrm>
            <a:off x="1463040" y="556954"/>
            <a:ext cx="7498080" cy="777240"/>
          </a:xfrm>
          <a:prstGeom prst="rect">
            <a:avLst/>
          </a:prstGeom>
          <a:noFill/>
          <a:ln/>
        </p:spPr>
        <p:txBody>
          <a:bodyPr wrap="square" lIns="0" tIns="0" rIns="0" bIns="0" rtlCol="0" anchor="ctr"/>
          <a:lstStyle/>
          <a:p>
            <a:pPr marL="0" indent="0">
              <a:buNone/>
            </a:pPr>
            <a:r>
              <a:rPr lang="en-US" sz="3400" b="1" dirty="0">
                <a:solidFill>
                  <a:srgbClr val="20288F"/>
                </a:solidFill>
                <a:latin typeface="Arial" pitchFamily="34" charset="0"/>
                <a:ea typeface="Arial" pitchFamily="34" charset="-122"/>
                <a:cs typeface="Arial" pitchFamily="34" charset="-120"/>
              </a:rPr>
              <a:t>Implementasi</a:t>
            </a:r>
            <a:endParaRPr lang="en-US" sz="3400" dirty="0"/>
          </a:p>
        </p:txBody>
      </p:sp>
      <p:sp>
        <p:nvSpPr>
          <p:cNvPr id="8" name="Text 6"/>
          <p:cNvSpPr/>
          <p:nvPr/>
        </p:nvSpPr>
        <p:spPr>
          <a:xfrm>
            <a:off x="548640" y="1417320"/>
            <a:ext cx="8229600" cy="548640"/>
          </a:xfrm>
          <a:prstGeom prst="rect">
            <a:avLst/>
          </a:prstGeom>
          <a:noFill/>
          <a:ln/>
        </p:spPr>
        <p:txBody>
          <a:bodyPr wrap="square" lIns="0" tIns="0" rIns="0" bIns="0" rtlCol="0" anchor="ctr"/>
          <a:lstStyle/>
          <a:p>
            <a:pPr marL="0" indent="0">
              <a:buNone/>
            </a:pPr>
            <a:r>
              <a:rPr lang="en-US" sz="1450" b="1" i="1" dirty="0">
                <a:solidFill>
                  <a:srgbClr val="6A2CC9"/>
                </a:solidFill>
                <a:latin typeface="Arial" pitchFamily="34" charset="0"/>
                <a:ea typeface="Arial" pitchFamily="34" charset="-122"/>
                <a:cs typeface="Arial" pitchFamily="34" charset="-120"/>
              </a:rPr>
              <a:t>Tujuan bagian ini:  </a:t>
            </a:r>
            <a:r>
              <a:rPr lang="en-US" sz="1450" i="1" dirty="0">
                <a:solidFill>
                  <a:srgbClr val="33334D"/>
                </a:solidFill>
                <a:latin typeface="Arial" pitchFamily="34" charset="0"/>
                <a:ea typeface="Arial" pitchFamily="34" charset="-122"/>
                <a:cs typeface="Arial" pitchFamily="34" charset="-120"/>
              </a:rPr>
              <a:t>Buktikan solusi benar-benar dijalankan dan hasilnya terukur (uji coba/MVP).</a:t>
            </a:r>
            <a:endParaRPr lang="en-US" sz="1450" dirty="0"/>
          </a:p>
        </p:txBody>
      </p:sp>
      <p:sp>
        <p:nvSpPr>
          <p:cNvPr id="9" name="Shape 7"/>
          <p:cNvSpPr/>
          <p:nvPr/>
        </p:nvSpPr>
        <p:spPr>
          <a:xfrm>
            <a:off x="548640" y="2148840"/>
            <a:ext cx="7955280" cy="3703320"/>
          </a:xfrm>
          <a:prstGeom prst="roundRect">
            <a:avLst>
              <a:gd name="adj" fmla="val 2963"/>
            </a:avLst>
          </a:prstGeom>
          <a:solidFill>
            <a:srgbClr val="F5F1FF"/>
          </a:solidFill>
          <a:ln w="12700">
            <a:solidFill>
              <a:srgbClr val="EFE7FF"/>
            </a:solidFill>
            <a:prstDash val="solid"/>
          </a:ln>
          <a:effectLst>
            <a:outerShdw blurRad="101600" dist="25400" dir="5400000" algn="bl" rotWithShape="0">
              <a:srgbClr val="C9BEE8">
                <a:alpha val="30000"/>
              </a:srgbClr>
            </a:outerShdw>
          </a:effectLst>
        </p:spPr>
      </p:sp>
      <p:sp>
        <p:nvSpPr>
          <p:cNvPr id="10" name="Text 8"/>
          <p:cNvSpPr/>
          <p:nvPr/>
        </p:nvSpPr>
        <p:spPr>
          <a:xfrm>
            <a:off x="868680" y="2377440"/>
            <a:ext cx="7315200" cy="365760"/>
          </a:xfrm>
          <a:prstGeom prst="rect">
            <a:avLst/>
          </a:prstGeom>
          <a:noFill/>
          <a:ln/>
        </p:spPr>
        <p:txBody>
          <a:bodyPr wrap="square" lIns="0" tIns="0" rIns="0" bIns="0" rtlCol="0" anchor="ctr"/>
          <a:lstStyle/>
          <a:p>
            <a:pPr marL="0" indent="0">
              <a:buNone/>
            </a:pPr>
            <a:r>
              <a:rPr lang="en-US" sz="1600" b="1" dirty="0">
                <a:solidFill>
                  <a:srgbClr val="6A2CC9"/>
                </a:solidFill>
                <a:latin typeface="Arial" pitchFamily="34" charset="0"/>
                <a:ea typeface="Arial" pitchFamily="34" charset="-122"/>
                <a:cs typeface="Arial" pitchFamily="34" charset="-120"/>
              </a:rPr>
              <a:t>Yang harus disampaikan</a:t>
            </a:r>
            <a:endParaRPr lang="en-US" sz="1600" dirty="0"/>
          </a:p>
        </p:txBody>
      </p:sp>
      <p:sp>
        <p:nvSpPr>
          <p:cNvPr id="11" name="Text 9"/>
          <p:cNvSpPr/>
          <p:nvPr/>
        </p:nvSpPr>
        <p:spPr>
          <a:xfrm>
            <a:off x="914400" y="2880360"/>
            <a:ext cx="7223760" cy="2697480"/>
          </a:xfrm>
          <a:prstGeom prst="rect">
            <a:avLst/>
          </a:prstGeom>
          <a:noFill/>
          <a:ln/>
        </p:spPr>
        <p:txBody>
          <a:bodyPr wrap="square" lIns="0" tIns="0" rIns="0" bIns="0" rtlCol="0" anchor="t"/>
          <a:lstStyle/>
          <a:p>
            <a:pPr marL="203200" indent="-203200">
              <a:lnSpc>
                <a:spcPct val="105000"/>
              </a:lnSpc>
              <a:spcAft>
                <a:spcPts val="1200"/>
              </a:spcAft>
              <a:buSzPct val="100000"/>
              <a:buChar char="•"/>
            </a:pPr>
            <a:r>
              <a:rPr lang="en-US" sz="1450" dirty="0">
                <a:solidFill>
                  <a:srgbClr val="33334D"/>
                </a:solidFill>
                <a:latin typeface="Arial" pitchFamily="34" charset="0"/>
                <a:ea typeface="Arial" pitchFamily="34" charset="-122"/>
                <a:cs typeface="Arial" pitchFamily="34" charset="-120"/>
              </a:rPr>
              <a:t>Lingkup uji: lokasi, lini/shift, periode, dan PIC.</a:t>
            </a:r>
            <a:endParaRPr lang="en-US" sz="1450" dirty="0"/>
          </a:p>
          <a:p>
            <a:pPr marL="203200" indent="-203200">
              <a:lnSpc>
                <a:spcPct val="105000"/>
              </a:lnSpc>
              <a:spcAft>
                <a:spcPts val="1200"/>
              </a:spcAft>
              <a:buSzPct val="100000"/>
              <a:buChar char="•"/>
            </a:pPr>
            <a:r>
              <a:rPr lang="en-US" sz="1450" dirty="0">
                <a:solidFill>
                  <a:srgbClr val="33334D"/>
                </a:solidFill>
                <a:latin typeface="Arial" pitchFamily="34" charset="0"/>
                <a:ea typeface="Arial" pitchFamily="34" charset="-122"/>
                <a:cs typeface="Arial" pitchFamily="34" charset="-120"/>
              </a:rPr>
              <a:t>Kendala yang dihadapi &amp; cara penanggulangannya.</a:t>
            </a:r>
            <a:endParaRPr lang="en-US" sz="1450" dirty="0"/>
          </a:p>
          <a:p>
            <a:pPr marL="203200" indent="-203200">
              <a:lnSpc>
                <a:spcPct val="105000"/>
              </a:lnSpc>
              <a:spcAft>
                <a:spcPts val="1200"/>
              </a:spcAft>
              <a:buSzPct val="100000"/>
              <a:buChar char="•"/>
            </a:pPr>
            <a:r>
              <a:rPr lang="en-US" sz="1450" dirty="0">
                <a:solidFill>
                  <a:srgbClr val="33334D"/>
                </a:solidFill>
                <a:latin typeface="Arial" pitchFamily="34" charset="0"/>
                <a:ea typeface="Arial" pitchFamily="34" charset="-122"/>
                <a:cs typeface="Arial" pitchFamily="34" charset="-120"/>
              </a:rPr>
              <a:t>Data Before vs After: nilai, selisih, % perubahan, jumlah data (n).</a:t>
            </a:r>
            <a:endParaRPr lang="en-US" sz="1450" dirty="0"/>
          </a:p>
          <a:p>
            <a:pPr marL="203200" indent="-203200">
              <a:lnSpc>
                <a:spcPct val="105000"/>
              </a:lnSpc>
              <a:spcAft>
                <a:spcPts val="1200"/>
              </a:spcAft>
              <a:buSzPct val="100000"/>
              <a:buChar char="•"/>
            </a:pPr>
            <a:r>
              <a:rPr lang="en-US" sz="1450" dirty="0">
                <a:solidFill>
                  <a:srgbClr val="33334D"/>
                </a:solidFill>
                <a:latin typeface="Arial" pitchFamily="34" charset="0"/>
                <a:ea typeface="Arial" pitchFamily="34" charset="-122"/>
                <a:cs typeface="Arial" pitchFamily="34" charset="-120"/>
              </a:rPr>
              <a:t>Perbandingan realisasi vs </a:t>
            </a:r>
            <a:r>
              <a:rPr lang="en-US" sz="1450" dirty="0" err="1">
                <a:solidFill>
                  <a:srgbClr val="33334D"/>
                </a:solidFill>
                <a:latin typeface="Arial" pitchFamily="34" charset="0"/>
                <a:ea typeface="Arial" pitchFamily="34" charset="-122"/>
                <a:cs typeface="Arial" pitchFamily="34" charset="-120"/>
              </a:rPr>
              <a:t>rencana</a:t>
            </a:r>
            <a:r>
              <a:rPr lang="en-US" sz="1450" dirty="0">
                <a:solidFill>
                  <a:srgbClr val="33334D"/>
                </a:solidFill>
                <a:latin typeface="Arial" pitchFamily="34" charset="0"/>
                <a:ea typeface="Arial" pitchFamily="34" charset="-122"/>
                <a:cs typeface="Arial" pitchFamily="34" charset="-120"/>
              </a:rPr>
              <a:t> </a:t>
            </a:r>
            <a:endParaRPr lang="en-US" sz="1450" dirty="0"/>
          </a:p>
        </p:txBody>
      </p:sp>
      <p:sp>
        <p:nvSpPr>
          <p:cNvPr id="12" name="Text 10"/>
          <p:cNvSpPr/>
          <p:nvPr/>
        </p:nvSpPr>
        <p:spPr>
          <a:xfrm>
            <a:off x="548640" y="6400800"/>
            <a:ext cx="11094415" cy="274320"/>
          </a:xfrm>
          <a:prstGeom prst="rect">
            <a:avLst/>
          </a:prstGeom>
          <a:noFill/>
          <a:ln/>
        </p:spPr>
        <p:txBody>
          <a:bodyPr wrap="square" lIns="0" tIns="0" rIns="0" bIns="0" rtlCol="0" anchor="ctr"/>
          <a:lstStyle/>
          <a:p>
            <a:pPr marL="0" indent="0" algn="l">
              <a:buNone/>
            </a:pPr>
            <a:r>
              <a:rPr lang="en-US" sz="950" i="1" dirty="0">
                <a:solidFill>
                  <a:srgbClr val="8A8A9A"/>
                </a:solidFill>
                <a:latin typeface="Arial" pitchFamily="34" charset="0"/>
                <a:ea typeface="Arial" pitchFamily="34" charset="-122"/>
                <a:cs typeface="Arial" pitchFamily="34" charset="-120"/>
              </a:rPr>
              <a:t>Ganti poin di atas dengan konten proyek Anda (grafik, tabel, foto, atau diagram).  ·  IAKA 2026 — Kerangka Presentasi Peserta</a:t>
            </a:r>
            <a:endParaRPr lang="en-US" sz="950" dirty="0"/>
          </a:p>
        </p:txBody>
      </p:sp>
      <p:pic>
        <p:nvPicPr>
          <p:cNvPr id="14" name="Picture 13">
            <a:extLst>
              <a:ext uri="{FF2B5EF4-FFF2-40B4-BE49-F238E27FC236}">
                <a16:creationId xmlns:a16="http://schemas.microsoft.com/office/drawing/2014/main" id="{1FB1BEF3-2E55-84AC-27CB-B08DDF2AED22}"/>
              </a:ext>
            </a:extLst>
          </p:cNvPr>
          <p:cNvPicPr>
            <a:picLocks noChangeAspect="1"/>
          </p:cNvPicPr>
          <p:nvPr/>
        </p:nvPicPr>
        <p:blipFill>
          <a:blip r:embed="rId3"/>
          <a:stretch>
            <a:fillRect/>
          </a:stretch>
        </p:blipFill>
        <p:spPr>
          <a:xfrm>
            <a:off x="11056239" y="11533"/>
            <a:ext cx="1140374" cy="634767"/>
          </a:xfrm>
          <a:prstGeom prst="rect">
            <a:avLst/>
          </a:prstGeom>
        </p:spPr>
      </p:pic>
      <p:pic>
        <p:nvPicPr>
          <p:cNvPr id="16" name="Picture 15">
            <a:extLst>
              <a:ext uri="{FF2B5EF4-FFF2-40B4-BE49-F238E27FC236}">
                <a16:creationId xmlns:a16="http://schemas.microsoft.com/office/drawing/2014/main" id="{E3189091-A826-254D-C3B7-80DAB4A39AF5}"/>
              </a:ext>
            </a:extLst>
          </p:cNvPr>
          <p:cNvPicPr>
            <a:picLocks noChangeAspect="1"/>
          </p:cNvPicPr>
          <p:nvPr/>
        </p:nvPicPr>
        <p:blipFill>
          <a:blip r:embed="rId4"/>
          <a:stretch>
            <a:fillRect/>
          </a:stretch>
        </p:blipFill>
        <p:spPr>
          <a:xfrm>
            <a:off x="-108068" y="-179554"/>
            <a:ext cx="1448261" cy="81464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548640" y="619299"/>
            <a:ext cx="731520" cy="731520"/>
          </a:xfrm>
          <a:prstGeom prst="ellipse">
            <a:avLst/>
          </a:prstGeom>
          <a:solidFill>
            <a:srgbClr val="6A2CC9"/>
          </a:solidFill>
          <a:ln/>
          <a:effectLst>
            <a:outerShdw blurRad="101600" dist="25400" dir="5400000" algn="bl" rotWithShape="0">
              <a:srgbClr val="6A2CC9">
                <a:alpha val="28000"/>
              </a:srgbClr>
            </a:outerShdw>
          </a:effectLst>
        </p:spPr>
      </p:sp>
      <p:sp>
        <p:nvSpPr>
          <p:cNvPr id="4" name="Text 2"/>
          <p:cNvSpPr/>
          <p:nvPr/>
        </p:nvSpPr>
        <p:spPr>
          <a:xfrm>
            <a:off x="548640" y="619299"/>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06</a:t>
            </a:r>
            <a:endParaRPr lang="en-US" sz="2200" dirty="0"/>
          </a:p>
        </p:txBody>
      </p:sp>
      <p:sp>
        <p:nvSpPr>
          <p:cNvPr id="5" name="Text 3"/>
          <p:cNvSpPr/>
          <p:nvPr/>
        </p:nvSpPr>
        <p:spPr>
          <a:xfrm>
            <a:off x="1463040" y="606829"/>
            <a:ext cx="7498080" cy="777240"/>
          </a:xfrm>
          <a:prstGeom prst="rect">
            <a:avLst/>
          </a:prstGeom>
          <a:noFill/>
          <a:ln/>
        </p:spPr>
        <p:txBody>
          <a:bodyPr wrap="square" lIns="0" tIns="0" rIns="0" bIns="0" rtlCol="0" anchor="ctr"/>
          <a:lstStyle/>
          <a:p>
            <a:pPr marL="0" indent="0">
              <a:buNone/>
            </a:pPr>
            <a:r>
              <a:rPr lang="en-US" sz="3400" b="1" dirty="0">
                <a:solidFill>
                  <a:srgbClr val="20288F"/>
                </a:solidFill>
                <a:latin typeface="Arial" pitchFamily="34" charset="0"/>
                <a:ea typeface="Arial" pitchFamily="34" charset="-122"/>
                <a:cs typeface="Arial" pitchFamily="34" charset="-120"/>
              </a:rPr>
              <a:t>Dampak</a:t>
            </a:r>
            <a:endParaRPr lang="en-US" sz="3400" dirty="0"/>
          </a:p>
        </p:txBody>
      </p:sp>
      <p:sp>
        <p:nvSpPr>
          <p:cNvPr id="8" name="Text 6"/>
          <p:cNvSpPr/>
          <p:nvPr/>
        </p:nvSpPr>
        <p:spPr>
          <a:xfrm>
            <a:off x="548640" y="1417320"/>
            <a:ext cx="8229600" cy="548640"/>
          </a:xfrm>
          <a:prstGeom prst="rect">
            <a:avLst/>
          </a:prstGeom>
          <a:noFill/>
          <a:ln/>
        </p:spPr>
        <p:txBody>
          <a:bodyPr wrap="square" lIns="0" tIns="0" rIns="0" bIns="0" rtlCol="0" anchor="ctr"/>
          <a:lstStyle/>
          <a:p>
            <a:pPr marL="0" indent="0">
              <a:buNone/>
            </a:pPr>
            <a:r>
              <a:rPr lang="en-US" sz="1450" b="1" i="1" dirty="0">
                <a:solidFill>
                  <a:srgbClr val="6A2CC9"/>
                </a:solidFill>
                <a:latin typeface="Arial" pitchFamily="34" charset="0"/>
                <a:ea typeface="Arial" pitchFamily="34" charset="-122"/>
                <a:cs typeface="Arial" pitchFamily="34" charset="-120"/>
              </a:rPr>
              <a:t>Tujuan bagian ini:  </a:t>
            </a:r>
            <a:r>
              <a:rPr lang="en-US" sz="1450" i="1" dirty="0">
                <a:solidFill>
                  <a:srgbClr val="33334D"/>
                </a:solidFill>
                <a:latin typeface="Arial" pitchFamily="34" charset="0"/>
                <a:ea typeface="Arial" pitchFamily="34" charset="-122"/>
                <a:cs typeface="Arial" pitchFamily="34" charset="-120"/>
              </a:rPr>
              <a:t>Sajikan dampak yang sudah tervalidasi — finansial dan non-finansial.</a:t>
            </a:r>
            <a:endParaRPr lang="en-US" sz="1450" dirty="0"/>
          </a:p>
        </p:txBody>
      </p:sp>
      <p:sp>
        <p:nvSpPr>
          <p:cNvPr id="9" name="Shape 7"/>
          <p:cNvSpPr/>
          <p:nvPr/>
        </p:nvSpPr>
        <p:spPr>
          <a:xfrm>
            <a:off x="548640" y="2148840"/>
            <a:ext cx="7955280" cy="3703320"/>
          </a:xfrm>
          <a:prstGeom prst="roundRect">
            <a:avLst>
              <a:gd name="adj" fmla="val 2963"/>
            </a:avLst>
          </a:prstGeom>
          <a:solidFill>
            <a:srgbClr val="F5F1FF"/>
          </a:solidFill>
          <a:ln w="12700">
            <a:solidFill>
              <a:srgbClr val="EFE7FF"/>
            </a:solidFill>
            <a:prstDash val="solid"/>
          </a:ln>
          <a:effectLst>
            <a:outerShdw blurRad="101600" dist="25400" dir="5400000" algn="bl" rotWithShape="0">
              <a:srgbClr val="C9BEE8">
                <a:alpha val="30000"/>
              </a:srgbClr>
            </a:outerShdw>
          </a:effectLst>
        </p:spPr>
      </p:sp>
      <p:sp>
        <p:nvSpPr>
          <p:cNvPr id="10" name="Text 8"/>
          <p:cNvSpPr/>
          <p:nvPr/>
        </p:nvSpPr>
        <p:spPr>
          <a:xfrm>
            <a:off x="868680" y="2377440"/>
            <a:ext cx="7315200" cy="365760"/>
          </a:xfrm>
          <a:prstGeom prst="rect">
            <a:avLst/>
          </a:prstGeom>
          <a:noFill/>
          <a:ln/>
        </p:spPr>
        <p:txBody>
          <a:bodyPr wrap="square" lIns="0" tIns="0" rIns="0" bIns="0" rtlCol="0" anchor="ctr"/>
          <a:lstStyle/>
          <a:p>
            <a:pPr marL="0" indent="0">
              <a:buNone/>
            </a:pPr>
            <a:r>
              <a:rPr lang="en-US" sz="1600" b="1" dirty="0">
                <a:solidFill>
                  <a:srgbClr val="6A2CC9"/>
                </a:solidFill>
                <a:latin typeface="Arial" pitchFamily="34" charset="0"/>
                <a:ea typeface="Arial" pitchFamily="34" charset="-122"/>
                <a:cs typeface="Arial" pitchFamily="34" charset="-120"/>
              </a:rPr>
              <a:t>Yang harus disampaikan</a:t>
            </a:r>
            <a:endParaRPr lang="en-US" sz="1600" dirty="0"/>
          </a:p>
        </p:txBody>
      </p:sp>
      <p:sp>
        <p:nvSpPr>
          <p:cNvPr id="11" name="Text 9"/>
          <p:cNvSpPr/>
          <p:nvPr/>
        </p:nvSpPr>
        <p:spPr>
          <a:xfrm>
            <a:off x="914400" y="2880360"/>
            <a:ext cx="7223760" cy="2697480"/>
          </a:xfrm>
          <a:prstGeom prst="rect">
            <a:avLst/>
          </a:prstGeom>
          <a:noFill/>
          <a:ln/>
        </p:spPr>
        <p:txBody>
          <a:bodyPr wrap="square" lIns="0" tIns="0" rIns="0" bIns="0" rtlCol="0" anchor="t"/>
          <a:lstStyle/>
          <a:p>
            <a:pPr marL="203200" indent="-203200">
              <a:lnSpc>
                <a:spcPct val="105000"/>
              </a:lnSpc>
              <a:spcAft>
                <a:spcPts val="1200"/>
              </a:spcAft>
              <a:buSzPct val="100000"/>
              <a:buChar char="•"/>
            </a:pPr>
            <a:r>
              <a:rPr lang="en-US" sz="1450" dirty="0">
                <a:solidFill>
                  <a:srgbClr val="33334D"/>
                </a:solidFill>
                <a:latin typeface="Arial" pitchFamily="34" charset="0"/>
                <a:ea typeface="Arial" pitchFamily="34" charset="-122"/>
                <a:cs typeface="Arial" pitchFamily="34" charset="-120"/>
              </a:rPr>
              <a:t>Cost saving / cost avoidance / revenue, diukur vs baseline terverifikasi.</a:t>
            </a:r>
            <a:endParaRPr lang="en-US" sz="1450" dirty="0"/>
          </a:p>
          <a:p>
            <a:pPr marL="203200" indent="-203200">
              <a:lnSpc>
                <a:spcPct val="105000"/>
              </a:lnSpc>
              <a:spcAft>
                <a:spcPts val="1200"/>
              </a:spcAft>
              <a:buSzPct val="100000"/>
              <a:buChar char="•"/>
            </a:pPr>
            <a:r>
              <a:rPr lang="en-US" sz="1450" dirty="0">
                <a:solidFill>
                  <a:srgbClr val="33334D"/>
                </a:solidFill>
                <a:latin typeface="Arial" pitchFamily="34" charset="0"/>
                <a:ea typeface="Arial" pitchFamily="34" charset="-122"/>
                <a:cs typeface="Arial" pitchFamily="34" charset="-120"/>
              </a:rPr>
              <a:t>Nilai bersih &amp; payback period .</a:t>
            </a:r>
            <a:endParaRPr lang="en-US" sz="1450" dirty="0"/>
          </a:p>
          <a:p>
            <a:pPr marL="203200" indent="-203200">
              <a:lnSpc>
                <a:spcPct val="105000"/>
              </a:lnSpc>
              <a:spcAft>
                <a:spcPts val="1200"/>
              </a:spcAft>
              <a:buSzPct val="100000"/>
              <a:buChar char="•"/>
            </a:pPr>
            <a:r>
              <a:rPr lang="en-US" sz="1450" dirty="0">
                <a:solidFill>
                  <a:srgbClr val="33334D"/>
                </a:solidFill>
                <a:latin typeface="Arial" pitchFamily="34" charset="0"/>
                <a:ea typeface="Arial" pitchFamily="34" charset="-122"/>
                <a:cs typeface="Arial" pitchFamily="34" charset="-120"/>
              </a:rPr>
              <a:t>Dampak non-finansial: mutu, K3L, kepatuhan, kepuasan pengguna.</a:t>
            </a:r>
            <a:endParaRPr lang="en-US" sz="1450" dirty="0"/>
          </a:p>
          <a:p>
            <a:pPr marL="203200" indent="-203200">
              <a:lnSpc>
                <a:spcPct val="105000"/>
              </a:lnSpc>
              <a:spcAft>
                <a:spcPts val="1200"/>
              </a:spcAft>
              <a:buSzPct val="100000"/>
              <a:buChar char="•"/>
            </a:pPr>
            <a:r>
              <a:rPr lang="en-US" sz="1450" dirty="0">
                <a:solidFill>
                  <a:srgbClr val="33334D"/>
                </a:solidFill>
                <a:latin typeface="Arial" pitchFamily="34" charset="0"/>
                <a:ea typeface="Arial" pitchFamily="34" charset="-122"/>
                <a:cs typeface="Arial" pitchFamily="34" charset="-120"/>
              </a:rPr>
              <a:t>Keterkaitan dengan strategi perusahaan &amp; potensi replikasi.</a:t>
            </a:r>
            <a:endParaRPr lang="en-US" sz="1450" dirty="0"/>
          </a:p>
        </p:txBody>
      </p:sp>
      <p:sp>
        <p:nvSpPr>
          <p:cNvPr id="12" name="Text 10"/>
          <p:cNvSpPr/>
          <p:nvPr/>
        </p:nvSpPr>
        <p:spPr>
          <a:xfrm>
            <a:off x="548640" y="6400800"/>
            <a:ext cx="11094415" cy="274320"/>
          </a:xfrm>
          <a:prstGeom prst="rect">
            <a:avLst/>
          </a:prstGeom>
          <a:noFill/>
          <a:ln/>
        </p:spPr>
        <p:txBody>
          <a:bodyPr wrap="square" lIns="0" tIns="0" rIns="0" bIns="0" rtlCol="0" anchor="ctr"/>
          <a:lstStyle/>
          <a:p>
            <a:pPr marL="0" indent="0" algn="l">
              <a:buNone/>
            </a:pPr>
            <a:r>
              <a:rPr lang="en-US" sz="950" i="1" dirty="0">
                <a:solidFill>
                  <a:srgbClr val="8A8A9A"/>
                </a:solidFill>
                <a:latin typeface="Arial" pitchFamily="34" charset="0"/>
                <a:ea typeface="Arial" pitchFamily="34" charset="-122"/>
                <a:cs typeface="Arial" pitchFamily="34" charset="-120"/>
              </a:rPr>
              <a:t>Ganti poin di atas dengan konten proyek Anda (grafik, tabel, foto, atau diagram).  ·  IAKA 2026 — Kerangka Presentasi Peserta</a:t>
            </a:r>
            <a:endParaRPr lang="en-US" sz="950" dirty="0"/>
          </a:p>
        </p:txBody>
      </p:sp>
      <p:pic>
        <p:nvPicPr>
          <p:cNvPr id="14" name="Picture 13">
            <a:extLst>
              <a:ext uri="{FF2B5EF4-FFF2-40B4-BE49-F238E27FC236}">
                <a16:creationId xmlns:a16="http://schemas.microsoft.com/office/drawing/2014/main" id="{113CABC3-586E-7F22-C24E-7E3D7593E669}"/>
              </a:ext>
            </a:extLst>
          </p:cNvPr>
          <p:cNvPicPr>
            <a:picLocks noChangeAspect="1"/>
          </p:cNvPicPr>
          <p:nvPr/>
        </p:nvPicPr>
        <p:blipFill>
          <a:blip r:embed="rId3"/>
          <a:stretch>
            <a:fillRect/>
          </a:stretch>
        </p:blipFill>
        <p:spPr>
          <a:xfrm>
            <a:off x="11056239" y="11533"/>
            <a:ext cx="1140374" cy="634767"/>
          </a:xfrm>
          <a:prstGeom prst="rect">
            <a:avLst/>
          </a:prstGeom>
        </p:spPr>
      </p:pic>
      <p:pic>
        <p:nvPicPr>
          <p:cNvPr id="16" name="Picture 15">
            <a:extLst>
              <a:ext uri="{FF2B5EF4-FFF2-40B4-BE49-F238E27FC236}">
                <a16:creationId xmlns:a16="http://schemas.microsoft.com/office/drawing/2014/main" id="{A9D540F0-33FD-3602-4087-CD7695575FC6}"/>
              </a:ext>
            </a:extLst>
          </p:cNvPr>
          <p:cNvPicPr>
            <a:picLocks noChangeAspect="1"/>
          </p:cNvPicPr>
          <p:nvPr/>
        </p:nvPicPr>
        <p:blipFill>
          <a:blip r:embed="rId4"/>
          <a:stretch>
            <a:fillRect/>
          </a:stretch>
        </p:blipFill>
        <p:spPr>
          <a:xfrm>
            <a:off x="-108068" y="-179554"/>
            <a:ext cx="1448261" cy="81464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548640" y="627610"/>
            <a:ext cx="731520" cy="731520"/>
          </a:xfrm>
          <a:prstGeom prst="ellipse">
            <a:avLst/>
          </a:prstGeom>
          <a:solidFill>
            <a:srgbClr val="6A2CC9"/>
          </a:solidFill>
          <a:ln/>
          <a:effectLst>
            <a:outerShdw blurRad="101600" dist="25400" dir="5400000" algn="bl" rotWithShape="0">
              <a:srgbClr val="6A2CC9">
                <a:alpha val="28000"/>
              </a:srgbClr>
            </a:outerShdw>
          </a:effectLst>
        </p:spPr>
      </p:sp>
      <p:sp>
        <p:nvSpPr>
          <p:cNvPr id="4" name="Text 2"/>
          <p:cNvSpPr/>
          <p:nvPr/>
        </p:nvSpPr>
        <p:spPr>
          <a:xfrm>
            <a:off x="548640" y="627610"/>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07</a:t>
            </a:r>
            <a:endParaRPr lang="en-US" sz="2200" dirty="0"/>
          </a:p>
        </p:txBody>
      </p:sp>
      <p:sp>
        <p:nvSpPr>
          <p:cNvPr id="5" name="Text 3"/>
          <p:cNvSpPr/>
          <p:nvPr/>
        </p:nvSpPr>
        <p:spPr>
          <a:xfrm>
            <a:off x="1463040" y="590203"/>
            <a:ext cx="7498080" cy="777240"/>
          </a:xfrm>
          <a:prstGeom prst="rect">
            <a:avLst/>
          </a:prstGeom>
          <a:noFill/>
          <a:ln/>
        </p:spPr>
        <p:txBody>
          <a:bodyPr wrap="square" lIns="0" tIns="0" rIns="0" bIns="0" rtlCol="0" anchor="ctr"/>
          <a:lstStyle/>
          <a:p>
            <a:pPr marL="0" indent="0">
              <a:buNone/>
            </a:pPr>
            <a:r>
              <a:rPr lang="en-US" sz="3400" b="1" dirty="0">
                <a:solidFill>
                  <a:srgbClr val="20288F"/>
                </a:solidFill>
                <a:latin typeface="Arial" pitchFamily="34" charset="0"/>
                <a:ea typeface="Arial" pitchFamily="34" charset="-122"/>
                <a:cs typeface="Arial" pitchFamily="34" charset="-120"/>
              </a:rPr>
              <a:t>Sustainability</a:t>
            </a:r>
            <a:endParaRPr lang="en-US" sz="3400" dirty="0"/>
          </a:p>
        </p:txBody>
      </p:sp>
      <p:sp>
        <p:nvSpPr>
          <p:cNvPr id="8" name="Text 6"/>
          <p:cNvSpPr/>
          <p:nvPr/>
        </p:nvSpPr>
        <p:spPr>
          <a:xfrm>
            <a:off x="548640" y="1417320"/>
            <a:ext cx="8229600" cy="548640"/>
          </a:xfrm>
          <a:prstGeom prst="rect">
            <a:avLst/>
          </a:prstGeom>
          <a:noFill/>
          <a:ln/>
        </p:spPr>
        <p:txBody>
          <a:bodyPr wrap="square" lIns="0" tIns="0" rIns="0" bIns="0" rtlCol="0" anchor="ctr"/>
          <a:lstStyle/>
          <a:p>
            <a:pPr marL="0" indent="0">
              <a:buNone/>
            </a:pPr>
            <a:r>
              <a:rPr lang="en-US" sz="1450" b="1" i="1" dirty="0">
                <a:solidFill>
                  <a:srgbClr val="6A2CC9"/>
                </a:solidFill>
                <a:latin typeface="Arial" pitchFamily="34" charset="0"/>
                <a:ea typeface="Arial" pitchFamily="34" charset="-122"/>
                <a:cs typeface="Arial" pitchFamily="34" charset="-120"/>
              </a:rPr>
              <a:t>Tujuan bagian ini:  </a:t>
            </a:r>
            <a:r>
              <a:rPr lang="en-US" sz="1450" i="1" dirty="0">
                <a:solidFill>
                  <a:srgbClr val="33334D"/>
                </a:solidFill>
                <a:latin typeface="Arial" pitchFamily="34" charset="0"/>
                <a:ea typeface="Arial" pitchFamily="34" charset="-122"/>
                <a:cs typeface="Arial" pitchFamily="34" charset="-120"/>
              </a:rPr>
              <a:t>Kunci cara kerja baru agar tidak bergantung pada ingatan atau satu orang.</a:t>
            </a:r>
            <a:endParaRPr lang="en-US" sz="1450" dirty="0"/>
          </a:p>
        </p:txBody>
      </p:sp>
      <p:sp>
        <p:nvSpPr>
          <p:cNvPr id="9" name="Shape 7"/>
          <p:cNvSpPr/>
          <p:nvPr/>
        </p:nvSpPr>
        <p:spPr>
          <a:xfrm>
            <a:off x="548640" y="2148840"/>
            <a:ext cx="7955280" cy="3703320"/>
          </a:xfrm>
          <a:prstGeom prst="roundRect">
            <a:avLst>
              <a:gd name="adj" fmla="val 2963"/>
            </a:avLst>
          </a:prstGeom>
          <a:solidFill>
            <a:srgbClr val="F5F1FF"/>
          </a:solidFill>
          <a:ln w="12700">
            <a:solidFill>
              <a:srgbClr val="EFE7FF"/>
            </a:solidFill>
            <a:prstDash val="solid"/>
          </a:ln>
          <a:effectLst>
            <a:outerShdw blurRad="101600" dist="25400" dir="5400000" algn="bl" rotWithShape="0">
              <a:srgbClr val="C9BEE8">
                <a:alpha val="30000"/>
              </a:srgbClr>
            </a:outerShdw>
          </a:effectLst>
        </p:spPr>
      </p:sp>
      <p:sp>
        <p:nvSpPr>
          <p:cNvPr id="10" name="Text 8"/>
          <p:cNvSpPr/>
          <p:nvPr/>
        </p:nvSpPr>
        <p:spPr>
          <a:xfrm>
            <a:off x="868680" y="2377440"/>
            <a:ext cx="7315200" cy="365760"/>
          </a:xfrm>
          <a:prstGeom prst="rect">
            <a:avLst/>
          </a:prstGeom>
          <a:noFill/>
          <a:ln/>
        </p:spPr>
        <p:txBody>
          <a:bodyPr wrap="square" lIns="0" tIns="0" rIns="0" bIns="0" rtlCol="0" anchor="ctr"/>
          <a:lstStyle/>
          <a:p>
            <a:pPr marL="0" indent="0">
              <a:buNone/>
            </a:pPr>
            <a:r>
              <a:rPr lang="en-US" sz="1600" b="1" dirty="0">
                <a:solidFill>
                  <a:srgbClr val="6A2CC9"/>
                </a:solidFill>
                <a:latin typeface="Arial" pitchFamily="34" charset="0"/>
                <a:ea typeface="Arial" pitchFamily="34" charset="-122"/>
                <a:cs typeface="Arial" pitchFamily="34" charset="-120"/>
              </a:rPr>
              <a:t>Yang harus disampaikan</a:t>
            </a:r>
            <a:endParaRPr lang="en-US" sz="1600" dirty="0"/>
          </a:p>
        </p:txBody>
      </p:sp>
      <p:sp>
        <p:nvSpPr>
          <p:cNvPr id="11" name="Text 9"/>
          <p:cNvSpPr/>
          <p:nvPr/>
        </p:nvSpPr>
        <p:spPr>
          <a:xfrm>
            <a:off x="914400" y="2880360"/>
            <a:ext cx="7223760" cy="2697480"/>
          </a:xfrm>
          <a:prstGeom prst="rect">
            <a:avLst/>
          </a:prstGeom>
          <a:noFill/>
          <a:ln/>
        </p:spPr>
        <p:txBody>
          <a:bodyPr wrap="square" lIns="0" tIns="0" rIns="0" bIns="0" rtlCol="0" anchor="t"/>
          <a:lstStyle/>
          <a:p>
            <a:pPr marL="203200" indent="-203200">
              <a:lnSpc>
                <a:spcPct val="105000"/>
              </a:lnSpc>
              <a:spcAft>
                <a:spcPts val="1200"/>
              </a:spcAft>
              <a:buSzPct val="100000"/>
              <a:buChar char="•"/>
            </a:pPr>
            <a:r>
              <a:rPr lang="en-US" sz="1450" dirty="0">
                <a:solidFill>
                  <a:srgbClr val="33334D"/>
                </a:solidFill>
                <a:latin typeface="Arial" pitchFamily="34" charset="0"/>
                <a:ea typeface="Arial" pitchFamily="34" charset="-122"/>
                <a:cs typeface="Arial" pitchFamily="34" charset="-120"/>
              </a:rPr>
              <a:t>SOP / IK baru: nomor dokumen, </a:t>
            </a:r>
            <a:r>
              <a:rPr lang="en-US" sz="1450" dirty="0" err="1">
                <a:solidFill>
                  <a:srgbClr val="33334D"/>
                </a:solidFill>
                <a:latin typeface="Arial" pitchFamily="34" charset="0"/>
                <a:ea typeface="Arial" pitchFamily="34" charset="-122"/>
                <a:cs typeface="Arial" pitchFamily="34" charset="-120"/>
              </a:rPr>
              <a:t>pengesahan</a:t>
            </a:r>
            <a:r>
              <a:rPr lang="en-US" sz="1450" dirty="0">
                <a:solidFill>
                  <a:srgbClr val="33334D"/>
                </a:solidFill>
                <a:latin typeface="Arial" pitchFamily="34" charset="0"/>
                <a:ea typeface="Arial" pitchFamily="34" charset="-122"/>
                <a:cs typeface="Arial" pitchFamily="34" charset="-120"/>
              </a:rPr>
              <a:t>.</a:t>
            </a:r>
            <a:endParaRPr lang="en-US" sz="1450" dirty="0"/>
          </a:p>
          <a:p>
            <a:pPr marL="203200" indent="-203200">
              <a:lnSpc>
                <a:spcPct val="105000"/>
              </a:lnSpc>
              <a:spcAft>
                <a:spcPts val="1200"/>
              </a:spcAft>
              <a:buSzPct val="100000"/>
              <a:buChar char="•"/>
            </a:pPr>
            <a:r>
              <a:rPr lang="en-US" sz="1450" dirty="0">
                <a:solidFill>
                  <a:srgbClr val="33334D"/>
                </a:solidFill>
                <a:latin typeface="Arial" pitchFamily="34" charset="0"/>
                <a:ea typeface="Arial" pitchFamily="34" charset="-122"/>
                <a:cs typeface="Arial" pitchFamily="34" charset="-120"/>
              </a:rPr>
              <a:t>Transfer knowledge: pelatihan + </a:t>
            </a:r>
            <a:r>
              <a:rPr lang="en-US" sz="1450" dirty="0" err="1">
                <a:solidFill>
                  <a:srgbClr val="33334D"/>
                </a:solidFill>
                <a:latin typeface="Arial" pitchFamily="34" charset="0"/>
                <a:ea typeface="Arial" pitchFamily="34" charset="-122"/>
                <a:cs typeface="Arial" pitchFamily="34" charset="-120"/>
              </a:rPr>
              <a:t>bukti</a:t>
            </a:r>
            <a:r>
              <a:rPr lang="en-US" sz="1450" dirty="0">
                <a:solidFill>
                  <a:srgbClr val="33334D"/>
                </a:solidFill>
                <a:latin typeface="Arial" pitchFamily="34" charset="0"/>
                <a:ea typeface="Arial" pitchFamily="34" charset="-122"/>
                <a:cs typeface="Arial" pitchFamily="34" charset="-120"/>
              </a:rPr>
              <a:t> </a:t>
            </a:r>
            <a:r>
              <a:rPr lang="en-US" sz="1450" dirty="0" err="1">
                <a:solidFill>
                  <a:srgbClr val="33334D"/>
                </a:solidFill>
                <a:latin typeface="Arial" pitchFamily="34" charset="0"/>
                <a:ea typeface="Arial" pitchFamily="34" charset="-122"/>
                <a:cs typeface="Arial" pitchFamily="34" charset="-120"/>
              </a:rPr>
              <a:t>pelaksanaan</a:t>
            </a:r>
            <a:r>
              <a:rPr lang="en-US" sz="1450" dirty="0">
                <a:solidFill>
                  <a:srgbClr val="33334D"/>
                </a:solidFill>
                <a:latin typeface="Arial" pitchFamily="34" charset="0"/>
                <a:ea typeface="Arial" pitchFamily="34" charset="-122"/>
                <a:cs typeface="Arial" pitchFamily="34" charset="-120"/>
              </a:rPr>
              <a:t>.</a:t>
            </a:r>
            <a:endParaRPr lang="en-US" sz="1450" dirty="0"/>
          </a:p>
        </p:txBody>
      </p:sp>
      <p:sp>
        <p:nvSpPr>
          <p:cNvPr id="12" name="Text 10"/>
          <p:cNvSpPr/>
          <p:nvPr/>
        </p:nvSpPr>
        <p:spPr>
          <a:xfrm>
            <a:off x="548640" y="6400800"/>
            <a:ext cx="11094415" cy="274320"/>
          </a:xfrm>
          <a:prstGeom prst="rect">
            <a:avLst/>
          </a:prstGeom>
          <a:noFill/>
          <a:ln/>
        </p:spPr>
        <p:txBody>
          <a:bodyPr wrap="square" lIns="0" tIns="0" rIns="0" bIns="0" rtlCol="0" anchor="ctr"/>
          <a:lstStyle/>
          <a:p>
            <a:pPr marL="0" indent="0" algn="l">
              <a:buNone/>
            </a:pPr>
            <a:r>
              <a:rPr lang="en-US" sz="950" i="1" dirty="0">
                <a:solidFill>
                  <a:srgbClr val="8A8A9A"/>
                </a:solidFill>
                <a:latin typeface="Arial" pitchFamily="34" charset="0"/>
                <a:ea typeface="Arial" pitchFamily="34" charset="-122"/>
                <a:cs typeface="Arial" pitchFamily="34" charset="-120"/>
              </a:rPr>
              <a:t>Ganti poin di atas dengan konten proyek Anda (grafik, tabel, foto, atau diagram).  ·  IAKA 2026 — Kerangka Presentasi Peserta</a:t>
            </a:r>
            <a:endParaRPr lang="en-US" sz="950" dirty="0"/>
          </a:p>
        </p:txBody>
      </p:sp>
      <p:pic>
        <p:nvPicPr>
          <p:cNvPr id="14" name="Picture 13">
            <a:extLst>
              <a:ext uri="{FF2B5EF4-FFF2-40B4-BE49-F238E27FC236}">
                <a16:creationId xmlns:a16="http://schemas.microsoft.com/office/drawing/2014/main" id="{D55FF66F-2B02-03E0-9576-6DAE99F43AAE}"/>
              </a:ext>
            </a:extLst>
          </p:cNvPr>
          <p:cNvPicPr>
            <a:picLocks noChangeAspect="1"/>
          </p:cNvPicPr>
          <p:nvPr/>
        </p:nvPicPr>
        <p:blipFill>
          <a:blip r:embed="rId3"/>
          <a:stretch>
            <a:fillRect/>
          </a:stretch>
        </p:blipFill>
        <p:spPr>
          <a:xfrm>
            <a:off x="11056239" y="11533"/>
            <a:ext cx="1140374" cy="634767"/>
          </a:xfrm>
          <a:prstGeom prst="rect">
            <a:avLst/>
          </a:prstGeom>
        </p:spPr>
      </p:pic>
      <p:pic>
        <p:nvPicPr>
          <p:cNvPr id="16" name="Picture 15">
            <a:extLst>
              <a:ext uri="{FF2B5EF4-FFF2-40B4-BE49-F238E27FC236}">
                <a16:creationId xmlns:a16="http://schemas.microsoft.com/office/drawing/2014/main" id="{B4DD5B6A-805D-73DE-4FCE-471134F101EF}"/>
              </a:ext>
            </a:extLst>
          </p:cNvPr>
          <p:cNvPicPr>
            <a:picLocks noChangeAspect="1"/>
          </p:cNvPicPr>
          <p:nvPr/>
        </p:nvPicPr>
        <p:blipFill>
          <a:blip r:embed="rId4"/>
          <a:stretch>
            <a:fillRect/>
          </a:stretch>
        </p:blipFill>
        <p:spPr>
          <a:xfrm>
            <a:off x="-108068" y="-179554"/>
            <a:ext cx="1448261" cy="81464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548640" y="610987"/>
            <a:ext cx="731520" cy="731520"/>
          </a:xfrm>
          <a:prstGeom prst="ellipse">
            <a:avLst/>
          </a:prstGeom>
          <a:solidFill>
            <a:srgbClr val="6A2CC9"/>
          </a:solidFill>
          <a:ln/>
          <a:effectLst>
            <a:outerShdw blurRad="101600" dist="25400" dir="5400000" algn="bl" rotWithShape="0">
              <a:srgbClr val="6A2CC9">
                <a:alpha val="28000"/>
              </a:srgbClr>
            </a:outerShdw>
          </a:effectLst>
        </p:spPr>
      </p:sp>
      <p:sp>
        <p:nvSpPr>
          <p:cNvPr id="4" name="Text 2"/>
          <p:cNvSpPr/>
          <p:nvPr/>
        </p:nvSpPr>
        <p:spPr>
          <a:xfrm>
            <a:off x="548640" y="610987"/>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08</a:t>
            </a:r>
            <a:endParaRPr lang="en-US" sz="2200" dirty="0"/>
          </a:p>
        </p:txBody>
      </p:sp>
      <p:sp>
        <p:nvSpPr>
          <p:cNvPr id="5" name="Text 3"/>
          <p:cNvSpPr/>
          <p:nvPr/>
        </p:nvSpPr>
        <p:spPr>
          <a:xfrm>
            <a:off x="1463040" y="590203"/>
            <a:ext cx="7498080" cy="777240"/>
          </a:xfrm>
          <a:prstGeom prst="rect">
            <a:avLst/>
          </a:prstGeom>
          <a:noFill/>
          <a:ln/>
        </p:spPr>
        <p:txBody>
          <a:bodyPr wrap="square" lIns="0" tIns="0" rIns="0" bIns="0" rtlCol="0" anchor="ctr"/>
          <a:lstStyle/>
          <a:p>
            <a:pPr marL="0" indent="0">
              <a:buNone/>
            </a:pPr>
            <a:r>
              <a:rPr lang="en-US" sz="3400" b="1" dirty="0">
                <a:solidFill>
                  <a:srgbClr val="20288F"/>
                </a:solidFill>
                <a:latin typeface="Arial" pitchFamily="34" charset="0"/>
                <a:ea typeface="Arial" pitchFamily="34" charset="-122"/>
                <a:cs typeface="Arial" pitchFamily="34" charset="-120"/>
              </a:rPr>
              <a:t>Lesson Learned</a:t>
            </a:r>
            <a:endParaRPr lang="en-US" sz="3400" dirty="0"/>
          </a:p>
        </p:txBody>
      </p:sp>
      <p:sp>
        <p:nvSpPr>
          <p:cNvPr id="8" name="Text 6"/>
          <p:cNvSpPr/>
          <p:nvPr/>
        </p:nvSpPr>
        <p:spPr>
          <a:xfrm>
            <a:off x="548640" y="1417320"/>
            <a:ext cx="8229600" cy="548640"/>
          </a:xfrm>
          <a:prstGeom prst="rect">
            <a:avLst/>
          </a:prstGeom>
          <a:noFill/>
          <a:ln/>
        </p:spPr>
        <p:txBody>
          <a:bodyPr wrap="square" lIns="0" tIns="0" rIns="0" bIns="0" rtlCol="0" anchor="ctr"/>
          <a:lstStyle/>
          <a:p>
            <a:pPr marL="0" indent="0">
              <a:buNone/>
            </a:pPr>
            <a:r>
              <a:rPr lang="en-US" sz="1450" b="1" i="1" dirty="0">
                <a:solidFill>
                  <a:srgbClr val="6A2CC9"/>
                </a:solidFill>
                <a:latin typeface="Arial" pitchFamily="34" charset="0"/>
                <a:ea typeface="Arial" pitchFamily="34" charset="-122"/>
                <a:cs typeface="Arial" pitchFamily="34" charset="-120"/>
              </a:rPr>
              <a:t>Tujuan bagian ini:  </a:t>
            </a:r>
            <a:r>
              <a:rPr lang="en-US" sz="1450" i="1" dirty="0">
                <a:solidFill>
                  <a:srgbClr val="33334D"/>
                </a:solidFill>
                <a:latin typeface="Arial" pitchFamily="34" charset="0"/>
                <a:ea typeface="Arial" pitchFamily="34" charset="-122"/>
                <a:cs typeface="Arial" pitchFamily="34" charset="-120"/>
              </a:rPr>
              <a:t>Bagikan pembelajaran agar inovasi/kaizen dapat direplikasi unit lain.</a:t>
            </a:r>
            <a:endParaRPr lang="en-US" sz="1450" dirty="0"/>
          </a:p>
        </p:txBody>
      </p:sp>
      <p:sp>
        <p:nvSpPr>
          <p:cNvPr id="9" name="Shape 7"/>
          <p:cNvSpPr/>
          <p:nvPr/>
        </p:nvSpPr>
        <p:spPr>
          <a:xfrm>
            <a:off x="548640" y="2148840"/>
            <a:ext cx="7955280" cy="3703320"/>
          </a:xfrm>
          <a:prstGeom prst="roundRect">
            <a:avLst>
              <a:gd name="adj" fmla="val 2963"/>
            </a:avLst>
          </a:prstGeom>
          <a:solidFill>
            <a:srgbClr val="F5F1FF"/>
          </a:solidFill>
          <a:ln w="12700">
            <a:solidFill>
              <a:srgbClr val="EFE7FF"/>
            </a:solidFill>
            <a:prstDash val="solid"/>
          </a:ln>
          <a:effectLst>
            <a:outerShdw blurRad="101600" dist="25400" dir="5400000" algn="bl" rotWithShape="0">
              <a:srgbClr val="C9BEE8">
                <a:alpha val="30000"/>
              </a:srgbClr>
            </a:outerShdw>
          </a:effectLst>
        </p:spPr>
      </p:sp>
      <p:sp>
        <p:nvSpPr>
          <p:cNvPr id="10" name="Text 8"/>
          <p:cNvSpPr/>
          <p:nvPr/>
        </p:nvSpPr>
        <p:spPr>
          <a:xfrm>
            <a:off x="868680" y="2377440"/>
            <a:ext cx="7315200" cy="365760"/>
          </a:xfrm>
          <a:prstGeom prst="rect">
            <a:avLst/>
          </a:prstGeom>
          <a:noFill/>
          <a:ln/>
        </p:spPr>
        <p:txBody>
          <a:bodyPr wrap="square" lIns="0" tIns="0" rIns="0" bIns="0" rtlCol="0" anchor="ctr"/>
          <a:lstStyle/>
          <a:p>
            <a:pPr marL="0" indent="0">
              <a:buNone/>
            </a:pPr>
            <a:r>
              <a:rPr lang="en-US" sz="1600" b="1" dirty="0">
                <a:solidFill>
                  <a:srgbClr val="6A2CC9"/>
                </a:solidFill>
                <a:latin typeface="Arial" pitchFamily="34" charset="0"/>
                <a:ea typeface="Arial" pitchFamily="34" charset="-122"/>
                <a:cs typeface="Arial" pitchFamily="34" charset="-120"/>
              </a:rPr>
              <a:t>Yang harus disampaikan</a:t>
            </a:r>
            <a:endParaRPr lang="en-US" sz="1600" dirty="0"/>
          </a:p>
        </p:txBody>
      </p:sp>
      <p:sp>
        <p:nvSpPr>
          <p:cNvPr id="11" name="Text 9"/>
          <p:cNvSpPr/>
          <p:nvPr/>
        </p:nvSpPr>
        <p:spPr>
          <a:xfrm>
            <a:off x="914400" y="2880360"/>
            <a:ext cx="7223760" cy="2697480"/>
          </a:xfrm>
          <a:prstGeom prst="rect">
            <a:avLst/>
          </a:prstGeom>
          <a:noFill/>
          <a:ln/>
        </p:spPr>
        <p:txBody>
          <a:bodyPr wrap="square" lIns="0" tIns="0" rIns="0" bIns="0" rtlCol="0" anchor="t"/>
          <a:lstStyle/>
          <a:p>
            <a:pPr marL="203200" indent="-203200">
              <a:lnSpc>
                <a:spcPct val="105000"/>
              </a:lnSpc>
              <a:spcAft>
                <a:spcPts val="1200"/>
              </a:spcAft>
              <a:buSzPct val="100000"/>
              <a:buChar char="•"/>
            </a:pPr>
            <a:r>
              <a:rPr lang="en-US" sz="1450" dirty="0">
                <a:solidFill>
                  <a:srgbClr val="33334D"/>
                </a:solidFill>
                <a:latin typeface="Arial" pitchFamily="34" charset="0"/>
                <a:ea typeface="Arial" pitchFamily="34" charset="-122"/>
                <a:cs typeface="Arial" pitchFamily="34" charset="-120"/>
              </a:rPr>
              <a:t>Tantangan utama selama pelaksanaan proyek.</a:t>
            </a:r>
            <a:endParaRPr lang="en-US" sz="1450" dirty="0"/>
          </a:p>
          <a:p>
            <a:pPr marL="203200" indent="-203200">
              <a:lnSpc>
                <a:spcPct val="105000"/>
              </a:lnSpc>
              <a:spcAft>
                <a:spcPts val="1200"/>
              </a:spcAft>
              <a:buSzPct val="100000"/>
              <a:buChar char="•"/>
            </a:pPr>
            <a:r>
              <a:rPr lang="en-US" sz="1450" dirty="0">
                <a:solidFill>
                  <a:srgbClr val="33334D"/>
                </a:solidFill>
                <a:latin typeface="Arial" pitchFamily="34" charset="0"/>
                <a:ea typeface="Arial" pitchFamily="34" charset="-122"/>
                <a:cs typeface="Arial" pitchFamily="34" charset="-120"/>
              </a:rPr>
              <a:t>Mitigasi yang dilakukan untuk mengatasinya.</a:t>
            </a:r>
            <a:endParaRPr lang="en-US" sz="1450" dirty="0"/>
          </a:p>
          <a:p>
            <a:pPr marL="203200" indent="-203200">
              <a:lnSpc>
                <a:spcPct val="105000"/>
              </a:lnSpc>
              <a:spcAft>
                <a:spcPts val="1200"/>
              </a:spcAft>
              <a:buSzPct val="100000"/>
              <a:buChar char="•"/>
            </a:pPr>
            <a:r>
              <a:rPr lang="en-US" sz="1450" dirty="0">
                <a:solidFill>
                  <a:srgbClr val="33334D"/>
                </a:solidFill>
                <a:latin typeface="Arial" pitchFamily="34" charset="0"/>
                <a:ea typeface="Arial" pitchFamily="34" charset="-122"/>
                <a:cs typeface="Arial" pitchFamily="34" charset="-120"/>
              </a:rPr>
              <a:t>Pembelajaran yang didapat &amp; rekomendasi pengembangan.</a:t>
            </a:r>
            <a:endParaRPr lang="en-US" sz="1450" dirty="0"/>
          </a:p>
          <a:p>
            <a:pPr marL="203200" indent="-203200">
              <a:lnSpc>
                <a:spcPct val="105000"/>
              </a:lnSpc>
              <a:spcAft>
                <a:spcPts val="1200"/>
              </a:spcAft>
              <a:buSzPct val="100000"/>
              <a:buChar char="•"/>
            </a:pPr>
            <a:r>
              <a:rPr lang="en-US" sz="1450" dirty="0">
                <a:solidFill>
                  <a:srgbClr val="33334D"/>
                </a:solidFill>
                <a:latin typeface="Arial" pitchFamily="34" charset="0"/>
                <a:ea typeface="Arial" pitchFamily="34" charset="-122"/>
                <a:cs typeface="Arial" pitchFamily="34" charset="-120"/>
              </a:rPr>
              <a:t>Kesimpulan ringkas atas keseluruhan proyek.</a:t>
            </a:r>
            <a:endParaRPr lang="en-US" sz="1450" dirty="0"/>
          </a:p>
        </p:txBody>
      </p:sp>
      <p:sp>
        <p:nvSpPr>
          <p:cNvPr id="12" name="Text 10"/>
          <p:cNvSpPr/>
          <p:nvPr/>
        </p:nvSpPr>
        <p:spPr>
          <a:xfrm>
            <a:off x="548640" y="6400800"/>
            <a:ext cx="11094415" cy="274320"/>
          </a:xfrm>
          <a:prstGeom prst="rect">
            <a:avLst/>
          </a:prstGeom>
          <a:noFill/>
          <a:ln/>
        </p:spPr>
        <p:txBody>
          <a:bodyPr wrap="square" lIns="0" tIns="0" rIns="0" bIns="0" rtlCol="0" anchor="ctr"/>
          <a:lstStyle/>
          <a:p>
            <a:pPr marL="0" indent="0" algn="l">
              <a:buNone/>
            </a:pPr>
            <a:r>
              <a:rPr lang="en-US" sz="950" i="1" dirty="0">
                <a:solidFill>
                  <a:srgbClr val="8A8A9A"/>
                </a:solidFill>
                <a:latin typeface="Arial" pitchFamily="34" charset="0"/>
                <a:ea typeface="Arial" pitchFamily="34" charset="-122"/>
                <a:cs typeface="Arial" pitchFamily="34" charset="-120"/>
              </a:rPr>
              <a:t>Ganti poin di atas dengan konten proyek Anda (grafik, tabel, foto, atau diagram).  ·  IAKA 2026 — Kerangka Presentasi Peserta</a:t>
            </a:r>
            <a:endParaRPr lang="en-US" sz="950" dirty="0"/>
          </a:p>
        </p:txBody>
      </p:sp>
      <p:pic>
        <p:nvPicPr>
          <p:cNvPr id="14" name="Picture 13">
            <a:extLst>
              <a:ext uri="{FF2B5EF4-FFF2-40B4-BE49-F238E27FC236}">
                <a16:creationId xmlns:a16="http://schemas.microsoft.com/office/drawing/2014/main" id="{F8D59126-8548-61A7-0017-F07778DC5863}"/>
              </a:ext>
            </a:extLst>
          </p:cNvPr>
          <p:cNvPicPr>
            <a:picLocks noChangeAspect="1"/>
          </p:cNvPicPr>
          <p:nvPr/>
        </p:nvPicPr>
        <p:blipFill>
          <a:blip r:embed="rId3"/>
          <a:stretch>
            <a:fillRect/>
          </a:stretch>
        </p:blipFill>
        <p:spPr>
          <a:xfrm>
            <a:off x="11056239" y="11533"/>
            <a:ext cx="1140374" cy="634767"/>
          </a:xfrm>
          <a:prstGeom prst="rect">
            <a:avLst/>
          </a:prstGeom>
        </p:spPr>
      </p:pic>
      <p:pic>
        <p:nvPicPr>
          <p:cNvPr id="16" name="Picture 15">
            <a:extLst>
              <a:ext uri="{FF2B5EF4-FFF2-40B4-BE49-F238E27FC236}">
                <a16:creationId xmlns:a16="http://schemas.microsoft.com/office/drawing/2014/main" id="{BB6288C3-0D77-7B8C-00A8-CEB921B93901}"/>
              </a:ext>
            </a:extLst>
          </p:cNvPr>
          <p:cNvPicPr>
            <a:picLocks noChangeAspect="1"/>
          </p:cNvPicPr>
          <p:nvPr/>
        </p:nvPicPr>
        <p:blipFill>
          <a:blip r:embed="rId4"/>
          <a:stretch>
            <a:fillRect/>
          </a:stretch>
        </p:blipFill>
        <p:spPr>
          <a:xfrm>
            <a:off x="-108068" y="-179554"/>
            <a:ext cx="1448261" cy="81464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4A1F9E"/>
        </a:solidFill>
        <a:effectLst/>
      </p:bgPr>
    </p:bg>
    <p:spTree>
      <p:nvGrpSpPr>
        <p:cNvPr id="1" name=""/>
        <p:cNvGrpSpPr/>
        <p:nvPr/>
      </p:nvGrpSpPr>
      <p:grpSpPr>
        <a:xfrm>
          <a:off x="0" y="0"/>
          <a:ext cx="0" cy="0"/>
          <a:chOff x="0" y="0"/>
          <a:chExt cx="0" cy="0"/>
        </a:xfrm>
      </p:grpSpPr>
      <p:sp>
        <p:nvSpPr>
          <p:cNvPr id="2" name="Shape 0"/>
          <p:cNvSpPr/>
          <p:nvPr/>
        </p:nvSpPr>
        <p:spPr>
          <a:xfrm>
            <a:off x="-1645920" y="3657600"/>
            <a:ext cx="4937760" cy="4937760"/>
          </a:xfrm>
          <a:prstGeom prst="ellipse">
            <a:avLst/>
          </a:prstGeom>
          <a:solidFill>
            <a:srgbClr val="CB69FF">
              <a:alpha val="15000"/>
            </a:srgbClr>
          </a:solidFill>
          <a:ln/>
        </p:spPr>
      </p:sp>
      <p:sp>
        <p:nvSpPr>
          <p:cNvPr id="3" name="Shape 1"/>
          <p:cNvSpPr/>
          <p:nvPr/>
        </p:nvSpPr>
        <p:spPr>
          <a:xfrm>
            <a:off x="9692640" y="-1645920"/>
            <a:ext cx="4572000" cy="4572000"/>
          </a:xfrm>
          <a:prstGeom prst="ellipse">
            <a:avLst/>
          </a:prstGeom>
          <a:solidFill>
            <a:srgbClr val="FFFFFF">
              <a:alpha val="8000"/>
            </a:srgbClr>
          </a:solidFill>
          <a:ln/>
        </p:spPr>
      </p:sp>
      <p:sp>
        <p:nvSpPr>
          <p:cNvPr id="4" name="Text 2"/>
          <p:cNvSpPr/>
          <p:nvPr/>
        </p:nvSpPr>
        <p:spPr>
          <a:xfrm>
            <a:off x="0" y="2926080"/>
            <a:ext cx="12192000" cy="731520"/>
          </a:xfrm>
          <a:prstGeom prst="rect">
            <a:avLst/>
          </a:prstGeom>
          <a:noFill/>
          <a:ln/>
        </p:spPr>
        <p:txBody>
          <a:bodyPr wrap="square" lIns="0" tIns="0" rIns="0" bIns="0" rtlCol="0" anchor="ctr"/>
          <a:lstStyle/>
          <a:p>
            <a:pPr marL="0" indent="0" algn="ctr">
              <a:buNone/>
            </a:pPr>
            <a:r>
              <a:rPr lang="en-US" sz="3200" b="1" dirty="0">
                <a:solidFill>
                  <a:srgbClr val="FFFFFF"/>
                </a:solidFill>
                <a:latin typeface="Arial" pitchFamily="34" charset="0"/>
                <a:ea typeface="Arial" pitchFamily="34" charset="-122"/>
                <a:cs typeface="Arial" pitchFamily="34" charset="-120"/>
              </a:rPr>
              <a:t>TERIMA KASIH</a:t>
            </a:r>
            <a:endParaRPr lang="en-US" sz="3200" dirty="0"/>
          </a:p>
        </p:txBody>
      </p:sp>
      <p:pic>
        <p:nvPicPr>
          <p:cNvPr id="21" name="Picture 20">
            <a:extLst>
              <a:ext uri="{FF2B5EF4-FFF2-40B4-BE49-F238E27FC236}">
                <a16:creationId xmlns:a16="http://schemas.microsoft.com/office/drawing/2014/main" id="{EB018F83-B0C6-14BE-1C69-1A5E797B70D4}"/>
              </a:ext>
            </a:extLst>
          </p:cNvPr>
          <p:cNvPicPr>
            <a:picLocks noChangeAspect="1"/>
          </p:cNvPicPr>
          <p:nvPr/>
        </p:nvPicPr>
        <p:blipFill>
          <a:blip r:embed="rId3"/>
          <a:stretch>
            <a:fillRect/>
          </a:stretch>
        </p:blipFill>
        <p:spPr>
          <a:xfrm>
            <a:off x="10670874" y="89912"/>
            <a:ext cx="1454649" cy="809702"/>
          </a:xfrm>
          <a:prstGeom prst="rect">
            <a:avLst/>
          </a:prstGeom>
        </p:spPr>
      </p:pic>
      <p:pic>
        <p:nvPicPr>
          <p:cNvPr id="23" name="Picture 22">
            <a:extLst>
              <a:ext uri="{FF2B5EF4-FFF2-40B4-BE49-F238E27FC236}">
                <a16:creationId xmlns:a16="http://schemas.microsoft.com/office/drawing/2014/main" id="{9FE47E46-A9B3-39FE-12A6-B1B0ED1FD88C}"/>
              </a:ext>
            </a:extLst>
          </p:cNvPr>
          <p:cNvPicPr>
            <a:picLocks noChangeAspect="1"/>
          </p:cNvPicPr>
          <p:nvPr/>
        </p:nvPicPr>
        <p:blipFill>
          <a:blip r:embed="rId4"/>
          <a:stretch>
            <a:fillRect/>
          </a:stretch>
        </p:blipFill>
        <p:spPr>
          <a:xfrm>
            <a:off x="-217170" y="-139700"/>
            <a:ext cx="2339340" cy="15595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TotalTime>
  <Words>1047</Words>
  <Application>Microsoft Office PowerPoint</Application>
  <PresentationFormat>Widescreen</PresentationFormat>
  <Paragraphs>112</Paragraphs>
  <Slides>11</Slides>
  <Notes>11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11</vt:i4>
      </vt:variant>
    </vt:vector>
  </HeadingPairs>
  <TitlesOfParts>
    <vt:vector size="13"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HY1-NB-080</cp:lastModifiedBy>
  <cp:revision>6</cp:revision>
  <dcterms:created xsi:type="dcterms:W3CDTF">2026-07-28T04:35:05Z</dcterms:created>
  <dcterms:modified xsi:type="dcterms:W3CDTF">2026-07-28T07:03:02Z</dcterms:modified>
</cp:coreProperties>
</file>
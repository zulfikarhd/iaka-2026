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Inschiet (%)</c:v>
                </c:pt>
              </c:strCache>
            </c:strRef>
          </c:tx>
          <c:spPr>
            <a:solidFill>
              <a:srgbClr val="6A2CC9"/>
            </a:solidFill>
          </c:spPr>
          <c:dLbls>
            <c:txPr>
              <a:bodyPr/>
              <a:lstStyle/>
              <a:p>
                <a:pPr>
                  <a:defRPr sz="850" b="1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Q1 (Jan-Mar)</c:v>
                </c:pt>
                <c:pt idx="1">
                  <c:v>Q2 (Apr-Jun)</c:v>
                </c:pt>
                <c:pt idx="2">
                  <c:v>Q3 (Jul-Sep)</c:v>
                </c:pt>
                <c:pt idx="3">
                  <c:v>Q4 (Okt-Des)</c:v>
                </c:pt>
                <c:pt idx="4">
                  <c:v>Avg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4.72</c:v>
                </c:pt>
                <c:pt idx="1">
                  <c:v>3.97</c:v>
                </c:pt>
                <c:pt idx="2">
                  <c:v>4.64</c:v>
                </c:pt>
                <c:pt idx="3">
                  <c:v>5.11</c:v>
                </c:pt>
                <c:pt idx="4">
                  <c:v>4.61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_orn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899" y="-179222"/>
            <a:ext cx="1448409" cy="814730"/>
          </a:xfrm>
          <a:prstGeom prst="rect">
            <a:avLst/>
          </a:prstGeom>
        </p:spPr>
      </p:pic>
      <p:pic>
        <p:nvPicPr>
          <p:cNvPr id="3" name="Picture 2" descr="perur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11887"/>
            <a:ext cx="1140256" cy="63459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02920"/>
            <a:ext cx="685800" cy="621792"/>
          </a:xfrm>
          <a:prstGeom prst="roundRect">
            <a:avLst/>
          </a:prstGeom>
          <a:solidFill>
            <a:srgbClr val="6A2CC9"/>
          </a:solidFill>
          <a:ln>
            <a:solidFill>
              <a:srgbClr val="6A2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57200"/>
            <a:ext cx="9601200" cy="685800"/>
          </a:xfrm>
          <a:prstGeom prst="rect">
            <a:avLst/>
          </a:prstGeom>
          <a:noFill/>
        </p:spPr>
        <p:txBody>
          <a:bodyPr wrap="square" tIns="36576" bIns="0" lIns="0" rIns="0">
            <a:spAutoFit/>
          </a:bodyPr>
          <a:lstStyle/>
          <a:p>
            <a:pPr>
              <a:defRPr sz="2000" b="1">
                <a:solidFill>
                  <a:srgbClr val="20288F"/>
                </a:solidFill>
                <a:latin typeface="Arial"/>
              </a:defRPr>
            </a:pPr>
            <a:r>
              <a:t>Konteks Latar Belakang (1/3): Dinamika Pasar Global, Skala Tender DJBC &amp; Mandat Peruri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3112" cy="292608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r>
              <a:rPr sz="1000" b="1">
                <a:solidFill>
                  <a:srgbClr val="6A2CC9"/>
                </a:solidFill>
                <a:latin typeface="Arial"/>
              </a:rPr>
              <a:t>Tujuan bagian ini:  </a:t>
            </a:r>
            <a:r>
              <a:rPr sz="1000">
                <a:solidFill>
                  <a:srgbClr val="2A2A3D"/>
                </a:solidFill>
                <a:latin typeface="Arial"/>
              </a:rPr>
              <a:t>Bangun urgensi dari standar presisi percetakan sekuriti internasional (Intergraf/WCO), kontrak tender DJBC Kemenkeu RI (177,6M LK), dan mandat korporasi PP 06/2019.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83112" cy="201168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800">
                <a:solidFill>
                  <a:srgbClr val="6E6E82"/>
                </a:solidFill>
                <a:latin typeface="Arial"/>
              </a:defRPr>
            </a:pPr>
            <a:r>
              <a:t>IAKA 2026 — Risalah Latar Belakang &amp; Identifikasi Masalah  ·  DSS SIRINE 4.0 Unit Cetak Pita Cukai (Perum Peruri)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2697480" cy="896112"/>
          </a:xfrm>
          <a:prstGeom prst="roundRect">
            <a:avLst/>
          </a:prstGeom>
          <a:solidFill>
            <a:srgbClr val="F4F7FE"/>
          </a:solidFill>
          <a:ln w="19050">
            <a:solidFill>
              <a:srgbClr val="D2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2697480" cy="36576"/>
          </a:xfrm>
          <a:prstGeom prst="rect">
            <a:avLst/>
          </a:prstGeom>
          <a:solidFill>
            <a:srgbClr val="202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20288F"/>
                </a:solidFill>
                <a:latin typeface="Arial"/>
              </a:defRPr>
            </a:pPr>
            <a:r>
              <a:t>TARGET VOLUME PPIC</a:t>
            </a:r>
          </a:p>
          <a:p>
            <a:pPr>
              <a:defRPr sz="1450" b="1">
                <a:solidFill>
                  <a:srgbClr val="20288F"/>
                </a:solidFill>
                <a:latin typeface="Arial"/>
              </a:defRPr>
            </a:pPr>
            <a:r>
              <a:t>160.000.000 LK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Kapasitas Rata-rata Tahunan Unit Cetak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536192"/>
            <a:ext cx="2697480" cy="896112"/>
          </a:xfrm>
          <a:prstGeom prst="roundRect">
            <a:avLst/>
          </a:prstGeom>
          <a:solidFill>
            <a:srgbClr val="F8F6FE"/>
          </a:solidFill>
          <a:ln w="19050">
            <a:solidFill>
              <a:srgbClr val="D9C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536192"/>
            <a:ext cx="2697480" cy="36576"/>
          </a:xfrm>
          <a:prstGeom prst="rect">
            <a:avLst/>
          </a:prstGeom>
          <a:solidFill>
            <a:srgbClr val="6A2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6A2CC9"/>
                </a:solidFill>
                <a:latin typeface="Arial"/>
              </a:defRPr>
            </a:pPr>
            <a:r>
              <a:t>REALISASI PESANAN 2025</a:t>
            </a:r>
          </a:p>
          <a:p>
            <a:pPr>
              <a:defRPr sz="1450" b="1">
                <a:solidFill>
                  <a:srgbClr val="6A2CC9"/>
                </a:solidFill>
                <a:latin typeface="Arial"/>
              </a:defRPr>
            </a:pPr>
            <a:r>
              <a:t>177.636.930 LK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Pesanan Aktual Modul SAP ZPPRSIPPC0012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536192"/>
            <a:ext cx="2697480" cy="896112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17336" y="1536192"/>
            <a:ext cx="269748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2E7D32"/>
                </a:solidFill>
                <a:latin typeface="Arial"/>
              </a:defRPr>
            </a:pPr>
            <a:r>
              <a:t>PERAN FISKAL APBN</a:t>
            </a:r>
          </a:p>
          <a:p>
            <a:pPr>
              <a:defRPr sz="1450" b="1">
                <a:solidFill>
                  <a:srgbClr val="2E7D32"/>
                </a:solidFill>
                <a:latin typeface="Arial"/>
              </a:defRPr>
            </a:pPr>
            <a:r>
              <a:t>Ratusan Triliun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Penerimaan Cukai Negara (PCHT &amp; MMEA)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536192"/>
            <a:ext cx="2761488" cy="896112"/>
          </a:xfrm>
          <a:prstGeom prst="roundRect">
            <a:avLst/>
          </a:prstGeom>
          <a:solidFill>
            <a:srgbClr val="F4F7FE"/>
          </a:solidFill>
          <a:ln w="19050">
            <a:solidFill>
              <a:srgbClr val="D2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1536192"/>
            <a:ext cx="2761488" cy="3657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591056"/>
            <a:ext cx="2615184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1A237E"/>
                </a:solidFill>
                <a:latin typeface="Arial"/>
              </a:defRPr>
            </a:pPr>
            <a:r>
              <a:t>9 MESIN CETAK OFFSET</a:t>
            </a:r>
          </a:p>
          <a:p>
            <a:pPr>
              <a:defRPr sz="1450" b="1">
                <a:solidFill>
                  <a:srgbClr val="1A237E"/>
                </a:solidFill>
                <a:latin typeface="Arial"/>
              </a:defRPr>
            </a:pPr>
            <a:r>
              <a:t>4 KMR · 2 RYB · 3 GTO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Pola 3 Shift 24/7 (±42 Personel Operator)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523744"/>
            <a:ext cx="3639312" cy="3931920"/>
          </a:xfrm>
          <a:prstGeom prst="roundRect">
            <a:avLst/>
          </a:prstGeom>
          <a:solidFill>
            <a:srgbClr val="F4F7FE"/>
          </a:solidFill>
          <a:ln w="19050">
            <a:solidFill>
              <a:srgbClr val="D2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523744"/>
            <a:ext cx="3639312" cy="256032"/>
          </a:xfrm>
          <a:prstGeom prst="rect">
            <a:avLst/>
          </a:prstGeom>
          <a:solidFill>
            <a:srgbClr val="202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1. DINAMIKA PASAR GLOBAL: STANDAR PRESISE &amp; BERSAING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16351"/>
            <a:ext cx="3456432" cy="358444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500"/>
              </a:spcAft>
            </a:pPr>
            <a:r>
              <a:rPr sz="850" b="1">
                <a:solidFill>
                  <a:srgbClr val="20288F"/>
                </a:solidFill>
                <a:latin typeface="Arial"/>
              </a:rPr>
              <a:t>• </a:t>
            </a:r>
            <a:r>
              <a:rPr sz="850" b="1">
                <a:solidFill>
                  <a:srgbClr val="2A2A3D"/>
                </a:solidFill>
                <a:latin typeface="Arial"/>
              </a:rPr>
              <a:t>Standar Internasional (Intergraf &amp; WCO):
</a:t>
            </a:r>
            <a:r>
              <a:rPr sz="780">
                <a:solidFill>
                  <a:srgbClr val="2A2A3D"/>
                </a:solidFill>
                <a:latin typeface="Arial"/>
              </a:rPr>
              <a:t>Kepatuhan terhadap standar global percetakan sekuriti tinggi (*high-security printing*) wajib presisi tinggi guna mencegah pemalsuan (*anti-counterfeiting*). Menerapkan fitur pengamanan berlapis (*multi-layer security*): kertas serat pengaman tak kasat mata (*security fibers*), tinta UV berpendar, ornamen garis halus *guilloche*, *microtext*, dan pita hologram presisi mikron.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20288F"/>
                </a:solidFill>
                <a:latin typeface="Arial"/>
              </a:rPr>
              <a:t>• </a:t>
            </a:r>
            <a:r>
              <a:rPr sz="850" b="1">
                <a:solidFill>
                  <a:srgbClr val="2A2A3D"/>
                </a:solidFill>
                <a:latin typeface="Arial"/>
              </a:rPr>
              <a:t>4 Kriteria Utama Keunggulan Bersaing:
</a:t>
            </a:r>
            <a:r>
              <a:rPr sz="780">
                <a:solidFill>
                  <a:srgbClr val="2A2A3D"/>
                </a:solidFill>
                <a:latin typeface="Arial"/>
              </a:rPr>
              <a:t>1. Jaminan Autentikasi Tanpa Cacat (Zero-Defect): Cacat fisik (blobor, bintik, misregister) memicu sengketa keabsahan hukum dan gagal verifikasi aparat di lapangan.
2. Daya Saing Harga (Cost Competitiveness): Inschiet tinggi mendongkrak HPP bahan baku mahal.
3. Ketepatan Distribusi (Strict Delivery SLA): Menjamin kelancaran industri dan kas APBN.
4. Akuntabilitas Bahan Baku (Chain of Custody &amp; Zero Leakage): Pengawasan ketat &amp; pemusnahan resmi lembar rusak.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2523744"/>
            <a:ext cx="3639312" cy="3931920"/>
          </a:xfrm>
          <a:prstGeom prst="roundRect">
            <a:avLst/>
          </a:prstGeom>
          <a:solidFill>
            <a:srgbClr val="F8F6FE"/>
          </a:solidFill>
          <a:ln w="19050">
            <a:solidFill>
              <a:srgbClr val="D9C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2523744"/>
            <a:ext cx="3639312" cy="256032"/>
          </a:xfrm>
          <a:prstGeom prst="rect">
            <a:avLst/>
          </a:prstGeom>
          <a:solidFill>
            <a:srgbClr val="6A2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2. SKALA TENDER NASIONAL: KONTRAK &amp; FISKAL DJBC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816351"/>
            <a:ext cx="3456432" cy="358444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500"/>
              </a:spcAft>
            </a:pPr>
            <a:r>
              <a:rPr sz="850" b="1">
                <a:solidFill>
                  <a:srgbClr val="6A2CC9"/>
                </a:solidFill>
                <a:latin typeface="Arial"/>
              </a:rPr>
              <a:t>• </a:t>
            </a:r>
            <a:r>
              <a:rPr sz="850" b="1">
                <a:solidFill>
                  <a:srgbClr val="2A2A3D"/>
                </a:solidFill>
                <a:latin typeface="Arial"/>
              </a:rPr>
              <a:t>Peran Fiskal Pita Cukai (PCHT &amp; MMEA):
</a:t>
            </a:r>
            <a:r>
              <a:rPr sz="780">
                <a:solidFill>
                  <a:srgbClr val="2A2A3D"/>
                </a:solidFill>
                <a:latin typeface="Arial"/>
              </a:rPr>
              <a:t>Pita cukai merupakan instrumen fiskal resmi dan bukti pelunasan penerimaan cukai negara yang menyumbang ratusan triliun rupiah ke kas APBN. Skala tahunan rata-rata 160.000.000 Lembar Cetak (Realisasi 2025: 177.636.930 LK — SAP ZPPRSIPPC0012).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6A2CC9"/>
                </a:solidFill>
                <a:latin typeface="Arial"/>
              </a:rPr>
              <a:t>• </a:t>
            </a:r>
            <a:r>
              <a:rPr sz="850" b="1">
                <a:solidFill>
                  <a:srgbClr val="2A2A3D"/>
                </a:solidFill>
                <a:latin typeface="Arial"/>
              </a:rPr>
              <a:t>3 Klausul Kualitas &amp; Kepatuhan Kontrak Tender:
</a:t>
            </a:r>
            <a:r>
              <a:rPr sz="780">
                <a:solidFill>
                  <a:srgbClr val="2A2A3D"/>
                </a:solidFill>
                <a:latin typeface="Arial"/>
              </a:rPr>
              <a:t>1. Spesifikasi Mutu Mutlak: Seluruh fitur pengaman (kertas sekuriti, tinta UV, guilloche, hologram) wajib tercetak presisi tanpa deviasi warna, register, maupun densitas. Toleransi cacat ditekan mendekati nol.
2. Rekonsiliasi Ketat Lembar Rusak (HCTS): Setiap lembar rusak dikategorikan sebagai HCTS dan wajib dipertanggungjawabkan via berita acara pemusnahan resmi bersama pengawas.
3. Jaminan Ketepatan SLA: Pengiriman pesanan bernilai ratusan juta lembar wajib tepat jadwal; mitigasi risiko sanksi penalti keterlambatan kontrak.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6" y="2523744"/>
            <a:ext cx="3675887" cy="3931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2523744"/>
            <a:ext cx="3675887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3. ARAH STRATEGIS &amp; MANDAT KORPORASI PERURI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9016" y="2816351"/>
            <a:ext cx="3493008" cy="358444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1B5E20"/>
                </a:solidFill>
                <a:latin typeface="Arial"/>
              </a:rPr>
              <a:t>• </a:t>
            </a:r>
            <a:r>
              <a:rPr sz="850" b="1">
                <a:solidFill>
                  <a:srgbClr val="2A2A3D"/>
                </a:solidFill>
                <a:latin typeface="Arial"/>
              </a:rPr>
              <a:t>Mandat Tunggal PP No. 06 Tahun 2019:
</a:t>
            </a:r>
            <a:r>
              <a:rPr sz="780">
                <a:solidFill>
                  <a:srgbClr val="2A2A3D"/>
                </a:solidFill>
                <a:latin typeface="Arial"/>
              </a:rPr>
              <a:t>Perum Peruri mengemban mandat tunggal untuk mencetak Uang Rupiah dan dokumen sekuriti negara bernilai tinggi bagi Republik Indonesia dengan jaminan keaslian dan operational excellence berstandar dunia.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B5E20"/>
                </a:solidFill>
                <a:latin typeface="Arial"/>
              </a:rPr>
              <a:t>• </a:t>
            </a:r>
            <a:r>
              <a:rPr sz="850" b="1">
                <a:solidFill>
                  <a:srgbClr val="2A2A3D"/>
                </a:solidFill>
                <a:latin typeface="Arial"/>
              </a:rPr>
              <a:t>3 Sasaran Strategis Direksi &amp; Manajemen:
</a:t>
            </a:r>
            <a:r>
              <a:rPr sz="780">
                <a:solidFill>
                  <a:srgbClr val="2A2A3D"/>
                </a:solidFill>
                <a:latin typeface="Arial"/>
              </a:rPr>
              <a:t>1. Pengendalian Biaya Bahan Baku (Cost Leadership &amp; Material Protection): Proteksi bahan baku mahal (kertas sekuriti &amp; tinta khusus) melalui penekanan rasio pemborosan bahan (inschiet) guna menjaga HPP efisien.
2. Pencapaian Keunggulan Operasional (Operational Excellence): Menyelaraskan proses manufaktur dengan standar ISO 9001:2015 agar kapasitas 9 mesin memenuhi kontrak tanpa pembengkakan afval.
3. Digitalisasi Area Kerja (Smart Factory &amp; INDI 4.0): Mentransformasikan pencatatan manual di meja mesin menjadi aliran data digital terintegrasi.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B5E20"/>
                </a:solidFill>
                <a:latin typeface="Arial"/>
              </a:rPr>
              <a:t>• </a:t>
            </a:r>
            <a:r>
              <a:rPr sz="850" b="1">
                <a:solidFill>
                  <a:srgbClr val="2A2A3D"/>
                </a:solidFill>
                <a:latin typeface="Arial"/>
              </a:rPr>
              <a:t>Muara Lini Operasional Terbesar:
</a:t>
            </a:r>
            <a:r>
              <a:rPr sz="780">
                <a:solidFill>
                  <a:srgbClr val="2A2A3D"/>
                </a:solidFill>
                <a:latin typeface="Arial"/>
              </a:rPr>
              <a:t>Seluruh target strategis korporasi bermuara pada lini produksi dengan volume pekerjaan terbesar: **Unit Cetak Pita Cukai**.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_orn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899" y="-179222"/>
            <a:ext cx="1448409" cy="814730"/>
          </a:xfrm>
          <a:prstGeom prst="rect">
            <a:avLst/>
          </a:prstGeom>
        </p:spPr>
      </p:pic>
      <p:pic>
        <p:nvPicPr>
          <p:cNvPr id="3" name="Picture 2" descr="perur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11887"/>
            <a:ext cx="1140256" cy="63459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02920"/>
            <a:ext cx="685800" cy="621792"/>
          </a:xfrm>
          <a:prstGeom prst="roundRect">
            <a:avLst/>
          </a:prstGeom>
          <a:solidFill>
            <a:srgbClr val="6A2CC9"/>
          </a:solidFill>
          <a:ln>
            <a:solidFill>
              <a:srgbClr val="6A2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57200"/>
            <a:ext cx="9601200" cy="685800"/>
          </a:xfrm>
          <a:prstGeom prst="rect">
            <a:avLst/>
          </a:prstGeom>
          <a:noFill/>
        </p:spPr>
        <p:txBody>
          <a:bodyPr wrap="square" tIns="36576" bIns="0" lIns="0" rIns="0">
            <a:spAutoFit/>
          </a:bodyPr>
          <a:lstStyle/>
          <a:p>
            <a:pPr>
              <a:defRPr sz="2000" b="1">
                <a:solidFill>
                  <a:srgbClr val="20288F"/>
                </a:solidFill>
                <a:latin typeface="Arial"/>
              </a:defRPr>
            </a:pPr>
            <a:r>
              <a:t>Konteks Latar Belakang (2/3): Realitas Lapangan 9 Mesin, Fluktuasi Baseline &amp; Data Silo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3112" cy="292608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r>
              <a:rPr sz="1000" b="1">
                <a:solidFill>
                  <a:srgbClr val="6A2CC9"/>
                </a:solidFill>
                <a:latin typeface="Arial"/>
              </a:rPr>
              <a:t>Tujuan bagian ini:  </a:t>
            </a:r>
            <a:r>
              <a:rPr sz="1000">
                <a:solidFill>
                  <a:srgbClr val="2A2A3D"/>
                </a:solidFill>
                <a:latin typeface="Arial"/>
              </a:rPr>
              <a:t>Paparkan profil operasional 9 mesin (3 shift 24/7), pembuktian kapabilitas Q2 vs lonjakan desain Q4, fenomena data silo meja mesin vs SAP, dan ketiadaan atribusi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83112" cy="201168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800">
                <a:solidFill>
                  <a:srgbClr val="6E6E82"/>
                </a:solidFill>
                <a:latin typeface="Arial"/>
              </a:defRPr>
            </a:pPr>
            <a:r>
              <a:t>IAKA 2026 — Risalah Latar Belakang &amp; Identifikasi Masalah  ·  DSS SIRINE 4.0 Unit Cetak Pita Cukai (Perum Peruri)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2697480" cy="896112"/>
          </a:xfrm>
          <a:prstGeom prst="roundRect">
            <a:avLst/>
          </a:prstGeom>
          <a:solidFill>
            <a:srgbClr val="F4F7FE"/>
          </a:solidFill>
          <a:ln w="19050">
            <a:solidFill>
              <a:srgbClr val="D2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2697480" cy="36576"/>
          </a:xfrm>
          <a:prstGeom prst="rect">
            <a:avLst/>
          </a:prstGeom>
          <a:solidFill>
            <a:srgbClr val="202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20288F"/>
                </a:solidFill>
                <a:latin typeface="Arial"/>
              </a:defRPr>
            </a:pPr>
            <a:r>
              <a:t>9 MESIN CETAK OFFSET</a:t>
            </a:r>
          </a:p>
          <a:p>
            <a:pPr>
              <a:defRPr sz="1450" b="1">
                <a:solidFill>
                  <a:srgbClr val="20288F"/>
                </a:solidFill>
                <a:latin typeface="Arial"/>
              </a:defRPr>
            </a:pPr>
            <a:r>
              <a:t>4 KMR · 2 RYB · 3 GTO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Pola 3 Shift 24/7 (±42 Personel Operator)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536192"/>
            <a:ext cx="2697480" cy="896112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536192"/>
            <a:ext cx="269748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C62828"/>
                </a:solidFill>
                <a:latin typeface="Arial"/>
              </a:defRPr>
            </a:pPr>
            <a:r>
              <a:t>BASELINE INSCHIET 2025</a:t>
            </a:r>
          </a:p>
          <a:p>
            <a:pPr>
              <a:defRPr sz="1450" b="1">
                <a:solidFill>
                  <a:srgbClr val="C62828"/>
                </a:solidFill>
                <a:latin typeface="Arial"/>
              </a:defRPr>
            </a:pPr>
            <a:r>
              <a:t>4,61%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Puncak Q4: 5,11% (SAP ZPPRSIPPC0012)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536192"/>
            <a:ext cx="2697480" cy="896112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17336" y="1536192"/>
            <a:ext cx="269748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2E7D32"/>
                </a:solidFill>
                <a:latin typeface="Arial"/>
              </a:defRPr>
            </a:pPr>
            <a:r>
              <a:t>KAPABILITAS Q2 2025</a:t>
            </a:r>
          </a:p>
          <a:p>
            <a:pPr>
              <a:defRPr sz="1450" b="1">
                <a:solidFill>
                  <a:srgbClr val="2E7D32"/>
                </a:solidFill>
                <a:latin typeface="Arial"/>
              </a:defRPr>
            </a:pPr>
            <a:r>
              <a:t>3,97%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Terbukti Mampu Stabil di Bawah Target 4,00%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536192"/>
            <a:ext cx="2761488" cy="896112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1536192"/>
            <a:ext cx="2761488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591056"/>
            <a:ext cx="2615184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E65100"/>
                </a:solidFill>
                <a:latin typeface="Arial"/>
              </a:defRPr>
            </a:pPr>
            <a:r>
              <a:t>DOWNTIME INVESTIGASI</a:t>
            </a:r>
          </a:p>
          <a:p>
            <a:pPr>
              <a:defRPr sz="1450" b="1">
                <a:solidFill>
                  <a:srgbClr val="E65100"/>
                </a:solidFill>
                <a:latin typeface="Arial"/>
              </a:defRPr>
            </a:pPr>
            <a:r>
              <a:t>&gt; 8 Jam / Mesin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Pemeriksaan Spekulatif Bergilir (&gt; 1 Shift)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523744"/>
            <a:ext cx="3520440" cy="3931920"/>
          </a:xfrm>
          <a:prstGeom prst="roundRect">
            <a:avLst/>
          </a:prstGeom>
          <a:solidFill>
            <a:srgbClr val="F4F7FE"/>
          </a:solidFill>
          <a:ln w="19050">
            <a:solidFill>
              <a:srgbClr val="D2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523744"/>
            <a:ext cx="3520440" cy="256032"/>
          </a:xfrm>
          <a:prstGeom prst="rect">
            <a:avLst/>
          </a:prstGeom>
          <a:solidFill>
            <a:srgbClr val="202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4. PARAMETER OPERASIONAL &amp; TABEL 1.1 (2025)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2816351"/>
          <a:ext cx="33924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60120"/>
                <a:gridCol w="786384"/>
              </a:tblGrid>
              <a:tr h="32419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 Operasional</a:t>
                      </a:r>
                    </a:p>
                  </a:txBody>
                  <a:tcPr marL="36576" marR="36576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Nilai / Data</a:t>
                      </a:r>
                    </a:p>
                  </a:txBody>
                  <a:tcPr marL="36576" marR="36576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Sumber Valid</a:t>
                      </a:r>
                    </a:p>
                  </a:txBody>
                  <a:tcPr marL="36576" marR="36576" marT="9144" marB="9144" anchor="ctr">
                    <a:solidFill>
                      <a:srgbClr val="1A237E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Jumlah Mesin Cetak Aktif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9 Mesin (4 KMR, 2 RYB, 3 GTO)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Khazanah &amp; Verif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Pola Gilir Kerja (Shift)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3 Shift (24 Jam)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SOP Unit Cetak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Personel Operator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±42 Personel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Seksi Cetak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Target Volume PPIC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160.000.000 LK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PPIC Peruri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Volume Aktual 2025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177.636.930 LK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SAP ZPPRSIPPC0012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Inschiet Q1 2025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4,72%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SAP / QC Verif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Inschiet Q2 2025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3,97% (Stabil)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SAP / QC Verif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Inschiet Q3 2025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4,64%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SAP / QC Verif</a:t>
                      </a:r>
                    </a:p>
                  </a:txBody>
                  <a:tcPr marL="36576" marR="36576" marT="9144" marB="9144" anchor="ctr">
                    <a:solidFill>
                      <a:srgbClr val="F4F7FE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Inschiet Q4 2025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5,11% (Puncak)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SAP / QC Verif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42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BASELINE INSCHIET 2025</a:t>
                      </a:r>
                    </a:p>
                  </a:txBody>
                  <a:tcPr marL="36576" marR="36576" marT="9144" marB="9144"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4,61% (Rata-rata)</a:t>
                      </a:r>
                    </a:p>
                  </a:txBody>
                  <a:tcPr marL="36576" marR="36576" marT="9144" marB="9144"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SAP ZPPRSIPPC0012</a:t>
                      </a:r>
                    </a:p>
                  </a:txBody>
                  <a:tcPr marL="36576" marR="36576" marT="9144" marB="9144" anchor="ctr"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114800" y="2523744"/>
            <a:ext cx="3749039" cy="3931920"/>
          </a:xfrm>
          <a:prstGeom prst="roundRect">
            <a:avLst/>
          </a:prstGeom>
          <a:solidFill>
            <a:srgbClr val="F8F6FE"/>
          </a:solidFill>
          <a:ln w="19050">
            <a:solidFill>
              <a:srgbClr val="D9C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523744"/>
            <a:ext cx="3749039" cy="256032"/>
          </a:xfrm>
          <a:prstGeom prst="rect">
            <a:avLst/>
          </a:prstGeom>
          <a:solidFill>
            <a:srgbClr val="6A2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4.1 ANALISIS FLUKTUASI BASELINE 2025 (%)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206240" y="2816351"/>
          <a:ext cx="3566160" cy="1965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206240" y="4809744"/>
            <a:ext cx="3566160" cy="1554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800" b="1">
                <a:solidFill>
                  <a:srgbClr val="2E7D32"/>
                </a:solidFill>
                <a:latin typeface="Arial"/>
              </a:defRPr>
            </a:pPr>
            <a:r>
              <a:t>• Pembuktian Kapabilitas Q2 2025 (3,97%):</a:t>
            </a:r>
          </a:p>
          <a:p>
            <a:pPr>
              <a:spcAft>
                <a:spcPts val="300"/>
              </a:spcAft>
              <a:defRPr sz="750">
                <a:solidFill>
                  <a:srgbClr val="2A2A3D"/>
                </a:solidFill>
                <a:latin typeface="Arial"/>
              </a:defRPr>
            </a:pPr>
            <a:r>
              <a:t>Membuktikan 9 mesin &amp; operator secara teknis mampu beroperasi di bawah toleransi 4,00% saat parameter mesin dan order stabil.</a:t>
            </a:r>
          </a:p>
          <a:p>
            <a:pPr>
              <a:defRPr sz="800" b="1">
                <a:solidFill>
                  <a:srgbClr val="C62828"/>
                </a:solidFill>
                <a:latin typeface="Arial"/>
              </a:defRPr>
            </a:pPr>
            <a:r>
              <a:t>• Lonjakan Pesanan Desain Baru Q4 (5,11%):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Lonjakan tajam (+1,14 pp vs Q2) terjadi saat unit menerima pesanan desain baru dalam jumlah besar. Tanpa diagnostik data harian di meja mesin, make-ready memanjang dan deviasi mutu terlambat dideteksi.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2523744"/>
            <a:ext cx="3785615" cy="39319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2523744"/>
            <a:ext cx="3785615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4.2 &amp; 4.3 DATA SILO &amp; KEBUTAAN ATRIBUSI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816351"/>
            <a:ext cx="3602735" cy="358444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</a:pPr>
            <a:r>
              <a:rPr sz="800" b="1">
                <a:solidFill>
                  <a:srgbClr val="E65100"/>
                </a:solidFill>
                <a:latin typeface="Arial"/>
              </a:rPr>
              <a:t>• </a:t>
            </a:r>
            <a:r>
              <a:rPr sz="800" b="1">
                <a:solidFill>
                  <a:srgbClr val="2A2A3D"/>
                </a:solidFill>
                <a:latin typeface="Arial"/>
              </a:rPr>
              <a:t>Pemisahan Aliran Data (Data Silo):
</a:t>
            </a:r>
            <a:r>
              <a:rPr sz="750">
                <a:solidFill>
                  <a:srgbClr val="2A2A3D"/>
                </a:solidFill>
                <a:latin typeface="Arial"/>
              </a:rPr>
              <a:t>Pencatatan di meja 9 mesin manual pada BUKU FOLIO FISIK (data jam jalan &amp; operator terisolasi, baru direkap berbulan-bulan kemudian) ≠ Hasil verifikasi disortir 1–2 hari lalu diinput ke SAP ZPPRSIPPC0012 sebagai RINGKASAN KERUSAKAN GLOBAL tanpa nomor mesin &amp; shift.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C62828"/>
                </a:solidFill>
                <a:latin typeface="Arial"/>
              </a:rPr>
              <a:t>• </a:t>
            </a:r>
            <a:r>
              <a:rPr sz="800" b="1">
                <a:solidFill>
                  <a:srgbClr val="2A2A3D"/>
                </a:solidFill>
                <a:latin typeface="Arial"/>
              </a:rPr>
              <a:t>Kebutaan Atribusi (The Missing Link):
</a:t>
            </a:r>
            <a:r>
              <a:rPr sz="750">
                <a:solidFill>
                  <a:srgbClr val="2A2A3D"/>
                </a:solidFill>
                <a:latin typeface="Arial"/>
              </a:rPr>
              <a:t>Mengetahui jenis cacat global (blobor, bintik, misregister) terbukti tidak cukup tanpa tahu di mesin mana dan kondisi operasional shift mana yang memicunya.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C62828"/>
                </a:solidFill>
                <a:latin typeface="Arial"/>
              </a:rPr>
              <a:t>• </a:t>
            </a:r>
            <a:r>
              <a:rPr sz="800" b="1">
                <a:solidFill>
                  <a:srgbClr val="2A2A3D"/>
                </a:solidFill>
                <a:latin typeface="Arial"/>
              </a:rPr>
              <a:t>3 Implikasi Titik Buta Lapangan:
</a:t>
            </a:r>
            <a:r>
              <a:rPr sz="750">
                <a:solidFill>
                  <a:srgbClr val="2A2A3D"/>
                </a:solidFill>
                <a:latin typeface="Arial"/>
              </a:rPr>
              <a:t>1. Investigasi Spekulatif (&gt; 8 Jam): Teknisi memeriksa 9 mesin coba-coba (trial-and-error).
2. Dilema Komponen Mesin vs Shift: Penurunan performa fisik (rol karet mengeras/licin, blanket turun elastisitas, penjepit silinder kendur) vs variasi make-ready / kelelahan Shift Malam (23.00–07.00 WIB).
3. Evaluasi Operator Tertunda: Umpan balik harian ±42 operator terputus.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_orn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899" y="-179222"/>
            <a:ext cx="1448409" cy="814730"/>
          </a:xfrm>
          <a:prstGeom prst="rect">
            <a:avLst/>
          </a:prstGeom>
        </p:spPr>
      </p:pic>
      <p:pic>
        <p:nvPicPr>
          <p:cNvPr id="3" name="Picture 2" descr="perur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11887"/>
            <a:ext cx="1140256" cy="63459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02920"/>
            <a:ext cx="685800" cy="621792"/>
          </a:xfrm>
          <a:prstGeom prst="roundRect">
            <a:avLst/>
          </a:prstGeom>
          <a:solidFill>
            <a:srgbClr val="6A2CC9"/>
          </a:solidFill>
          <a:ln>
            <a:solidFill>
              <a:srgbClr val="6A2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0" bIns="0" lIns="0" rIns="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457200"/>
            <a:ext cx="9601200" cy="685800"/>
          </a:xfrm>
          <a:prstGeom prst="rect">
            <a:avLst/>
          </a:prstGeom>
          <a:noFill/>
        </p:spPr>
        <p:txBody>
          <a:bodyPr wrap="square" tIns="36576" bIns="0" lIns="0" rIns="0">
            <a:spAutoFit/>
          </a:bodyPr>
          <a:lstStyle/>
          <a:p>
            <a:pPr>
              <a:defRPr sz="2000" b="1">
                <a:solidFill>
                  <a:srgbClr val="20288F"/>
                </a:solidFill>
                <a:latin typeface="Arial"/>
              </a:defRPr>
            </a:pPr>
            <a:r>
              <a:t>Konteks Latar Belakang (3/3): Simulasi Finansial, Risiko Pembiaran &amp; Urgensi Solusi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3112" cy="292608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r>
              <a:rPr sz="1000" b="1">
                <a:solidFill>
                  <a:srgbClr val="6A2CC9"/>
                </a:solidFill>
                <a:latin typeface="Arial"/>
              </a:rPr>
              <a:t>Tujuan bagian ini:  </a:t>
            </a:r>
            <a:r>
              <a:rPr sz="1000">
                <a:solidFill>
                  <a:srgbClr val="2A2A3D"/>
                </a:solidFill>
                <a:latin typeface="Arial"/>
              </a:rPr>
              <a:t>Sajikan simulasi beban finansial baseline (Rp 24,56 M), valuasi 1% inschiet, matriks 5 pilar Cost of Inaction, arsitektur solusi DSS SIRINE 4.0, dan kertas kerja realisasi S1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83112" cy="201168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800">
                <a:solidFill>
                  <a:srgbClr val="6E6E82"/>
                </a:solidFill>
                <a:latin typeface="Arial"/>
              </a:defRPr>
            </a:pPr>
            <a:r>
              <a:t>IAKA 2026 — Risalah Latar Belakang &amp; Identifikasi Masalah  ·  DSS SIRINE 4.0 Unit Cetak Pita Cukai (Perum Peruri)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2697480" cy="896112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269748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C62828"/>
                </a:solidFill>
                <a:latin typeface="Arial"/>
              </a:defRPr>
            </a:pPr>
            <a:r>
              <a:t>BEBAN BIAYA BASELINE*</a:t>
            </a:r>
          </a:p>
          <a:p>
            <a:pPr>
              <a:defRPr sz="1450" b="1">
                <a:solidFill>
                  <a:srgbClr val="C62828"/>
                </a:solidFill>
                <a:latin typeface="Arial"/>
              </a:defRPr>
            </a:pPr>
            <a:r>
              <a:t>Rp 24,56 Miliar*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8.189.062 LK Rusak/Thn (@ Rp 3.000 / LK)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536192"/>
            <a:ext cx="2697480" cy="896112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536192"/>
            <a:ext cx="269748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2E7D32"/>
                </a:solidFill>
                <a:latin typeface="Arial"/>
              </a:defRPr>
            </a:pPr>
            <a:r>
              <a:t>VALUASI TIAP 1% INSCHIET</a:t>
            </a:r>
          </a:p>
          <a:p>
            <a:pPr>
              <a:defRPr sz="1450" b="1">
                <a:solidFill>
                  <a:srgbClr val="2E7D32"/>
                </a:solidFill>
                <a:latin typeface="Arial"/>
              </a:defRPr>
            </a:pPr>
            <a:r>
              <a:t>Rp 4,80 M – 5,33 M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Penyelamatan 1,60M – 1,78M Lembar/Tahun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536192"/>
            <a:ext cx="2697480" cy="896112"/>
          </a:xfrm>
          <a:prstGeom prst="roundRect">
            <a:avLst/>
          </a:prstGeom>
          <a:solidFill>
            <a:srgbClr val="F8F6FE"/>
          </a:solidFill>
          <a:ln w="19050">
            <a:solidFill>
              <a:srgbClr val="D9C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17336" y="1536192"/>
            <a:ext cx="2697480" cy="36576"/>
          </a:xfrm>
          <a:prstGeom prst="rect">
            <a:avLst/>
          </a:prstGeom>
          <a:solidFill>
            <a:srgbClr val="6A2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591056"/>
            <a:ext cx="2551176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6A2CC9"/>
                </a:solidFill>
                <a:latin typeface="Arial"/>
              </a:defRPr>
            </a:pPr>
            <a:r>
              <a:t>REALISASI INSCHIET S1</a:t>
            </a:r>
          </a:p>
          <a:p>
            <a:pPr>
              <a:defRPr sz="1450" b="1">
                <a:solidFill>
                  <a:srgbClr val="6A2CC9"/>
                </a:solidFill>
                <a:latin typeface="Arial"/>
              </a:defRPr>
            </a:pPr>
            <a:r>
              <a:t>3,89% (Q2: 3,33%)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Turun -1,28 pp (-27,77%) vs Baseline 4,61%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536192"/>
            <a:ext cx="2761488" cy="896112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1536192"/>
            <a:ext cx="2761488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591056"/>
            <a:ext cx="2615184" cy="8046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750" b="1">
                <a:solidFill>
                  <a:srgbClr val="1B5E20"/>
                </a:solidFill>
                <a:latin typeface="Arial"/>
              </a:defRPr>
            </a:pPr>
            <a:r>
              <a:t>PENGHEMATAN BIAYA S1</a:t>
            </a:r>
          </a:p>
          <a:p>
            <a:pPr>
              <a:defRPr sz="1450" b="1">
                <a:solidFill>
                  <a:srgbClr val="1B5E20"/>
                </a:solidFill>
                <a:latin typeface="Arial"/>
              </a:defRPr>
            </a:pPr>
            <a:r>
              <a:t>Rp 2,23 Miliar</a:t>
            </a:r>
          </a:p>
          <a:p>
            <a:pPr>
              <a:defRPr sz="750">
                <a:solidFill>
                  <a:srgbClr val="2A2A3D"/>
                </a:solidFill>
                <a:latin typeface="Arial"/>
              </a:defRPr>
            </a:pPr>
            <a:r>
              <a:t>743.234 LK Diselamatkan | Proyeksi Rp 6,82 M/Thn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523744"/>
            <a:ext cx="11183112" cy="804672"/>
          </a:xfrm>
          <a:prstGeom prst="roundRect">
            <a:avLst/>
          </a:prstGeom>
          <a:solidFill>
            <a:srgbClr val="F8F6FE"/>
          </a:solidFill>
          <a:ln w="19050">
            <a:solidFill>
              <a:srgbClr val="D9C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42032"/>
            <a:ext cx="11000232" cy="749808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sz="800" b="1">
                <a:solidFill>
                  <a:srgbClr val="6A2CC9"/>
                </a:solidFill>
                <a:latin typeface="Arial"/>
              </a:rPr>
              <a:t>6. KESIMPULAN &amp; URGENSI SOLUSI INOVASI (DSS SIRINE 4.0) — INTEGRASI 3 TITIK ALIRAN DATA:  </a:t>
            </a:r>
            <a:r>
              <a:rPr sz="800" b="1">
                <a:solidFill>
                  <a:srgbClr val="20288F"/>
                </a:solidFill>
                <a:latin typeface="Arial"/>
              </a:rPr>
              <a:t>Data Transaksi Meja Mesin (&lt; 30 dtk)  ⇄  Modul SAP Production Order (ZPPRSIPPC0012)  ⇄  Hasil Sortir Verifikasi Mutu (HCTS)
</a:t>
            </a:r>
          </a:p>
          <a:p>
            <a:r>
              <a:rPr sz="800" b="1">
                <a:solidFill>
                  <a:srgbClr val="1B5E20"/>
                </a:solidFill>
                <a:latin typeface="Arial"/>
              </a:rPr>
              <a:t>RUNTUTAN DATA GRANULAR &amp; TINDAKAN PRESKRIPTIF:  </a:t>
            </a:r>
            <a:r>
              <a:rPr sz="800">
                <a:solidFill>
                  <a:srgbClr val="2A2A3D"/>
                </a:solidFill>
                <a:latin typeface="Arial"/>
              </a:rPr>
              <a:t>Nomor PO  ➔  Nomor Mesin (9 Mesin)  ➔  Pola Gilir (Shift 1/2/3)  ➔  Tim Operator  ➔  Kategori Cacat Cetak  ➔  Tindakan Korektif Cepat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01568"/>
            <a:ext cx="3520440" cy="3054096"/>
          </a:xfrm>
          <a:prstGeom prst="roundRect">
            <a:avLst/>
          </a:prstGeom>
          <a:solidFill>
            <a:srgbClr val="F4F7FE"/>
          </a:solidFill>
          <a:ln w="19050">
            <a:solidFill>
              <a:srgbClr val="D2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01568"/>
            <a:ext cx="3520440" cy="228600"/>
          </a:xfrm>
          <a:prstGeom prst="rect">
            <a:avLst/>
          </a:prstGeom>
          <a:solidFill>
            <a:srgbClr val="202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5.1 &amp; 5.2 SIMULASI FINANSIAL &amp; VALUASI 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57600"/>
            <a:ext cx="3337560" cy="273405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300"/>
              </a:spcAft>
            </a:pPr>
            <a:r>
              <a:rPr sz="750" b="1">
                <a:solidFill>
                  <a:srgbClr val="20288F"/>
                </a:solidFill>
                <a:latin typeface="Arial"/>
              </a:rPr>
              <a:t>• </a:t>
            </a:r>
            <a:r>
              <a:rPr sz="750" b="1">
                <a:solidFill>
                  <a:srgbClr val="2A2A3D"/>
                </a:solidFill>
                <a:latin typeface="Arial"/>
              </a:rPr>
              <a:t>Skenario A (Standar 160 Juta LK):
</a:t>
            </a:r>
            <a:r>
              <a:rPr sz="700">
                <a:solidFill>
                  <a:srgbClr val="2A2A3D"/>
                </a:solidFill>
                <a:latin typeface="Arial"/>
              </a:rPr>
              <a:t>160.000.000 LK × 4,61% = 7.376.000 LK Rusak → 7.376.000 × Rp 3.000* = Rp 22,13 Miliar / Tahun (Rp 1,84 Miliar / Bulan).</a:t>
            </a:r>
          </a:p>
          <a:p>
            <a:pPr>
              <a:spcAft>
                <a:spcPts val="300"/>
              </a:spcAft>
            </a:pPr>
            <a:r>
              <a:rPr sz="750" b="1">
                <a:solidFill>
                  <a:srgbClr val="20288F"/>
                </a:solidFill>
                <a:latin typeface="Arial"/>
              </a:rPr>
              <a:t>• </a:t>
            </a:r>
            <a:r>
              <a:rPr sz="750" b="1">
                <a:solidFill>
                  <a:srgbClr val="2A2A3D"/>
                </a:solidFill>
                <a:latin typeface="Arial"/>
              </a:rPr>
              <a:t>Skenario B (Aktual 177,6 Juta LK 2025):
</a:t>
            </a:r>
            <a:r>
              <a:rPr sz="700">
                <a:solidFill>
                  <a:srgbClr val="2A2A3D"/>
                </a:solidFill>
                <a:latin typeface="Arial"/>
              </a:rPr>
              <a:t>177.636.930 LK × 4,61% = 8.189.062 LK Rusak → 8.189.062 × Rp 3.000* = Rp 24,56 Miliar / Tahun (Rp 2,05 Miliar / Bulan).</a:t>
            </a:r>
          </a:p>
          <a:p>
            <a:pPr>
              <a:spcAft>
                <a:spcPts val="300"/>
              </a:spcAft>
            </a:pPr>
            <a:r>
              <a:rPr sz="750" b="1">
                <a:solidFill>
                  <a:srgbClr val="2E7D32"/>
                </a:solidFill>
                <a:latin typeface="Arial"/>
              </a:rPr>
              <a:t>• </a:t>
            </a:r>
            <a:r>
              <a:rPr sz="750" b="1">
                <a:solidFill>
                  <a:srgbClr val="2A2A3D"/>
                </a:solidFill>
                <a:latin typeface="Arial"/>
              </a:rPr>
              <a:t>Valuasi Penurunan Tiap 1,00% Inschiet:
</a:t>
            </a:r>
            <a:r>
              <a:rPr sz="700">
                <a:solidFill>
                  <a:srgbClr val="2A2A3D"/>
                </a:solidFill>
                <a:latin typeface="Arial"/>
              </a:rPr>
              <a:t>• Standar 160M LK: 1.600.000 LK diselamatkan = Efisiensi Rp 4,80 Miliar / Tahun.
• Aktual 177,6M LK: 1.776.369 LK diselamatkan = Efisiensi Rp 5,33 Miliar / Tahun.
*Catatan: Nilai Rp 3.000/LK adalah estimasi biaya cetak untuk simulasi cost avoidance (bukan HPP rahasia Peruri).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51376" y="3401568"/>
            <a:ext cx="3520440" cy="3054096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51376" y="3401568"/>
            <a:ext cx="3520440" cy="228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5.3 MATRIKS 5 PILAR RISIKO PEMBIARAN (INACTION)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3657600"/>
            <a:ext cx="3337560" cy="273405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</a:pPr>
            <a:r>
              <a:rPr sz="750" b="1">
                <a:solidFill>
                  <a:srgbClr val="C62828"/>
                </a:solidFill>
                <a:latin typeface="Arial"/>
              </a:rPr>
              <a:t>• </a:t>
            </a:r>
            <a:r>
              <a:rPr sz="750" b="1">
                <a:solidFill>
                  <a:srgbClr val="2A2A3D"/>
                </a:solidFill>
                <a:latin typeface="Arial"/>
              </a:rPr>
              <a:t>1. Biaya (Cost) [KRITIS]: </a:t>
            </a:r>
            <a:r>
              <a:rPr sz="700">
                <a:solidFill>
                  <a:srgbClr val="2A2A3D"/>
                </a:solidFill>
                <a:latin typeface="Arial"/>
              </a:rPr>
              <a:t>Akumulasi pemborosan bahan baku kertas sekuriti &amp; tinta mencapai Rp 22,13 M s.d. Rp 24,56 Miliar/tahun &amp; pembengkakan tambah cetak.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C62828"/>
                </a:solidFill>
                <a:latin typeface="Arial"/>
              </a:rPr>
              <a:t>• </a:t>
            </a:r>
            <a:r>
              <a:rPr sz="750" b="1">
                <a:solidFill>
                  <a:srgbClr val="2A2A3D"/>
                </a:solidFill>
                <a:latin typeface="Arial"/>
              </a:rPr>
              <a:t>2. Mutu (Quality) [TINGGI]: </a:t>
            </a:r>
            <a:r>
              <a:rPr sz="700">
                <a:solidFill>
                  <a:srgbClr val="2A2A3D"/>
                </a:solidFill>
                <a:latin typeface="Arial"/>
              </a:rPr>
              <a:t>Inschiet berfluktuasi hingga 5,11% akibat penanganan suku cadang mesin yang reaktif &amp; coba-coba.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C62828"/>
                </a:solidFill>
                <a:latin typeface="Arial"/>
              </a:rPr>
              <a:t>• </a:t>
            </a:r>
            <a:r>
              <a:rPr sz="750" b="1">
                <a:solidFill>
                  <a:srgbClr val="2A2A3D"/>
                </a:solidFill>
                <a:latin typeface="Arial"/>
              </a:rPr>
              <a:t>3. Kepatuhan [TINGGI]: </a:t>
            </a:r>
            <a:r>
              <a:rPr sz="700">
                <a:solidFill>
                  <a:srgbClr val="2A2A3D"/>
                </a:solidFill>
                <a:latin typeface="Arial"/>
              </a:rPr>
              <a:t>Pencatatan manual menyulitkan audit riwayat lot produksi ISO 9001:2015.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C62828"/>
                </a:solidFill>
                <a:latin typeface="Arial"/>
              </a:rPr>
              <a:t>• </a:t>
            </a:r>
            <a:r>
              <a:rPr sz="750" b="1">
                <a:solidFill>
                  <a:srgbClr val="2A2A3D"/>
                </a:solidFill>
                <a:latin typeface="Arial"/>
              </a:rPr>
              <a:t>4. K3L / ESG [SEDANG]: </a:t>
            </a:r>
            <a:r>
              <a:rPr sz="700">
                <a:solidFill>
                  <a:srgbClr val="2A2A3D"/>
                </a:solidFill>
                <a:latin typeface="Arial"/>
              </a:rPr>
              <a:t>Timbulan afval 7,37M–8,18M LK/tahun (±60–65 Ton kertas) &amp; kelelahan shift malam.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C62828"/>
                </a:solidFill>
                <a:latin typeface="Arial"/>
              </a:rPr>
              <a:t>• </a:t>
            </a:r>
            <a:r>
              <a:rPr sz="750" b="1">
                <a:solidFill>
                  <a:srgbClr val="2A2A3D"/>
                </a:solidFill>
                <a:latin typeface="Arial"/>
              </a:rPr>
              <a:t>5. Layanan (SLA) [TINGGI]: </a:t>
            </a:r>
            <a:r>
              <a:rPr sz="700">
                <a:solidFill>
                  <a:srgbClr val="2A2A3D"/>
                </a:solidFill>
                <a:latin typeface="Arial"/>
              </a:rPr>
              <a:t>Siklus cetak ulang lambat menunda serah terima pita cukai ke DJBC &amp; ancaman denda penalti.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9832" y="3401568"/>
            <a:ext cx="3886200" cy="3054096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9832" y="3401568"/>
            <a:ext cx="3886200" cy="228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73152" rIns="73152" bIns="0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6. TABEL 1.3 REALISASI S1 2026 &amp; VALUE CREATION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854696" y="3657600"/>
          <a:ext cx="392277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38912"/>
                <a:gridCol w="384048"/>
                <a:gridCol w="420624"/>
                <a:gridCol w="420624"/>
                <a:gridCol w="420624"/>
                <a:gridCol w="420624"/>
                <a:gridCol w="41148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Periode</a:t>
                      </a:r>
                    </a:p>
                  </a:txBody>
                  <a:tcPr marL="18288" marR="18288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 (n)</a:t>
                      </a:r>
                    </a:p>
                  </a:txBody>
                  <a:tcPr marL="18288" marR="18288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Inschiet</a:t>
                      </a:r>
                    </a:p>
                  </a:txBody>
                  <a:tcPr marL="18288" marR="18288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Deviasi</a:t>
                      </a:r>
                    </a:p>
                  </a:txBody>
                  <a:tcPr marL="18288" marR="18288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Tgt 4,61%</a:t>
                      </a:r>
                    </a:p>
                  </a:txBody>
                  <a:tcPr marL="18288" marR="18288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Realisasi</a:t>
                      </a:r>
                    </a:p>
                  </a:txBody>
                  <a:tcPr marL="18288" marR="18288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Saved</a:t>
                      </a:r>
                    </a:p>
                  </a:txBody>
                  <a:tcPr marL="18288" marR="18288" marT="9144" marB="914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Saving*</a:t>
                      </a:r>
                    </a:p>
                  </a:txBody>
                  <a:tcPr marL="18288" marR="18288" marT="9144" marB="9144" anchor="ctr">
                    <a:solidFill>
                      <a:srgbClr val="1A237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Q1 2026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57,38M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4,34%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-0,27 pp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2,64M lb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2,49M lb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154,9K LK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Rp 464,8Jt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Q2 2026</a:t>
                      </a:r>
                    </a:p>
                  </a:txBody>
                  <a:tcPr marL="18288" marR="18288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45,96M</a:t>
                      </a:r>
                    </a:p>
                  </a:txBody>
                  <a:tcPr marL="18288" marR="18288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3,33%</a:t>
                      </a:r>
                    </a:p>
                  </a:txBody>
                  <a:tcPr marL="18288" marR="18288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-1,28 pp</a:t>
                      </a:r>
                    </a:p>
                  </a:txBody>
                  <a:tcPr marL="18288" marR="18288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2,11M lb</a:t>
                      </a:r>
                    </a:p>
                  </a:txBody>
                  <a:tcPr marL="18288" marR="18288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0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1,53M lb</a:t>
                      </a:r>
                    </a:p>
                  </a:txBody>
                  <a:tcPr marL="18288" marR="18288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588,3K LK</a:t>
                      </a:r>
                    </a:p>
                  </a:txBody>
                  <a:tcPr marL="18288" marR="18288" marT="9144" marB="9144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2A2A3D"/>
                          </a:solidFill>
                          <a:latin typeface="Arial"/>
                        </a:defRPr>
                      </a:pPr>
                      <a:r>
                        <a:t>Rp 1,76 M</a:t>
                      </a:r>
                    </a:p>
                  </a:txBody>
                  <a:tcPr marL="18288" marR="18288" marT="9144" marB="9144" anchor="ctr">
                    <a:solidFill>
                      <a:srgbClr val="F4F7F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650" b="1">
                          <a:solidFill>
                            <a:srgbClr val="1B5E20"/>
                          </a:solidFill>
                          <a:latin typeface="Arial"/>
                        </a:defRPr>
                      </a:pPr>
                      <a:r>
                        <a:t>TOTAL S1</a:t>
                      </a:r>
                    </a:p>
                  </a:txBody>
                  <a:tcPr marL="18288" marR="18288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1B5E20"/>
                          </a:solidFill>
                          <a:latin typeface="Arial"/>
                        </a:defRPr>
                      </a:pPr>
                      <a:r>
                        <a:t>103,3M</a:t>
                      </a:r>
                    </a:p>
                  </a:txBody>
                  <a:tcPr marL="18288" marR="18288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1B5E20"/>
                          </a:solidFill>
                          <a:latin typeface="Arial"/>
                        </a:defRPr>
                      </a:pPr>
                      <a:r>
                        <a:t>3,89%</a:t>
                      </a:r>
                    </a:p>
                  </a:txBody>
                  <a:tcPr marL="18288" marR="18288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1B5E20"/>
                          </a:solidFill>
                          <a:latin typeface="Arial"/>
                        </a:defRPr>
                      </a:pPr>
                      <a:r>
                        <a:t>-0,72 pp</a:t>
                      </a:r>
                    </a:p>
                  </a:txBody>
                  <a:tcPr marL="18288" marR="18288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1B5E20"/>
                          </a:solidFill>
                          <a:latin typeface="Arial"/>
                        </a:defRPr>
                      </a:pPr>
                      <a:r>
                        <a:t>4,76M lb</a:t>
                      </a:r>
                    </a:p>
                  </a:txBody>
                  <a:tcPr marL="18288" marR="18288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1B5E20"/>
                          </a:solidFill>
                          <a:latin typeface="Arial"/>
                        </a:defRPr>
                      </a:pPr>
                      <a:r>
                        <a:t>4,02M lb</a:t>
                      </a:r>
                    </a:p>
                  </a:txBody>
                  <a:tcPr marL="18288" marR="18288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1B5E20"/>
                          </a:solidFill>
                          <a:latin typeface="Arial"/>
                        </a:defRPr>
                      </a:pPr>
                      <a:r>
                        <a:t>743,2K LK</a:t>
                      </a:r>
                    </a:p>
                  </a:txBody>
                  <a:tcPr marL="18288" marR="18288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1B5E20"/>
                          </a:solidFill>
                          <a:latin typeface="Arial"/>
                        </a:defRPr>
                      </a:pPr>
                      <a:r>
                        <a:t>Rp 2,23 M</a:t>
                      </a:r>
                    </a:p>
                  </a:txBody>
                  <a:tcPr marL="18288" marR="18288" marT="9144" marB="9144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872984" y="5065776"/>
            <a:ext cx="3739896" cy="13258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2E7D32"/>
                </a:solidFill>
                <a:latin typeface="Arial"/>
              </a:rPr>
              <a:t>✔ </a:t>
            </a:r>
            <a:r>
              <a:rPr sz="700" b="1">
                <a:solidFill>
                  <a:srgbClr val="1A237E"/>
                </a:solidFill>
                <a:latin typeface="Arial"/>
              </a:rPr>
              <a:t>1. Inschiet Tembus 3,33% (Q2): </a:t>
            </a:r>
            <a:r>
              <a:rPr sz="680">
                <a:solidFill>
                  <a:srgbClr val="2A2A3D"/>
                </a:solidFill>
                <a:latin typeface="Arial"/>
              </a:rPr>
              <a:t>Penurunan -1,28 pp (-27,77%) menyelamatkan 743.234 lembar kertas sekuriti.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D32"/>
                </a:solidFill>
                <a:latin typeface="Arial"/>
              </a:rPr>
              <a:t>✔ </a:t>
            </a:r>
            <a:r>
              <a:rPr sz="700" b="1">
                <a:solidFill>
                  <a:srgbClr val="1A237E"/>
                </a:solidFill>
                <a:latin typeface="Arial"/>
              </a:rPr>
              <a:t>2. Efisiensi Finansial S1: </a:t>
            </a:r>
            <a:r>
              <a:rPr sz="680">
                <a:solidFill>
                  <a:srgbClr val="2A2A3D"/>
                </a:solidFill>
                <a:latin typeface="Arial"/>
              </a:rPr>
              <a:t>Saving riil Rp 2,23 Miliar (proyeksi Rp 6,82 M/thn) dengan biaya dev Rp 0,-.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D32"/>
                </a:solidFill>
                <a:latin typeface="Arial"/>
              </a:rPr>
              <a:t>✔ </a:t>
            </a:r>
            <a:r>
              <a:rPr sz="700" b="1">
                <a:solidFill>
                  <a:srgbClr val="1A237E"/>
                </a:solidFill>
                <a:latin typeface="Arial"/>
              </a:rPr>
              <a:t>3. Reduksi Waktu Henti: </a:t>
            </a:r>
            <a:r>
              <a:rPr sz="680">
                <a:solidFill>
                  <a:srgbClr val="2A2A3D"/>
                </a:solidFill>
                <a:latin typeface="Arial"/>
              </a:rPr>
              <a:t>Pemeriksaan mesin turun dari &gt; 8 jam menjadi &lt; 2–4 jam (efisiensi 50%–75%).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D32"/>
                </a:solidFill>
                <a:latin typeface="Arial"/>
              </a:rPr>
              <a:t>✔ </a:t>
            </a:r>
            <a:r>
              <a:rPr sz="700" b="1">
                <a:solidFill>
                  <a:srgbClr val="1A237E"/>
                </a:solidFill>
                <a:latin typeface="Arial"/>
              </a:rPr>
              <a:t>4. Jaminan Kepatuhan SLA: </a:t>
            </a:r>
            <a:r>
              <a:rPr sz="680">
                <a:solidFill>
                  <a:srgbClr val="2A2A3D"/>
                </a:solidFill>
                <a:latin typeface="Arial"/>
              </a:rPr>
              <a:t>Kepatuhan 100% pengiriman DJBC Kemenkeu RI &amp; penguatan tender nasional.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